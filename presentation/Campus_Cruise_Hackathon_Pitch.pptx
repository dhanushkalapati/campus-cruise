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910D4E-F40C-8571-53D6-09E9FCBDC1A4}">
          <p14:sldIdLst>
            <p14:sldId id="256"/>
          </p14:sldIdLst>
        </p14:section>
        <p14:section name="Problem and solution" id="{2932A180-1562-FFD3-BA2F-EAE78178B5F4}">
          <p14:sldIdLst>
            <p14:sldId id="257"/>
            <p14:sldId id="258"/>
          </p14:sldIdLst>
        </p14:section>
        <p14:section name="Approach and results" id="{50A1E0AB-7200-AEED-2F41-15C2C0C7FD28}">
          <p14:sldIdLst>
            <p14:sldId id="259"/>
            <p14:sldId id="260"/>
          </p14:sldIdLst>
        </p14:section>
        <p14:section name="Demo" id="{191BA5A8-DE4C-0767-9146-DBCCC9D63275}">
          <p14:sldIdLst>
            <p14:sldId id="261"/>
            <p14:sldId id="262"/>
          </p14:sldIdLst>
        </p14:section>
        <p14:section name="Impact and responsibility" id="{F44A95AD-0E45-D74D-27C5-9AA3A9D829E0}">
          <p14:sldIdLst>
            <p14:sldId id="263"/>
            <p14:sldId id="264"/>
          </p14:sldIdLst>
        </p14:section>
        <p14:section name="Close" id="{735AEEF8-A639-6E67-92CE-5C5EE590B67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0" d="100"/>
          <a:sy n="120" d="100"/>
        </p:scale>
        <p:origin x="138" y="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2A41"/>
                </a:solidFill>
                <a:latin typeface="+mn-lt"/>
              </a:defRPr>
            </a:pPr>
            <a:r>
              <a:rPr lang="en-US" sz="1100" b="0" i="0" u="none" strike="noStrike">
                <a:solidFill>
                  <a:srgbClr val="1B2A41"/>
                </a:solidFill>
                <a:latin typeface="+mn-lt"/>
              </a:rPr>
              <a:t>Total cost (cost units) — each model has its own prices, so compare within a model only</a:t>
            </a:r>
          </a:p>
        </c:rich>
      </c:tx>
      <c:overlay val="0"/>
    </c:title>
    <c:autoTitleDeleted val="0"/>
    <c:plotArea>
      <c:layout/>
      <c:barChart>
        <c:barDir val="col"/>
        <c:grouping val="clustered"/>
        <c:varyColors val="0"/>
        <c:ser>
          <c:idx val="0"/>
          <c:order val="0"/>
          <c:tx>
            <c:strRef>
              <c:f>Sheet1!$B$1</c:f>
              <c:strCache>
                <c:ptCount val="1"/>
                <c:pt idx="0">
                  <c:v>Every school books its own bus</c:v>
                </c:pt>
              </c:strCache>
            </c:strRef>
          </c:tx>
          <c:spPr>
            <a:solidFill>
              <a:srgbClr val="B8C1CC"/>
            </a:solidFill>
            <a:effectLst/>
          </c:spPr>
          <c:invertIfNegative val="0"/>
          <c:dLbls>
            <c:numFmt formatCode="#,##0" sourceLinked="0"/>
            <c:spPr>
              <a:noFill/>
              <a:ln>
                <a:noFill/>
              </a:ln>
              <a:effectLst/>
            </c:spPr>
            <c:txPr>
              <a:bodyPr/>
              <a:lstStyle/>
              <a:p>
                <a:pPr>
                  <a:defRPr sz="10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 price</c:v>
                </c:pt>
                <c:pt idx="1">
                  <c:v>Per mile</c:v>
                </c:pt>
                <c:pt idx="2">
                  <c:v>Per driving hour</c:v>
                </c:pt>
              </c:strCache>
            </c:strRef>
          </c:cat>
          <c:val>
            <c:numRef>
              <c:f>Sheet1!$B$2:$B$4</c:f>
              <c:numCache>
                <c:formatCode>General</c:formatCode>
                <c:ptCount val="3"/>
                <c:pt idx="0">
                  <c:v>3330</c:v>
                </c:pt>
                <c:pt idx="1">
                  <c:v>3903.87</c:v>
                </c:pt>
                <c:pt idx="2">
                  <c:v>8220.26</c:v>
                </c:pt>
              </c:numCache>
            </c:numRef>
          </c:val>
          <c:extLst>
            <c:ext xmlns:c16="http://schemas.microsoft.com/office/drawing/2014/chart" uri="{C3380CC4-5D6E-409C-BE32-E72D297353CC}">
              <c16:uniqueId val="{00000000-9BBA-4346-A6BB-02DA28F212F5}"/>
            </c:ext>
          </c:extLst>
        </c:ser>
        <c:ser>
          <c:idx val="1"/>
          <c:order val="1"/>
          <c:tx>
            <c:strRef>
              <c:f>Sheet1!$C$1</c:f>
              <c:strCache>
                <c:ptCount val="1"/>
                <c:pt idx="0">
                  <c:v>Campus Cruise plan</c:v>
                </c:pt>
              </c:strCache>
            </c:strRef>
          </c:tx>
          <c:spPr>
            <a:solidFill>
              <a:srgbClr val="D6453D"/>
            </a:solidFill>
            <a:effectLst/>
          </c:spPr>
          <c:invertIfNegative val="0"/>
          <c:dLbls>
            <c:numFmt formatCode="#,##0" sourceLinked="0"/>
            <c:spPr>
              <a:noFill/>
              <a:ln>
                <a:noFill/>
              </a:ln>
              <a:effectLst/>
            </c:spPr>
            <c:txPr>
              <a:bodyPr/>
              <a:lstStyle/>
              <a:p>
                <a:pPr>
                  <a:defRPr sz="10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 price</c:v>
                </c:pt>
                <c:pt idx="1">
                  <c:v>Per mile</c:v>
                </c:pt>
                <c:pt idx="2">
                  <c:v>Per driving hour</c:v>
                </c:pt>
              </c:strCache>
            </c:strRef>
          </c:cat>
          <c:val>
            <c:numRef>
              <c:f>Sheet1!$C$2:$C$4</c:f>
              <c:numCache>
                <c:formatCode>General</c:formatCode>
                <c:ptCount val="3"/>
                <c:pt idx="0">
                  <c:v>1875</c:v>
                </c:pt>
                <c:pt idx="1">
                  <c:v>2787.25</c:v>
                </c:pt>
                <c:pt idx="2">
                  <c:v>6762.89</c:v>
                </c:pt>
              </c:numCache>
            </c:numRef>
          </c:val>
          <c:extLst>
            <c:ext xmlns:c16="http://schemas.microsoft.com/office/drawing/2014/chart" uri="{C3380CC4-5D6E-409C-BE32-E72D297353CC}">
              <c16:uniqueId val="{00000001-9BBA-4346-A6BB-02DA28F212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085"/>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190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0:00-0:20 (20 s)
SAY:
We're Dhanush, Samyaka and Sathwika from Cardiff University. This is Campus Cruise: it decides which schools should share a bus to an event, so getting pupils there costs less.
KEY MESSAGE: Campus Cruise plans shared school buses to an event.
TRANSITION: So why is this a problem in the first place?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0:20-0:55 (35 s)
SAY:
Sixty schools are sending 1,244 people to the same stadium. If every school books its own bus, that's 60 buses, and only 68.0% of the seats are filled. Sharing is obviously cheaper, but schools differ in size and location, buses come in three sizes, and there are far too many groupings to check by hand. And each school's group must stay together on one bus, because one adult supervises it.
KEY MESSAGE: Booking separately wastes seats and money; sharing is too complex to plan by hand.
TRANSITION: So here's how Campus Cruise plans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0:55-1:25 (30 s)
SAY:
Campus Cruise works in six steps. Load and check the data. Pick how buses are priced. OR-Tools decides which schools share each bus and the pickup order. Then separate code re-checks every rule and recalculates every cost, and a plan that fails is never shown. Finally, the results go to a dashboard and map, and can be downloaded.
KEY MESSAGE: Every plan is optimised, then independently checked, before anyone sees it.
TRANSITION: Let me show what's inside the optimise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1:25-2:10 (45 s)
SAY:
The challenge prices buses three ways. With a fixed price per bus, location doesn't matter, so it's a packing problem: OR-Tools' CP-SAT solver finds the cheapest plan and proves nothing cheaper exists. When price depends on miles or driving time, pickup order matters, so we use vehicle-routing search. It finds very good plans, but we never call them optimal. The rules are hard in every model: no school split, no bus over capacity. To be precise: this is optimisation, not a trained model. Generative AI is a separate assistant, and the machine-learning model is experimental.
KEY MESSAGE: Exact optimisation where it can be proven; honest 'best found' labels where it cannot.
TRANSITION: So what does that achieve on the real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2:10-2:45 (35 s)
SAY:
With a fixed price per bus, the plan costs 1,875 instead of 3,330: 43.7% less, with 25 buses instead of 60. That is provably the cheapest. The other two models save 28.6% and 17.7%; those are the best plans found in five minutes. Each model has its own prices, so I only compare within a model, and these are cost units, not pounds.
KEY MESSAGE: 43.7% cheaper and 35 fewer buses, proven optimal for fixed pricing.
TRANSITION: Let me show you the app producing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2:45-4:05 (80 s, live)
SAY:
[Switch to the app at http://localhost:8501]
1. (15 s) Sidebar: Fixed price per bus, Run optimiser. Point at 'Proven optimal', 25 buses, 1,875 vs 3,330.
2. (25 s) Routes tab: Find a school, CF15. Turn on Road paths. 'This is Bus 04: it picks up four schools and is completely full, 50 of 50. The green line is the real road route from OSRM.' Point at the estimated driving time and read the note under it: it excludes live traffic and boarding time, so real journeys may take longer.
3. (25 s) Adjust plan: set CF15 to 25 and SA18 to 20. 'The fixed model re-plans by itself in about 20 seconds.' Open Compare: the cost change and which schools moved.
4. (15 s) Scenarios tab: +10% attendance, Run scenario. 'Scenarios are tested separately; the plan only changes if I tick the box and adopt it.'
If the demo fails: say 'Let me show the screenshot', stay on this slide, and talk through points 1-4.
KEY MESSAGE: It's a working app: real map, real routes, honest estimates.
TRANSITION: Organisers can also just type what they want. That's the assistant.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4:05-4:40 (35 s)
SAY:
Organisers can also just type: 'Minimise bus costs while keeping nearby schools together.' GPT-4.1 mini turns that into a proposal, but it can't change anything. Code checks it against the data and shows it: nothing has changed yet. Only when I approve does the optimiser run. And it's honest: 'nearby' isn't a hard rule, it's how the fixed model breaks ties, and it says so.
KEY MESSAGE: Generative AI makes the tool easy to use, but people and the optimiser stay in control.
TRANSITION: So who actually benefits from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4:40-5:15 (35 s)
SAY:
Who gains? Organisers get a checked plan in seconds. Schools and pupils pay less to attend. Coach operators get a clear booking list, and venues have fewer coaches to park. On the challenge data that's 35 fewer buses, 99.5% of seats filled, and about 39% fewer bus-miles, straight-line, with no emissions claim. It hasn't run at a real event yet, so the next step is a pilot with one Welsh organiser, measuring cost, buses, mileage and planning time.
KEY MESSAGE: Measurable savings on the data, and a clear plan to prove them in the real world.
TRANSITION: Just as important is how it's built responsibly.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5:15-5:50 (35 s)
SAY:
Campus Cruise is decision support, not an autonomous system. Every plan says whether it's proven or just the best found. It uses school-level head counts only, no names. The organiser approves every AI change, and independent code re-checks every rule. It fits the National Events Strategy for Wales, which asks events to consider cost to attend and measures sustainable transport options. Shared coaches help with both. We don't claim any endorsement.
KEY MESSAGE: Responsible by design, and pointed at goals Wales has already set.
TRANSITION: To wrap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5:50-6:10 (20 s)
SAY:
Campus Cruise finds which schools should share a bus: 43.7% cheaper on the challenge data, 25 buses instead of 60, proven optimal and independently checked. Next, I'd like to pilot it with a Welsh event organiser. My AI-use disclosure is on the slide. Thank you, I'm happy to take questions.
KEY MESSAGE: Campus Cruise: fewer buses, lower cost, and plans organisers can trust.
TRANSITION: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C_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C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828032"/>
            <a:ext cx="6858000" cy="201168"/>
          </a:xfrm>
          <a:prstGeom prst="rect">
            <a:avLst/>
          </a:prstGeom>
          <a:noFill/>
          <a:ln/>
        </p:spPr>
        <p:txBody>
          <a:bodyPr wrap="square" lIns="0" tIns="0" rIns="0" bIns="0" rtlCol="0" anchor="ctr"/>
          <a:lstStyle/>
          <a:p>
            <a:pPr marL="0" indent="0">
              <a:buNone/>
            </a:pPr>
            <a:r>
              <a:rPr lang="en-US" sz="900" dirty="0">
                <a:solidFill>
                  <a:schemeClr val="accent6"/>
                </a:solidFill>
              </a:rPr>
              <a:t>Campus Cruise · Dhanush Kalapati, Samyaka, Sathwika · AI Pollination Student Competition 2026</a:t>
            </a:r>
            <a:endParaRPr lang="en-US" sz="9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 bar"/>
          <p:cNvSpPr/>
          <p:nvPr/>
        </p:nvSpPr>
        <p:spPr>
          <a:xfrm>
            <a:off x="0" y="0"/>
            <a:ext cx="9144000" cy="109728"/>
          </a:xfrm>
          <a:prstGeom prst="rect">
            <a:avLst/>
          </a:prstGeom>
          <a:solidFill>
            <a:srgbClr val="D6453D"/>
          </a:solidFill>
          <a:ln w="12700">
            <a:solidFill>
              <a:srgbClr val="D6453D"/>
            </a:solidFill>
            <a:prstDash val="solid"/>
          </a:ln>
        </p:spPr>
      </p:sp>
      <p:sp>
        <p:nvSpPr>
          <p:cNvPr id="3" name="Text 1"/>
          <p:cNvSpPr txBox="1"/>
          <p:nvPr/>
        </p:nvSpPr>
        <p:spPr>
          <a:xfrm>
            <a:off x="457200" y="640080"/>
            <a:ext cx="8229600" cy="274320"/>
          </a:xfrm>
          <a:prstGeom prst="rect">
            <a:avLst/>
          </a:prstGeom>
          <a:noFill/>
          <a:ln/>
        </p:spPr>
        <p:txBody>
          <a:bodyPr wrap="square" lIns="0" tIns="0" rIns="0" bIns="0" rtlCol="0" anchor="t"/>
          <a:lstStyle/>
          <a:p>
            <a:pPr marL="0" indent="0" algn="ctr">
              <a:buNone/>
            </a:pPr>
            <a:r>
              <a:rPr lang="en-US" sz="1300" b="1" kern="0" spc="100" dirty="0">
                <a:solidFill>
                  <a:schemeClr val="accent1"/>
                </a:solidFill>
              </a:rPr>
              <a:t>AI POLLINATION STUDENT COMPETITION 2026</a:t>
            </a:r>
            <a:endParaRPr lang="en-US" sz="1300" dirty="0"/>
          </a:p>
        </p:txBody>
      </p:sp>
      <p:sp>
        <p:nvSpPr>
          <p:cNvPr id="4" name="Text 2"/>
          <p:cNvSpPr txBox="1"/>
          <p:nvPr/>
        </p:nvSpPr>
        <p:spPr>
          <a:xfrm>
            <a:off x="457200" y="1097280"/>
            <a:ext cx="8229600" cy="822960"/>
          </a:xfrm>
          <a:prstGeom prst="rect">
            <a:avLst/>
          </a:prstGeom>
          <a:noFill/>
          <a:ln/>
        </p:spPr>
        <p:txBody>
          <a:bodyPr wrap="square" lIns="0" tIns="0" rIns="0" bIns="0" rtlCol="0" anchor="t"/>
          <a:lstStyle/>
          <a:p>
            <a:pPr marL="0" indent="0" algn="ctr">
              <a:buNone/>
            </a:pPr>
            <a:r>
              <a:rPr lang="en-US" sz="4800" b="1" dirty="0">
                <a:solidFill>
                  <a:schemeClr val="tx1"/>
                </a:solidFill>
              </a:rPr>
              <a:t>CAMPUS CRUISE</a:t>
            </a:r>
            <a:endParaRPr lang="en-US" sz="4800" dirty="0"/>
          </a:p>
        </p:txBody>
      </p:sp>
      <p:sp>
        <p:nvSpPr>
          <p:cNvPr id="5" name="Text 3"/>
          <p:cNvSpPr txBox="1"/>
          <p:nvPr/>
        </p:nvSpPr>
        <p:spPr>
          <a:xfrm>
            <a:off x="457200" y="1920240"/>
            <a:ext cx="8229600" cy="457200"/>
          </a:xfrm>
          <a:prstGeom prst="rect">
            <a:avLst/>
          </a:prstGeom>
          <a:noFill/>
          <a:ln/>
        </p:spPr>
        <p:txBody>
          <a:bodyPr wrap="square" lIns="0" tIns="0" rIns="0" bIns="0" rtlCol="0" anchor="t"/>
          <a:lstStyle/>
          <a:p>
            <a:pPr marL="0" indent="0" algn="ctr">
              <a:buNone/>
            </a:pPr>
            <a:r>
              <a:rPr lang="en-US" sz="2200" dirty="0">
                <a:solidFill>
                  <a:schemeClr val="accent4"/>
                </a:solidFill>
              </a:rPr>
              <a:t>AI-Powered School Transport Optimisation</a:t>
            </a:r>
            <a:endParaRPr lang="en-US" sz="2200" dirty="0"/>
          </a:p>
        </p:txBody>
      </p:sp>
      <p:sp>
        <p:nvSpPr>
          <p:cNvPr id="6" name="Text 4"/>
          <p:cNvSpPr txBox="1"/>
          <p:nvPr/>
        </p:nvSpPr>
        <p:spPr>
          <a:xfrm>
            <a:off x="457200" y="2423160"/>
            <a:ext cx="8229600" cy="320040"/>
          </a:xfrm>
          <a:prstGeom prst="rect">
            <a:avLst/>
          </a:prstGeom>
          <a:noFill/>
          <a:ln/>
        </p:spPr>
        <p:txBody>
          <a:bodyPr wrap="square" lIns="0" tIns="0" rIns="0" bIns="0" rtlCol="0" anchor="t"/>
          <a:lstStyle/>
          <a:p>
            <a:pPr marL="0" indent="0" algn="ctr">
              <a:buNone/>
            </a:pPr>
            <a:r>
              <a:rPr lang="en-US" sz="1500" dirty="0">
                <a:solidFill>
                  <a:schemeClr val="accent6"/>
                </a:solidFill>
              </a:rPr>
              <a:t>Technical Challenge 2 — Travel Organizer</a:t>
            </a:r>
            <a:endParaRPr lang="en-US" sz="1500" dirty="0"/>
          </a:p>
        </p:txBody>
      </p:sp>
      <p:sp>
        <p:nvSpPr>
          <p:cNvPr id="7" name="Shape 5"/>
          <p:cNvSpPr/>
          <p:nvPr/>
        </p:nvSpPr>
        <p:spPr>
          <a:xfrm>
            <a:off x="3886200" y="3017520"/>
            <a:ext cx="1371600" cy="0"/>
          </a:xfrm>
          <a:prstGeom prst="line">
            <a:avLst/>
          </a:prstGeom>
          <a:noFill/>
          <a:ln w="25400">
            <a:solidFill>
              <a:srgbClr val="D6453D"/>
            </a:solidFill>
            <a:prstDash val="solid"/>
          </a:ln>
        </p:spPr>
      </p:sp>
      <p:sp>
        <p:nvSpPr>
          <p:cNvPr id="8" name="Text 6"/>
          <p:cNvSpPr txBox="1"/>
          <p:nvPr/>
        </p:nvSpPr>
        <p:spPr>
          <a:xfrm>
            <a:off x="457200" y="3200400"/>
            <a:ext cx="8229600" cy="960120"/>
          </a:xfrm>
          <a:prstGeom prst="rect">
            <a:avLst/>
          </a:prstGeom>
          <a:noFill/>
          <a:ln/>
        </p:spPr>
        <p:txBody>
          <a:bodyPr wrap="square" lIns="0" tIns="0" rIns="0" bIns="0" rtlCol="0" anchor="t"/>
          <a:lstStyle/>
          <a:p>
            <a:pPr marL="0" indent="0" algn="ctr">
              <a:spcAft>
                <a:spcPts val="200"/>
              </a:spcAft>
              <a:buNone/>
            </a:pPr>
            <a:r>
              <a:rPr lang="en-US" sz="1800" b="1" dirty="0">
                <a:solidFill>
                  <a:schemeClr val="tx1"/>
                </a:solidFill>
              </a:rPr>
              <a:t>Dhanush Kalapati</a:t>
            </a:r>
            <a:endParaRPr lang="en-US" sz="1800" dirty="0"/>
          </a:p>
          <a:p>
            <a:pPr marL="0" indent="0" algn="ctr">
              <a:spcAft>
                <a:spcPts val="200"/>
              </a:spcAft>
              <a:buNone/>
            </a:pPr>
            <a:r>
              <a:rPr lang="en-US" sz="1800" b="1" dirty="0">
                <a:solidFill>
                  <a:schemeClr val="tx1"/>
                </a:solidFill>
              </a:rPr>
              <a:t>Samyaka</a:t>
            </a:r>
            <a:endParaRPr lang="en-US" sz="1800" dirty="0"/>
          </a:p>
          <a:p>
            <a:pPr marL="0" indent="0" algn="ctr">
              <a:spcAft>
                <a:spcPts val="200"/>
              </a:spcAft>
              <a:buNone/>
            </a:pPr>
            <a:r>
              <a:rPr lang="en-US" sz="1800" b="1" dirty="0">
                <a:solidFill>
                  <a:schemeClr val="tx1"/>
                </a:solidFill>
              </a:rPr>
              <a:t>Sathwika</a:t>
            </a:r>
            <a:endParaRPr lang="en-US" sz="1800" dirty="0"/>
          </a:p>
        </p:txBody>
      </p:sp>
      <p:sp>
        <p:nvSpPr>
          <p:cNvPr id="9" name="Text 7"/>
          <p:cNvSpPr txBox="1"/>
          <p:nvPr/>
        </p:nvSpPr>
        <p:spPr>
          <a:xfrm>
            <a:off x="457200" y="4251960"/>
            <a:ext cx="8229600" cy="320040"/>
          </a:xfrm>
          <a:prstGeom prst="rect">
            <a:avLst/>
          </a:prstGeom>
          <a:noFill/>
          <a:ln/>
        </p:spPr>
        <p:txBody>
          <a:bodyPr wrap="square" lIns="0" tIns="0" rIns="0" bIns="0" rtlCol="0" anchor="t"/>
          <a:lstStyle/>
          <a:p>
            <a:pPr marL="0" indent="0" algn="ctr">
              <a:buNone/>
            </a:pPr>
            <a:r>
              <a:rPr lang="en-US" sz="1400" dirty="0">
                <a:solidFill>
                  <a:schemeClr val="accent6"/>
                </a:solidFill>
              </a:rPr>
              <a:t>Cardiff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The problem: every school books its own bus</a:t>
            </a:r>
            <a:endParaRPr lang="en-US" sz="2800" dirty="0"/>
          </a:p>
        </p:txBody>
      </p:sp>
      <p:sp>
        <p:nvSpPr>
          <p:cNvPr id="3" name="Stat 1"/>
          <p:cNvSpPr/>
          <p:nvPr/>
        </p:nvSpPr>
        <p:spPr>
          <a:xfrm>
            <a:off x="457200" y="1051560"/>
            <a:ext cx="1920240" cy="1234440"/>
          </a:xfrm>
          <a:prstGeom prst="roundRect">
            <a:avLst>
              <a:gd name="adj" fmla="val 5926"/>
            </a:avLst>
          </a:prstGeom>
          <a:solidFill>
            <a:srgbClr val="F3F5F8"/>
          </a:solidFill>
          <a:ln w="12700">
            <a:solidFill>
              <a:srgbClr val="F3F5F8"/>
            </a:solidFill>
            <a:prstDash val="solid"/>
          </a:ln>
        </p:spPr>
      </p:sp>
      <p:sp>
        <p:nvSpPr>
          <p:cNvPr id="4" name="Text 2"/>
          <p:cNvSpPr txBox="1"/>
          <p:nvPr/>
        </p:nvSpPr>
        <p:spPr>
          <a:xfrm>
            <a:off x="621792" y="1143000"/>
            <a:ext cx="1645920" cy="594360"/>
          </a:xfrm>
          <a:prstGeom prst="rect">
            <a:avLst/>
          </a:prstGeom>
          <a:noFill/>
          <a:ln/>
        </p:spPr>
        <p:txBody>
          <a:bodyPr wrap="square" lIns="0" tIns="0" rIns="0" bIns="0" rtlCol="0" anchor="ctr"/>
          <a:lstStyle/>
          <a:p>
            <a:pPr marL="0" indent="0">
              <a:buNone/>
            </a:pPr>
            <a:r>
              <a:rPr lang="en-US" sz="3400" b="1" dirty="0">
                <a:solidFill>
                  <a:schemeClr val="tx1"/>
                </a:solidFill>
              </a:rPr>
              <a:t>60</a:t>
            </a:r>
            <a:endParaRPr lang="en-US" sz="3400" dirty="0"/>
          </a:p>
        </p:txBody>
      </p:sp>
      <p:sp>
        <p:nvSpPr>
          <p:cNvPr id="5" name="Text 3"/>
          <p:cNvSpPr txBox="1"/>
          <p:nvPr/>
        </p:nvSpPr>
        <p:spPr>
          <a:xfrm>
            <a:off x="621792" y="1755648"/>
            <a:ext cx="1645920" cy="457200"/>
          </a:xfrm>
          <a:prstGeom prst="rect">
            <a:avLst/>
          </a:prstGeom>
          <a:noFill/>
          <a:ln/>
        </p:spPr>
        <p:txBody>
          <a:bodyPr wrap="square" lIns="0" tIns="0" rIns="0" bIns="0" rtlCol="0" anchor="t"/>
          <a:lstStyle/>
          <a:p>
            <a:pPr marL="0" indent="0">
              <a:buNone/>
            </a:pPr>
            <a:r>
              <a:rPr lang="en-US" sz="1200" dirty="0">
                <a:solidFill>
                  <a:schemeClr val="accent6"/>
                </a:solidFill>
              </a:rPr>
              <a:t>schools going to one event</a:t>
            </a:r>
            <a:endParaRPr lang="en-US" sz="1200" dirty="0"/>
          </a:p>
        </p:txBody>
      </p:sp>
      <p:sp>
        <p:nvSpPr>
          <p:cNvPr id="6" name="Stat 2"/>
          <p:cNvSpPr/>
          <p:nvPr/>
        </p:nvSpPr>
        <p:spPr>
          <a:xfrm>
            <a:off x="2560320" y="1051560"/>
            <a:ext cx="1920240" cy="1234440"/>
          </a:xfrm>
          <a:prstGeom prst="roundRect">
            <a:avLst>
              <a:gd name="adj" fmla="val 5926"/>
            </a:avLst>
          </a:prstGeom>
          <a:solidFill>
            <a:srgbClr val="F3F5F8"/>
          </a:solidFill>
          <a:ln w="12700">
            <a:solidFill>
              <a:srgbClr val="F3F5F8"/>
            </a:solidFill>
            <a:prstDash val="solid"/>
          </a:ln>
        </p:spPr>
      </p:sp>
      <p:sp>
        <p:nvSpPr>
          <p:cNvPr id="7" name="Text 5"/>
          <p:cNvSpPr txBox="1"/>
          <p:nvPr/>
        </p:nvSpPr>
        <p:spPr>
          <a:xfrm>
            <a:off x="2724912" y="1143000"/>
            <a:ext cx="1645920" cy="594360"/>
          </a:xfrm>
          <a:prstGeom prst="rect">
            <a:avLst/>
          </a:prstGeom>
          <a:noFill/>
          <a:ln/>
        </p:spPr>
        <p:txBody>
          <a:bodyPr wrap="square" lIns="0" tIns="0" rIns="0" bIns="0" rtlCol="0" anchor="ctr"/>
          <a:lstStyle/>
          <a:p>
            <a:pPr marL="0" indent="0">
              <a:buNone/>
            </a:pPr>
            <a:r>
              <a:rPr lang="en-US" sz="3400" b="1" dirty="0">
                <a:solidFill>
                  <a:schemeClr val="tx1"/>
                </a:solidFill>
              </a:rPr>
              <a:t>1,244</a:t>
            </a:r>
            <a:endParaRPr lang="en-US" sz="3400" dirty="0"/>
          </a:p>
        </p:txBody>
      </p:sp>
      <p:sp>
        <p:nvSpPr>
          <p:cNvPr id="8" name="Text 6"/>
          <p:cNvSpPr txBox="1"/>
          <p:nvPr/>
        </p:nvSpPr>
        <p:spPr>
          <a:xfrm>
            <a:off x="2724912" y="1755648"/>
            <a:ext cx="1645920" cy="457200"/>
          </a:xfrm>
          <a:prstGeom prst="rect">
            <a:avLst/>
          </a:prstGeom>
          <a:noFill/>
          <a:ln/>
        </p:spPr>
        <p:txBody>
          <a:bodyPr wrap="square" lIns="0" tIns="0" rIns="0" bIns="0" rtlCol="0" anchor="t"/>
          <a:lstStyle/>
          <a:p>
            <a:pPr marL="0" indent="0">
              <a:buNone/>
            </a:pPr>
            <a:r>
              <a:rPr lang="en-US" sz="1200" dirty="0">
                <a:solidFill>
                  <a:schemeClr val="accent6"/>
                </a:solidFill>
              </a:rPr>
              <a:t>attendees, 3 to 42 per school</a:t>
            </a:r>
            <a:endParaRPr lang="en-US" sz="1200" dirty="0"/>
          </a:p>
        </p:txBody>
      </p:sp>
      <p:sp>
        <p:nvSpPr>
          <p:cNvPr id="9" name="Stat 3"/>
          <p:cNvSpPr/>
          <p:nvPr/>
        </p:nvSpPr>
        <p:spPr>
          <a:xfrm>
            <a:off x="4663440" y="1051560"/>
            <a:ext cx="1920240" cy="1234440"/>
          </a:xfrm>
          <a:prstGeom prst="roundRect">
            <a:avLst>
              <a:gd name="adj" fmla="val 5926"/>
            </a:avLst>
          </a:prstGeom>
          <a:solidFill>
            <a:srgbClr val="F3F5F8"/>
          </a:solidFill>
          <a:ln w="12700">
            <a:solidFill>
              <a:srgbClr val="F3F5F8"/>
            </a:solidFill>
            <a:prstDash val="solid"/>
          </a:ln>
        </p:spPr>
      </p:sp>
      <p:sp>
        <p:nvSpPr>
          <p:cNvPr id="10" name="Text 8"/>
          <p:cNvSpPr txBox="1"/>
          <p:nvPr/>
        </p:nvSpPr>
        <p:spPr>
          <a:xfrm>
            <a:off x="4828032" y="1143000"/>
            <a:ext cx="1645920" cy="594360"/>
          </a:xfrm>
          <a:prstGeom prst="rect">
            <a:avLst/>
          </a:prstGeom>
          <a:noFill/>
          <a:ln/>
        </p:spPr>
        <p:txBody>
          <a:bodyPr wrap="square" lIns="0" tIns="0" rIns="0" bIns="0" rtlCol="0" anchor="ctr"/>
          <a:lstStyle/>
          <a:p>
            <a:pPr marL="0" indent="0">
              <a:buNone/>
            </a:pPr>
            <a:r>
              <a:rPr lang="en-US" sz="3400" b="1" dirty="0">
                <a:solidFill>
                  <a:schemeClr val="tx1"/>
                </a:solidFill>
              </a:rPr>
              <a:t>60</a:t>
            </a:r>
            <a:endParaRPr lang="en-US" sz="3400" dirty="0"/>
          </a:p>
        </p:txBody>
      </p:sp>
      <p:sp>
        <p:nvSpPr>
          <p:cNvPr id="11" name="Text 9"/>
          <p:cNvSpPr txBox="1"/>
          <p:nvPr/>
        </p:nvSpPr>
        <p:spPr>
          <a:xfrm>
            <a:off x="4828032" y="1755648"/>
            <a:ext cx="1645920" cy="457200"/>
          </a:xfrm>
          <a:prstGeom prst="rect">
            <a:avLst/>
          </a:prstGeom>
          <a:noFill/>
          <a:ln/>
        </p:spPr>
        <p:txBody>
          <a:bodyPr wrap="square" lIns="0" tIns="0" rIns="0" bIns="0" rtlCol="0" anchor="t"/>
          <a:lstStyle/>
          <a:p>
            <a:pPr marL="0" indent="0">
              <a:buNone/>
            </a:pPr>
            <a:r>
              <a:rPr lang="en-US" sz="1200" dirty="0">
                <a:solidFill>
                  <a:schemeClr val="accent6"/>
                </a:solidFill>
              </a:rPr>
              <a:t>buses if every school books its own</a:t>
            </a:r>
            <a:endParaRPr lang="en-US" sz="1200" dirty="0"/>
          </a:p>
        </p:txBody>
      </p:sp>
      <p:sp>
        <p:nvSpPr>
          <p:cNvPr id="12" name="Stat 4"/>
          <p:cNvSpPr/>
          <p:nvPr/>
        </p:nvSpPr>
        <p:spPr>
          <a:xfrm>
            <a:off x="6766560" y="1051560"/>
            <a:ext cx="1920240" cy="1234440"/>
          </a:xfrm>
          <a:prstGeom prst="roundRect">
            <a:avLst>
              <a:gd name="adj" fmla="val 5926"/>
            </a:avLst>
          </a:prstGeom>
          <a:solidFill>
            <a:srgbClr val="FBEAE8"/>
          </a:solidFill>
          <a:ln w="12700">
            <a:solidFill>
              <a:srgbClr val="FBEAE8"/>
            </a:solidFill>
            <a:prstDash val="solid"/>
          </a:ln>
        </p:spPr>
      </p:sp>
      <p:sp>
        <p:nvSpPr>
          <p:cNvPr id="13" name="Text 11"/>
          <p:cNvSpPr txBox="1"/>
          <p:nvPr/>
        </p:nvSpPr>
        <p:spPr>
          <a:xfrm>
            <a:off x="6931152" y="1143000"/>
            <a:ext cx="1645920" cy="594360"/>
          </a:xfrm>
          <a:prstGeom prst="rect">
            <a:avLst/>
          </a:prstGeom>
          <a:noFill/>
          <a:ln/>
        </p:spPr>
        <p:txBody>
          <a:bodyPr wrap="square" lIns="0" tIns="0" rIns="0" bIns="0" rtlCol="0" anchor="ctr"/>
          <a:lstStyle/>
          <a:p>
            <a:pPr marL="0" indent="0">
              <a:buNone/>
            </a:pPr>
            <a:r>
              <a:rPr lang="en-US" sz="3400" b="1" dirty="0">
                <a:solidFill>
                  <a:schemeClr val="accent1"/>
                </a:solidFill>
              </a:rPr>
              <a:t>68.0%</a:t>
            </a:r>
            <a:endParaRPr lang="en-US" sz="3400" dirty="0"/>
          </a:p>
        </p:txBody>
      </p:sp>
      <p:sp>
        <p:nvSpPr>
          <p:cNvPr id="14" name="Text 12"/>
          <p:cNvSpPr txBox="1"/>
          <p:nvPr/>
        </p:nvSpPr>
        <p:spPr>
          <a:xfrm>
            <a:off x="6931152" y="1755648"/>
            <a:ext cx="1645920" cy="457200"/>
          </a:xfrm>
          <a:prstGeom prst="rect">
            <a:avLst/>
          </a:prstGeom>
          <a:noFill/>
          <a:ln/>
        </p:spPr>
        <p:txBody>
          <a:bodyPr wrap="square" lIns="0" tIns="0" rIns="0" bIns="0" rtlCol="0" anchor="t"/>
          <a:lstStyle/>
          <a:p>
            <a:pPr marL="0" indent="0">
              <a:buNone/>
            </a:pPr>
            <a:r>
              <a:rPr lang="en-US" sz="1200" dirty="0">
                <a:solidFill>
                  <a:schemeClr val="accent6"/>
                </a:solidFill>
              </a:rPr>
              <a:t>of those seats filled</a:t>
            </a:r>
            <a:endParaRPr lang="en-US" sz="1200" dirty="0"/>
          </a:p>
        </p:txBody>
      </p:sp>
      <p:sp>
        <p:nvSpPr>
          <p:cNvPr id="15" name="Text 13"/>
          <p:cNvSpPr txBox="1"/>
          <p:nvPr/>
        </p:nvSpPr>
        <p:spPr>
          <a:xfrm>
            <a:off x="457200" y="2514600"/>
            <a:ext cx="3931920" cy="320040"/>
          </a:xfrm>
          <a:prstGeom prst="rect">
            <a:avLst/>
          </a:prstGeom>
          <a:noFill/>
          <a:ln/>
        </p:spPr>
        <p:txBody>
          <a:bodyPr wrap="square" lIns="0" tIns="0" rIns="0" bIns="0" rtlCol="0" anchor="t"/>
          <a:lstStyle/>
          <a:p>
            <a:pPr marL="0" indent="0">
              <a:buNone/>
            </a:pPr>
            <a:r>
              <a:rPr lang="en-US" sz="1700" b="1" dirty="0">
                <a:solidFill>
                  <a:schemeClr val="tx1"/>
                </a:solidFill>
              </a:rPr>
              <a:t>Why planning by hand is hard</a:t>
            </a:r>
            <a:endParaRPr lang="en-US" sz="1700" dirty="0"/>
          </a:p>
        </p:txBody>
      </p:sp>
      <p:sp>
        <p:nvSpPr>
          <p:cNvPr id="16" name="Text 14"/>
          <p:cNvSpPr txBox="1"/>
          <p:nvPr/>
        </p:nvSpPr>
        <p:spPr>
          <a:xfrm>
            <a:off x="457200" y="288036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Schools differ in size and location</a:t>
            </a:r>
            <a:endParaRPr lang="en-US" sz="1400" dirty="0"/>
          </a:p>
          <a:p>
            <a:pPr marL="342900" indent="-342900">
              <a:spcAft>
                <a:spcPts val="600"/>
              </a:spcAft>
              <a:buSzPct val="100000"/>
              <a:buChar char="•"/>
            </a:pPr>
            <a:r>
              <a:rPr lang="en-US" sz="1400" dirty="0">
                <a:solidFill>
                  <a:schemeClr val="tx1"/>
                </a:solidFill>
              </a:rPr>
              <a:t>Buses come in 15, 35 and 50 seats, each priced differently</a:t>
            </a:r>
            <a:endParaRPr lang="en-US" sz="1400" dirty="0"/>
          </a:p>
          <a:p>
            <a:pPr marL="342900" indent="-342900">
              <a:spcAft>
                <a:spcPts val="600"/>
              </a:spcAft>
              <a:buSzPct val="100000"/>
              <a:buChar char="•"/>
            </a:pPr>
            <a:r>
              <a:rPr lang="en-US" sz="1400" dirty="0">
                <a:solidFill>
                  <a:schemeClr val="tx1"/>
                </a:solidFill>
              </a:rPr>
              <a:t>Too many ways to group 60 schools to check by hand</a:t>
            </a:r>
            <a:endParaRPr lang="en-US" sz="1400" dirty="0"/>
          </a:p>
        </p:txBody>
      </p:sp>
      <p:sp>
        <p:nvSpPr>
          <p:cNvPr id="17" name="Rules"/>
          <p:cNvSpPr/>
          <p:nvPr/>
        </p:nvSpPr>
        <p:spPr>
          <a:xfrm>
            <a:off x="4754880" y="2514600"/>
            <a:ext cx="3931920" cy="2011680"/>
          </a:xfrm>
          <a:prstGeom prst="roundRect">
            <a:avLst>
              <a:gd name="adj" fmla="val 3636"/>
            </a:avLst>
          </a:prstGeom>
          <a:solidFill>
            <a:srgbClr val="E8EFF7"/>
          </a:solidFill>
          <a:ln w="12700">
            <a:solidFill>
              <a:srgbClr val="E8EFF7"/>
            </a:solidFill>
            <a:prstDash val="solid"/>
          </a:ln>
        </p:spPr>
      </p:sp>
      <p:sp>
        <p:nvSpPr>
          <p:cNvPr id="18" name="Text 16"/>
          <p:cNvSpPr txBox="1"/>
          <p:nvPr/>
        </p:nvSpPr>
        <p:spPr>
          <a:xfrm>
            <a:off x="4937760" y="2633472"/>
            <a:ext cx="3566160" cy="320040"/>
          </a:xfrm>
          <a:prstGeom prst="rect">
            <a:avLst/>
          </a:prstGeom>
          <a:noFill/>
          <a:ln/>
        </p:spPr>
        <p:txBody>
          <a:bodyPr wrap="square" lIns="0" tIns="0" rIns="0" bIns="0" rtlCol="0" anchor="t"/>
          <a:lstStyle/>
          <a:p>
            <a:pPr marL="0" indent="0">
              <a:buNone/>
            </a:pPr>
            <a:r>
              <a:rPr lang="en-US" sz="1700" b="1" dirty="0">
                <a:solidFill>
                  <a:schemeClr val="accent4"/>
                </a:solidFill>
              </a:rPr>
              <a:t>Rules every plan must keep</a:t>
            </a:r>
            <a:endParaRPr lang="en-US" sz="1700" dirty="0"/>
          </a:p>
        </p:txBody>
      </p:sp>
      <p:sp>
        <p:nvSpPr>
          <p:cNvPr id="19" name="Text 17"/>
          <p:cNvSpPr txBox="1"/>
          <p:nvPr/>
        </p:nvSpPr>
        <p:spPr>
          <a:xfrm>
            <a:off x="4937760" y="3017520"/>
            <a:ext cx="361188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school's group is never split: one adult supervises it</a:t>
            </a:r>
            <a:endParaRPr lang="en-US" sz="1400" dirty="0"/>
          </a:p>
          <a:p>
            <a:pPr marL="342900" indent="-342900">
              <a:spcAft>
                <a:spcPts val="600"/>
              </a:spcAft>
              <a:buSzPct val="100000"/>
              <a:buChar char="•"/>
            </a:pPr>
            <a:r>
              <a:rPr lang="en-US" sz="1400" dirty="0">
                <a:solidFill>
                  <a:schemeClr val="tx1"/>
                </a:solidFill>
              </a:rPr>
              <a:t>No bus carries more people than it has seats</a:t>
            </a:r>
            <a:endParaRPr lang="en-US" sz="1400" dirty="0"/>
          </a:p>
          <a:p>
            <a:pPr marL="342900" indent="-342900">
              <a:spcAft>
                <a:spcPts val="600"/>
              </a:spcAft>
              <a:buSzPct val="100000"/>
              <a:buChar char="•"/>
            </a:pPr>
            <a:r>
              <a:rPr lang="en-US" sz="1400" dirty="0">
                <a:solidFill>
                  <a:schemeClr val="tx1"/>
                </a:solidFill>
              </a:rPr>
              <a:t>Every attendee gets a seat</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Campus Cruise: from data to a checked plan</a:t>
            </a:r>
            <a:endParaRPr lang="en-US" sz="2800" dirty="0"/>
          </a:p>
        </p:txBody>
      </p:sp>
      <p:sp>
        <p:nvSpPr>
          <p:cNvPr id="3" name="Step Load"/>
          <p:cNvSpPr/>
          <p:nvPr/>
        </p:nvSpPr>
        <p:spPr>
          <a:xfrm>
            <a:off x="457200" y="1097280"/>
            <a:ext cx="1280160" cy="2331720"/>
          </a:xfrm>
          <a:prstGeom prst="roundRect">
            <a:avLst>
              <a:gd name="adj" fmla="val 5714"/>
            </a:avLst>
          </a:prstGeom>
          <a:solidFill>
            <a:srgbClr val="F3F5F8"/>
          </a:solidFill>
          <a:ln w="12700">
            <a:solidFill>
              <a:srgbClr val="F3F5F8"/>
            </a:solidFill>
            <a:prstDash val="solid"/>
          </a:ln>
        </p:spPr>
      </p:sp>
      <p:sp>
        <p:nvSpPr>
          <p:cNvPr id="4" name="Shape 2"/>
          <p:cNvSpPr/>
          <p:nvPr/>
        </p:nvSpPr>
        <p:spPr>
          <a:xfrm>
            <a:off x="896112" y="1261872"/>
            <a:ext cx="402336" cy="402336"/>
          </a:xfrm>
          <a:prstGeom prst="ellipse">
            <a:avLst/>
          </a:prstGeom>
          <a:solidFill>
            <a:srgbClr val="667085"/>
          </a:solidFill>
          <a:ln w="12700">
            <a:solidFill>
              <a:srgbClr val="667085"/>
            </a:solidFill>
            <a:prstDash val="solid"/>
          </a:ln>
        </p:spPr>
      </p:sp>
      <p:sp>
        <p:nvSpPr>
          <p:cNvPr id="5" name="Text 3"/>
          <p:cNvSpPr txBox="1"/>
          <p:nvPr/>
        </p:nvSpPr>
        <p:spPr>
          <a:xfrm>
            <a:off x="896112"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4"/>
          <p:cNvSpPr txBox="1"/>
          <p:nvPr/>
        </p:nvSpPr>
        <p:spPr>
          <a:xfrm>
            <a:off x="530352"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Load</a:t>
            </a:r>
            <a:endParaRPr lang="en-US" sz="1600" dirty="0"/>
          </a:p>
        </p:txBody>
      </p:sp>
      <p:sp>
        <p:nvSpPr>
          <p:cNvPr id="7" name="Text 5"/>
          <p:cNvSpPr txBox="1"/>
          <p:nvPr/>
        </p:nvSpPr>
        <p:spPr>
          <a:xfrm>
            <a:off x="548640"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Schools, attendance, locations, bus prices; checked on load</a:t>
            </a:r>
            <a:endParaRPr lang="en-US" sz="1200" dirty="0"/>
          </a:p>
        </p:txBody>
      </p:sp>
      <p:sp>
        <p:nvSpPr>
          <p:cNvPr id="8" name="Text 6"/>
          <p:cNvSpPr txBox="1"/>
          <p:nvPr/>
        </p:nvSpPr>
        <p:spPr>
          <a:xfrm>
            <a:off x="1728216" y="2011680"/>
            <a:ext cx="128016" cy="365760"/>
          </a:xfrm>
          <a:prstGeom prst="rect">
            <a:avLst/>
          </a:prstGeom>
          <a:noFill/>
          <a:ln/>
        </p:spPr>
        <p:txBody>
          <a:bodyPr wrap="square" lIns="0" tIns="0" rIns="0" bIns="0" rtlCol="0" anchor="ctr"/>
          <a:lstStyle/>
          <a:p>
            <a:pPr marL="0" indent="0" algn="ctr">
              <a:buNone/>
            </a:pPr>
            <a:r>
              <a:rPr lang="en-US" sz="1800" b="1" dirty="0">
                <a:solidFill>
                  <a:schemeClr val="accent6"/>
                </a:solidFill>
              </a:rPr>
              <a:t>›</a:t>
            </a:r>
            <a:endParaRPr lang="en-US" sz="1800" dirty="0"/>
          </a:p>
        </p:txBody>
      </p:sp>
      <p:sp>
        <p:nvSpPr>
          <p:cNvPr id="9" name="Step Choose"/>
          <p:cNvSpPr/>
          <p:nvPr/>
        </p:nvSpPr>
        <p:spPr>
          <a:xfrm>
            <a:off x="1847088" y="1097280"/>
            <a:ext cx="1280160" cy="2331720"/>
          </a:xfrm>
          <a:prstGeom prst="roundRect">
            <a:avLst>
              <a:gd name="adj" fmla="val 5714"/>
            </a:avLst>
          </a:prstGeom>
          <a:solidFill>
            <a:srgbClr val="F3F5F8"/>
          </a:solidFill>
          <a:ln w="12700">
            <a:solidFill>
              <a:srgbClr val="F3F5F8"/>
            </a:solidFill>
            <a:prstDash val="solid"/>
          </a:ln>
        </p:spPr>
      </p:sp>
      <p:sp>
        <p:nvSpPr>
          <p:cNvPr id="10" name="Shape 8"/>
          <p:cNvSpPr/>
          <p:nvPr/>
        </p:nvSpPr>
        <p:spPr>
          <a:xfrm>
            <a:off x="2286000" y="1261872"/>
            <a:ext cx="402336" cy="402336"/>
          </a:xfrm>
          <a:prstGeom prst="ellipse">
            <a:avLst/>
          </a:prstGeom>
          <a:solidFill>
            <a:srgbClr val="3C6E9F"/>
          </a:solidFill>
          <a:ln w="12700">
            <a:solidFill>
              <a:srgbClr val="3C6E9F"/>
            </a:solidFill>
            <a:prstDash val="solid"/>
          </a:ln>
        </p:spPr>
      </p:sp>
      <p:sp>
        <p:nvSpPr>
          <p:cNvPr id="11" name="Text 9"/>
          <p:cNvSpPr txBox="1"/>
          <p:nvPr/>
        </p:nvSpPr>
        <p:spPr>
          <a:xfrm>
            <a:off x="2286000"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1920240"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Choose</a:t>
            </a:r>
            <a:endParaRPr lang="en-US" sz="1600" dirty="0"/>
          </a:p>
        </p:txBody>
      </p:sp>
      <p:sp>
        <p:nvSpPr>
          <p:cNvPr id="13" name="Text 11"/>
          <p:cNvSpPr txBox="1"/>
          <p:nvPr/>
        </p:nvSpPr>
        <p:spPr>
          <a:xfrm>
            <a:off x="1938528"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Cost model: fixed price, per mile or per driving hour</a:t>
            </a:r>
            <a:endParaRPr lang="en-US" sz="1200" dirty="0"/>
          </a:p>
        </p:txBody>
      </p:sp>
      <p:sp>
        <p:nvSpPr>
          <p:cNvPr id="14" name="Text 12"/>
          <p:cNvSpPr txBox="1"/>
          <p:nvPr/>
        </p:nvSpPr>
        <p:spPr>
          <a:xfrm>
            <a:off x="3118104" y="2011680"/>
            <a:ext cx="128016" cy="365760"/>
          </a:xfrm>
          <a:prstGeom prst="rect">
            <a:avLst/>
          </a:prstGeom>
          <a:noFill/>
          <a:ln/>
        </p:spPr>
        <p:txBody>
          <a:bodyPr wrap="square" lIns="0" tIns="0" rIns="0" bIns="0" rtlCol="0" anchor="ctr"/>
          <a:lstStyle/>
          <a:p>
            <a:pPr marL="0" indent="0" algn="ctr">
              <a:buNone/>
            </a:pPr>
            <a:r>
              <a:rPr lang="en-US" sz="1800" b="1" dirty="0">
                <a:solidFill>
                  <a:schemeClr val="accent6"/>
                </a:solidFill>
              </a:rPr>
              <a:t>›</a:t>
            </a:r>
            <a:endParaRPr lang="en-US" sz="1800" dirty="0"/>
          </a:p>
        </p:txBody>
      </p:sp>
      <p:sp>
        <p:nvSpPr>
          <p:cNvPr id="15" name="Step Optimise"/>
          <p:cNvSpPr/>
          <p:nvPr/>
        </p:nvSpPr>
        <p:spPr>
          <a:xfrm>
            <a:off x="3236976" y="1097280"/>
            <a:ext cx="1280160" cy="2331720"/>
          </a:xfrm>
          <a:prstGeom prst="roundRect">
            <a:avLst>
              <a:gd name="adj" fmla="val 5714"/>
            </a:avLst>
          </a:prstGeom>
          <a:solidFill>
            <a:srgbClr val="F3F5F8"/>
          </a:solidFill>
          <a:ln w="12700">
            <a:solidFill>
              <a:srgbClr val="F3F5F8"/>
            </a:solidFill>
            <a:prstDash val="solid"/>
          </a:ln>
        </p:spPr>
      </p:sp>
      <p:sp>
        <p:nvSpPr>
          <p:cNvPr id="16" name="Shape 14"/>
          <p:cNvSpPr/>
          <p:nvPr/>
        </p:nvSpPr>
        <p:spPr>
          <a:xfrm>
            <a:off x="3675888" y="1261872"/>
            <a:ext cx="402336" cy="402336"/>
          </a:xfrm>
          <a:prstGeom prst="ellipse">
            <a:avLst/>
          </a:prstGeom>
          <a:solidFill>
            <a:srgbClr val="D6453D"/>
          </a:solidFill>
          <a:ln w="12700">
            <a:solidFill>
              <a:srgbClr val="D6453D"/>
            </a:solidFill>
            <a:prstDash val="solid"/>
          </a:ln>
        </p:spPr>
      </p:sp>
      <p:sp>
        <p:nvSpPr>
          <p:cNvPr id="17" name="Text 15"/>
          <p:cNvSpPr txBox="1"/>
          <p:nvPr/>
        </p:nvSpPr>
        <p:spPr>
          <a:xfrm>
            <a:off x="3675888"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6"/>
          <p:cNvSpPr txBox="1"/>
          <p:nvPr/>
        </p:nvSpPr>
        <p:spPr>
          <a:xfrm>
            <a:off x="3310128"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Optimise</a:t>
            </a:r>
            <a:endParaRPr lang="en-US" sz="1600" dirty="0"/>
          </a:p>
        </p:txBody>
      </p:sp>
      <p:sp>
        <p:nvSpPr>
          <p:cNvPr id="19" name="Text 17"/>
          <p:cNvSpPr txBox="1"/>
          <p:nvPr/>
        </p:nvSpPr>
        <p:spPr>
          <a:xfrm>
            <a:off x="3328416"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OR-Tools groups schools onto buses and orders pickups</a:t>
            </a:r>
            <a:endParaRPr lang="en-US" sz="1200" dirty="0"/>
          </a:p>
        </p:txBody>
      </p:sp>
      <p:sp>
        <p:nvSpPr>
          <p:cNvPr id="20" name="Text 18"/>
          <p:cNvSpPr txBox="1"/>
          <p:nvPr/>
        </p:nvSpPr>
        <p:spPr>
          <a:xfrm>
            <a:off x="4507992" y="2011680"/>
            <a:ext cx="128016" cy="365760"/>
          </a:xfrm>
          <a:prstGeom prst="rect">
            <a:avLst/>
          </a:prstGeom>
          <a:noFill/>
          <a:ln/>
        </p:spPr>
        <p:txBody>
          <a:bodyPr wrap="square" lIns="0" tIns="0" rIns="0" bIns="0" rtlCol="0" anchor="ctr"/>
          <a:lstStyle/>
          <a:p>
            <a:pPr marL="0" indent="0" algn="ctr">
              <a:buNone/>
            </a:pPr>
            <a:r>
              <a:rPr lang="en-US" sz="1800" b="1" dirty="0">
                <a:solidFill>
                  <a:schemeClr val="accent6"/>
                </a:solidFill>
              </a:rPr>
              <a:t>›</a:t>
            </a:r>
            <a:endParaRPr lang="en-US" sz="1800" dirty="0"/>
          </a:p>
        </p:txBody>
      </p:sp>
      <p:sp>
        <p:nvSpPr>
          <p:cNvPr id="21" name="Step Validate"/>
          <p:cNvSpPr/>
          <p:nvPr/>
        </p:nvSpPr>
        <p:spPr>
          <a:xfrm>
            <a:off x="4626864" y="1097280"/>
            <a:ext cx="1280160" cy="2331720"/>
          </a:xfrm>
          <a:prstGeom prst="roundRect">
            <a:avLst>
              <a:gd name="adj" fmla="val 5714"/>
            </a:avLst>
          </a:prstGeom>
          <a:solidFill>
            <a:srgbClr val="F3F5F8"/>
          </a:solidFill>
          <a:ln w="12700">
            <a:solidFill>
              <a:srgbClr val="F3F5F8"/>
            </a:solidFill>
            <a:prstDash val="solid"/>
          </a:ln>
        </p:spPr>
      </p:sp>
      <p:sp>
        <p:nvSpPr>
          <p:cNvPr id="22" name="Shape 20"/>
          <p:cNvSpPr/>
          <p:nvPr/>
        </p:nvSpPr>
        <p:spPr>
          <a:xfrm>
            <a:off x="5065776" y="1261872"/>
            <a:ext cx="402336" cy="402336"/>
          </a:xfrm>
          <a:prstGeom prst="ellipse">
            <a:avLst/>
          </a:prstGeom>
          <a:solidFill>
            <a:srgbClr val="2E7D6B"/>
          </a:solidFill>
          <a:ln w="12700">
            <a:solidFill>
              <a:srgbClr val="2E7D6B"/>
            </a:solidFill>
            <a:prstDash val="solid"/>
          </a:ln>
        </p:spPr>
      </p:sp>
      <p:sp>
        <p:nvSpPr>
          <p:cNvPr id="23" name="Text 21"/>
          <p:cNvSpPr txBox="1"/>
          <p:nvPr/>
        </p:nvSpPr>
        <p:spPr>
          <a:xfrm>
            <a:off x="5065776"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2"/>
          <p:cNvSpPr txBox="1"/>
          <p:nvPr/>
        </p:nvSpPr>
        <p:spPr>
          <a:xfrm>
            <a:off x="4700016"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Validate</a:t>
            </a:r>
            <a:endParaRPr lang="en-US" sz="1600" dirty="0"/>
          </a:p>
        </p:txBody>
      </p:sp>
      <p:sp>
        <p:nvSpPr>
          <p:cNvPr id="25" name="Text 23"/>
          <p:cNvSpPr txBox="1"/>
          <p:nvPr/>
        </p:nvSpPr>
        <p:spPr>
          <a:xfrm>
            <a:off x="4718304"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Separate code re-checks every rule and recomputes costs</a:t>
            </a:r>
            <a:endParaRPr lang="en-US" sz="1200" dirty="0"/>
          </a:p>
        </p:txBody>
      </p:sp>
      <p:sp>
        <p:nvSpPr>
          <p:cNvPr id="26" name="Text 24"/>
          <p:cNvSpPr txBox="1"/>
          <p:nvPr/>
        </p:nvSpPr>
        <p:spPr>
          <a:xfrm>
            <a:off x="5897880" y="2011680"/>
            <a:ext cx="128016" cy="365760"/>
          </a:xfrm>
          <a:prstGeom prst="rect">
            <a:avLst/>
          </a:prstGeom>
          <a:noFill/>
          <a:ln/>
        </p:spPr>
        <p:txBody>
          <a:bodyPr wrap="square" lIns="0" tIns="0" rIns="0" bIns="0" rtlCol="0" anchor="ctr"/>
          <a:lstStyle/>
          <a:p>
            <a:pPr marL="0" indent="0" algn="ctr">
              <a:buNone/>
            </a:pPr>
            <a:r>
              <a:rPr lang="en-US" sz="1800" b="1" dirty="0">
                <a:solidFill>
                  <a:schemeClr val="accent6"/>
                </a:solidFill>
              </a:rPr>
              <a:t>›</a:t>
            </a:r>
            <a:endParaRPr lang="en-US" sz="1800" dirty="0"/>
          </a:p>
        </p:txBody>
      </p:sp>
      <p:sp>
        <p:nvSpPr>
          <p:cNvPr id="27" name="Step Show"/>
          <p:cNvSpPr/>
          <p:nvPr/>
        </p:nvSpPr>
        <p:spPr>
          <a:xfrm>
            <a:off x="6016752" y="1097280"/>
            <a:ext cx="1280160" cy="2331720"/>
          </a:xfrm>
          <a:prstGeom prst="roundRect">
            <a:avLst>
              <a:gd name="adj" fmla="val 5714"/>
            </a:avLst>
          </a:prstGeom>
          <a:solidFill>
            <a:srgbClr val="F3F5F8"/>
          </a:solidFill>
          <a:ln w="12700">
            <a:solidFill>
              <a:srgbClr val="F3F5F8"/>
            </a:solidFill>
            <a:prstDash val="solid"/>
          </a:ln>
        </p:spPr>
      </p:sp>
      <p:sp>
        <p:nvSpPr>
          <p:cNvPr id="28" name="Shape 26"/>
          <p:cNvSpPr/>
          <p:nvPr/>
        </p:nvSpPr>
        <p:spPr>
          <a:xfrm>
            <a:off x="6455664" y="1261872"/>
            <a:ext cx="402336" cy="402336"/>
          </a:xfrm>
          <a:prstGeom prst="ellipse">
            <a:avLst/>
          </a:prstGeom>
          <a:solidFill>
            <a:srgbClr val="7A5BA6"/>
          </a:solidFill>
          <a:ln w="12700">
            <a:solidFill>
              <a:srgbClr val="7A5BA6"/>
            </a:solidFill>
            <a:prstDash val="solid"/>
          </a:ln>
        </p:spPr>
      </p:sp>
      <p:sp>
        <p:nvSpPr>
          <p:cNvPr id="29" name="Text 27"/>
          <p:cNvSpPr txBox="1"/>
          <p:nvPr/>
        </p:nvSpPr>
        <p:spPr>
          <a:xfrm>
            <a:off x="6455664"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0" name="Text 28"/>
          <p:cNvSpPr txBox="1"/>
          <p:nvPr/>
        </p:nvSpPr>
        <p:spPr>
          <a:xfrm>
            <a:off x="6089904"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Show</a:t>
            </a:r>
            <a:endParaRPr lang="en-US" sz="1600" dirty="0"/>
          </a:p>
        </p:txBody>
      </p:sp>
      <p:sp>
        <p:nvSpPr>
          <p:cNvPr id="31" name="Text 29"/>
          <p:cNvSpPr txBox="1"/>
          <p:nvPr/>
        </p:nvSpPr>
        <p:spPr>
          <a:xfrm>
            <a:off x="6108192"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Dashboard, route map, compare and scenario views</a:t>
            </a:r>
            <a:endParaRPr lang="en-US" sz="1200" dirty="0"/>
          </a:p>
        </p:txBody>
      </p:sp>
      <p:sp>
        <p:nvSpPr>
          <p:cNvPr id="32" name="Text 30"/>
          <p:cNvSpPr txBox="1"/>
          <p:nvPr/>
        </p:nvSpPr>
        <p:spPr>
          <a:xfrm>
            <a:off x="7287768" y="2011680"/>
            <a:ext cx="128016" cy="365760"/>
          </a:xfrm>
          <a:prstGeom prst="rect">
            <a:avLst/>
          </a:prstGeom>
          <a:noFill/>
          <a:ln/>
        </p:spPr>
        <p:txBody>
          <a:bodyPr wrap="square" lIns="0" tIns="0" rIns="0" bIns="0" rtlCol="0" anchor="ctr"/>
          <a:lstStyle/>
          <a:p>
            <a:pPr marL="0" indent="0" algn="ctr">
              <a:buNone/>
            </a:pPr>
            <a:r>
              <a:rPr lang="en-US" sz="1800" b="1" dirty="0">
                <a:solidFill>
                  <a:schemeClr val="accent6"/>
                </a:solidFill>
              </a:rPr>
              <a:t>›</a:t>
            </a:r>
            <a:endParaRPr lang="en-US" sz="1800" dirty="0"/>
          </a:p>
        </p:txBody>
      </p:sp>
      <p:sp>
        <p:nvSpPr>
          <p:cNvPr id="33" name="Step Export"/>
          <p:cNvSpPr/>
          <p:nvPr/>
        </p:nvSpPr>
        <p:spPr>
          <a:xfrm>
            <a:off x="7406640" y="1097280"/>
            <a:ext cx="1280160" cy="2331720"/>
          </a:xfrm>
          <a:prstGeom prst="roundRect">
            <a:avLst>
              <a:gd name="adj" fmla="val 5714"/>
            </a:avLst>
          </a:prstGeom>
          <a:solidFill>
            <a:srgbClr val="F3F5F8"/>
          </a:solidFill>
          <a:ln w="12700">
            <a:solidFill>
              <a:srgbClr val="F3F5F8"/>
            </a:solidFill>
            <a:prstDash val="solid"/>
          </a:ln>
        </p:spPr>
      </p:sp>
      <p:sp>
        <p:nvSpPr>
          <p:cNvPr id="34" name="Shape 32"/>
          <p:cNvSpPr/>
          <p:nvPr/>
        </p:nvSpPr>
        <p:spPr>
          <a:xfrm>
            <a:off x="7845552" y="1261872"/>
            <a:ext cx="402336" cy="402336"/>
          </a:xfrm>
          <a:prstGeom prst="ellipse">
            <a:avLst/>
          </a:prstGeom>
          <a:solidFill>
            <a:srgbClr val="E9A23B"/>
          </a:solidFill>
          <a:ln w="12700">
            <a:solidFill>
              <a:srgbClr val="E9A23B"/>
            </a:solidFill>
            <a:prstDash val="solid"/>
          </a:ln>
        </p:spPr>
      </p:sp>
      <p:sp>
        <p:nvSpPr>
          <p:cNvPr id="35" name="Text 33"/>
          <p:cNvSpPr txBox="1"/>
          <p:nvPr/>
        </p:nvSpPr>
        <p:spPr>
          <a:xfrm>
            <a:off x="7845552" y="1261872"/>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6" name="Text 34"/>
          <p:cNvSpPr txBox="1"/>
          <p:nvPr/>
        </p:nvSpPr>
        <p:spPr>
          <a:xfrm>
            <a:off x="7479792" y="1783080"/>
            <a:ext cx="1133856" cy="320040"/>
          </a:xfrm>
          <a:prstGeom prst="rect">
            <a:avLst/>
          </a:prstGeom>
          <a:noFill/>
          <a:ln/>
        </p:spPr>
        <p:txBody>
          <a:bodyPr wrap="square" lIns="0" tIns="0" rIns="0" bIns="0" rtlCol="0" anchor="t"/>
          <a:lstStyle/>
          <a:p>
            <a:pPr marL="0" indent="0" algn="ctr">
              <a:buNone/>
            </a:pPr>
            <a:r>
              <a:rPr lang="en-US" sz="1600" b="1" dirty="0">
                <a:solidFill>
                  <a:schemeClr val="tx1"/>
                </a:solidFill>
              </a:rPr>
              <a:t>Export</a:t>
            </a:r>
            <a:endParaRPr lang="en-US" sz="1600" dirty="0"/>
          </a:p>
        </p:txBody>
      </p:sp>
      <p:sp>
        <p:nvSpPr>
          <p:cNvPr id="37" name="Text 35"/>
          <p:cNvSpPr txBox="1"/>
          <p:nvPr/>
        </p:nvSpPr>
        <p:spPr>
          <a:xfrm>
            <a:off x="7498080" y="2148840"/>
            <a:ext cx="1097280" cy="1188720"/>
          </a:xfrm>
          <a:prstGeom prst="rect">
            <a:avLst/>
          </a:prstGeom>
          <a:noFill/>
          <a:ln/>
        </p:spPr>
        <p:txBody>
          <a:bodyPr wrap="square" lIns="0" tIns="0" rIns="0" bIns="0" rtlCol="0" anchor="t"/>
          <a:lstStyle/>
          <a:p>
            <a:pPr marL="0" indent="0" algn="ctr">
              <a:buNone/>
            </a:pPr>
            <a:r>
              <a:rPr lang="en-US" sz="1200" dirty="0">
                <a:solidFill>
                  <a:schemeClr val="accent6"/>
                </a:solidFill>
              </a:rPr>
              <a:t>Plan CSV, report, audit report, metrics CSV</a:t>
            </a:r>
            <a:endParaRPr lang="en-US" sz="1200" dirty="0"/>
          </a:p>
        </p:txBody>
      </p:sp>
      <p:sp>
        <p:nvSpPr>
          <p:cNvPr id="38" name="Key point"/>
          <p:cNvSpPr/>
          <p:nvPr/>
        </p:nvSpPr>
        <p:spPr>
          <a:xfrm>
            <a:off x="457200" y="3657600"/>
            <a:ext cx="8229600" cy="868680"/>
          </a:xfrm>
          <a:prstGeom prst="roundRect">
            <a:avLst>
              <a:gd name="adj" fmla="val 8421"/>
            </a:avLst>
          </a:prstGeom>
          <a:solidFill>
            <a:srgbClr val="FBEAE8"/>
          </a:solidFill>
          <a:ln w="12700">
            <a:solidFill>
              <a:srgbClr val="FBEAE8"/>
            </a:solidFill>
            <a:prstDash val="solid"/>
          </a:ln>
        </p:spPr>
      </p:sp>
      <p:sp>
        <p:nvSpPr>
          <p:cNvPr id="39" name="Text 37"/>
          <p:cNvSpPr txBox="1"/>
          <p:nvPr/>
        </p:nvSpPr>
        <p:spPr>
          <a:xfrm>
            <a:off x="640080" y="3657600"/>
            <a:ext cx="7863840" cy="868680"/>
          </a:xfrm>
          <a:prstGeom prst="rect">
            <a:avLst/>
          </a:prstGeom>
          <a:noFill/>
          <a:ln/>
        </p:spPr>
        <p:txBody>
          <a:bodyPr wrap="square" lIns="0" tIns="0" rIns="0" bIns="0" rtlCol="0" anchor="ctr"/>
          <a:lstStyle/>
          <a:p>
            <a:pPr marL="0" indent="0">
              <a:buNone/>
            </a:pPr>
            <a:r>
              <a:rPr lang="en-US" sz="1400" b="1" dirty="0">
                <a:solidFill>
                  <a:schemeClr val="accent1"/>
                </a:solidFill>
              </a:rPr>
              <a:t>A plan that fails validation is never shown or exported. </a:t>
            </a:r>
            <a:r>
              <a:rPr lang="en-US" sz="1400" dirty="0">
                <a:solidFill>
                  <a:schemeClr val="tx1"/>
                </a:solidFill>
              </a:rPr>
              <a:t>When attendance changes, the fixed-price model re-plans automatically, starting from the previous plan.</a:t>
            </a:r>
            <a:endParaRPr lang="en-US" sz="1400" dirty="0"/>
          </a:p>
        </p:txBody>
      </p:sp>
      <p:sp>
        <p:nvSpPr>
          <p:cNvPr id="40"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Algorithms: three cost models, one set of hard rules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120640" cy="1865376"/>
        </p:xfrm>
        <a:graphic>
          <a:graphicData uri="http://schemas.openxmlformats.org/drawingml/2006/table">
            <a:tbl>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38912">
                <a:tc>
                  <a:txBody>
                    <a:bodyPr/>
                    <a:lstStyle/>
                    <a:p>
                      <a:pPr marL="0" indent="0" algn="l">
                        <a:buNone/>
                      </a:pPr>
                      <a:r>
                        <a:rPr lang="en-US" sz="1200" b="1" dirty="0">
                          <a:solidFill>
                            <a:srgbClr val="FFFFFF"/>
                          </a:solidFill>
                        </a:rPr>
                        <a:t>Cost model</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B2A41"/>
                    </a:solidFill>
                  </a:tcPr>
                </a:tc>
                <a:tc>
                  <a:txBody>
                    <a:bodyPr/>
                    <a:lstStyle/>
                    <a:p>
                      <a:pPr marL="0" indent="0" algn="l">
                        <a:buNone/>
                      </a:pPr>
                      <a:r>
                        <a:rPr lang="en-US" sz="1200" b="1" dirty="0">
                          <a:solidFill>
                            <a:srgbClr val="FFFFFF"/>
                          </a:solidFill>
                        </a:rPr>
                        <a:t>Method (OR-Tools)</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B2A41"/>
                    </a:solidFill>
                  </a:tcPr>
                </a:tc>
                <a:tc>
                  <a:txBody>
                    <a:bodyPr/>
                    <a:lstStyle/>
                    <a:p>
                      <a:pPr marL="0" indent="0" algn="l">
                        <a:buNone/>
                      </a:pPr>
                      <a:r>
                        <a:rPr lang="en-US" sz="1200" b="1" dirty="0">
                          <a:solidFill>
                            <a:srgbClr val="FFFFFF"/>
                          </a:solidFill>
                        </a:rPr>
                        <a:t>Result</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38912">
                <a:tc>
                  <a:txBody>
                    <a:bodyPr/>
                    <a:lstStyle/>
                    <a:p>
                      <a:pPr marL="0" indent="0">
                        <a:buNone/>
                      </a:pPr>
                      <a:r>
                        <a:rPr lang="en-US" sz="1200" b="1" dirty="0">
                          <a:solidFill>
                            <a:srgbClr val="1B2A41"/>
                          </a:solidFill>
                        </a:rPr>
                        <a:t>Fixed price per bus</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1B2A41"/>
                          </a:solidFill>
                        </a:rPr>
                        <a:t>CP-SAT constraint solver: exact bin packing</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b="1" dirty="0">
                          <a:solidFill>
                            <a:srgbClr val="2E7D6B"/>
                          </a:solidFill>
                        </a:rPr>
                        <a:t>Proven optimal</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200" b="1" dirty="0">
                          <a:solidFill>
                            <a:srgbClr val="1B2A41"/>
                          </a:solidFill>
                        </a:rPr>
                        <a:t>Price × straight-line miles</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1B2A41"/>
                          </a:solidFill>
                        </a:rPr>
                        <a:t>Vehicle routing: cheapest-arc start + guided local search</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b="1" dirty="0">
                          <a:solidFill>
                            <a:srgbClr val="3C6E9F"/>
                          </a:solidFill>
                        </a:rPr>
                        <a:t>Best found in time limit</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200" b="1" dirty="0">
                          <a:solidFill>
                            <a:srgbClr val="1B2A41"/>
                          </a:solidFill>
                        </a:rPr>
                        <a:t>Price × road driving hours</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1B2A41"/>
                          </a:solidFill>
                        </a:rPr>
                        <a:t>Same routing search on OSRM road times</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buNone/>
                      </a:pPr>
                      <a:r>
                        <a:rPr lang="en-US" sz="1200" b="1" dirty="0">
                          <a:solidFill>
                            <a:srgbClr val="3C6E9F"/>
                          </a:solidFill>
                        </a:rPr>
                        <a:t>Best found in time limit</a:t>
                      </a:r>
                      <a:endParaRPr lang="en-US" sz="1200" dirty="0"/>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txBox="1"/>
          <p:nvPr/>
        </p:nvSpPr>
        <p:spPr>
          <a:xfrm>
            <a:off x="457200" y="2971800"/>
            <a:ext cx="5120640" cy="274320"/>
          </a:xfrm>
          <a:prstGeom prst="rect">
            <a:avLst/>
          </a:prstGeom>
          <a:noFill/>
          <a:ln/>
        </p:spPr>
        <p:txBody>
          <a:bodyPr wrap="square" lIns="0" tIns="0" rIns="0" bIns="0" rtlCol="0" anchor="t"/>
          <a:lstStyle/>
          <a:p>
            <a:pPr marL="0" indent="0">
              <a:buNone/>
            </a:pPr>
            <a:r>
              <a:rPr lang="en-US" sz="1500" b="1" dirty="0">
                <a:solidFill>
                  <a:schemeClr val="tx1"/>
                </a:solidFill>
              </a:rPr>
              <a:t>Hard rules in every model</a:t>
            </a:r>
            <a:endParaRPr lang="en-US" sz="1500" dirty="0"/>
          </a:p>
        </p:txBody>
      </p:sp>
      <p:sp>
        <p:nvSpPr>
          <p:cNvPr id="3" name="Text 2"/>
          <p:cNvSpPr txBox="1"/>
          <p:nvPr/>
        </p:nvSpPr>
        <p:spPr>
          <a:xfrm>
            <a:off x="457200" y="3291840"/>
            <a:ext cx="512064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No school split between buses</a:t>
            </a:r>
            <a:endParaRPr lang="en-US" sz="1300" dirty="0"/>
          </a:p>
          <a:p>
            <a:pPr marL="342900" indent="-342900">
              <a:spcAft>
                <a:spcPts val="400"/>
              </a:spcAft>
              <a:buSzPct val="100000"/>
              <a:buChar char="•"/>
            </a:pPr>
            <a:r>
              <a:rPr lang="en-US" sz="1300" dirty="0">
                <a:solidFill>
                  <a:schemeClr val="tx1"/>
                </a:solidFill>
              </a:rPr>
              <a:t>No bus over capacity; only the supplied 15/35/50 sizes and prices</a:t>
            </a:r>
            <a:endParaRPr lang="en-US" sz="1300" dirty="0"/>
          </a:p>
          <a:p>
            <a:pPr marL="342900" indent="-342900">
              <a:spcAft>
                <a:spcPts val="400"/>
              </a:spcAft>
              <a:buSzPct val="100000"/>
              <a:buChar char="•"/>
            </a:pPr>
            <a:r>
              <a:rPr lang="en-US" sz="1300" dirty="0">
                <a:solidFill>
                  <a:schemeClr val="tx1"/>
                </a:solidFill>
              </a:rPr>
              <a:t>Every attendee allocated; independent validator re-checks all of it</a:t>
            </a:r>
            <a:endParaRPr lang="en-US" sz="1300" dirty="0"/>
          </a:p>
        </p:txBody>
      </p:sp>
      <p:sp>
        <p:nvSpPr>
          <p:cNvPr id="6" name="AI types"/>
          <p:cNvSpPr/>
          <p:nvPr/>
        </p:nvSpPr>
        <p:spPr>
          <a:xfrm>
            <a:off x="5852160" y="1005840"/>
            <a:ext cx="2834640" cy="3566160"/>
          </a:xfrm>
          <a:prstGeom prst="roundRect">
            <a:avLst>
              <a:gd name="adj" fmla="val 2581"/>
            </a:avLst>
          </a:prstGeom>
          <a:solidFill>
            <a:srgbClr val="F3F5F8"/>
          </a:solidFill>
          <a:ln w="12700">
            <a:solidFill>
              <a:srgbClr val="F3F5F8"/>
            </a:solidFill>
            <a:prstDash val="solid"/>
          </a:ln>
        </p:spPr>
      </p:sp>
      <p:sp>
        <p:nvSpPr>
          <p:cNvPr id="7" name="Text 4"/>
          <p:cNvSpPr txBox="1"/>
          <p:nvPr/>
        </p:nvSpPr>
        <p:spPr>
          <a:xfrm>
            <a:off x="6035040" y="1097280"/>
            <a:ext cx="2560320" cy="274320"/>
          </a:xfrm>
          <a:prstGeom prst="rect">
            <a:avLst/>
          </a:prstGeom>
          <a:noFill/>
          <a:ln/>
        </p:spPr>
        <p:txBody>
          <a:bodyPr wrap="square" lIns="0" tIns="0" rIns="0" bIns="0" rtlCol="0" anchor="t"/>
          <a:lstStyle/>
          <a:p>
            <a:pPr marL="0" indent="0">
              <a:buNone/>
            </a:pPr>
            <a:r>
              <a:rPr lang="en-US" sz="1400" b="1" dirty="0">
                <a:solidFill>
                  <a:schemeClr val="tx1"/>
                </a:solidFill>
              </a:rPr>
              <a:t>What kind of AI, where</a:t>
            </a:r>
            <a:endParaRPr lang="en-US" sz="1400" dirty="0"/>
          </a:p>
        </p:txBody>
      </p:sp>
      <p:sp>
        <p:nvSpPr>
          <p:cNvPr id="8" name="Shape 5"/>
          <p:cNvSpPr/>
          <p:nvPr/>
        </p:nvSpPr>
        <p:spPr>
          <a:xfrm>
            <a:off x="6035040" y="1508760"/>
            <a:ext cx="164592" cy="164592"/>
          </a:xfrm>
          <a:prstGeom prst="ellipse">
            <a:avLst/>
          </a:prstGeom>
          <a:solidFill>
            <a:srgbClr val="2E7D6B"/>
          </a:solidFill>
          <a:ln w="12700">
            <a:solidFill>
              <a:srgbClr val="2E7D6B"/>
            </a:solidFill>
            <a:prstDash val="solid"/>
          </a:ln>
        </p:spPr>
      </p:sp>
      <p:sp>
        <p:nvSpPr>
          <p:cNvPr id="9" name="Text 6"/>
          <p:cNvSpPr txBox="1"/>
          <p:nvPr/>
        </p:nvSpPr>
        <p:spPr>
          <a:xfrm>
            <a:off x="6291072" y="1463040"/>
            <a:ext cx="2286000" cy="256032"/>
          </a:xfrm>
          <a:prstGeom prst="rect">
            <a:avLst/>
          </a:prstGeom>
          <a:noFill/>
          <a:ln/>
        </p:spPr>
        <p:txBody>
          <a:bodyPr wrap="square" lIns="0" tIns="0" rIns="0" bIns="0" rtlCol="0" anchor="t"/>
          <a:lstStyle/>
          <a:p>
            <a:pPr marL="0" indent="0">
              <a:buNone/>
            </a:pPr>
            <a:r>
              <a:rPr lang="en-US" sz="1200" b="1" dirty="0">
                <a:solidFill>
                  <a:schemeClr val="tx1"/>
                </a:solidFill>
              </a:rPr>
              <a:t>Constraint optimisation</a:t>
            </a:r>
            <a:endParaRPr lang="en-US" sz="1200" dirty="0"/>
          </a:p>
        </p:txBody>
      </p:sp>
      <p:sp>
        <p:nvSpPr>
          <p:cNvPr id="10" name="Text 7"/>
          <p:cNvSpPr txBox="1"/>
          <p:nvPr/>
        </p:nvSpPr>
        <p:spPr>
          <a:xfrm>
            <a:off x="6291072" y="1719072"/>
            <a:ext cx="2286000" cy="457200"/>
          </a:xfrm>
          <a:prstGeom prst="rect">
            <a:avLst/>
          </a:prstGeom>
          <a:noFill/>
          <a:ln/>
        </p:spPr>
        <p:txBody>
          <a:bodyPr wrap="square" lIns="0" tIns="0" rIns="0" bIns="0" rtlCol="0" anchor="t"/>
          <a:lstStyle/>
          <a:p>
            <a:pPr marL="0" indent="0">
              <a:buNone/>
            </a:pPr>
            <a:r>
              <a:rPr lang="en-US" sz="1100" dirty="0">
                <a:solidFill>
                  <a:schemeClr val="accent6"/>
                </a:solidFill>
              </a:rPr>
              <a:t>CP-SAT: decides the plan</a:t>
            </a:r>
            <a:endParaRPr lang="en-US" sz="1100" dirty="0"/>
          </a:p>
        </p:txBody>
      </p:sp>
      <p:sp>
        <p:nvSpPr>
          <p:cNvPr id="11" name="Shape 8"/>
          <p:cNvSpPr/>
          <p:nvPr/>
        </p:nvSpPr>
        <p:spPr>
          <a:xfrm>
            <a:off x="6035040" y="2267712"/>
            <a:ext cx="164592" cy="164592"/>
          </a:xfrm>
          <a:prstGeom prst="ellipse">
            <a:avLst/>
          </a:prstGeom>
          <a:solidFill>
            <a:srgbClr val="3C6E9F"/>
          </a:solidFill>
          <a:ln w="12700">
            <a:solidFill>
              <a:srgbClr val="3C6E9F"/>
            </a:solidFill>
            <a:prstDash val="solid"/>
          </a:ln>
        </p:spPr>
      </p:sp>
      <p:sp>
        <p:nvSpPr>
          <p:cNvPr id="12" name="Text 9"/>
          <p:cNvSpPr txBox="1"/>
          <p:nvPr/>
        </p:nvSpPr>
        <p:spPr>
          <a:xfrm>
            <a:off x="6291072" y="2221992"/>
            <a:ext cx="2286000" cy="256032"/>
          </a:xfrm>
          <a:prstGeom prst="rect">
            <a:avLst/>
          </a:prstGeom>
          <a:noFill/>
          <a:ln/>
        </p:spPr>
        <p:txBody>
          <a:bodyPr wrap="square" lIns="0" tIns="0" rIns="0" bIns="0" rtlCol="0" anchor="t"/>
          <a:lstStyle/>
          <a:p>
            <a:pPr marL="0" indent="0">
              <a:buNone/>
            </a:pPr>
            <a:r>
              <a:rPr lang="en-US" sz="1200" b="1" dirty="0">
                <a:solidFill>
                  <a:schemeClr val="tx1"/>
                </a:solidFill>
              </a:rPr>
              <a:t>Heuristic search</a:t>
            </a:r>
            <a:endParaRPr lang="en-US" sz="1200" dirty="0"/>
          </a:p>
        </p:txBody>
      </p:sp>
      <p:sp>
        <p:nvSpPr>
          <p:cNvPr id="13" name="Text 10"/>
          <p:cNvSpPr txBox="1"/>
          <p:nvPr/>
        </p:nvSpPr>
        <p:spPr>
          <a:xfrm>
            <a:off x="6291072" y="2478024"/>
            <a:ext cx="2286000" cy="457200"/>
          </a:xfrm>
          <a:prstGeom prst="rect">
            <a:avLst/>
          </a:prstGeom>
          <a:noFill/>
          <a:ln/>
        </p:spPr>
        <p:txBody>
          <a:bodyPr wrap="square" lIns="0" tIns="0" rIns="0" bIns="0" rtlCol="0" anchor="t"/>
          <a:lstStyle/>
          <a:p>
            <a:pPr marL="0" indent="0">
              <a:buNone/>
            </a:pPr>
            <a:r>
              <a:rPr lang="en-US" sz="1100" dirty="0">
                <a:solidFill>
                  <a:schemeClr val="accent6"/>
                </a:solidFill>
              </a:rPr>
              <a:t>Routing: best plan found, never called optimal</a:t>
            </a:r>
            <a:endParaRPr lang="en-US" sz="1100" dirty="0"/>
          </a:p>
        </p:txBody>
      </p:sp>
      <p:sp>
        <p:nvSpPr>
          <p:cNvPr id="14" name="Shape 11"/>
          <p:cNvSpPr/>
          <p:nvPr/>
        </p:nvSpPr>
        <p:spPr>
          <a:xfrm>
            <a:off x="6035040" y="3026664"/>
            <a:ext cx="164592" cy="164592"/>
          </a:xfrm>
          <a:prstGeom prst="ellipse">
            <a:avLst/>
          </a:prstGeom>
          <a:solidFill>
            <a:srgbClr val="D6453D"/>
          </a:solidFill>
          <a:ln w="12700">
            <a:solidFill>
              <a:srgbClr val="D6453D"/>
            </a:solidFill>
            <a:prstDash val="solid"/>
          </a:ln>
        </p:spPr>
      </p:sp>
      <p:sp>
        <p:nvSpPr>
          <p:cNvPr id="15" name="Text 12"/>
          <p:cNvSpPr txBox="1"/>
          <p:nvPr/>
        </p:nvSpPr>
        <p:spPr>
          <a:xfrm>
            <a:off x="6291072" y="2980944"/>
            <a:ext cx="2286000" cy="256032"/>
          </a:xfrm>
          <a:prstGeom prst="rect">
            <a:avLst/>
          </a:prstGeom>
          <a:noFill/>
          <a:ln/>
        </p:spPr>
        <p:txBody>
          <a:bodyPr wrap="square" lIns="0" tIns="0" rIns="0" bIns="0" rtlCol="0" anchor="t"/>
          <a:lstStyle/>
          <a:p>
            <a:pPr marL="0" indent="0">
              <a:buNone/>
            </a:pPr>
            <a:r>
              <a:rPr lang="en-US" sz="1200" b="1" dirty="0">
                <a:solidFill>
                  <a:schemeClr val="tx1"/>
                </a:solidFill>
              </a:rPr>
              <a:t>Generative AI</a:t>
            </a:r>
            <a:endParaRPr lang="en-US" sz="1200" dirty="0"/>
          </a:p>
        </p:txBody>
      </p:sp>
      <p:sp>
        <p:nvSpPr>
          <p:cNvPr id="16" name="Text 13"/>
          <p:cNvSpPr txBox="1"/>
          <p:nvPr/>
        </p:nvSpPr>
        <p:spPr>
          <a:xfrm>
            <a:off x="6291072" y="3236976"/>
            <a:ext cx="2286000" cy="457200"/>
          </a:xfrm>
          <a:prstGeom prst="rect">
            <a:avLst/>
          </a:prstGeom>
          <a:noFill/>
          <a:ln/>
        </p:spPr>
        <p:txBody>
          <a:bodyPr wrap="square" lIns="0" tIns="0" rIns="0" bIns="0" rtlCol="0" anchor="t"/>
          <a:lstStyle/>
          <a:p>
            <a:pPr marL="0" indent="0">
              <a:buNone/>
            </a:pPr>
            <a:r>
              <a:rPr lang="en-US" sz="1100" dirty="0">
                <a:solidFill>
                  <a:schemeClr val="accent6"/>
                </a:solidFill>
              </a:rPr>
              <a:t>GPT-4.1 mini assistant: proposes only, you approve</a:t>
            </a:r>
            <a:endParaRPr lang="en-US" sz="1100" dirty="0"/>
          </a:p>
        </p:txBody>
      </p:sp>
      <p:sp>
        <p:nvSpPr>
          <p:cNvPr id="17" name="Shape 14"/>
          <p:cNvSpPr/>
          <p:nvPr/>
        </p:nvSpPr>
        <p:spPr>
          <a:xfrm>
            <a:off x="6035040" y="3785616"/>
            <a:ext cx="164592" cy="164592"/>
          </a:xfrm>
          <a:prstGeom prst="ellipse">
            <a:avLst/>
          </a:prstGeom>
          <a:solidFill>
            <a:srgbClr val="7A5BA6"/>
          </a:solidFill>
          <a:ln w="12700">
            <a:solidFill>
              <a:srgbClr val="7A5BA6"/>
            </a:solidFill>
            <a:prstDash val="solid"/>
          </a:ln>
        </p:spPr>
      </p:sp>
      <p:sp>
        <p:nvSpPr>
          <p:cNvPr id="18" name="Text 15"/>
          <p:cNvSpPr txBox="1"/>
          <p:nvPr/>
        </p:nvSpPr>
        <p:spPr>
          <a:xfrm>
            <a:off x="6291072" y="3739896"/>
            <a:ext cx="2286000" cy="256032"/>
          </a:xfrm>
          <a:prstGeom prst="rect">
            <a:avLst/>
          </a:prstGeom>
          <a:noFill/>
          <a:ln/>
        </p:spPr>
        <p:txBody>
          <a:bodyPr wrap="square" lIns="0" tIns="0" rIns="0" bIns="0" rtlCol="0" anchor="t"/>
          <a:lstStyle/>
          <a:p>
            <a:pPr marL="0" indent="0">
              <a:buNone/>
            </a:pPr>
            <a:r>
              <a:rPr lang="en-US" sz="1200" b="1" dirty="0">
                <a:solidFill>
                  <a:schemeClr val="tx1"/>
                </a:solidFill>
              </a:rPr>
              <a:t>Machine learning (experimental)</a:t>
            </a:r>
            <a:endParaRPr lang="en-US" sz="1200" dirty="0"/>
          </a:p>
        </p:txBody>
      </p:sp>
      <p:sp>
        <p:nvSpPr>
          <p:cNvPr id="19" name="Text 16"/>
          <p:cNvSpPr txBox="1"/>
          <p:nvPr/>
        </p:nvSpPr>
        <p:spPr>
          <a:xfrm>
            <a:off x="6291072" y="3995928"/>
            <a:ext cx="2286000" cy="457200"/>
          </a:xfrm>
          <a:prstGeom prst="rect">
            <a:avLst/>
          </a:prstGeom>
          <a:noFill/>
          <a:ln/>
        </p:spPr>
        <p:txBody>
          <a:bodyPr wrap="square" lIns="0" tIns="0" rIns="0" bIns="0" rtlCol="0" anchor="t"/>
          <a:lstStyle/>
          <a:p>
            <a:pPr marL="0" indent="0">
              <a:buNone/>
            </a:pPr>
            <a:r>
              <a:rPr lang="en-US" sz="1100" dirty="0">
                <a:solidFill>
                  <a:schemeClr val="accent6"/>
                </a:solidFill>
              </a:rPr>
              <a:t>Ridge model approximating OSRM times when offline</a:t>
            </a:r>
            <a:endParaRPr lang="en-US" sz="11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Results: 43.7% lower cost, proven optimal</a:t>
            </a:r>
            <a:endParaRPr lang="en-US" sz="2800" dirty="0"/>
          </a:p>
        </p:txBody>
      </p:sp>
      <p:sp>
        <p:nvSpPr>
          <p:cNvPr id="3" name="Headline"/>
          <p:cNvSpPr/>
          <p:nvPr/>
        </p:nvSpPr>
        <p:spPr>
          <a:xfrm>
            <a:off x="457200" y="1042416"/>
            <a:ext cx="2651760" cy="1783080"/>
          </a:xfrm>
          <a:prstGeom prst="roundRect">
            <a:avLst>
              <a:gd name="adj" fmla="val 4103"/>
            </a:avLst>
          </a:prstGeom>
          <a:solidFill>
            <a:srgbClr val="1B2A41"/>
          </a:solidFill>
          <a:ln w="12700">
            <a:solidFill>
              <a:srgbClr val="1B2A41"/>
            </a:solidFill>
            <a:prstDash val="solid"/>
          </a:ln>
        </p:spPr>
      </p:sp>
      <p:sp>
        <p:nvSpPr>
          <p:cNvPr id="4" name="Text 2"/>
          <p:cNvSpPr txBox="1"/>
          <p:nvPr/>
        </p:nvSpPr>
        <p:spPr>
          <a:xfrm>
            <a:off x="640080" y="1097280"/>
            <a:ext cx="2286000" cy="685800"/>
          </a:xfrm>
          <a:prstGeom prst="rect">
            <a:avLst/>
          </a:prstGeom>
          <a:noFill/>
          <a:ln/>
        </p:spPr>
        <p:txBody>
          <a:bodyPr wrap="square" lIns="0" tIns="0" rIns="0" bIns="0" rtlCol="0" anchor="t"/>
          <a:lstStyle/>
          <a:p>
            <a:pPr marL="0" indent="0">
              <a:buNone/>
            </a:pPr>
            <a:r>
              <a:rPr lang="en-US" sz="4000" b="1" dirty="0">
                <a:solidFill>
                  <a:schemeClr val="bg1"/>
                </a:solidFill>
              </a:rPr>
              <a:t>1,455</a:t>
            </a:r>
            <a:endParaRPr lang="en-US" sz="4000" dirty="0"/>
          </a:p>
        </p:txBody>
      </p:sp>
      <p:sp>
        <p:nvSpPr>
          <p:cNvPr id="5" name="Text 3"/>
          <p:cNvSpPr txBox="1"/>
          <p:nvPr/>
        </p:nvSpPr>
        <p:spPr>
          <a:xfrm>
            <a:off x="640080" y="1783080"/>
            <a:ext cx="2286000" cy="274320"/>
          </a:xfrm>
          <a:prstGeom prst="rect">
            <a:avLst/>
          </a:prstGeom>
          <a:noFill/>
          <a:ln/>
        </p:spPr>
        <p:txBody>
          <a:bodyPr wrap="square" lIns="0" tIns="0" rIns="0" bIns="0" rtlCol="0" anchor="t"/>
          <a:lstStyle/>
          <a:p>
            <a:pPr marL="0" indent="0">
              <a:buNone/>
            </a:pPr>
            <a:r>
              <a:rPr lang="en-US" sz="1200" dirty="0">
                <a:solidFill>
                  <a:srgbClr val="C9D1DC"/>
                </a:solidFill>
              </a:rPr>
              <a:t>cost units saved (fixed price per bus)</a:t>
            </a:r>
            <a:endParaRPr lang="en-US" sz="1200" dirty="0"/>
          </a:p>
        </p:txBody>
      </p:sp>
      <p:sp>
        <p:nvSpPr>
          <p:cNvPr id="6" name="Text 4"/>
          <p:cNvSpPr txBox="1"/>
          <p:nvPr/>
        </p:nvSpPr>
        <p:spPr>
          <a:xfrm>
            <a:off x="640080" y="2103120"/>
            <a:ext cx="2286000" cy="320040"/>
          </a:xfrm>
          <a:prstGeom prst="rect">
            <a:avLst/>
          </a:prstGeom>
          <a:noFill/>
          <a:ln/>
        </p:spPr>
        <p:txBody>
          <a:bodyPr wrap="square" lIns="0" tIns="0" rIns="0" bIns="0" rtlCol="0" anchor="t"/>
          <a:lstStyle/>
          <a:p>
            <a:pPr marL="0" indent="0">
              <a:buNone/>
            </a:pPr>
            <a:r>
              <a:rPr lang="en-US" sz="1800" b="1" dirty="0">
                <a:solidFill>
                  <a:schemeClr val="accent3"/>
                </a:solidFill>
              </a:rPr>
              <a:t>3,330 → 1,875</a:t>
            </a:r>
            <a:endParaRPr lang="en-US" sz="1800" dirty="0"/>
          </a:p>
        </p:txBody>
      </p:sp>
      <p:sp>
        <p:nvSpPr>
          <p:cNvPr id="7" name="Text 5"/>
          <p:cNvSpPr txBox="1"/>
          <p:nvPr/>
        </p:nvSpPr>
        <p:spPr>
          <a:xfrm>
            <a:off x="640080" y="2450592"/>
            <a:ext cx="2286000" cy="256032"/>
          </a:xfrm>
          <a:prstGeom prst="rect">
            <a:avLst/>
          </a:prstGeom>
          <a:noFill/>
          <a:ln/>
        </p:spPr>
        <p:txBody>
          <a:bodyPr wrap="square" lIns="0" tIns="0" rIns="0" bIns="0" rtlCol="0" anchor="t"/>
          <a:lstStyle/>
          <a:p>
            <a:pPr marL="0" indent="0">
              <a:buNone/>
            </a:pPr>
            <a:r>
              <a:rPr lang="en-US" sz="1200" dirty="0">
                <a:solidFill>
                  <a:srgbClr val="C9D1DC"/>
                </a:solidFill>
              </a:rPr>
              <a:t>Proven cheapest possible</a:t>
            </a:r>
            <a:endParaRPr lang="en-US" sz="1200" dirty="0"/>
          </a:p>
        </p:txBody>
      </p:sp>
      <p:sp>
        <p:nvSpPr>
          <p:cNvPr id="8" name="Buses"/>
          <p:cNvSpPr/>
          <p:nvPr/>
        </p:nvSpPr>
        <p:spPr>
          <a:xfrm>
            <a:off x="457200" y="2926080"/>
            <a:ext cx="265176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640080" y="3017520"/>
            <a:ext cx="2286000" cy="548640"/>
          </a:xfrm>
          <a:prstGeom prst="rect">
            <a:avLst/>
          </a:prstGeom>
          <a:noFill/>
          <a:ln/>
        </p:spPr>
        <p:txBody>
          <a:bodyPr wrap="square" lIns="0" tIns="0" rIns="0" bIns="0" rtlCol="0" anchor="t"/>
          <a:lstStyle/>
          <a:p>
            <a:pPr marL="0" indent="0">
              <a:buNone/>
            </a:pPr>
            <a:r>
              <a:rPr lang="en-US" sz="3000" b="1" dirty="0">
                <a:solidFill>
                  <a:schemeClr val="tx1"/>
                </a:solidFill>
              </a:rPr>
              <a:t>60 → 25</a:t>
            </a:r>
            <a:endParaRPr lang="en-US" sz="3000" dirty="0"/>
          </a:p>
        </p:txBody>
      </p:sp>
      <p:sp>
        <p:nvSpPr>
          <p:cNvPr id="10" name="Text 8"/>
          <p:cNvSpPr txBox="1"/>
          <p:nvPr/>
        </p:nvSpPr>
        <p:spPr>
          <a:xfrm>
            <a:off x="640080" y="3566160"/>
            <a:ext cx="2286000" cy="457200"/>
          </a:xfrm>
          <a:prstGeom prst="rect">
            <a:avLst/>
          </a:prstGeom>
          <a:noFill/>
          <a:ln/>
        </p:spPr>
        <p:txBody>
          <a:bodyPr wrap="square" lIns="0" tIns="0" rIns="0" bIns="0" rtlCol="0" anchor="t"/>
          <a:lstStyle/>
          <a:p>
            <a:pPr marL="0" indent="0">
              <a:buNone/>
            </a:pPr>
            <a:r>
              <a:rPr lang="en-US" sz="1200" dirty="0">
                <a:solidFill>
                  <a:schemeClr val="accent6"/>
                </a:solidFill>
              </a:rPr>
              <a:t>buses · seats filled 68.0% → 99.5%</a:t>
            </a:r>
            <a:endParaRPr lang="en-US" sz="1200" dirty="0"/>
          </a:p>
        </p:txBody>
      </p:sp>
      <p:sp>
        <p:nvSpPr>
          <p:cNvPr id="11" name="Text 9"/>
          <p:cNvSpPr txBox="1"/>
          <p:nvPr/>
        </p:nvSpPr>
        <p:spPr>
          <a:xfrm>
            <a:off x="640080" y="4069080"/>
            <a:ext cx="2286000" cy="274320"/>
          </a:xfrm>
          <a:prstGeom prst="rect">
            <a:avLst/>
          </a:prstGeom>
          <a:noFill/>
          <a:ln/>
        </p:spPr>
        <p:txBody>
          <a:bodyPr wrap="square" lIns="0" tIns="0" rIns="0" bIns="0" rtlCol="0" anchor="t"/>
          <a:lstStyle/>
          <a:p>
            <a:pPr marL="0" indent="0">
              <a:buNone/>
            </a:pPr>
            <a:r>
              <a:rPr lang="en-US" sz="1200" dirty="0">
                <a:solidFill>
                  <a:schemeClr val="accent6"/>
                </a:solidFill>
              </a:rPr>
              <a:t>Cost per attendee 2.68 → 1.51</a:t>
            </a:r>
            <a:endParaRPr lang="en-US" sz="1200" dirty="0"/>
          </a:p>
        </p:txBody>
      </p:sp>
      <p:graphicFrame>
        <p:nvGraphicFramePr>
          <p:cNvPr id="12" name="Chart 0"/>
          <p:cNvGraphicFramePr/>
          <p:nvPr/>
        </p:nvGraphicFramePr>
        <p:xfrm>
          <a:off x="3337560" y="960120"/>
          <a:ext cx="53492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txBox="1"/>
          <p:nvPr/>
        </p:nvSpPr>
        <p:spPr>
          <a:xfrm>
            <a:off x="3337560" y="3794760"/>
            <a:ext cx="5349240" cy="777240"/>
          </a:xfrm>
          <a:prstGeom prst="rect">
            <a:avLst/>
          </a:prstGeom>
          <a:noFill/>
          <a:ln/>
        </p:spPr>
        <p:txBody>
          <a:bodyPr wrap="square" lIns="0" tIns="0" rIns="0" bIns="0" rtlCol="0" anchor="t"/>
          <a:lstStyle/>
          <a:p>
            <a:pPr marL="0" indent="0">
              <a:buNone/>
            </a:pPr>
            <a:r>
              <a:rPr lang="en-US" sz="1200" b="1" dirty="0">
                <a:solidFill>
                  <a:schemeClr val="tx1"/>
                </a:solidFill>
              </a:rPr>
              <a:t>Saving: fixed 43.7% · per mile 28.6% · per hour 17.7%. </a:t>
            </a:r>
            <a:r>
              <a:rPr lang="en-US" sz="1200" dirty="0">
                <a:solidFill>
                  <a:schemeClr val="tx1"/>
                </a:solidFill>
              </a:rPr>
              <a:t>Routing results are the best found in 300 s, not proven minimums. Results on the challenge data only: not yet measured at a real event.</a:t>
            </a:r>
            <a:endParaRPr lang="en-US" sz="12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Live demo: one bus, its schools and its road route</a:t>
            </a:r>
            <a:endParaRPr lang="en-US" sz="2800" dirty="0"/>
          </a:p>
        </p:txBody>
      </p:sp>
      <p:sp>
        <p:nvSpPr>
          <p:cNvPr id="3" name="Shape 1"/>
          <p:cNvSpPr/>
          <p:nvPr/>
        </p:nvSpPr>
        <p:spPr>
          <a:xfrm>
            <a:off x="438912" y="941832"/>
            <a:ext cx="5705856" cy="2650634"/>
          </a:xfrm>
          <a:prstGeom prst="rect">
            <a:avLst/>
          </a:prstGeom>
          <a:solidFill>
            <a:srgbClr val="D0D5DD"/>
          </a:solidFill>
          <a:ln w="12700">
            <a:solidFill>
              <a:srgbClr val="D0D5DD"/>
            </a:solidFill>
            <a:prstDash val="solid"/>
          </a:ln>
        </p:spPr>
      </p:sp>
      <p:pic>
        <p:nvPicPr>
          <p:cNvPr id="4" name="Image 0" descr="Campus Cruise Routes tab: Bus 04 road path from four schools to Principality Stadium, with passengers, seats left, distance and driving time"/>
          <p:cNvPicPr>
            <a:picLocks noChangeAspect="1"/>
          </p:cNvPicPr>
          <p:nvPr/>
        </p:nvPicPr>
        <p:blipFill>
          <a:blip r:embed="rId3"/>
          <a:stretch>
            <a:fillRect/>
          </a:stretch>
        </p:blipFill>
        <p:spPr>
          <a:xfrm>
            <a:off x="457200" y="960120"/>
            <a:ext cx="5669280" cy="2614058"/>
          </a:xfrm>
          <a:prstGeom prst="rect">
            <a:avLst/>
          </a:prstGeom>
        </p:spPr>
      </p:pic>
      <p:sp>
        <p:nvSpPr>
          <p:cNvPr id="5" name="Text 2"/>
          <p:cNvSpPr txBox="1"/>
          <p:nvPr/>
        </p:nvSpPr>
        <p:spPr>
          <a:xfrm>
            <a:off x="457200" y="3629042"/>
            <a:ext cx="5669280" cy="201168"/>
          </a:xfrm>
          <a:prstGeom prst="rect">
            <a:avLst/>
          </a:prstGeom>
          <a:noFill/>
          <a:ln/>
        </p:spPr>
        <p:txBody>
          <a:bodyPr wrap="square" lIns="0" tIns="0" rIns="0" bIns="0" rtlCol="0" anchor="t"/>
          <a:lstStyle/>
          <a:p>
            <a:pPr marL="0" indent="0">
              <a:buNone/>
            </a:pPr>
            <a:r>
              <a:rPr lang="en-US" sz="1000" i="1" dirty="0">
                <a:solidFill>
                  <a:schemeClr val="accent6"/>
                </a:solidFill>
              </a:rPr>
              <a:t>Real screenshot: Campus Cruise Routes tab, fixed-price plan, 26 Oct 2026</a:t>
            </a:r>
            <a:endParaRPr lang="en-US" sz="1000" dirty="0"/>
          </a:p>
        </p:txBody>
      </p:sp>
      <p:sp>
        <p:nvSpPr>
          <p:cNvPr id="6" name="Shape 3"/>
          <p:cNvSpPr/>
          <p:nvPr/>
        </p:nvSpPr>
        <p:spPr>
          <a:xfrm>
            <a:off x="6355080" y="987552"/>
            <a:ext cx="292608" cy="292608"/>
          </a:xfrm>
          <a:prstGeom prst="ellipse">
            <a:avLst/>
          </a:prstGeom>
          <a:solidFill>
            <a:srgbClr val="D6453D"/>
          </a:solidFill>
          <a:ln w="12700">
            <a:solidFill>
              <a:srgbClr val="D6453D"/>
            </a:solidFill>
            <a:prstDash val="solid"/>
          </a:ln>
        </p:spPr>
      </p:sp>
      <p:sp>
        <p:nvSpPr>
          <p:cNvPr id="7" name="Text 4"/>
          <p:cNvSpPr txBox="1"/>
          <p:nvPr/>
        </p:nvSpPr>
        <p:spPr>
          <a:xfrm>
            <a:off x="6355080" y="987552"/>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8" name="Text 5"/>
          <p:cNvSpPr txBox="1"/>
          <p:nvPr/>
        </p:nvSpPr>
        <p:spPr>
          <a:xfrm>
            <a:off x="6739128" y="960120"/>
            <a:ext cx="1947672" cy="256032"/>
          </a:xfrm>
          <a:prstGeom prst="rect">
            <a:avLst/>
          </a:prstGeom>
          <a:noFill/>
          <a:ln/>
        </p:spPr>
        <p:txBody>
          <a:bodyPr wrap="square" lIns="0" tIns="0" rIns="0" bIns="0" rtlCol="0" anchor="t"/>
          <a:lstStyle/>
          <a:p>
            <a:pPr marL="0" indent="0">
              <a:buNone/>
            </a:pPr>
            <a:r>
              <a:rPr lang="en-US" sz="1300" b="1" dirty="0">
                <a:solidFill>
                  <a:schemeClr val="tx1"/>
                </a:solidFill>
              </a:rPr>
              <a:t>Bus 04, 50 seats</a:t>
            </a:r>
            <a:endParaRPr lang="en-US" sz="1300" dirty="0"/>
          </a:p>
        </p:txBody>
      </p:sp>
      <p:sp>
        <p:nvSpPr>
          <p:cNvPr id="9" name="Text 6"/>
          <p:cNvSpPr txBox="1"/>
          <p:nvPr/>
        </p:nvSpPr>
        <p:spPr>
          <a:xfrm>
            <a:off x="6739128" y="1216152"/>
            <a:ext cx="1947672" cy="384048"/>
          </a:xfrm>
          <a:prstGeom prst="rect">
            <a:avLst/>
          </a:prstGeom>
          <a:noFill/>
          <a:ln/>
        </p:spPr>
        <p:txBody>
          <a:bodyPr wrap="square" lIns="0" tIns="0" rIns="0" bIns="0" rtlCol="0" anchor="t"/>
          <a:lstStyle/>
          <a:p>
            <a:pPr marL="0" indent="0">
              <a:buNone/>
            </a:pPr>
            <a:r>
              <a:rPr lang="en-US" sz="1100" dirty="0">
                <a:solidFill>
                  <a:schemeClr val="accent6"/>
                </a:solidFill>
              </a:rPr>
              <a:t>Collects 4 schools in order</a:t>
            </a:r>
            <a:endParaRPr lang="en-US" sz="1100" dirty="0"/>
          </a:p>
        </p:txBody>
      </p:sp>
      <p:sp>
        <p:nvSpPr>
          <p:cNvPr id="10" name="Shape 7"/>
          <p:cNvSpPr/>
          <p:nvPr/>
        </p:nvSpPr>
        <p:spPr>
          <a:xfrm>
            <a:off x="6355080" y="1645920"/>
            <a:ext cx="292608" cy="292608"/>
          </a:xfrm>
          <a:prstGeom prst="ellipse">
            <a:avLst/>
          </a:prstGeom>
          <a:solidFill>
            <a:srgbClr val="D6453D"/>
          </a:solidFill>
          <a:ln w="12700">
            <a:solidFill>
              <a:srgbClr val="D6453D"/>
            </a:solidFill>
            <a:prstDash val="solid"/>
          </a:ln>
        </p:spPr>
      </p:sp>
      <p:sp>
        <p:nvSpPr>
          <p:cNvPr id="11" name="Text 8"/>
          <p:cNvSpPr txBox="1"/>
          <p:nvPr/>
        </p:nvSpPr>
        <p:spPr>
          <a:xfrm>
            <a:off x="6355080" y="1645920"/>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2" name="Text 9"/>
          <p:cNvSpPr txBox="1"/>
          <p:nvPr/>
        </p:nvSpPr>
        <p:spPr>
          <a:xfrm>
            <a:off x="6739128" y="1618488"/>
            <a:ext cx="1947672" cy="256032"/>
          </a:xfrm>
          <a:prstGeom prst="rect">
            <a:avLst/>
          </a:prstGeom>
          <a:noFill/>
          <a:ln/>
        </p:spPr>
        <p:txBody>
          <a:bodyPr wrap="square" lIns="0" tIns="0" rIns="0" bIns="0" rtlCol="0" anchor="t"/>
          <a:lstStyle/>
          <a:p>
            <a:pPr marL="0" indent="0">
              <a:buNone/>
            </a:pPr>
            <a:r>
              <a:rPr lang="en-US" sz="1300" b="1" dirty="0">
                <a:solidFill>
                  <a:schemeClr val="tx1"/>
                </a:solidFill>
              </a:rPr>
              <a:t>50 / 50 passengers</a:t>
            </a:r>
            <a:endParaRPr lang="en-US" sz="1300" dirty="0"/>
          </a:p>
        </p:txBody>
      </p:sp>
      <p:sp>
        <p:nvSpPr>
          <p:cNvPr id="13" name="Text 10"/>
          <p:cNvSpPr txBox="1"/>
          <p:nvPr/>
        </p:nvSpPr>
        <p:spPr>
          <a:xfrm>
            <a:off x="6739128" y="1874520"/>
            <a:ext cx="1947672" cy="384048"/>
          </a:xfrm>
          <a:prstGeom prst="rect">
            <a:avLst/>
          </a:prstGeom>
          <a:noFill/>
          <a:ln/>
        </p:spPr>
        <p:txBody>
          <a:bodyPr wrap="square" lIns="0" tIns="0" rIns="0" bIns="0" rtlCol="0" anchor="t"/>
          <a:lstStyle/>
          <a:p>
            <a:pPr marL="0" indent="0">
              <a:buNone/>
            </a:pPr>
            <a:r>
              <a:rPr lang="en-US" sz="1100" dirty="0">
                <a:solidFill>
                  <a:schemeClr val="accent6"/>
                </a:solidFill>
              </a:rPr>
              <a:t>0 seats left: a full bus</a:t>
            </a:r>
            <a:endParaRPr lang="en-US" sz="1100" dirty="0"/>
          </a:p>
        </p:txBody>
      </p:sp>
      <p:sp>
        <p:nvSpPr>
          <p:cNvPr id="14" name="Shape 11"/>
          <p:cNvSpPr/>
          <p:nvPr/>
        </p:nvSpPr>
        <p:spPr>
          <a:xfrm>
            <a:off x="6355080" y="2304288"/>
            <a:ext cx="292608" cy="292608"/>
          </a:xfrm>
          <a:prstGeom prst="ellipse">
            <a:avLst/>
          </a:prstGeom>
          <a:solidFill>
            <a:srgbClr val="D6453D"/>
          </a:solidFill>
          <a:ln w="12700">
            <a:solidFill>
              <a:srgbClr val="D6453D"/>
            </a:solidFill>
            <a:prstDash val="solid"/>
          </a:ln>
        </p:spPr>
      </p:sp>
      <p:sp>
        <p:nvSpPr>
          <p:cNvPr id="15" name="Text 12"/>
          <p:cNvSpPr txBox="1"/>
          <p:nvPr/>
        </p:nvSpPr>
        <p:spPr>
          <a:xfrm>
            <a:off x="6355080" y="2304288"/>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6" name="Text 13"/>
          <p:cNvSpPr txBox="1"/>
          <p:nvPr/>
        </p:nvSpPr>
        <p:spPr>
          <a:xfrm>
            <a:off x="6739128" y="2276856"/>
            <a:ext cx="1947672" cy="256032"/>
          </a:xfrm>
          <a:prstGeom prst="rect">
            <a:avLst/>
          </a:prstGeom>
          <a:noFill/>
          <a:ln/>
        </p:spPr>
        <p:txBody>
          <a:bodyPr wrap="square" lIns="0" tIns="0" rIns="0" bIns="0" rtlCol="0" anchor="t"/>
          <a:lstStyle/>
          <a:p>
            <a:pPr marL="0" indent="0">
              <a:buNone/>
            </a:pPr>
            <a:r>
              <a:rPr lang="en-US" sz="1300" b="1" dirty="0">
                <a:solidFill>
                  <a:schemeClr val="tx1"/>
                </a:solidFill>
              </a:rPr>
              <a:t>Road path from OSRM</a:t>
            </a:r>
            <a:endParaRPr lang="en-US" sz="1300" dirty="0"/>
          </a:p>
        </p:txBody>
      </p:sp>
      <p:sp>
        <p:nvSpPr>
          <p:cNvPr id="17" name="Text 14"/>
          <p:cNvSpPr txBox="1"/>
          <p:nvPr/>
        </p:nvSpPr>
        <p:spPr>
          <a:xfrm>
            <a:off x="6739128" y="2532888"/>
            <a:ext cx="1947672" cy="384048"/>
          </a:xfrm>
          <a:prstGeom prst="rect">
            <a:avLst/>
          </a:prstGeom>
          <a:noFill/>
          <a:ln/>
        </p:spPr>
        <p:txBody>
          <a:bodyPr wrap="square" lIns="0" tIns="0" rIns="0" bIns="0" rtlCol="0" anchor="t"/>
          <a:lstStyle/>
          <a:p>
            <a:pPr marL="0" indent="0">
              <a:buNone/>
            </a:pPr>
            <a:r>
              <a:rPr lang="en-US" sz="1100" dirty="0">
                <a:solidFill>
                  <a:schemeClr val="accent6"/>
                </a:solidFill>
              </a:rPr>
              <a:t>Drawn for display; costs use the model's own measure</a:t>
            </a:r>
            <a:endParaRPr lang="en-US" sz="1100" dirty="0"/>
          </a:p>
        </p:txBody>
      </p:sp>
      <p:sp>
        <p:nvSpPr>
          <p:cNvPr id="18" name="Shape 15"/>
          <p:cNvSpPr/>
          <p:nvPr/>
        </p:nvSpPr>
        <p:spPr>
          <a:xfrm>
            <a:off x="6355080" y="2962656"/>
            <a:ext cx="292608" cy="292608"/>
          </a:xfrm>
          <a:prstGeom prst="ellipse">
            <a:avLst/>
          </a:prstGeom>
          <a:solidFill>
            <a:srgbClr val="D6453D"/>
          </a:solidFill>
          <a:ln w="12700">
            <a:solidFill>
              <a:srgbClr val="D6453D"/>
            </a:solidFill>
            <a:prstDash val="solid"/>
          </a:ln>
        </p:spPr>
      </p:sp>
      <p:sp>
        <p:nvSpPr>
          <p:cNvPr id="19" name="Text 16"/>
          <p:cNvSpPr txBox="1"/>
          <p:nvPr/>
        </p:nvSpPr>
        <p:spPr>
          <a:xfrm>
            <a:off x="6355080" y="2962656"/>
            <a:ext cx="292608" cy="292608"/>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20" name="Text 17"/>
          <p:cNvSpPr txBox="1"/>
          <p:nvPr/>
        </p:nvSpPr>
        <p:spPr>
          <a:xfrm>
            <a:off x="6739128" y="2935224"/>
            <a:ext cx="1947672" cy="256032"/>
          </a:xfrm>
          <a:prstGeom prst="rect">
            <a:avLst/>
          </a:prstGeom>
          <a:noFill/>
          <a:ln/>
        </p:spPr>
        <p:txBody>
          <a:bodyPr wrap="square" lIns="0" tIns="0" rIns="0" bIns="0" rtlCol="0" anchor="t"/>
          <a:lstStyle/>
          <a:p>
            <a:pPr marL="0" indent="0">
              <a:buNone/>
            </a:pPr>
            <a:r>
              <a:rPr lang="en-US" sz="1300" b="1" dirty="0">
                <a:solidFill>
                  <a:schemeClr val="tx1"/>
                </a:solidFill>
              </a:rPr>
              <a:t>96 min estimated</a:t>
            </a:r>
            <a:endParaRPr lang="en-US" sz="1300" dirty="0"/>
          </a:p>
        </p:txBody>
      </p:sp>
      <p:sp>
        <p:nvSpPr>
          <p:cNvPr id="21" name="Text 18"/>
          <p:cNvSpPr txBox="1"/>
          <p:nvPr/>
        </p:nvSpPr>
        <p:spPr>
          <a:xfrm>
            <a:off x="6739128" y="3191256"/>
            <a:ext cx="1947672" cy="384048"/>
          </a:xfrm>
          <a:prstGeom prst="rect">
            <a:avLst/>
          </a:prstGeom>
          <a:noFill/>
          <a:ln/>
        </p:spPr>
        <p:txBody>
          <a:bodyPr wrap="square" lIns="0" tIns="0" rIns="0" bIns="0" rtlCol="0" anchor="t"/>
          <a:lstStyle/>
          <a:p>
            <a:pPr marL="0" indent="0">
              <a:buNone/>
            </a:pPr>
            <a:r>
              <a:rPr lang="en-US" sz="1100" dirty="0">
                <a:solidFill>
                  <a:schemeClr val="accent6"/>
                </a:solidFill>
              </a:rPr>
              <a:t>Distance card shows straight-line miles</a:t>
            </a:r>
            <a:endParaRPr lang="en-US" sz="1100" dirty="0"/>
          </a:p>
        </p:txBody>
      </p:sp>
      <p:sp>
        <p:nvSpPr>
          <p:cNvPr id="22" name="Estimate note"/>
          <p:cNvSpPr/>
          <p:nvPr/>
        </p:nvSpPr>
        <p:spPr>
          <a:xfrm>
            <a:off x="6355080" y="3657600"/>
            <a:ext cx="2331720" cy="914400"/>
          </a:xfrm>
          <a:prstGeom prst="roundRect">
            <a:avLst>
              <a:gd name="adj" fmla="val 8000"/>
            </a:avLst>
          </a:prstGeom>
          <a:solidFill>
            <a:srgbClr val="FBEAE8"/>
          </a:solidFill>
          <a:ln w="12700">
            <a:solidFill>
              <a:srgbClr val="FBEAE8"/>
            </a:solidFill>
            <a:prstDash val="solid"/>
          </a:ln>
        </p:spPr>
      </p:sp>
      <p:sp>
        <p:nvSpPr>
          <p:cNvPr id="23" name="Text 20"/>
          <p:cNvSpPr txBox="1"/>
          <p:nvPr/>
        </p:nvSpPr>
        <p:spPr>
          <a:xfrm>
            <a:off x="6464808" y="3712464"/>
            <a:ext cx="2130552" cy="822960"/>
          </a:xfrm>
          <a:prstGeom prst="rect">
            <a:avLst/>
          </a:prstGeom>
          <a:noFill/>
          <a:ln/>
        </p:spPr>
        <p:txBody>
          <a:bodyPr wrap="square" lIns="0" tIns="0" rIns="0" bIns="0" rtlCol="0" anchor="ctr"/>
          <a:lstStyle/>
          <a:p>
            <a:pPr marL="0" indent="0">
              <a:buNone/>
            </a:pPr>
            <a:r>
              <a:rPr lang="en-US" sz="1100" dirty="0">
                <a:solidFill>
                  <a:schemeClr val="tx1"/>
                </a:solidFill>
              </a:rPr>
              <a:t>Estimated times exclude live traffic, school boarding time and delays. Real journeys may take longer.</a:t>
            </a:r>
            <a:endParaRPr lang="en-US" sz="11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AI planning assistant: it proposes, you approve</a:t>
            </a:r>
            <a:endParaRPr lang="en-US" sz="2800" dirty="0"/>
          </a:p>
        </p:txBody>
      </p:sp>
      <p:sp>
        <p:nvSpPr>
          <p:cNvPr id="3" name="Shape 1"/>
          <p:cNvSpPr/>
          <p:nvPr/>
        </p:nvSpPr>
        <p:spPr>
          <a:xfrm>
            <a:off x="457200" y="987552"/>
            <a:ext cx="329184" cy="329184"/>
          </a:xfrm>
          <a:prstGeom prst="ellipse">
            <a:avLst/>
          </a:prstGeom>
          <a:solidFill>
            <a:srgbClr val="1B2A41"/>
          </a:solidFill>
          <a:ln w="12700">
            <a:solidFill>
              <a:srgbClr val="1B2A41"/>
            </a:solidFill>
            <a:prstDash val="solid"/>
          </a:ln>
        </p:spPr>
      </p:sp>
      <p:sp>
        <p:nvSpPr>
          <p:cNvPr id="4" name="Text 2"/>
          <p:cNvSpPr txBox="1"/>
          <p:nvPr/>
        </p:nvSpPr>
        <p:spPr>
          <a:xfrm>
            <a:off x="457200" y="9875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Text 3"/>
          <p:cNvSpPr txBox="1"/>
          <p:nvPr/>
        </p:nvSpPr>
        <p:spPr>
          <a:xfrm>
            <a:off x="914400" y="960120"/>
            <a:ext cx="4206240" cy="274320"/>
          </a:xfrm>
          <a:prstGeom prst="rect">
            <a:avLst/>
          </a:prstGeom>
          <a:noFill/>
          <a:ln/>
        </p:spPr>
        <p:txBody>
          <a:bodyPr wrap="square" lIns="0" tIns="0" rIns="0" bIns="0" rtlCol="0" anchor="t"/>
          <a:lstStyle/>
          <a:p>
            <a:pPr marL="0" indent="0">
              <a:buNone/>
            </a:pPr>
            <a:r>
              <a:rPr lang="en-US" sz="1400" b="1" dirty="0">
                <a:solidFill>
                  <a:schemeClr val="tx1"/>
                </a:solidFill>
              </a:rPr>
              <a:t>You type a request</a:t>
            </a:r>
            <a:endParaRPr lang="en-US" sz="1400" dirty="0"/>
          </a:p>
        </p:txBody>
      </p:sp>
      <p:sp>
        <p:nvSpPr>
          <p:cNvPr id="6" name="Text 4"/>
          <p:cNvSpPr txBox="1"/>
          <p:nvPr/>
        </p:nvSpPr>
        <p:spPr>
          <a:xfrm>
            <a:off x="914400" y="1234440"/>
            <a:ext cx="4206240" cy="347472"/>
          </a:xfrm>
          <a:prstGeom prst="rect">
            <a:avLst/>
          </a:prstGeom>
          <a:noFill/>
          <a:ln/>
        </p:spPr>
        <p:txBody>
          <a:bodyPr wrap="square" lIns="0" tIns="0" rIns="0" bIns="0" rtlCol="0" anchor="t"/>
          <a:lstStyle/>
          <a:p>
            <a:pPr marL="0" indent="0">
              <a:buNone/>
            </a:pPr>
            <a:r>
              <a:rPr lang="en-US" sz="1200" dirty="0">
                <a:solidFill>
                  <a:schemeClr val="accent6"/>
                </a:solidFill>
              </a:rPr>
              <a:t>"Minimise bus costs while keeping nearby schools together."</a:t>
            </a:r>
            <a:endParaRPr lang="en-US" sz="1200" dirty="0"/>
          </a:p>
        </p:txBody>
      </p:sp>
      <p:sp>
        <p:nvSpPr>
          <p:cNvPr id="7" name="Shape 5"/>
          <p:cNvSpPr/>
          <p:nvPr/>
        </p:nvSpPr>
        <p:spPr>
          <a:xfrm>
            <a:off x="457200" y="1645920"/>
            <a:ext cx="329184" cy="329184"/>
          </a:xfrm>
          <a:prstGeom prst="ellipse">
            <a:avLst/>
          </a:prstGeom>
          <a:solidFill>
            <a:srgbClr val="1B2A41"/>
          </a:solidFill>
          <a:ln w="12700">
            <a:solidFill>
              <a:srgbClr val="1B2A41"/>
            </a:solidFill>
            <a:prstDash val="solid"/>
          </a:ln>
        </p:spPr>
      </p:sp>
      <p:sp>
        <p:nvSpPr>
          <p:cNvPr id="8" name="Text 6"/>
          <p:cNvSpPr txBox="1"/>
          <p:nvPr/>
        </p:nvSpPr>
        <p:spPr>
          <a:xfrm>
            <a:off x="457200" y="1645920"/>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9" name="Text 7"/>
          <p:cNvSpPr txBox="1"/>
          <p:nvPr/>
        </p:nvSpPr>
        <p:spPr>
          <a:xfrm>
            <a:off x="914400" y="1618488"/>
            <a:ext cx="4206240" cy="274320"/>
          </a:xfrm>
          <a:prstGeom prst="rect">
            <a:avLst/>
          </a:prstGeom>
          <a:noFill/>
          <a:ln/>
        </p:spPr>
        <p:txBody>
          <a:bodyPr wrap="square" lIns="0" tIns="0" rIns="0" bIns="0" rtlCol="0" anchor="t"/>
          <a:lstStyle/>
          <a:p>
            <a:pPr marL="0" indent="0">
              <a:buNone/>
            </a:pPr>
            <a:r>
              <a:rPr lang="en-US" sz="1400" b="1" dirty="0">
                <a:solidFill>
                  <a:schemeClr val="tx1"/>
                </a:solidFill>
              </a:rPr>
              <a:t>GPT-4.1 mini proposes</a:t>
            </a:r>
            <a:endParaRPr lang="en-US" sz="1400" dirty="0"/>
          </a:p>
        </p:txBody>
      </p:sp>
      <p:sp>
        <p:nvSpPr>
          <p:cNvPr id="10" name="Text 8"/>
          <p:cNvSpPr txBox="1"/>
          <p:nvPr/>
        </p:nvSpPr>
        <p:spPr>
          <a:xfrm>
            <a:off x="914400" y="1892808"/>
            <a:ext cx="4206240" cy="347472"/>
          </a:xfrm>
          <a:prstGeom prst="rect">
            <a:avLst/>
          </a:prstGeom>
          <a:noFill/>
          <a:ln/>
        </p:spPr>
        <p:txBody>
          <a:bodyPr wrap="square" lIns="0" tIns="0" rIns="0" bIns="0" rtlCol="0" anchor="t"/>
          <a:lstStyle/>
          <a:p>
            <a:pPr marL="0" indent="0">
              <a:buNone/>
            </a:pPr>
            <a:r>
              <a:rPr lang="en-US" sz="1200" dirty="0">
                <a:solidFill>
                  <a:schemeClr val="accent6"/>
                </a:solidFill>
              </a:rPr>
              <a:t>Structured JSON only: no tools, cannot change anything</a:t>
            </a:r>
            <a:endParaRPr lang="en-US" sz="1200" dirty="0"/>
          </a:p>
        </p:txBody>
      </p:sp>
      <p:sp>
        <p:nvSpPr>
          <p:cNvPr id="11" name="Shape 9"/>
          <p:cNvSpPr/>
          <p:nvPr/>
        </p:nvSpPr>
        <p:spPr>
          <a:xfrm>
            <a:off x="457200" y="2304288"/>
            <a:ext cx="329184" cy="329184"/>
          </a:xfrm>
          <a:prstGeom prst="ellipse">
            <a:avLst/>
          </a:prstGeom>
          <a:solidFill>
            <a:srgbClr val="1B2A41"/>
          </a:solidFill>
          <a:ln w="12700">
            <a:solidFill>
              <a:srgbClr val="1B2A41"/>
            </a:solidFill>
            <a:prstDash val="solid"/>
          </a:ln>
        </p:spPr>
      </p:sp>
      <p:sp>
        <p:nvSpPr>
          <p:cNvPr id="12" name="Text 10"/>
          <p:cNvSpPr txBox="1"/>
          <p:nvPr/>
        </p:nvSpPr>
        <p:spPr>
          <a:xfrm>
            <a:off x="457200" y="230428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3" name="Text 11"/>
          <p:cNvSpPr txBox="1"/>
          <p:nvPr/>
        </p:nvSpPr>
        <p:spPr>
          <a:xfrm>
            <a:off x="914400" y="2276856"/>
            <a:ext cx="4206240" cy="274320"/>
          </a:xfrm>
          <a:prstGeom prst="rect">
            <a:avLst/>
          </a:prstGeom>
          <a:noFill/>
          <a:ln/>
        </p:spPr>
        <p:txBody>
          <a:bodyPr wrap="square" lIns="0" tIns="0" rIns="0" bIns="0" rtlCol="0" anchor="t"/>
          <a:lstStyle/>
          <a:p>
            <a:pPr marL="0" indent="0">
              <a:buNone/>
            </a:pPr>
            <a:r>
              <a:rPr lang="en-US" sz="1400" b="1" dirty="0">
                <a:solidFill>
                  <a:schemeClr val="tx1"/>
                </a:solidFill>
              </a:rPr>
              <a:t>Code checks the proposal</a:t>
            </a:r>
            <a:endParaRPr lang="en-US" sz="1400" dirty="0"/>
          </a:p>
        </p:txBody>
      </p:sp>
      <p:sp>
        <p:nvSpPr>
          <p:cNvPr id="14" name="Text 12"/>
          <p:cNvSpPr txBox="1"/>
          <p:nvPr/>
        </p:nvSpPr>
        <p:spPr>
          <a:xfrm>
            <a:off x="914400" y="2551176"/>
            <a:ext cx="4206240" cy="347472"/>
          </a:xfrm>
          <a:prstGeom prst="rect">
            <a:avLst/>
          </a:prstGeom>
          <a:noFill/>
          <a:ln/>
        </p:spPr>
        <p:txBody>
          <a:bodyPr wrap="square" lIns="0" tIns="0" rIns="0" bIns="0" rtlCol="0" anchor="t"/>
          <a:lstStyle/>
          <a:p>
            <a:pPr marL="0" indent="0">
              <a:buNone/>
            </a:pPr>
            <a:r>
              <a:rPr lang="en-US" sz="1200" dirty="0">
                <a:solidFill>
                  <a:schemeClr val="accent6"/>
                </a:solidFill>
              </a:rPr>
              <a:t>Every school, number and rule against the data</a:t>
            </a:r>
            <a:endParaRPr lang="en-US" sz="1200" dirty="0"/>
          </a:p>
        </p:txBody>
      </p:sp>
      <p:sp>
        <p:nvSpPr>
          <p:cNvPr id="15" name="Shape 13"/>
          <p:cNvSpPr/>
          <p:nvPr/>
        </p:nvSpPr>
        <p:spPr>
          <a:xfrm>
            <a:off x="457200" y="2962656"/>
            <a:ext cx="329184" cy="329184"/>
          </a:xfrm>
          <a:prstGeom prst="ellipse">
            <a:avLst/>
          </a:prstGeom>
          <a:solidFill>
            <a:srgbClr val="D6453D"/>
          </a:solidFill>
          <a:ln w="12700">
            <a:solidFill>
              <a:srgbClr val="D6453D"/>
            </a:solidFill>
            <a:prstDash val="solid"/>
          </a:ln>
        </p:spPr>
      </p:sp>
      <p:sp>
        <p:nvSpPr>
          <p:cNvPr id="16" name="Text 14"/>
          <p:cNvSpPr txBox="1"/>
          <p:nvPr/>
        </p:nvSpPr>
        <p:spPr>
          <a:xfrm>
            <a:off x="457200" y="296265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7" name="Text 15"/>
          <p:cNvSpPr txBox="1"/>
          <p:nvPr/>
        </p:nvSpPr>
        <p:spPr>
          <a:xfrm>
            <a:off x="914400" y="2935224"/>
            <a:ext cx="4206240" cy="274320"/>
          </a:xfrm>
          <a:prstGeom prst="rect">
            <a:avLst/>
          </a:prstGeom>
          <a:noFill/>
          <a:ln/>
        </p:spPr>
        <p:txBody>
          <a:bodyPr wrap="square" lIns="0" tIns="0" rIns="0" bIns="0" rtlCol="0" anchor="t"/>
          <a:lstStyle/>
          <a:p>
            <a:pPr marL="0" indent="0">
              <a:buNone/>
            </a:pPr>
            <a:r>
              <a:rPr lang="en-US" sz="1400" b="1" dirty="0">
                <a:solidFill>
                  <a:schemeClr val="tx1"/>
                </a:solidFill>
              </a:rPr>
              <a:t>You approve or reject</a:t>
            </a:r>
            <a:endParaRPr lang="en-US" sz="1400" dirty="0"/>
          </a:p>
        </p:txBody>
      </p:sp>
      <p:sp>
        <p:nvSpPr>
          <p:cNvPr id="18" name="Text 16"/>
          <p:cNvSpPr txBox="1"/>
          <p:nvPr/>
        </p:nvSpPr>
        <p:spPr>
          <a:xfrm>
            <a:off x="914400" y="3209544"/>
            <a:ext cx="4206240" cy="347472"/>
          </a:xfrm>
          <a:prstGeom prst="rect">
            <a:avLst/>
          </a:prstGeom>
          <a:noFill/>
          <a:ln/>
        </p:spPr>
        <p:txBody>
          <a:bodyPr wrap="square" lIns="0" tIns="0" rIns="0" bIns="0" rtlCol="0" anchor="t"/>
          <a:lstStyle/>
          <a:p>
            <a:pPr marL="0" indent="0">
              <a:buNone/>
            </a:pPr>
            <a:r>
              <a:rPr lang="en-US" sz="1200" dirty="0">
                <a:solidFill>
                  <a:schemeClr val="accent6"/>
                </a:solidFill>
              </a:rPr>
              <a:t>Proposed changes: nothing has changed yet</a:t>
            </a:r>
            <a:endParaRPr lang="en-US" sz="1200" dirty="0"/>
          </a:p>
        </p:txBody>
      </p:sp>
      <p:sp>
        <p:nvSpPr>
          <p:cNvPr id="19" name="Shape 17"/>
          <p:cNvSpPr/>
          <p:nvPr/>
        </p:nvSpPr>
        <p:spPr>
          <a:xfrm>
            <a:off x="457200" y="3621024"/>
            <a:ext cx="329184" cy="329184"/>
          </a:xfrm>
          <a:prstGeom prst="ellipse">
            <a:avLst/>
          </a:prstGeom>
          <a:solidFill>
            <a:srgbClr val="1B2A41"/>
          </a:solidFill>
          <a:ln w="12700">
            <a:solidFill>
              <a:srgbClr val="1B2A41"/>
            </a:solidFill>
            <a:prstDash val="solid"/>
          </a:ln>
        </p:spPr>
      </p:sp>
      <p:sp>
        <p:nvSpPr>
          <p:cNvPr id="20" name="Text 18"/>
          <p:cNvSpPr txBox="1"/>
          <p:nvPr/>
        </p:nvSpPr>
        <p:spPr>
          <a:xfrm>
            <a:off x="457200" y="3621024"/>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1" name="Text 19"/>
          <p:cNvSpPr txBox="1"/>
          <p:nvPr/>
        </p:nvSpPr>
        <p:spPr>
          <a:xfrm>
            <a:off x="914400" y="3593592"/>
            <a:ext cx="4206240" cy="274320"/>
          </a:xfrm>
          <a:prstGeom prst="rect">
            <a:avLst/>
          </a:prstGeom>
          <a:noFill/>
          <a:ln/>
        </p:spPr>
        <p:txBody>
          <a:bodyPr wrap="square" lIns="0" tIns="0" rIns="0" bIns="0" rtlCol="0" anchor="t"/>
          <a:lstStyle/>
          <a:p>
            <a:pPr marL="0" indent="0">
              <a:buNone/>
            </a:pPr>
            <a:r>
              <a:rPr lang="en-US" sz="1400" b="1" dirty="0">
                <a:solidFill>
                  <a:schemeClr val="tx1"/>
                </a:solidFill>
              </a:rPr>
              <a:t>Optimiser + validator run</a:t>
            </a:r>
            <a:endParaRPr lang="en-US" sz="1400" dirty="0"/>
          </a:p>
        </p:txBody>
      </p:sp>
      <p:sp>
        <p:nvSpPr>
          <p:cNvPr id="22" name="Text 20"/>
          <p:cNvSpPr txBox="1"/>
          <p:nvPr/>
        </p:nvSpPr>
        <p:spPr>
          <a:xfrm>
            <a:off x="914400" y="3867912"/>
            <a:ext cx="4206240" cy="347472"/>
          </a:xfrm>
          <a:prstGeom prst="rect">
            <a:avLst/>
          </a:prstGeom>
          <a:noFill/>
          <a:ln/>
        </p:spPr>
        <p:txBody>
          <a:bodyPr wrap="square" lIns="0" tIns="0" rIns="0" bIns="0" rtlCol="0" anchor="t"/>
          <a:lstStyle/>
          <a:p>
            <a:pPr marL="0" indent="0">
              <a:buNone/>
            </a:pPr>
            <a:r>
              <a:rPr lang="en-US" sz="1200" dirty="0">
                <a:solidFill>
                  <a:schemeClr val="accent6"/>
                </a:solidFill>
              </a:rPr>
              <a:t>The same OR-Tools models and checks as every plan</a:t>
            </a:r>
            <a:endParaRPr lang="en-US" sz="1200" dirty="0"/>
          </a:p>
        </p:txBody>
      </p:sp>
      <p:sp>
        <p:nvSpPr>
          <p:cNvPr id="23" name="Honest note"/>
          <p:cNvSpPr/>
          <p:nvPr/>
        </p:nvSpPr>
        <p:spPr>
          <a:xfrm>
            <a:off x="457200" y="4297680"/>
            <a:ext cx="4754880" cy="384048"/>
          </a:xfrm>
          <a:prstGeom prst="roundRect">
            <a:avLst>
              <a:gd name="adj" fmla="val 19048"/>
            </a:avLst>
          </a:prstGeom>
          <a:solidFill>
            <a:srgbClr val="E8EFF7"/>
          </a:solidFill>
          <a:ln w="12700">
            <a:solidFill>
              <a:srgbClr val="E8EFF7"/>
            </a:solidFill>
            <a:prstDash val="solid"/>
          </a:ln>
        </p:spPr>
      </p:sp>
      <p:sp>
        <p:nvSpPr>
          <p:cNvPr id="24" name="Text 22"/>
          <p:cNvSpPr txBox="1"/>
          <p:nvPr/>
        </p:nvSpPr>
        <p:spPr>
          <a:xfrm>
            <a:off x="594360" y="4297680"/>
            <a:ext cx="4572000" cy="384048"/>
          </a:xfrm>
          <a:prstGeom prst="rect">
            <a:avLst/>
          </a:prstGeom>
          <a:noFill/>
          <a:ln/>
        </p:spPr>
        <p:txBody>
          <a:bodyPr wrap="square" lIns="0" tIns="0" rIns="0" bIns="0" rtlCol="0" anchor="ctr"/>
          <a:lstStyle/>
          <a:p>
            <a:pPr marL="0" indent="0">
              <a:buNone/>
            </a:pPr>
            <a:r>
              <a:rPr lang="en-US" sz="1200" b="1" dirty="0">
                <a:solidFill>
                  <a:schemeClr val="accent4"/>
                </a:solidFill>
              </a:rPr>
              <a:t>"Nearby" is a cost tie-break in the fixed model, not a hard rule.</a:t>
            </a:r>
            <a:endParaRPr lang="en-US" sz="1200" dirty="0"/>
          </a:p>
        </p:txBody>
      </p:sp>
      <p:sp>
        <p:nvSpPr>
          <p:cNvPr id="25" name="Shape 23"/>
          <p:cNvSpPr/>
          <p:nvPr/>
        </p:nvSpPr>
        <p:spPr>
          <a:xfrm>
            <a:off x="6398187" y="941832"/>
            <a:ext cx="2306901" cy="3648456"/>
          </a:xfrm>
          <a:prstGeom prst="rect">
            <a:avLst/>
          </a:prstGeom>
          <a:solidFill>
            <a:srgbClr val="D0D5DD"/>
          </a:solidFill>
          <a:ln w="12700">
            <a:solidFill>
              <a:srgbClr val="D0D5DD"/>
            </a:solidFill>
            <a:prstDash val="solid"/>
          </a:ln>
        </p:spPr>
      </p:sp>
      <p:pic>
        <p:nvPicPr>
          <p:cNvPr id="26" name="Image 0" descr="Campus Cruise assistant panel answering 'Minimise bus costs while keeping nearby schools together' with a proposal awaiting approval"/>
          <p:cNvPicPr>
            <a:picLocks noChangeAspect="1"/>
          </p:cNvPicPr>
          <p:nvPr/>
        </p:nvPicPr>
        <p:blipFill>
          <a:blip r:embed="rId3"/>
          <a:stretch>
            <a:fillRect/>
          </a:stretch>
        </p:blipFill>
        <p:spPr>
          <a:xfrm>
            <a:off x="6416475" y="960120"/>
            <a:ext cx="2270325" cy="3611880"/>
          </a:xfrm>
          <a:prstGeom prst="rect">
            <a:avLst/>
          </a:prstGeom>
        </p:spPr>
      </p:pic>
      <p:sp>
        <p:nvSpPr>
          <p:cNvPr id="27" name="Text 24"/>
          <p:cNvSpPr txBox="1"/>
          <p:nvPr/>
        </p:nvSpPr>
        <p:spPr>
          <a:xfrm>
            <a:off x="6416475" y="4608576"/>
            <a:ext cx="2270325" cy="164592"/>
          </a:xfrm>
          <a:prstGeom prst="rect">
            <a:avLst/>
          </a:prstGeom>
          <a:noFill/>
          <a:ln/>
        </p:spPr>
        <p:txBody>
          <a:bodyPr wrap="square" lIns="0" tIns="0" rIns="0" bIns="0" rtlCol="0" anchor="t"/>
          <a:lstStyle/>
          <a:p>
            <a:pPr marL="0" indent="0" algn="ctr">
              <a:buNone/>
            </a:pPr>
            <a:r>
              <a:rPr lang="en-US" sz="900" i="1" dirty="0">
                <a:solidFill>
                  <a:schemeClr val="accent6"/>
                </a:solidFill>
              </a:rPr>
              <a:t>Real screenshot, 26 Oct 2026</a:t>
            </a:r>
            <a:endParaRPr lang="en-US" sz="900" dirty="0"/>
          </a:p>
        </p:txBody>
      </p:sp>
      <p:sp>
        <p:nvSpPr>
          <p:cNvPr id="2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Sector impact: who benefits and what we can measure</a:t>
            </a:r>
            <a:endParaRPr lang="en-US" sz="2800" dirty="0"/>
          </a:p>
        </p:txBody>
      </p:sp>
      <p:sp>
        <p:nvSpPr>
          <p:cNvPr id="3" name="Event organisers &amp; SMEs"/>
          <p:cNvSpPr/>
          <p:nvPr/>
        </p:nvSpPr>
        <p:spPr>
          <a:xfrm>
            <a:off x="457200" y="1005840"/>
            <a:ext cx="1965960" cy="640080"/>
          </a:xfrm>
          <a:prstGeom prst="roundRect">
            <a:avLst>
              <a:gd name="adj" fmla="val 11429"/>
            </a:avLst>
          </a:prstGeom>
          <a:solidFill>
            <a:srgbClr val="F3F5F8"/>
          </a:solidFill>
          <a:ln w="12700">
            <a:solidFill>
              <a:srgbClr val="F3F5F8"/>
            </a:solidFill>
            <a:prstDash val="solid"/>
          </a:ln>
        </p:spPr>
      </p:sp>
      <p:sp>
        <p:nvSpPr>
          <p:cNvPr id="4" name="Text 2"/>
          <p:cNvSpPr txBox="1"/>
          <p:nvPr/>
        </p:nvSpPr>
        <p:spPr>
          <a:xfrm>
            <a:off x="566928" y="1078992"/>
            <a:ext cx="1783080" cy="256032"/>
          </a:xfrm>
          <a:prstGeom prst="rect">
            <a:avLst/>
          </a:prstGeom>
          <a:noFill/>
          <a:ln/>
        </p:spPr>
        <p:txBody>
          <a:bodyPr wrap="square" lIns="0" tIns="0" rIns="0" bIns="0" rtlCol="0" anchor="t"/>
          <a:lstStyle/>
          <a:p>
            <a:pPr marL="0" indent="0">
              <a:buNone/>
            </a:pPr>
            <a:r>
              <a:rPr lang="en-US" sz="1200" b="1" dirty="0">
                <a:solidFill>
                  <a:schemeClr val="tx1"/>
                </a:solidFill>
              </a:rPr>
              <a:t>Event organisers &amp; SMEs</a:t>
            </a:r>
            <a:endParaRPr lang="en-US" sz="1200" dirty="0"/>
          </a:p>
        </p:txBody>
      </p:sp>
      <p:sp>
        <p:nvSpPr>
          <p:cNvPr id="5" name="Text 3"/>
          <p:cNvSpPr txBox="1"/>
          <p:nvPr/>
        </p:nvSpPr>
        <p:spPr>
          <a:xfrm>
            <a:off x="566928" y="1335024"/>
            <a:ext cx="1783080" cy="256032"/>
          </a:xfrm>
          <a:prstGeom prst="rect">
            <a:avLst/>
          </a:prstGeom>
          <a:noFill/>
          <a:ln/>
        </p:spPr>
        <p:txBody>
          <a:bodyPr wrap="square" lIns="0" tIns="0" rIns="0" bIns="0" rtlCol="0" anchor="t"/>
          <a:lstStyle/>
          <a:p>
            <a:pPr marL="0" indent="0">
              <a:buNone/>
            </a:pPr>
            <a:r>
              <a:rPr lang="en-US" sz="1100" dirty="0">
                <a:solidFill>
                  <a:schemeClr val="accent6"/>
                </a:solidFill>
              </a:rPr>
              <a:t>a checked plan in seconds</a:t>
            </a:r>
            <a:endParaRPr lang="en-US" sz="1100" dirty="0"/>
          </a:p>
        </p:txBody>
      </p:sp>
      <p:sp>
        <p:nvSpPr>
          <p:cNvPr id="6" name="Schools &amp; teachers"/>
          <p:cNvSpPr/>
          <p:nvPr/>
        </p:nvSpPr>
        <p:spPr>
          <a:xfrm>
            <a:off x="2560320" y="1005840"/>
            <a:ext cx="1965960" cy="640080"/>
          </a:xfrm>
          <a:prstGeom prst="roundRect">
            <a:avLst>
              <a:gd name="adj" fmla="val 11429"/>
            </a:avLst>
          </a:prstGeom>
          <a:solidFill>
            <a:srgbClr val="F3F5F8"/>
          </a:solidFill>
          <a:ln w="12700">
            <a:solidFill>
              <a:srgbClr val="F3F5F8"/>
            </a:solidFill>
            <a:prstDash val="solid"/>
          </a:ln>
        </p:spPr>
      </p:sp>
      <p:sp>
        <p:nvSpPr>
          <p:cNvPr id="7" name="Text 5"/>
          <p:cNvSpPr txBox="1"/>
          <p:nvPr/>
        </p:nvSpPr>
        <p:spPr>
          <a:xfrm>
            <a:off x="2670048" y="1078992"/>
            <a:ext cx="1783080" cy="256032"/>
          </a:xfrm>
          <a:prstGeom prst="rect">
            <a:avLst/>
          </a:prstGeom>
          <a:noFill/>
          <a:ln/>
        </p:spPr>
        <p:txBody>
          <a:bodyPr wrap="square" lIns="0" tIns="0" rIns="0" bIns="0" rtlCol="0" anchor="t"/>
          <a:lstStyle/>
          <a:p>
            <a:pPr marL="0" indent="0">
              <a:buNone/>
            </a:pPr>
            <a:r>
              <a:rPr lang="en-US" sz="1200" b="1" dirty="0">
                <a:solidFill>
                  <a:schemeClr val="tx1"/>
                </a:solidFill>
              </a:rPr>
              <a:t>Schools &amp; teachers</a:t>
            </a:r>
            <a:endParaRPr lang="en-US" sz="1200" dirty="0"/>
          </a:p>
        </p:txBody>
      </p:sp>
      <p:sp>
        <p:nvSpPr>
          <p:cNvPr id="8" name="Text 6"/>
          <p:cNvSpPr txBox="1"/>
          <p:nvPr/>
        </p:nvSpPr>
        <p:spPr>
          <a:xfrm>
            <a:off x="2670048" y="1335024"/>
            <a:ext cx="1783080" cy="256032"/>
          </a:xfrm>
          <a:prstGeom prst="rect">
            <a:avLst/>
          </a:prstGeom>
          <a:noFill/>
          <a:ln/>
        </p:spPr>
        <p:txBody>
          <a:bodyPr wrap="square" lIns="0" tIns="0" rIns="0" bIns="0" rtlCol="0" anchor="t"/>
          <a:lstStyle/>
          <a:p>
            <a:pPr marL="0" indent="0">
              <a:buNone/>
            </a:pPr>
            <a:r>
              <a:rPr lang="en-US" sz="1100" dirty="0">
                <a:solidFill>
                  <a:schemeClr val="accent6"/>
                </a:solidFill>
              </a:rPr>
              <a:t>lower, fair cost shares</a:t>
            </a:r>
            <a:endParaRPr lang="en-US" sz="1100" dirty="0"/>
          </a:p>
        </p:txBody>
      </p:sp>
      <p:sp>
        <p:nvSpPr>
          <p:cNvPr id="9" name="Pupils"/>
          <p:cNvSpPr/>
          <p:nvPr/>
        </p:nvSpPr>
        <p:spPr>
          <a:xfrm>
            <a:off x="457200" y="1755648"/>
            <a:ext cx="1965960" cy="640080"/>
          </a:xfrm>
          <a:prstGeom prst="roundRect">
            <a:avLst>
              <a:gd name="adj" fmla="val 11429"/>
            </a:avLst>
          </a:prstGeom>
          <a:solidFill>
            <a:srgbClr val="F3F5F8"/>
          </a:solidFill>
          <a:ln w="12700">
            <a:solidFill>
              <a:srgbClr val="F3F5F8"/>
            </a:solidFill>
            <a:prstDash val="solid"/>
          </a:ln>
        </p:spPr>
      </p:sp>
      <p:sp>
        <p:nvSpPr>
          <p:cNvPr id="10" name="Text 8"/>
          <p:cNvSpPr txBox="1"/>
          <p:nvPr/>
        </p:nvSpPr>
        <p:spPr>
          <a:xfrm>
            <a:off x="566928" y="1828800"/>
            <a:ext cx="1783080" cy="256032"/>
          </a:xfrm>
          <a:prstGeom prst="rect">
            <a:avLst/>
          </a:prstGeom>
          <a:noFill/>
          <a:ln/>
        </p:spPr>
        <p:txBody>
          <a:bodyPr wrap="square" lIns="0" tIns="0" rIns="0" bIns="0" rtlCol="0" anchor="t"/>
          <a:lstStyle/>
          <a:p>
            <a:pPr marL="0" indent="0">
              <a:buNone/>
            </a:pPr>
            <a:r>
              <a:rPr lang="en-US" sz="1200" b="1" dirty="0">
                <a:solidFill>
                  <a:schemeClr val="tx1"/>
                </a:solidFill>
              </a:rPr>
              <a:t>Pupils</a:t>
            </a:r>
            <a:endParaRPr lang="en-US" sz="1200" dirty="0"/>
          </a:p>
        </p:txBody>
      </p:sp>
      <p:sp>
        <p:nvSpPr>
          <p:cNvPr id="11" name="Text 9"/>
          <p:cNvSpPr txBox="1"/>
          <p:nvPr/>
        </p:nvSpPr>
        <p:spPr>
          <a:xfrm>
            <a:off x="566928" y="2084832"/>
            <a:ext cx="1783080" cy="256032"/>
          </a:xfrm>
          <a:prstGeom prst="rect">
            <a:avLst/>
          </a:prstGeom>
          <a:noFill/>
          <a:ln/>
        </p:spPr>
        <p:txBody>
          <a:bodyPr wrap="square" lIns="0" tIns="0" rIns="0" bIns="0" rtlCol="0" anchor="t"/>
          <a:lstStyle/>
          <a:p>
            <a:pPr marL="0" indent="0">
              <a:buNone/>
            </a:pPr>
            <a:r>
              <a:rPr lang="en-US" sz="1100" dirty="0">
                <a:solidFill>
                  <a:schemeClr val="accent6"/>
                </a:solidFill>
              </a:rPr>
              <a:t>lower cost to attend</a:t>
            </a:r>
            <a:endParaRPr lang="en-US" sz="1100" dirty="0"/>
          </a:p>
        </p:txBody>
      </p:sp>
      <p:sp>
        <p:nvSpPr>
          <p:cNvPr id="12" name="Welsh coach operators"/>
          <p:cNvSpPr/>
          <p:nvPr/>
        </p:nvSpPr>
        <p:spPr>
          <a:xfrm>
            <a:off x="2560320" y="1755648"/>
            <a:ext cx="1965960" cy="640080"/>
          </a:xfrm>
          <a:prstGeom prst="roundRect">
            <a:avLst>
              <a:gd name="adj" fmla="val 11429"/>
            </a:avLst>
          </a:prstGeom>
          <a:solidFill>
            <a:srgbClr val="F3F5F8"/>
          </a:solidFill>
          <a:ln w="12700">
            <a:solidFill>
              <a:srgbClr val="F3F5F8"/>
            </a:solidFill>
            <a:prstDash val="solid"/>
          </a:ln>
        </p:spPr>
      </p:sp>
      <p:sp>
        <p:nvSpPr>
          <p:cNvPr id="13" name="Text 11"/>
          <p:cNvSpPr txBox="1"/>
          <p:nvPr/>
        </p:nvSpPr>
        <p:spPr>
          <a:xfrm>
            <a:off x="2670048" y="1828800"/>
            <a:ext cx="1783080" cy="256032"/>
          </a:xfrm>
          <a:prstGeom prst="rect">
            <a:avLst/>
          </a:prstGeom>
          <a:noFill/>
          <a:ln/>
        </p:spPr>
        <p:txBody>
          <a:bodyPr wrap="square" lIns="0" tIns="0" rIns="0" bIns="0" rtlCol="0" anchor="t"/>
          <a:lstStyle/>
          <a:p>
            <a:pPr marL="0" indent="0">
              <a:buNone/>
            </a:pPr>
            <a:r>
              <a:rPr lang="en-US" sz="1200" b="1" dirty="0">
                <a:solidFill>
                  <a:schemeClr val="tx1"/>
                </a:solidFill>
              </a:rPr>
              <a:t>Welsh coach operators</a:t>
            </a:r>
            <a:endParaRPr lang="en-US" sz="1200" dirty="0"/>
          </a:p>
        </p:txBody>
      </p:sp>
      <p:sp>
        <p:nvSpPr>
          <p:cNvPr id="14" name="Text 12"/>
          <p:cNvSpPr txBox="1"/>
          <p:nvPr/>
        </p:nvSpPr>
        <p:spPr>
          <a:xfrm>
            <a:off x="2670048" y="2084832"/>
            <a:ext cx="1783080" cy="256032"/>
          </a:xfrm>
          <a:prstGeom prst="rect">
            <a:avLst/>
          </a:prstGeom>
          <a:noFill/>
          <a:ln/>
        </p:spPr>
        <p:txBody>
          <a:bodyPr wrap="square" lIns="0" tIns="0" rIns="0" bIns="0" rtlCol="0" anchor="t"/>
          <a:lstStyle/>
          <a:p>
            <a:pPr marL="0" indent="0">
              <a:buNone/>
            </a:pPr>
            <a:r>
              <a:rPr lang="en-US" sz="1100" dirty="0">
                <a:solidFill>
                  <a:schemeClr val="accent6"/>
                </a:solidFill>
              </a:rPr>
              <a:t>a clear booking list</a:t>
            </a:r>
            <a:endParaRPr lang="en-US" sz="1100" dirty="0"/>
          </a:p>
        </p:txBody>
      </p:sp>
      <p:sp>
        <p:nvSpPr>
          <p:cNvPr id="15" name="Event venues"/>
          <p:cNvSpPr/>
          <p:nvPr/>
        </p:nvSpPr>
        <p:spPr>
          <a:xfrm>
            <a:off x="457200" y="2505456"/>
            <a:ext cx="1965960" cy="640080"/>
          </a:xfrm>
          <a:prstGeom prst="roundRect">
            <a:avLst>
              <a:gd name="adj" fmla="val 11429"/>
            </a:avLst>
          </a:prstGeom>
          <a:solidFill>
            <a:srgbClr val="F3F5F8"/>
          </a:solidFill>
          <a:ln w="12700">
            <a:solidFill>
              <a:srgbClr val="F3F5F8"/>
            </a:solidFill>
            <a:prstDash val="solid"/>
          </a:ln>
        </p:spPr>
      </p:sp>
      <p:sp>
        <p:nvSpPr>
          <p:cNvPr id="16" name="Text 14"/>
          <p:cNvSpPr txBox="1"/>
          <p:nvPr/>
        </p:nvSpPr>
        <p:spPr>
          <a:xfrm>
            <a:off x="566928" y="2578608"/>
            <a:ext cx="1783080" cy="256032"/>
          </a:xfrm>
          <a:prstGeom prst="rect">
            <a:avLst/>
          </a:prstGeom>
          <a:noFill/>
          <a:ln/>
        </p:spPr>
        <p:txBody>
          <a:bodyPr wrap="square" lIns="0" tIns="0" rIns="0" bIns="0" rtlCol="0" anchor="t"/>
          <a:lstStyle/>
          <a:p>
            <a:pPr marL="0" indent="0">
              <a:buNone/>
            </a:pPr>
            <a:r>
              <a:rPr lang="en-US" sz="1200" b="1" dirty="0">
                <a:solidFill>
                  <a:schemeClr val="tx1"/>
                </a:solidFill>
              </a:rPr>
              <a:t>Event venues</a:t>
            </a:r>
            <a:endParaRPr lang="en-US" sz="1200" dirty="0"/>
          </a:p>
        </p:txBody>
      </p:sp>
      <p:sp>
        <p:nvSpPr>
          <p:cNvPr id="17" name="Text 15"/>
          <p:cNvSpPr txBox="1"/>
          <p:nvPr/>
        </p:nvSpPr>
        <p:spPr>
          <a:xfrm>
            <a:off x="566928" y="2834640"/>
            <a:ext cx="1783080" cy="256032"/>
          </a:xfrm>
          <a:prstGeom prst="rect">
            <a:avLst/>
          </a:prstGeom>
          <a:noFill/>
          <a:ln/>
        </p:spPr>
        <p:txBody>
          <a:bodyPr wrap="square" lIns="0" tIns="0" rIns="0" bIns="0" rtlCol="0" anchor="t"/>
          <a:lstStyle/>
          <a:p>
            <a:pPr marL="0" indent="0">
              <a:buNone/>
            </a:pPr>
            <a:r>
              <a:rPr lang="en-US" sz="1100" dirty="0">
                <a:solidFill>
                  <a:schemeClr val="accent6"/>
                </a:solidFill>
              </a:rPr>
              <a:t>fewer coaches to park</a:t>
            </a:r>
            <a:endParaRPr lang="en-US" sz="1100" dirty="0"/>
          </a:p>
        </p:txBody>
      </p:sp>
      <p:sp>
        <p:nvSpPr>
          <p:cNvPr id="18" name="Audiences"/>
          <p:cNvSpPr/>
          <p:nvPr/>
        </p:nvSpPr>
        <p:spPr>
          <a:xfrm>
            <a:off x="2560320" y="2505456"/>
            <a:ext cx="1965960" cy="640080"/>
          </a:xfrm>
          <a:prstGeom prst="roundRect">
            <a:avLst>
              <a:gd name="adj" fmla="val 11429"/>
            </a:avLst>
          </a:prstGeom>
          <a:solidFill>
            <a:srgbClr val="F3F5F8"/>
          </a:solidFill>
          <a:ln w="12700">
            <a:solidFill>
              <a:srgbClr val="F3F5F8"/>
            </a:solidFill>
            <a:prstDash val="solid"/>
          </a:ln>
        </p:spPr>
      </p:sp>
      <p:sp>
        <p:nvSpPr>
          <p:cNvPr id="19" name="Text 17"/>
          <p:cNvSpPr txBox="1"/>
          <p:nvPr/>
        </p:nvSpPr>
        <p:spPr>
          <a:xfrm>
            <a:off x="2670048" y="2578608"/>
            <a:ext cx="1783080" cy="256032"/>
          </a:xfrm>
          <a:prstGeom prst="rect">
            <a:avLst/>
          </a:prstGeom>
          <a:noFill/>
          <a:ln/>
        </p:spPr>
        <p:txBody>
          <a:bodyPr wrap="square" lIns="0" tIns="0" rIns="0" bIns="0" rtlCol="0" anchor="t"/>
          <a:lstStyle/>
          <a:p>
            <a:pPr marL="0" indent="0">
              <a:buNone/>
            </a:pPr>
            <a:r>
              <a:rPr lang="en-US" sz="1200" b="1" dirty="0">
                <a:solidFill>
                  <a:schemeClr val="tx1"/>
                </a:solidFill>
              </a:rPr>
              <a:t>Audiences</a:t>
            </a:r>
            <a:endParaRPr lang="en-US" sz="1200" dirty="0"/>
          </a:p>
        </p:txBody>
      </p:sp>
      <p:sp>
        <p:nvSpPr>
          <p:cNvPr id="20" name="Text 18"/>
          <p:cNvSpPr txBox="1"/>
          <p:nvPr/>
        </p:nvSpPr>
        <p:spPr>
          <a:xfrm>
            <a:off x="2670048" y="2834640"/>
            <a:ext cx="1783080" cy="256032"/>
          </a:xfrm>
          <a:prstGeom prst="rect">
            <a:avLst/>
          </a:prstGeom>
          <a:noFill/>
          <a:ln/>
        </p:spPr>
        <p:txBody>
          <a:bodyPr wrap="square" lIns="0" tIns="0" rIns="0" bIns="0" rtlCol="0" anchor="t"/>
          <a:lstStyle/>
          <a:p>
            <a:pPr marL="0" indent="0">
              <a:buNone/>
            </a:pPr>
            <a:r>
              <a:rPr lang="en-US" sz="1100" dirty="0">
                <a:solidFill>
                  <a:schemeClr val="accent6"/>
                </a:solidFill>
              </a:rPr>
              <a:t>less coach traffic on event day</a:t>
            </a:r>
            <a:endParaRPr lang="en-US" sz="1100" dirty="0"/>
          </a:p>
        </p:txBody>
      </p:sp>
      <p:sp>
        <p:nvSpPr>
          <p:cNvPr id="21" name="Metric 1"/>
          <p:cNvSpPr/>
          <p:nvPr/>
        </p:nvSpPr>
        <p:spPr>
          <a:xfrm>
            <a:off x="4800600" y="1005840"/>
            <a:ext cx="3886200" cy="640080"/>
          </a:xfrm>
          <a:prstGeom prst="roundRect">
            <a:avLst>
              <a:gd name="adj" fmla="val 11429"/>
            </a:avLst>
          </a:prstGeom>
          <a:solidFill>
            <a:srgbClr val="F3F5F8"/>
          </a:solidFill>
          <a:ln w="12700">
            <a:solidFill>
              <a:srgbClr val="F3F5F8"/>
            </a:solidFill>
            <a:prstDash val="solid"/>
          </a:ln>
        </p:spPr>
      </p:sp>
      <p:sp>
        <p:nvSpPr>
          <p:cNvPr id="22" name="Text 20"/>
          <p:cNvSpPr txBox="1"/>
          <p:nvPr/>
        </p:nvSpPr>
        <p:spPr>
          <a:xfrm>
            <a:off x="4937760" y="1005840"/>
            <a:ext cx="1234440" cy="640080"/>
          </a:xfrm>
          <a:prstGeom prst="rect">
            <a:avLst/>
          </a:prstGeom>
          <a:noFill/>
          <a:ln/>
        </p:spPr>
        <p:txBody>
          <a:bodyPr wrap="square" lIns="0" tIns="0" rIns="0" bIns="0" rtlCol="0" anchor="ctr"/>
          <a:lstStyle/>
          <a:p>
            <a:pPr marL="0" indent="0">
              <a:buNone/>
            </a:pPr>
            <a:r>
              <a:rPr lang="en-US" sz="2400" b="1" dirty="0">
                <a:solidFill>
                  <a:schemeClr val="accent1"/>
                </a:solidFill>
              </a:rPr>
              <a:t>−35</a:t>
            </a:r>
            <a:endParaRPr lang="en-US" sz="2400" dirty="0"/>
          </a:p>
        </p:txBody>
      </p:sp>
      <p:sp>
        <p:nvSpPr>
          <p:cNvPr id="23" name="Text 21"/>
          <p:cNvSpPr txBox="1"/>
          <p:nvPr/>
        </p:nvSpPr>
        <p:spPr>
          <a:xfrm>
            <a:off x="6217920" y="1005840"/>
            <a:ext cx="2377440" cy="640080"/>
          </a:xfrm>
          <a:prstGeom prst="rect">
            <a:avLst/>
          </a:prstGeom>
          <a:noFill/>
          <a:ln/>
        </p:spPr>
        <p:txBody>
          <a:bodyPr wrap="square" lIns="0" tIns="0" rIns="0" bIns="0" rtlCol="0" anchor="ctr"/>
          <a:lstStyle/>
          <a:p>
            <a:pPr marL="0" indent="0">
              <a:buNone/>
            </a:pPr>
            <a:r>
              <a:rPr lang="en-US" sz="1200" dirty="0">
                <a:solidFill>
                  <a:schemeClr val="tx1"/>
                </a:solidFill>
              </a:rPr>
              <a:t>buses to book and coordinate</a:t>
            </a:r>
            <a:endParaRPr lang="en-US" sz="1200" dirty="0"/>
          </a:p>
        </p:txBody>
      </p:sp>
      <p:sp>
        <p:nvSpPr>
          <p:cNvPr id="24" name="Metric 2"/>
          <p:cNvSpPr/>
          <p:nvPr/>
        </p:nvSpPr>
        <p:spPr>
          <a:xfrm>
            <a:off x="4800600" y="1755648"/>
            <a:ext cx="3886200" cy="640080"/>
          </a:xfrm>
          <a:prstGeom prst="roundRect">
            <a:avLst>
              <a:gd name="adj" fmla="val 11429"/>
            </a:avLst>
          </a:prstGeom>
          <a:solidFill>
            <a:srgbClr val="F3F5F8"/>
          </a:solidFill>
          <a:ln w="12700">
            <a:solidFill>
              <a:srgbClr val="F3F5F8"/>
            </a:solidFill>
            <a:prstDash val="solid"/>
          </a:ln>
        </p:spPr>
      </p:sp>
      <p:sp>
        <p:nvSpPr>
          <p:cNvPr id="25" name="Text 23"/>
          <p:cNvSpPr txBox="1"/>
          <p:nvPr/>
        </p:nvSpPr>
        <p:spPr>
          <a:xfrm>
            <a:off x="4937760" y="1755648"/>
            <a:ext cx="1234440" cy="640080"/>
          </a:xfrm>
          <a:prstGeom prst="rect">
            <a:avLst/>
          </a:prstGeom>
          <a:noFill/>
          <a:ln/>
        </p:spPr>
        <p:txBody>
          <a:bodyPr wrap="square" lIns="0" tIns="0" rIns="0" bIns="0" rtlCol="0" anchor="ctr"/>
          <a:lstStyle/>
          <a:p>
            <a:pPr marL="0" indent="0">
              <a:buNone/>
            </a:pPr>
            <a:r>
              <a:rPr lang="en-US" sz="2400" b="1" dirty="0">
                <a:solidFill>
                  <a:schemeClr val="accent1"/>
                </a:solidFill>
              </a:rPr>
              <a:t>99.5%</a:t>
            </a:r>
            <a:endParaRPr lang="en-US" sz="2400" dirty="0"/>
          </a:p>
        </p:txBody>
      </p:sp>
      <p:sp>
        <p:nvSpPr>
          <p:cNvPr id="26" name="Text 24"/>
          <p:cNvSpPr txBox="1"/>
          <p:nvPr/>
        </p:nvSpPr>
        <p:spPr>
          <a:xfrm>
            <a:off x="6217920" y="1755648"/>
            <a:ext cx="2377440" cy="640080"/>
          </a:xfrm>
          <a:prstGeom prst="rect">
            <a:avLst/>
          </a:prstGeom>
          <a:noFill/>
          <a:ln/>
        </p:spPr>
        <p:txBody>
          <a:bodyPr wrap="square" lIns="0" tIns="0" rIns="0" bIns="0" rtlCol="0" anchor="ctr"/>
          <a:lstStyle/>
          <a:p>
            <a:pPr marL="0" indent="0">
              <a:buNone/>
            </a:pPr>
            <a:r>
              <a:rPr lang="en-US" sz="1200" dirty="0">
                <a:solidFill>
                  <a:schemeClr val="tx1"/>
                </a:solidFill>
              </a:rPr>
              <a:t>seats filled (was 68.0%)</a:t>
            </a:r>
            <a:endParaRPr lang="en-US" sz="1200" dirty="0"/>
          </a:p>
        </p:txBody>
      </p:sp>
      <p:sp>
        <p:nvSpPr>
          <p:cNvPr id="27" name="Metric 3"/>
          <p:cNvSpPr/>
          <p:nvPr/>
        </p:nvSpPr>
        <p:spPr>
          <a:xfrm>
            <a:off x="4800600" y="2505456"/>
            <a:ext cx="3886200" cy="640080"/>
          </a:xfrm>
          <a:prstGeom prst="roundRect">
            <a:avLst>
              <a:gd name="adj" fmla="val 11429"/>
            </a:avLst>
          </a:prstGeom>
          <a:solidFill>
            <a:srgbClr val="E6F2EE"/>
          </a:solidFill>
          <a:ln w="12700">
            <a:solidFill>
              <a:srgbClr val="E6F2EE"/>
            </a:solidFill>
            <a:prstDash val="solid"/>
          </a:ln>
        </p:spPr>
      </p:sp>
      <p:sp>
        <p:nvSpPr>
          <p:cNvPr id="28" name="Text 26"/>
          <p:cNvSpPr txBox="1"/>
          <p:nvPr/>
        </p:nvSpPr>
        <p:spPr>
          <a:xfrm>
            <a:off x="4937760" y="2505456"/>
            <a:ext cx="1234440" cy="640080"/>
          </a:xfrm>
          <a:prstGeom prst="rect">
            <a:avLst/>
          </a:prstGeom>
          <a:noFill/>
          <a:ln/>
        </p:spPr>
        <p:txBody>
          <a:bodyPr wrap="square" lIns="0" tIns="0" rIns="0" bIns="0" rtlCol="0" anchor="ctr"/>
          <a:lstStyle/>
          <a:p>
            <a:pPr marL="0" indent="0">
              <a:buNone/>
            </a:pPr>
            <a:r>
              <a:rPr lang="en-US" sz="2400" b="1" dirty="0">
                <a:solidFill>
                  <a:schemeClr val="accent2"/>
                </a:solidFill>
              </a:rPr>
              <a:t>−38.8%</a:t>
            </a:r>
            <a:endParaRPr lang="en-US" sz="2400" dirty="0"/>
          </a:p>
        </p:txBody>
      </p:sp>
      <p:sp>
        <p:nvSpPr>
          <p:cNvPr id="29" name="Text 27"/>
          <p:cNvSpPr txBox="1"/>
          <p:nvPr/>
        </p:nvSpPr>
        <p:spPr>
          <a:xfrm>
            <a:off x="6217920" y="2505456"/>
            <a:ext cx="2377440" cy="640080"/>
          </a:xfrm>
          <a:prstGeom prst="rect">
            <a:avLst/>
          </a:prstGeom>
          <a:noFill/>
          <a:ln/>
        </p:spPr>
        <p:txBody>
          <a:bodyPr wrap="square" lIns="0" tIns="0" rIns="0" bIns="0" rtlCol="0" anchor="ctr"/>
          <a:lstStyle/>
          <a:p>
            <a:pPr marL="0" indent="0">
              <a:buNone/>
            </a:pPr>
            <a:r>
              <a:rPr lang="en-US" sz="1200" dirty="0">
                <a:solidFill>
                  <a:schemeClr val="tx1"/>
                </a:solidFill>
              </a:rPr>
              <a:t>bus-miles: 1,289.4 → 789.4</a:t>
            </a:r>
            <a:endParaRPr lang="en-US" sz="1200" dirty="0"/>
          </a:p>
        </p:txBody>
      </p:sp>
      <p:sp>
        <p:nvSpPr>
          <p:cNvPr id="30" name="Text 28"/>
          <p:cNvSpPr txBox="1"/>
          <p:nvPr/>
        </p:nvSpPr>
        <p:spPr>
          <a:xfrm>
            <a:off x="4800600" y="3246120"/>
            <a:ext cx="3886200" cy="502920"/>
          </a:xfrm>
          <a:prstGeom prst="rect">
            <a:avLst/>
          </a:prstGeom>
          <a:noFill/>
          <a:ln/>
        </p:spPr>
        <p:txBody>
          <a:bodyPr wrap="square" lIns="0" tIns="0" rIns="0" bIns="0" rtlCol="0" anchor="t"/>
          <a:lstStyle/>
          <a:p>
            <a:pPr marL="0" indent="0">
              <a:buNone/>
            </a:pPr>
            <a:r>
              <a:rPr lang="en-US" sz="1000" dirty="0">
                <a:solidFill>
                  <a:schemeClr val="accent6"/>
                </a:solidFill>
              </a:rPr>
              <a:t>Fixed-price plan on challenge data. Bus-miles are straight-line, first pickup to stadium, summed over buses; baseline = one bus per school. No fuel or emissions claim.</a:t>
            </a:r>
            <a:endParaRPr lang="en-US" sz="1000" dirty="0"/>
          </a:p>
        </p:txBody>
      </p:sp>
      <p:sp>
        <p:nvSpPr>
          <p:cNvPr id="31" name="Pilot"/>
          <p:cNvSpPr/>
          <p:nvPr/>
        </p:nvSpPr>
        <p:spPr>
          <a:xfrm>
            <a:off x="457200" y="3840480"/>
            <a:ext cx="8229600" cy="777240"/>
          </a:xfrm>
          <a:prstGeom prst="roundRect">
            <a:avLst>
              <a:gd name="adj" fmla="val 9412"/>
            </a:avLst>
          </a:prstGeom>
          <a:solidFill>
            <a:srgbClr val="E8EFF7"/>
          </a:solidFill>
          <a:ln w="12700">
            <a:solidFill>
              <a:srgbClr val="E8EFF7"/>
            </a:solidFill>
            <a:prstDash val="solid"/>
          </a:ln>
        </p:spPr>
      </p:sp>
      <p:sp>
        <p:nvSpPr>
          <p:cNvPr id="32" name="Text 30"/>
          <p:cNvSpPr txBox="1"/>
          <p:nvPr/>
        </p:nvSpPr>
        <p:spPr>
          <a:xfrm>
            <a:off x="640080" y="3840480"/>
            <a:ext cx="7863840" cy="777240"/>
          </a:xfrm>
          <a:prstGeom prst="rect">
            <a:avLst/>
          </a:prstGeom>
          <a:noFill/>
          <a:ln/>
        </p:spPr>
        <p:txBody>
          <a:bodyPr wrap="square" lIns="0" tIns="0" rIns="0" bIns="0" rtlCol="0" anchor="ctr"/>
          <a:lstStyle/>
          <a:p>
            <a:pPr marL="0" indent="0">
              <a:buNone/>
            </a:pPr>
            <a:r>
              <a:rPr lang="en-US" sz="1300" b="1" dirty="0">
                <a:solidFill>
                  <a:schemeClr val="accent4"/>
                </a:solidFill>
              </a:rPr>
              <a:t>Next: a pilot. </a:t>
            </a:r>
            <a:r>
              <a:rPr lang="en-US" sz="1300" dirty="0">
                <a:solidFill>
                  <a:schemeClr val="tx1"/>
                </a:solidFill>
              </a:rPr>
              <a:t>One Welsh event organiser or coach operator, same inputs, current plan vs Campus Cruise. Measure cost, buses, seat use, mileage, planning time and user feedback, with school-level data only.</a:t>
            </a:r>
            <a:endParaRPr lang="en-US" sz="1300" dirty="0"/>
          </a:p>
        </p:txBody>
      </p:sp>
      <p:sp>
        <p:nvSpPr>
          <p:cNvPr id="33"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Responsible AI, aligned with Welsh strategy</a:t>
            </a:r>
            <a:endParaRPr lang="en-US" sz="2800" dirty="0"/>
          </a:p>
        </p:txBody>
      </p:sp>
      <p:sp>
        <p:nvSpPr>
          <p:cNvPr id="3" name="Transparency"/>
          <p:cNvSpPr/>
          <p:nvPr/>
        </p:nvSpPr>
        <p:spPr>
          <a:xfrm>
            <a:off x="457200" y="960120"/>
            <a:ext cx="2377440" cy="804672"/>
          </a:xfrm>
          <a:prstGeom prst="roundRect">
            <a:avLst>
              <a:gd name="adj" fmla="val 9091"/>
            </a:avLst>
          </a:prstGeom>
          <a:solidFill>
            <a:srgbClr val="F3F5F8"/>
          </a:solidFill>
          <a:ln w="12700">
            <a:solidFill>
              <a:srgbClr val="F3F5F8"/>
            </a:solidFill>
            <a:prstDash val="solid"/>
          </a:ln>
        </p:spPr>
      </p:sp>
      <p:sp>
        <p:nvSpPr>
          <p:cNvPr id="4" name="Text 2"/>
          <p:cNvSpPr txBox="1"/>
          <p:nvPr/>
        </p:nvSpPr>
        <p:spPr>
          <a:xfrm>
            <a:off x="566928" y="10241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Transparency</a:t>
            </a:r>
            <a:endParaRPr lang="en-US" sz="1300" dirty="0"/>
          </a:p>
        </p:txBody>
      </p:sp>
      <p:sp>
        <p:nvSpPr>
          <p:cNvPr id="5" name="Text 3"/>
          <p:cNvSpPr txBox="1"/>
          <p:nvPr/>
        </p:nvSpPr>
        <p:spPr>
          <a:xfrm>
            <a:off x="566928" y="1271016"/>
            <a:ext cx="2194560" cy="475488"/>
          </a:xfrm>
          <a:prstGeom prst="rect">
            <a:avLst/>
          </a:prstGeom>
          <a:noFill/>
          <a:ln/>
        </p:spPr>
        <p:txBody>
          <a:bodyPr wrap="square" lIns="0" tIns="0" rIns="0" bIns="0" rtlCol="0" anchor="t"/>
          <a:lstStyle/>
          <a:p>
            <a:pPr marL="0" indent="0">
              <a:buNone/>
            </a:pPr>
            <a:r>
              <a:rPr lang="en-US" sz="1050" dirty="0">
                <a:solidFill>
                  <a:schemeClr val="tx1"/>
                </a:solidFill>
              </a:rPr>
              <a:t>Every plan labelled proven optimal or best found; estimates marked</a:t>
            </a:r>
            <a:endParaRPr lang="en-US" sz="1050" dirty="0"/>
          </a:p>
        </p:txBody>
      </p:sp>
      <p:sp>
        <p:nvSpPr>
          <p:cNvPr id="6" name="Privacy"/>
          <p:cNvSpPr/>
          <p:nvPr/>
        </p:nvSpPr>
        <p:spPr>
          <a:xfrm>
            <a:off x="2971800" y="960120"/>
            <a:ext cx="2377440" cy="804672"/>
          </a:xfrm>
          <a:prstGeom prst="roundRect">
            <a:avLst>
              <a:gd name="adj" fmla="val 9091"/>
            </a:avLst>
          </a:prstGeom>
          <a:solidFill>
            <a:srgbClr val="F3F5F8"/>
          </a:solidFill>
          <a:ln w="12700">
            <a:solidFill>
              <a:srgbClr val="F3F5F8"/>
            </a:solidFill>
            <a:prstDash val="solid"/>
          </a:ln>
        </p:spPr>
      </p:sp>
      <p:sp>
        <p:nvSpPr>
          <p:cNvPr id="7" name="Text 5"/>
          <p:cNvSpPr txBox="1"/>
          <p:nvPr/>
        </p:nvSpPr>
        <p:spPr>
          <a:xfrm>
            <a:off x="3081528" y="10241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Privacy</a:t>
            </a:r>
            <a:endParaRPr lang="en-US" sz="1300" dirty="0"/>
          </a:p>
        </p:txBody>
      </p:sp>
      <p:sp>
        <p:nvSpPr>
          <p:cNvPr id="8" name="Text 6"/>
          <p:cNvSpPr txBox="1"/>
          <p:nvPr/>
        </p:nvSpPr>
        <p:spPr>
          <a:xfrm>
            <a:off x="3081528" y="1271016"/>
            <a:ext cx="2194560" cy="475488"/>
          </a:xfrm>
          <a:prstGeom prst="rect">
            <a:avLst/>
          </a:prstGeom>
          <a:noFill/>
          <a:ln/>
        </p:spPr>
        <p:txBody>
          <a:bodyPr wrap="square" lIns="0" tIns="0" rIns="0" bIns="0" rtlCol="0" anchor="t"/>
          <a:lstStyle/>
          <a:p>
            <a:pPr marL="0" indent="0">
              <a:buNone/>
            </a:pPr>
            <a:r>
              <a:rPr lang="en-US" sz="1050" dirty="0">
                <a:solidFill>
                  <a:schemeClr val="tx1"/>
                </a:solidFill>
              </a:rPr>
              <a:t>School-level head counts only, no pupil names; assistant never sees coordinates</a:t>
            </a:r>
            <a:endParaRPr lang="en-US" sz="1050" dirty="0"/>
          </a:p>
        </p:txBody>
      </p:sp>
      <p:sp>
        <p:nvSpPr>
          <p:cNvPr id="9" name="Security"/>
          <p:cNvSpPr/>
          <p:nvPr/>
        </p:nvSpPr>
        <p:spPr>
          <a:xfrm>
            <a:off x="457200" y="1874520"/>
            <a:ext cx="2377440" cy="804672"/>
          </a:xfrm>
          <a:prstGeom prst="roundRect">
            <a:avLst>
              <a:gd name="adj" fmla="val 9091"/>
            </a:avLst>
          </a:prstGeom>
          <a:solidFill>
            <a:srgbClr val="F3F5F8"/>
          </a:solidFill>
          <a:ln w="12700">
            <a:solidFill>
              <a:srgbClr val="F3F5F8"/>
            </a:solidFill>
            <a:prstDash val="solid"/>
          </a:ln>
        </p:spPr>
      </p:sp>
      <p:sp>
        <p:nvSpPr>
          <p:cNvPr id="10" name="Text 8"/>
          <p:cNvSpPr txBox="1"/>
          <p:nvPr/>
        </p:nvSpPr>
        <p:spPr>
          <a:xfrm>
            <a:off x="566928" y="19385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Security</a:t>
            </a:r>
            <a:endParaRPr lang="en-US" sz="1300" dirty="0"/>
          </a:p>
        </p:txBody>
      </p:sp>
      <p:sp>
        <p:nvSpPr>
          <p:cNvPr id="11" name="Text 9"/>
          <p:cNvSpPr txBox="1"/>
          <p:nvPr/>
        </p:nvSpPr>
        <p:spPr>
          <a:xfrm>
            <a:off x="566928" y="2185416"/>
            <a:ext cx="2194560" cy="475488"/>
          </a:xfrm>
          <a:prstGeom prst="rect">
            <a:avLst/>
          </a:prstGeom>
          <a:noFill/>
          <a:ln/>
        </p:spPr>
        <p:txBody>
          <a:bodyPr wrap="square" lIns="0" tIns="0" rIns="0" bIns="0" rtlCol="0" anchor="t"/>
          <a:lstStyle/>
          <a:p>
            <a:pPr marL="0" indent="0">
              <a:buNone/>
            </a:pPr>
            <a:r>
              <a:rPr lang="en-US" sz="1050" dirty="0">
                <a:solidFill>
                  <a:schemeClr val="tx1"/>
                </a:solidFill>
              </a:rPr>
              <a:t>API keys never shown or logged; LLM has no tools, returns checked JSON</a:t>
            </a:r>
            <a:endParaRPr lang="en-US" sz="1050" dirty="0"/>
          </a:p>
        </p:txBody>
      </p:sp>
      <p:sp>
        <p:nvSpPr>
          <p:cNvPr id="12" name="Accountability"/>
          <p:cNvSpPr/>
          <p:nvPr/>
        </p:nvSpPr>
        <p:spPr>
          <a:xfrm>
            <a:off x="2971800" y="1874520"/>
            <a:ext cx="2377440" cy="804672"/>
          </a:xfrm>
          <a:prstGeom prst="roundRect">
            <a:avLst>
              <a:gd name="adj" fmla="val 9091"/>
            </a:avLst>
          </a:prstGeom>
          <a:solidFill>
            <a:srgbClr val="F3F5F8"/>
          </a:solidFill>
          <a:ln w="12700">
            <a:solidFill>
              <a:srgbClr val="F3F5F8"/>
            </a:solidFill>
            <a:prstDash val="solid"/>
          </a:ln>
        </p:spPr>
      </p:sp>
      <p:sp>
        <p:nvSpPr>
          <p:cNvPr id="13" name="Text 11"/>
          <p:cNvSpPr txBox="1"/>
          <p:nvPr/>
        </p:nvSpPr>
        <p:spPr>
          <a:xfrm>
            <a:off x="3081528" y="19385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Accountability</a:t>
            </a:r>
            <a:endParaRPr lang="en-US" sz="1300" dirty="0"/>
          </a:p>
        </p:txBody>
      </p:sp>
      <p:sp>
        <p:nvSpPr>
          <p:cNvPr id="14" name="Text 12"/>
          <p:cNvSpPr txBox="1"/>
          <p:nvPr/>
        </p:nvSpPr>
        <p:spPr>
          <a:xfrm>
            <a:off x="3081528" y="2185416"/>
            <a:ext cx="2194560" cy="475488"/>
          </a:xfrm>
          <a:prstGeom prst="rect">
            <a:avLst/>
          </a:prstGeom>
          <a:noFill/>
          <a:ln/>
        </p:spPr>
        <p:txBody>
          <a:bodyPr wrap="square" lIns="0" tIns="0" rIns="0" bIns="0" rtlCol="0" anchor="t"/>
          <a:lstStyle/>
          <a:p>
            <a:pPr marL="0" indent="0">
              <a:buNone/>
            </a:pPr>
            <a:r>
              <a:rPr lang="en-US" sz="1050" dirty="0">
                <a:solidFill>
                  <a:schemeClr val="tx1"/>
                </a:solidFill>
              </a:rPr>
              <a:t>Organiser approves every AI change; audit report of every run</a:t>
            </a:r>
            <a:endParaRPr lang="en-US" sz="1050" dirty="0"/>
          </a:p>
        </p:txBody>
      </p:sp>
      <p:sp>
        <p:nvSpPr>
          <p:cNvPr id="15" name="Safety &amp; fairness"/>
          <p:cNvSpPr/>
          <p:nvPr/>
        </p:nvSpPr>
        <p:spPr>
          <a:xfrm>
            <a:off x="457200" y="2788920"/>
            <a:ext cx="2377440" cy="804672"/>
          </a:xfrm>
          <a:prstGeom prst="roundRect">
            <a:avLst>
              <a:gd name="adj" fmla="val 9091"/>
            </a:avLst>
          </a:prstGeom>
          <a:solidFill>
            <a:srgbClr val="F3F5F8"/>
          </a:solidFill>
          <a:ln w="12700">
            <a:solidFill>
              <a:srgbClr val="F3F5F8"/>
            </a:solidFill>
            <a:prstDash val="solid"/>
          </a:ln>
        </p:spPr>
      </p:sp>
      <p:sp>
        <p:nvSpPr>
          <p:cNvPr id="16" name="Text 14"/>
          <p:cNvSpPr txBox="1"/>
          <p:nvPr/>
        </p:nvSpPr>
        <p:spPr>
          <a:xfrm>
            <a:off x="566928" y="28529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Safety &amp; fairness</a:t>
            </a:r>
            <a:endParaRPr lang="en-US" sz="1300" dirty="0"/>
          </a:p>
        </p:txBody>
      </p:sp>
      <p:sp>
        <p:nvSpPr>
          <p:cNvPr id="17" name="Text 15"/>
          <p:cNvSpPr txBox="1"/>
          <p:nvPr/>
        </p:nvSpPr>
        <p:spPr>
          <a:xfrm>
            <a:off x="566928" y="3099816"/>
            <a:ext cx="2194560" cy="475488"/>
          </a:xfrm>
          <a:prstGeom prst="rect">
            <a:avLst/>
          </a:prstGeom>
          <a:noFill/>
          <a:ln/>
        </p:spPr>
        <p:txBody>
          <a:bodyPr wrap="square" lIns="0" tIns="0" rIns="0" bIns="0" rtlCol="0" anchor="t"/>
          <a:lstStyle/>
          <a:p>
            <a:pPr marL="0" indent="0">
              <a:buNone/>
            </a:pPr>
            <a:r>
              <a:rPr lang="en-US" sz="1050" dirty="0">
                <a:solidFill>
                  <a:schemeClr val="tx1"/>
                </a:solidFill>
              </a:rPr>
              <a:t>Hard rules re-checked by independent code; cost shared per attendee</a:t>
            </a:r>
            <a:endParaRPr lang="en-US" sz="1050" dirty="0"/>
          </a:p>
        </p:txBody>
      </p:sp>
      <p:sp>
        <p:nvSpPr>
          <p:cNvPr id="18" name="Honest limits"/>
          <p:cNvSpPr/>
          <p:nvPr/>
        </p:nvSpPr>
        <p:spPr>
          <a:xfrm>
            <a:off x="2971800" y="2788920"/>
            <a:ext cx="2377440" cy="804672"/>
          </a:xfrm>
          <a:prstGeom prst="roundRect">
            <a:avLst>
              <a:gd name="adj" fmla="val 9091"/>
            </a:avLst>
          </a:prstGeom>
          <a:solidFill>
            <a:srgbClr val="F3F5F8"/>
          </a:solidFill>
          <a:ln w="12700">
            <a:solidFill>
              <a:srgbClr val="F3F5F8"/>
            </a:solidFill>
            <a:prstDash val="solid"/>
          </a:ln>
        </p:spPr>
      </p:sp>
      <p:sp>
        <p:nvSpPr>
          <p:cNvPr id="19" name="Text 17"/>
          <p:cNvSpPr txBox="1"/>
          <p:nvPr/>
        </p:nvSpPr>
        <p:spPr>
          <a:xfrm>
            <a:off x="3081528" y="2852928"/>
            <a:ext cx="2194560" cy="237744"/>
          </a:xfrm>
          <a:prstGeom prst="rect">
            <a:avLst/>
          </a:prstGeom>
          <a:noFill/>
          <a:ln/>
        </p:spPr>
        <p:txBody>
          <a:bodyPr wrap="square" lIns="0" tIns="0" rIns="0" bIns="0" rtlCol="0" anchor="t"/>
          <a:lstStyle/>
          <a:p>
            <a:pPr marL="0" indent="0">
              <a:buNone/>
            </a:pPr>
            <a:r>
              <a:rPr lang="en-US" sz="1300" b="1" dirty="0">
                <a:solidFill>
                  <a:schemeClr val="accent2"/>
                </a:solidFill>
              </a:rPr>
              <a:t>Honest limits</a:t>
            </a:r>
            <a:endParaRPr lang="en-US" sz="1300" dirty="0"/>
          </a:p>
        </p:txBody>
      </p:sp>
      <p:sp>
        <p:nvSpPr>
          <p:cNvPr id="20" name="Text 18"/>
          <p:cNvSpPr txBox="1"/>
          <p:nvPr/>
        </p:nvSpPr>
        <p:spPr>
          <a:xfrm>
            <a:off x="3081528" y="3099816"/>
            <a:ext cx="2194560" cy="475488"/>
          </a:xfrm>
          <a:prstGeom prst="rect">
            <a:avLst/>
          </a:prstGeom>
          <a:noFill/>
          <a:ln/>
        </p:spPr>
        <p:txBody>
          <a:bodyPr wrap="square" lIns="0" tIns="0" rIns="0" bIns="0" rtlCol="0" anchor="t"/>
          <a:lstStyle/>
          <a:p>
            <a:pPr marL="0" indent="0">
              <a:buNone/>
            </a:pPr>
            <a:r>
              <a:rPr lang="en-US" sz="1050" dirty="0">
                <a:solidFill>
                  <a:schemeClr val="tx1"/>
                </a:solidFill>
              </a:rPr>
              <a:t>No traffic or boarding time; not yet tested at a real event</a:t>
            </a:r>
            <a:endParaRPr lang="en-US" sz="1050" dirty="0"/>
          </a:p>
        </p:txBody>
      </p:sp>
      <p:sp>
        <p:nvSpPr>
          <p:cNvPr id="21" name="Text 19"/>
          <p:cNvSpPr txBox="1"/>
          <p:nvPr/>
        </p:nvSpPr>
        <p:spPr>
          <a:xfrm>
            <a:off x="457200" y="3794760"/>
            <a:ext cx="4892040" cy="274320"/>
          </a:xfrm>
          <a:prstGeom prst="rect">
            <a:avLst/>
          </a:prstGeom>
          <a:noFill/>
          <a:ln/>
        </p:spPr>
        <p:txBody>
          <a:bodyPr wrap="square" lIns="0" tIns="0" rIns="0" bIns="0" rtlCol="0" anchor="t"/>
          <a:lstStyle/>
          <a:p>
            <a:pPr marL="0" indent="0">
              <a:buNone/>
            </a:pPr>
            <a:r>
              <a:rPr lang="en-US" sz="1300" b="1" dirty="0">
                <a:solidFill>
                  <a:schemeClr val="accent1"/>
                </a:solidFill>
              </a:rPr>
              <a:t>Human oversight: decision support, not an autonomous system.</a:t>
            </a:r>
            <a:endParaRPr lang="en-US" sz="1300" dirty="0"/>
          </a:p>
        </p:txBody>
      </p:sp>
      <p:sp>
        <p:nvSpPr>
          <p:cNvPr id="22" name="Wales"/>
          <p:cNvSpPr/>
          <p:nvPr/>
        </p:nvSpPr>
        <p:spPr>
          <a:xfrm>
            <a:off x="5577840" y="960120"/>
            <a:ext cx="3108960" cy="3611880"/>
          </a:xfrm>
          <a:prstGeom prst="roundRect">
            <a:avLst>
              <a:gd name="adj" fmla="val 2353"/>
            </a:avLst>
          </a:prstGeom>
          <a:solidFill>
            <a:srgbClr val="E8EFF7"/>
          </a:solidFill>
          <a:ln w="12700">
            <a:solidFill>
              <a:srgbClr val="E8EFF7"/>
            </a:solidFill>
            <a:prstDash val="solid"/>
          </a:ln>
        </p:spPr>
      </p:sp>
      <p:sp>
        <p:nvSpPr>
          <p:cNvPr id="23" name="Text 21"/>
          <p:cNvSpPr txBox="1"/>
          <p:nvPr/>
        </p:nvSpPr>
        <p:spPr>
          <a:xfrm>
            <a:off x="5742432" y="1051560"/>
            <a:ext cx="2788920" cy="457200"/>
          </a:xfrm>
          <a:prstGeom prst="rect">
            <a:avLst/>
          </a:prstGeom>
          <a:noFill/>
          <a:ln/>
        </p:spPr>
        <p:txBody>
          <a:bodyPr wrap="square" lIns="0" tIns="0" rIns="0" bIns="0" rtlCol="0" anchor="t"/>
          <a:lstStyle/>
          <a:p>
            <a:pPr marL="0" indent="0">
              <a:buNone/>
            </a:pPr>
            <a:r>
              <a:rPr lang="en-US" sz="1300" b="1" dirty="0">
                <a:solidFill>
                  <a:schemeClr val="accent4"/>
                </a:solidFill>
              </a:rPr>
              <a:t>National Events Strategy for Wales 2022–2030</a:t>
            </a:r>
            <a:endParaRPr lang="en-US" sz="1300" dirty="0"/>
          </a:p>
        </p:txBody>
      </p:sp>
      <p:sp>
        <p:nvSpPr>
          <p:cNvPr id="24" name="Text 22"/>
          <p:cNvSpPr txBox="1"/>
          <p:nvPr/>
        </p:nvSpPr>
        <p:spPr>
          <a:xfrm>
            <a:off x="5742432" y="1554480"/>
            <a:ext cx="2788920" cy="2194560"/>
          </a:xfrm>
          <a:prstGeom prst="rect">
            <a:avLst/>
          </a:prstGeom>
          <a:noFill/>
          <a:ln/>
        </p:spPr>
        <p:txBody>
          <a:bodyPr wrap="square" lIns="0" tIns="0" rIns="0" bIns="0" rtlCol="0" anchor="t"/>
          <a:lstStyle/>
          <a:p>
            <a:pPr marL="0" indent="0">
              <a:buNone/>
            </a:pPr>
            <a:r>
              <a:rPr lang="en-US" sz="1100" i="1" dirty="0">
                <a:solidFill>
                  <a:schemeClr val="tx1"/>
                </a:solidFill>
              </a:rPr>
              <a:t>"A balanced portfolio will consider age, region, ethnicity, religion, cost to attend…"</a:t>
            </a:r>
            <a:endParaRPr lang="en-US" sz="1100" dirty="0"/>
          </a:p>
          <a:p>
            <a:pPr marL="0" indent="0">
              <a:buNone/>
            </a:pPr>
            <a:r>
              <a:rPr lang="en-US" sz="1100" b="1" dirty="0">
                <a:solidFill>
                  <a:schemeClr val="tx1"/>
                </a:solidFill>
              </a:rPr>
              <a:t>→ lower cost to attend for school groups</a:t>
            </a:r>
            <a:endParaRPr lang="en-US" sz="1100" dirty="0"/>
          </a:p>
          <a:p>
            <a:pPr marL="0" indent="0">
              <a:buNone/>
            </a:pPr>
            <a:r>
              <a:rPr lang="en-US" sz="500" dirty="0">
                <a:solidFill>
                  <a:schemeClr val="tx1"/>
                </a:solidFill>
              </a:rPr>
              <a:t> </a:t>
            </a:r>
            <a:endParaRPr lang="en-US" sz="1100" dirty="0"/>
          </a:p>
          <a:p>
            <a:pPr marL="0" indent="0">
              <a:buNone/>
            </a:pPr>
            <a:r>
              <a:rPr lang="en-US" sz="1100" i="1" dirty="0">
                <a:solidFill>
                  <a:schemeClr val="tx1"/>
                </a:solidFill>
              </a:rPr>
              <a:t>Success measure: "Percentage of events encouraging or offering active and sustainable transport options"</a:t>
            </a:r>
            <a:endParaRPr lang="en-US" sz="1100" dirty="0"/>
          </a:p>
          <a:p>
            <a:pPr marL="0" indent="0">
              <a:buNone/>
            </a:pPr>
            <a:r>
              <a:rPr lang="en-US" sz="1100" b="1" dirty="0">
                <a:solidFill>
                  <a:schemeClr val="tx1"/>
                </a:solidFill>
              </a:rPr>
              <a:t>→ shared coaches, fewer bus-miles</a:t>
            </a:r>
            <a:endParaRPr lang="en-US" sz="1100" dirty="0"/>
          </a:p>
        </p:txBody>
      </p:sp>
      <p:sp>
        <p:nvSpPr>
          <p:cNvPr id="25" name="Text 23"/>
          <p:cNvSpPr txBox="1"/>
          <p:nvPr/>
        </p:nvSpPr>
        <p:spPr>
          <a:xfrm>
            <a:off x="5742432" y="3611880"/>
            <a:ext cx="2788920" cy="640080"/>
          </a:xfrm>
          <a:prstGeom prst="rect">
            <a:avLst/>
          </a:prstGeom>
          <a:noFill/>
          <a:ln/>
        </p:spPr>
        <p:txBody>
          <a:bodyPr wrap="square" lIns="0" tIns="0" rIns="0" bIns="0" rtlCol="0" anchor="t"/>
          <a:lstStyle/>
          <a:p>
            <a:pPr marL="0" indent="0">
              <a:buNone/>
            </a:pPr>
            <a:r>
              <a:rPr lang="en-US" sz="1000" dirty="0">
                <a:solidFill>
                  <a:schemeClr val="accent6"/>
                </a:solidFill>
              </a:rPr>
              <a:t>The strategy builds on the Well-being of Future Generations (Wales) Act 2015. No endorsement implied.</a:t>
            </a:r>
            <a:endParaRPr lang="en-US" sz="1000" dirty="0"/>
          </a:p>
        </p:txBody>
      </p:sp>
      <p:sp>
        <p:nvSpPr>
          <p:cNvPr id="26" name="Text 24"/>
          <p:cNvSpPr txBox="1"/>
          <p:nvPr/>
        </p:nvSpPr>
        <p:spPr>
          <a:xfrm>
            <a:off x="457200" y="4160520"/>
            <a:ext cx="4892040" cy="365760"/>
          </a:xfrm>
          <a:prstGeom prst="rect">
            <a:avLst/>
          </a:prstGeom>
          <a:noFill/>
          <a:ln/>
        </p:spPr>
        <p:txBody>
          <a:bodyPr wrap="square" lIns="0" tIns="0" rIns="0" bIns="0" rtlCol="0" anchor="t"/>
          <a:lstStyle/>
          <a:p>
            <a:pPr marL="0" indent="0">
              <a:buNone/>
            </a:pPr>
            <a:r>
              <a:rPr lang="en-US" sz="900" dirty="0">
                <a:solidFill>
                  <a:schemeClr val="accent6"/>
                </a:solidFill>
              </a:rPr>
              <a:t>Source: gov.wales/national-events-strategy-wales-2022-2030-html (checked 26 Oct 2026)</a:t>
            </a:r>
            <a:endParaRPr lang="en-US" sz="900" dirty="0"/>
          </a:p>
        </p:txBody>
      </p:sp>
      <p:sp>
        <p:nvSpPr>
          <p:cNvPr id="27"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chemeClr val="tx1"/>
                </a:solidFill>
              </a:rPr>
              <a:t>Fewer buses, lower cost, plans people can trust</a:t>
            </a:r>
            <a:endParaRPr lang="en-US" sz="2800" dirty="0"/>
          </a:p>
        </p:txBody>
      </p:sp>
      <p:sp>
        <p:nvSpPr>
          <p:cNvPr id="3" name="Problem"/>
          <p:cNvSpPr/>
          <p:nvPr/>
        </p:nvSpPr>
        <p:spPr>
          <a:xfrm>
            <a:off x="457200" y="1005840"/>
            <a:ext cx="1920240" cy="1783080"/>
          </a:xfrm>
          <a:prstGeom prst="roundRect">
            <a:avLst>
              <a:gd name="adj" fmla="val 4103"/>
            </a:avLst>
          </a:prstGeom>
          <a:solidFill>
            <a:srgbClr val="F3F5F8"/>
          </a:solidFill>
          <a:ln w="12700">
            <a:solidFill>
              <a:srgbClr val="F3F5F8"/>
            </a:solidFill>
            <a:prstDash val="solid"/>
          </a:ln>
        </p:spPr>
      </p:sp>
      <p:sp>
        <p:nvSpPr>
          <p:cNvPr id="4" name="Shape 2"/>
          <p:cNvSpPr/>
          <p:nvPr/>
        </p:nvSpPr>
        <p:spPr>
          <a:xfrm>
            <a:off x="621792" y="1143000"/>
            <a:ext cx="256032" cy="256032"/>
          </a:xfrm>
          <a:prstGeom prst="ellipse">
            <a:avLst/>
          </a:prstGeom>
          <a:solidFill>
            <a:srgbClr val="667085"/>
          </a:solidFill>
          <a:ln w="12700">
            <a:solidFill>
              <a:srgbClr val="667085"/>
            </a:solidFill>
            <a:prstDash val="solid"/>
          </a:ln>
        </p:spPr>
      </p:sp>
      <p:sp>
        <p:nvSpPr>
          <p:cNvPr id="5" name="Text 3"/>
          <p:cNvSpPr txBox="1"/>
          <p:nvPr/>
        </p:nvSpPr>
        <p:spPr>
          <a:xfrm>
            <a:off x="960120" y="1115568"/>
            <a:ext cx="1325880" cy="310896"/>
          </a:xfrm>
          <a:prstGeom prst="rect">
            <a:avLst/>
          </a:prstGeom>
          <a:noFill/>
          <a:ln/>
        </p:spPr>
        <p:txBody>
          <a:bodyPr wrap="square" lIns="0" tIns="0" rIns="0" bIns="0" rtlCol="0" anchor="ctr"/>
          <a:lstStyle/>
          <a:p>
            <a:pPr marL="0" indent="0">
              <a:buNone/>
            </a:pPr>
            <a:r>
              <a:rPr lang="en-US" sz="1500" b="1" dirty="0">
                <a:solidFill>
                  <a:schemeClr val="tx1"/>
                </a:solidFill>
              </a:rPr>
              <a:t>Problem</a:t>
            </a:r>
            <a:endParaRPr lang="en-US" sz="1500" dirty="0"/>
          </a:p>
        </p:txBody>
      </p:sp>
      <p:sp>
        <p:nvSpPr>
          <p:cNvPr id="6" name="Text 4"/>
          <p:cNvSpPr txBox="1"/>
          <p:nvPr/>
        </p:nvSpPr>
        <p:spPr>
          <a:xfrm>
            <a:off x="621792" y="1554480"/>
            <a:ext cx="1645920" cy="1188720"/>
          </a:xfrm>
          <a:prstGeom prst="rect">
            <a:avLst/>
          </a:prstGeom>
          <a:noFill/>
          <a:ln/>
        </p:spPr>
        <p:txBody>
          <a:bodyPr wrap="square" lIns="0" tIns="0" rIns="0" bIns="0" rtlCol="0" anchor="t"/>
          <a:lstStyle/>
          <a:p>
            <a:pPr marL="0" indent="0">
              <a:buNone/>
            </a:pPr>
            <a:r>
              <a:rPr lang="en-US" sz="1300" dirty="0">
                <a:solidFill>
                  <a:schemeClr val="tx1"/>
                </a:solidFill>
              </a:rPr>
              <a:t>Schools booking alone waste seats and money</a:t>
            </a:r>
            <a:endParaRPr lang="en-US" sz="1300" dirty="0"/>
          </a:p>
        </p:txBody>
      </p:sp>
      <p:sp>
        <p:nvSpPr>
          <p:cNvPr id="7" name="Result"/>
          <p:cNvSpPr/>
          <p:nvPr/>
        </p:nvSpPr>
        <p:spPr>
          <a:xfrm>
            <a:off x="2560320" y="1005840"/>
            <a:ext cx="1920240" cy="1783080"/>
          </a:xfrm>
          <a:prstGeom prst="roundRect">
            <a:avLst>
              <a:gd name="adj" fmla="val 4103"/>
            </a:avLst>
          </a:prstGeom>
          <a:solidFill>
            <a:srgbClr val="F3F5F8"/>
          </a:solidFill>
          <a:ln w="12700">
            <a:solidFill>
              <a:srgbClr val="F3F5F8"/>
            </a:solidFill>
            <a:prstDash val="solid"/>
          </a:ln>
        </p:spPr>
      </p:sp>
      <p:sp>
        <p:nvSpPr>
          <p:cNvPr id="8" name="Shape 6"/>
          <p:cNvSpPr/>
          <p:nvPr/>
        </p:nvSpPr>
        <p:spPr>
          <a:xfrm>
            <a:off x="2724912" y="1143000"/>
            <a:ext cx="256032" cy="256032"/>
          </a:xfrm>
          <a:prstGeom prst="ellipse">
            <a:avLst/>
          </a:prstGeom>
          <a:solidFill>
            <a:srgbClr val="D6453D"/>
          </a:solidFill>
          <a:ln w="12700">
            <a:solidFill>
              <a:srgbClr val="D6453D"/>
            </a:solidFill>
            <a:prstDash val="solid"/>
          </a:ln>
        </p:spPr>
      </p:sp>
      <p:sp>
        <p:nvSpPr>
          <p:cNvPr id="9" name="Text 7"/>
          <p:cNvSpPr txBox="1"/>
          <p:nvPr/>
        </p:nvSpPr>
        <p:spPr>
          <a:xfrm>
            <a:off x="3063240" y="1115568"/>
            <a:ext cx="1325880" cy="310896"/>
          </a:xfrm>
          <a:prstGeom prst="rect">
            <a:avLst/>
          </a:prstGeom>
          <a:noFill/>
          <a:ln/>
        </p:spPr>
        <p:txBody>
          <a:bodyPr wrap="square" lIns="0" tIns="0" rIns="0" bIns="0" rtlCol="0" anchor="ctr"/>
          <a:lstStyle/>
          <a:p>
            <a:pPr marL="0" indent="0">
              <a:buNone/>
            </a:pPr>
            <a:r>
              <a:rPr lang="en-US" sz="1500" b="1" dirty="0">
                <a:solidFill>
                  <a:schemeClr val="tx1"/>
                </a:solidFill>
              </a:rPr>
              <a:t>Result</a:t>
            </a:r>
            <a:endParaRPr lang="en-US" sz="1500" dirty="0"/>
          </a:p>
        </p:txBody>
      </p:sp>
      <p:sp>
        <p:nvSpPr>
          <p:cNvPr id="10" name="Text 8"/>
          <p:cNvSpPr txBox="1"/>
          <p:nvPr/>
        </p:nvSpPr>
        <p:spPr>
          <a:xfrm>
            <a:off x="2724912" y="1554480"/>
            <a:ext cx="1645920" cy="1188720"/>
          </a:xfrm>
          <a:prstGeom prst="rect">
            <a:avLst/>
          </a:prstGeom>
          <a:noFill/>
          <a:ln/>
        </p:spPr>
        <p:txBody>
          <a:bodyPr wrap="square" lIns="0" tIns="0" rIns="0" bIns="0" rtlCol="0" anchor="t"/>
          <a:lstStyle/>
          <a:p>
            <a:pPr marL="0" indent="0">
              <a:buNone/>
            </a:pPr>
            <a:r>
              <a:rPr lang="en-US" sz="1300" dirty="0">
                <a:solidFill>
                  <a:schemeClr val="tx1"/>
                </a:solidFill>
              </a:rPr>
              <a:t>43.7% cheaper, 60 → 25 buses, proven optimal</a:t>
            </a:r>
            <a:endParaRPr lang="en-US" sz="1300" dirty="0"/>
          </a:p>
        </p:txBody>
      </p:sp>
      <p:sp>
        <p:nvSpPr>
          <p:cNvPr id="11" name="Contribution"/>
          <p:cNvSpPr/>
          <p:nvPr/>
        </p:nvSpPr>
        <p:spPr>
          <a:xfrm>
            <a:off x="4663440" y="1005840"/>
            <a:ext cx="1920240" cy="1783080"/>
          </a:xfrm>
          <a:prstGeom prst="roundRect">
            <a:avLst>
              <a:gd name="adj" fmla="val 4103"/>
            </a:avLst>
          </a:prstGeom>
          <a:solidFill>
            <a:srgbClr val="F3F5F8"/>
          </a:solidFill>
          <a:ln w="12700">
            <a:solidFill>
              <a:srgbClr val="F3F5F8"/>
            </a:solidFill>
            <a:prstDash val="solid"/>
          </a:ln>
        </p:spPr>
      </p:sp>
      <p:sp>
        <p:nvSpPr>
          <p:cNvPr id="12" name="Shape 10"/>
          <p:cNvSpPr/>
          <p:nvPr/>
        </p:nvSpPr>
        <p:spPr>
          <a:xfrm>
            <a:off x="4828032" y="1143000"/>
            <a:ext cx="256032" cy="256032"/>
          </a:xfrm>
          <a:prstGeom prst="ellipse">
            <a:avLst/>
          </a:prstGeom>
          <a:solidFill>
            <a:srgbClr val="3C6E9F"/>
          </a:solidFill>
          <a:ln w="12700">
            <a:solidFill>
              <a:srgbClr val="3C6E9F"/>
            </a:solidFill>
            <a:prstDash val="solid"/>
          </a:ln>
        </p:spPr>
      </p:sp>
      <p:sp>
        <p:nvSpPr>
          <p:cNvPr id="13" name="Text 11"/>
          <p:cNvSpPr txBox="1"/>
          <p:nvPr/>
        </p:nvSpPr>
        <p:spPr>
          <a:xfrm>
            <a:off x="5166360" y="1115568"/>
            <a:ext cx="1325880" cy="310896"/>
          </a:xfrm>
          <a:prstGeom prst="rect">
            <a:avLst/>
          </a:prstGeom>
          <a:noFill/>
          <a:ln/>
        </p:spPr>
        <p:txBody>
          <a:bodyPr wrap="square" lIns="0" tIns="0" rIns="0" bIns="0" rtlCol="0" anchor="ctr"/>
          <a:lstStyle/>
          <a:p>
            <a:pPr marL="0" indent="0">
              <a:buNone/>
            </a:pPr>
            <a:r>
              <a:rPr lang="en-US" sz="1500" b="1" dirty="0">
                <a:solidFill>
                  <a:schemeClr val="tx1"/>
                </a:solidFill>
              </a:rPr>
              <a:t>Contribution</a:t>
            </a:r>
            <a:endParaRPr lang="en-US" sz="1500" dirty="0"/>
          </a:p>
        </p:txBody>
      </p:sp>
      <p:sp>
        <p:nvSpPr>
          <p:cNvPr id="14" name="Text 12"/>
          <p:cNvSpPr txBox="1"/>
          <p:nvPr/>
        </p:nvSpPr>
        <p:spPr>
          <a:xfrm>
            <a:off x="4828032" y="1554480"/>
            <a:ext cx="1645920" cy="1188720"/>
          </a:xfrm>
          <a:prstGeom prst="rect">
            <a:avLst/>
          </a:prstGeom>
          <a:noFill/>
          <a:ln/>
        </p:spPr>
        <p:txBody>
          <a:bodyPr wrap="square" lIns="0" tIns="0" rIns="0" bIns="0" rtlCol="0" anchor="t"/>
          <a:lstStyle/>
          <a:p>
            <a:pPr marL="0" indent="0">
              <a:buNone/>
            </a:pPr>
            <a:r>
              <a:rPr lang="en-US" sz="1300" dirty="0">
                <a:solidFill>
                  <a:schemeClr val="tx1"/>
                </a:solidFill>
              </a:rPr>
              <a:t>Exact + routing optimisation, independent validation, a guarded AI assistant</a:t>
            </a:r>
            <a:endParaRPr lang="en-US" sz="1300" dirty="0"/>
          </a:p>
        </p:txBody>
      </p:sp>
      <p:sp>
        <p:nvSpPr>
          <p:cNvPr id="15" name="Next step"/>
          <p:cNvSpPr/>
          <p:nvPr/>
        </p:nvSpPr>
        <p:spPr>
          <a:xfrm>
            <a:off x="6766560" y="1005840"/>
            <a:ext cx="1920240" cy="1783080"/>
          </a:xfrm>
          <a:prstGeom prst="roundRect">
            <a:avLst>
              <a:gd name="adj" fmla="val 4103"/>
            </a:avLst>
          </a:prstGeom>
          <a:solidFill>
            <a:srgbClr val="F3F5F8"/>
          </a:solidFill>
          <a:ln w="12700">
            <a:solidFill>
              <a:srgbClr val="F3F5F8"/>
            </a:solidFill>
            <a:prstDash val="solid"/>
          </a:ln>
        </p:spPr>
      </p:sp>
      <p:sp>
        <p:nvSpPr>
          <p:cNvPr id="16" name="Shape 14"/>
          <p:cNvSpPr/>
          <p:nvPr/>
        </p:nvSpPr>
        <p:spPr>
          <a:xfrm>
            <a:off x="6931152" y="1143000"/>
            <a:ext cx="256032" cy="256032"/>
          </a:xfrm>
          <a:prstGeom prst="ellipse">
            <a:avLst/>
          </a:prstGeom>
          <a:solidFill>
            <a:srgbClr val="2E7D6B"/>
          </a:solidFill>
          <a:ln w="12700">
            <a:solidFill>
              <a:srgbClr val="2E7D6B"/>
            </a:solidFill>
            <a:prstDash val="solid"/>
          </a:ln>
        </p:spPr>
      </p:sp>
      <p:sp>
        <p:nvSpPr>
          <p:cNvPr id="17" name="Text 15"/>
          <p:cNvSpPr txBox="1"/>
          <p:nvPr/>
        </p:nvSpPr>
        <p:spPr>
          <a:xfrm>
            <a:off x="7269480" y="1115568"/>
            <a:ext cx="1325880" cy="310896"/>
          </a:xfrm>
          <a:prstGeom prst="rect">
            <a:avLst/>
          </a:prstGeom>
          <a:noFill/>
          <a:ln/>
        </p:spPr>
        <p:txBody>
          <a:bodyPr wrap="square" lIns="0" tIns="0" rIns="0" bIns="0" rtlCol="0" anchor="ctr"/>
          <a:lstStyle/>
          <a:p>
            <a:pPr marL="0" indent="0">
              <a:buNone/>
            </a:pPr>
            <a:r>
              <a:rPr lang="en-US" sz="1500" b="1" dirty="0">
                <a:solidFill>
                  <a:schemeClr val="tx1"/>
                </a:solidFill>
              </a:rPr>
              <a:t>Next step</a:t>
            </a:r>
            <a:endParaRPr lang="en-US" sz="1500" dirty="0"/>
          </a:p>
        </p:txBody>
      </p:sp>
      <p:sp>
        <p:nvSpPr>
          <p:cNvPr id="18" name="Text 16"/>
          <p:cNvSpPr txBox="1"/>
          <p:nvPr/>
        </p:nvSpPr>
        <p:spPr>
          <a:xfrm>
            <a:off x="6931152" y="1554480"/>
            <a:ext cx="1645920" cy="1188720"/>
          </a:xfrm>
          <a:prstGeom prst="rect">
            <a:avLst/>
          </a:prstGeom>
          <a:noFill/>
          <a:ln/>
        </p:spPr>
        <p:txBody>
          <a:bodyPr wrap="square" lIns="0" tIns="0" rIns="0" bIns="0" rtlCol="0" anchor="t"/>
          <a:lstStyle/>
          <a:p>
            <a:pPr marL="0" indent="0">
              <a:buNone/>
            </a:pPr>
            <a:r>
              <a:rPr lang="en-US" sz="1300" dirty="0">
                <a:solidFill>
                  <a:schemeClr val="tx1"/>
                </a:solidFill>
              </a:rPr>
              <a:t>Pilot with a Welsh organiser and collect stakeholder feedback</a:t>
            </a:r>
            <a:endParaRPr lang="en-US" sz="1300" dirty="0"/>
          </a:p>
        </p:txBody>
      </p:sp>
      <p:sp>
        <p:nvSpPr>
          <p:cNvPr id="19" name="Text 17"/>
          <p:cNvSpPr txBox="1"/>
          <p:nvPr/>
        </p:nvSpPr>
        <p:spPr>
          <a:xfrm>
            <a:off x="457200" y="2971800"/>
            <a:ext cx="8229600" cy="457200"/>
          </a:xfrm>
          <a:prstGeom prst="rect">
            <a:avLst/>
          </a:prstGeom>
          <a:noFill/>
          <a:ln/>
        </p:spPr>
        <p:txBody>
          <a:bodyPr wrap="square" lIns="0" tIns="0" rIns="0" bIns="0" rtlCol="0" anchor="t"/>
          <a:lstStyle/>
          <a:p>
            <a:pPr marL="0" indent="0">
              <a:buNone/>
            </a:pPr>
            <a:r>
              <a:rPr lang="en-US" sz="2400" b="1" dirty="0">
                <a:solidFill>
                  <a:schemeClr val="accent1"/>
                </a:solidFill>
              </a:rPr>
              <a:t>Thank you. Questions?</a:t>
            </a:r>
            <a:endParaRPr lang="en-US" sz="2400" dirty="0"/>
          </a:p>
        </p:txBody>
      </p:sp>
      <p:sp>
        <p:nvSpPr>
          <p:cNvPr id="20" name="AI disclosure"/>
          <p:cNvSpPr/>
          <p:nvPr/>
        </p:nvSpPr>
        <p:spPr>
          <a:xfrm>
            <a:off x="457200" y="3611880"/>
            <a:ext cx="8229600" cy="1005840"/>
          </a:xfrm>
          <a:prstGeom prst="roundRect">
            <a:avLst>
              <a:gd name="adj" fmla="val 7273"/>
            </a:avLst>
          </a:prstGeom>
          <a:solidFill>
            <a:srgbClr val="F3F5F8"/>
          </a:solidFill>
          <a:ln w="12700">
            <a:solidFill>
              <a:srgbClr val="F3F5F8"/>
            </a:solidFill>
            <a:prstDash val="solid"/>
          </a:ln>
        </p:spPr>
      </p:sp>
      <p:sp>
        <p:nvSpPr>
          <p:cNvPr id="21" name="Text 19"/>
          <p:cNvSpPr txBox="1"/>
          <p:nvPr/>
        </p:nvSpPr>
        <p:spPr>
          <a:xfrm>
            <a:off x="640080" y="3611880"/>
            <a:ext cx="7863840" cy="1005840"/>
          </a:xfrm>
          <a:prstGeom prst="rect">
            <a:avLst/>
          </a:prstGeom>
          <a:noFill/>
          <a:ln/>
        </p:spPr>
        <p:txBody>
          <a:bodyPr wrap="square" lIns="0" tIns="0" rIns="0" bIns="0" rtlCol="0" anchor="ctr"/>
          <a:lstStyle/>
          <a:p>
            <a:pPr marL="0" indent="0">
              <a:buNone/>
            </a:pPr>
            <a:r>
              <a:rPr lang="en-US" sz="1100" b="1" dirty="0">
                <a:solidFill>
                  <a:schemeClr val="tx1"/>
                </a:solidFill>
              </a:rPr>
              <a:t>Generative AI disclosure. </a:t>
            </a:r>
            <a:r>
              <a:rPr lang="en-US" sz="1100" dirty="0">
                <a:solidFill>
                  <a:schemeClr val="tx1"/>
                </a:solidFill>
              </a:rPr>
              <a:t>Claude (Anthropic, via Claude Code) helped write and test the code and draft the documentation, speaker script and this presentation. ChatGPT (OpenAI) was also used as a writing and planning aid. Dhanush reviewed, ran and tested all output. Separately, the app's optional assistant calls OpenAI GPT-4.1 mini at run time as a product feature.</a:t>
            </a:r>
            <a:endParaRPr lang="en-US" sz="11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Campus Cruise Pitch">
  <a:themeElements>
    <a:clrScheme name="Campus Cruise Pitch">
      <a:dk1>
        <a:srgbClr val="1B2A41"/>
      </a:dk1>
      <a:lt1>
        <a:srgbClr val="FFFFFF"/>
      </a:lt1>
      <a:dk2>
        <a:srgbClr val="0F1B2D"/>
      </a:dk2>
      <a:lt2>
        <a:srgbClr val="F3F5F8"/>
      </a:lt2>
      <a:accent1>
        <a:srgbClr val="D6453D"/>
      </a:accent1>
      <a:accent2>
        <a:srgbClr val="2E7D6B"/>
      </a:accent2>
      <a:accent3>
        <a:srgbClr val="E9A23B"/>
      </a:accent3>
      <a:accent4>
        <a:srgbClr val="3C6E9F"/>
      </a:accent4>
      <a:accent5>
        <a:srgbClr val="7A5BA6"/>
      </a:accent5>
      <a:accent6>
        <a:srgbClr val="667085"/>
      </a:accent6>
      <a:hlink>
        <a:srgbClr val="D6453D"/>
      </a:hlink>
      <a:folHlink>
        <a:srgbClr val="7A5BA6"/>
      </a:folHlink>
    </a:clrScheme>
    <a:fontScheme name="Campus Cruise P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2520</Words>
  <Application>Microsoft Office PowerPoint</Application>
  <PresentationFormat>On-screen Show (16:9)</PresentationFormat>
  <Paragraphs>202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Campus Cruise Pitch</vt:lpstr>
      <vt:lpstr>PowerPoint Presentation</vt:lpstr>
      <vt:lpstr>The problem: every school books its own bus</vt:lpstr>
      <vt:lpstr>Campus Cruise: from data to a checked plan</vt:lpstr>
      <vt:lpstr>Algorithms: three cost models, one set of hard rules</vt:lpstr>
      <vt:lpstr>Results: 43.7% lower cost, proven optimal</vt:lpstr>
      <vt:lpstr>Live demo: one bus, its schools and its road route</vt:lpstr>
      <vt:lpstr>AI planning assistant: it proposes, you approve</vt:lpstr>
      <vt:lpstr>Sector impact: who benefits and what we can measure</vt:lpstr>
      <vt:lpstr>Responsible AI, aligned with Welsh strategy</vt:lpstr>
      <vt:lpstr>Fewer buses, lower cost, plans people can trust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Cruise - AI-Powered School Transport Optimisation</dc:title>
  <dc:subject>PptxGenJS Presentation</dc:subject>
  <dc:creator>Dhanush Kalapati, Samyaka, Sathwika</dc:creator>
  <cp:lastModifiedBy>DHANUSH KALAPATI</cp:lastModifiedBy>
  <cp:revision>2</cp:revision>
  <dcterms:created xsi:type="dcterms:W3CDTF">2026-10-27T20:55:49Z</dcterms:created>
  <dcterms:modified xsi:type="dcterms:W3CDTF">2026-10-27T22:51:01Z</dcterms:modified>
</cp:coreProperties>
</file>