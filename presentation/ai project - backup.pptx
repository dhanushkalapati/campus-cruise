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F4BB212-7445-A88B-7060-9CFA5E02DEDB}">
          <p14:sldIdLst>
            <p14:sldId id="256"/>
          </p14:sldIdLst>
        </p14:section>
        <p14:section name="Problem and solution" id="{1CB15EE4-D25F-4B91-2014-D2C1D9982368}">
          <p14:sldIdLst>
            <p14:sldId id="257"/>
            <p14:sldId id="258"/>
          </p14:sldIdLst>
        </p14:section>
        <p14:section name="Approach and results" id="{03A11BB0-B398-1C0A-25A0-7D8173CFE6CF}">
          <p14:sldIdLst>
            <p14:sldId id="259"/>
            <p14:sldId id="260"/>
          </p14:sldIdLst>
        </p14:section>
        <p14:section name="Demo" id="{FB995D2C-BDAE-9DA4-EB2E-2448E72EFD79}">
          <p14:sldIdLst>
            <p14:sldId id="261"/>
            <p14:sldId id="262"/>
          </p14:sldIdLst>
        </p14:section>
        <p14:section name="Impact and responsibility" id="{4091A99D-466E-FE3C-D97B-5517E27EAEC7}">
          <p14:sldIdLst>
            <p14:sldId id="263"/>
            <p14:sldId id="264"/>
          </p14:sldIdLst>
        </p14:section>
        <p14:section name="Close" id="{B387E103-A86E-1868-36E8-8D999FE876C5}">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HANUSH KALAPATI" userId="54d90cb83fa4eb6e" providerId="LiveId" clId="{A8172904-A690-45DD-A7DB-14FEC49802A7}"/>
    <pc:docChg chg="modSld">
      <pc:chgData name="DHANUSH KALAPATI" userId="54d90cb83fa4eb6e" providerId="LiveId" clId="{A8172904-A690-45DD-A7DB-14FEC49802A7}" dt="2026-10-28T02:15:20.876" v="1115"/>
      <pc:docMkLst>
        <pc:docMk/>
      </pc:docMkLst>
      <pc:sldChg chg="modTransition modAnim">
        <pc:chgData name="DHANUSH KALAPATI" userId="54d90cb83fa4eb6e" providerId="LiveId" clId="{A8172904-A690-45DD-A7DB-14FEC49802A7}" dt="2026-10-28T02:15:17.828" v="29"/>
        <pc:sldMkLst>
          <pc:docMk/>
          <pc:sldMk cId="0" sldId="256"/>
        </pc:sldMkLst>
      </pc:sldChg>
      <pc:sldChg chg="modTransition modAnim">
        <pc:chgData name="DHANUSH KALAPATI" userId="54d90cb83fa4eb6e" providerId="LiveId" clId="{A8172904-A690-45DD-A7DB-14FEC49802A7}" dt="2026-10-28T02:15:18.161" v="155"/>
        <pc:sldMkLst>
          <pc:docMk/>
          <pc:sldMk cId="0" sldId="257"/>
        </pc:sldMkLst>
      </pc:sldChg>
      <pc:sldChg chg="modTransition modAnim">
        <pc:chgData name="DHANUSH KALAPATI" userId="54d90cb83fa4eb6e" providerId="LiveId" clId="{A8172904-A690-45DD-A7DB-14FEC49802A7}" dt="2026-10-28T02:15:18.798" v="410"/>
        <pc:sldMkLst>
          <pc:docMk/>
          <pc:sldMk cId="0" sldId="258"/>
        </pc:sldMkLst>
      </pc:sldChg>
      <pc:sldChg chg="modTransition modAnim">
        <pc:chgData name="DHANUSH KALAPATI" userId="54d90cb83fa4eb6e" providerId="LiveId" clId="{A8172904-A690-45DD-A7DB-14FEC49802A7}" dt="2026-10-28T02:15:19.073" v="524"/>
        <pc:sldMkLst>
          <pc:docMk/>
          <pc:sldMk cId="0" sldId="259"/>
        </pc:sldMkLst>
      </pc:sldChg>
      <pc:sldChg chg="modTransition modAnim">
        <pc:chgData name="DHANUSH KALAPATI" userId="54d90cb83fa4eb6e" providerId="LiveId" clId="{A8172904-A690-45DD-A7DB-14FEC49802A7}" dt="2026-10-28T02:15:19.309" v="611"/>
        <pc:sldMkLst>
          <pc:docMk/>
          <pc:sldMk cId="0" sldId="260"/>
        </pc:sldMkLst>
      </pc:sldChg>
      <pc:sldChg chg="modTransition modAnim">
        <pc:chgData name="DHANUSH KALAPATI" userId="54d90cb83fa4eb6e" providerId="LiveId" clId="{A8172904-A690-45DD-A7DB-14FEC49802A7}" dt="2026-10-28T02:15:19.737" v="725"/>
        <pc:sldMkLst>
          <pc:docMk/>
          <pc:sldMk cId="0" sldId="261"/>
        </pc:sldMkLst>
      </pc:sldChg>
      <pc:sldChg chg="modTransition modAnim">
        <pc:chgData name="DHANUSH KALAPATI" userId="54d90cb83fa4eb6e" providerId="LiveId" clId="{A8172904-A690-45DD-A7DB-14FEC49802A7}" dt="2026-10-28T02:15:20.101" v="830"/>
        <pc:sldMkLst>
          <pc:docMk/>
          <pc:sldMk cId="0" sldId="262"/>
        </pc:sldMkLst>
      </pc:sldChg>
      <pc:sldChg chg="modTransition modAnim">
        <pc:chgData name="DHANUSH KALAPATI" userId="54d90cb83fa4eb6e" providerId="LiveId" clId="{A8172904-A690-45DD-A7DB-14FEC49802A7}" dt="2026-10-28T02:15:20.444" v="956"/>
        <pc:sldMkLst>
          <pc:docMk/>
          <pc:sldMk cId="0" sldId="263"/>
        </pc:sldMkLst>
      </pc:sldChg>
      <pc:sldChg chg="modTransition modAnim">
        <pc:chgData name="DHANUSH KALAPATI" userId="54d90cb83fa4eb6e" providerId="LiveId" clId="{A8172904-A690-45DD-A7DB-14FEC49802A7}" dt="2026-10-28T02:15:20.691" v="1052"/>
        <pc:sldMkLst>
          <pc:docMk/>
          <pc:sldMk cId="0" sldId="264"/>
        </pc:sldMkLst>
      </pc:sldChg>
      <pc:sldChg chg="modTransition modAnim">
        <pc:chgData name="DHANUSH KALAPATI" userId="54d90cb83fa4eb6e" providerId="LiveId" clId="{A8172904-A690-45DD-A7DB-14FEC49802A7}" dt="2026-10-28T02:15:20.876" v="1115"/>
        <pc:sldMkLst>
          <pc:docMk/>
          <pc:sldMk cId="0" sldId="265"/>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1" i="0" u="none" strike="noStrike">
                <a:solidFill>
                  <a:srgbClr val="0B1F45"/>
                </a:solidFill>
                <a:latin typeface="+mn-lt"/>
              </a:defRPr>
            </a:pPr>
            <a:r>
              <a:rPr sz="1200" b="1" i="0" u="none" strike="noStrike">
                <a:solidFill>
                  <a:srgbClr val="0B1F45"/>
                </a:solidFill>
                <a:latin typeface="+mn-lt"/>
              </a:rPr>
              <a:t>Total cost (cost units)</a:t>
            </a:r>
          </a:p>
        </c:rich>
      </c:tx>
      <c:overlay val="0"/>
    </c:title>
    <c:autoTitleDeleted val="0"/>
    <c:plotArea>
      <c:layout/>
      <c:barChart>
        <c:barDir val="col"/>
        <c:grouping val="clustered"/>
        <c:varyColors val="0"/>
        <c:ser>
          <c:idx val="0"/>
          <c:order val="0"/>
          <c:tx>
            <c:strRef>
              <c:f>Sheet1!$B$1</c:f>
              <c:strCache>
                <c:ptCount val="1"/>
                <c:pt idx="0">
                  <c:v>Total cost</c:v>
                </c:pt>
              </c:strCache>
            </c:strRef>
          </c:tx>
          <c:spPr>
            <a:solidFill>
              <a:srgbClr val="D7192F"/>
            </a:solidFill>
            <a:effectLst/>
          </c:spPr>
          <c:invertIfNegative val="0"/>
          <c:dPt>
            <c:idx val="0"/>
            <c:invertIfNegative val="0"/>
            <c:bubble3D val="0"/>
            <c:extLst>
              <c:ext xmlns:c16="http://schemas.microsoft.com/office/drawing/2014/chart" uri="{C3380CC4-5D6E-409C-BE32-E72D297353CC}">
                <c16:uniqueId val="{00000001-76BE-4FFA-8464-F15BA735C51C}"/>
              </c:ext>
            </c:extLst>
          </c:dPt>
          <c:dPt>
            <c:idx val="1"/>
            <c:invertIfNegative val="0"/>
            <c:bubble3D val="0"/>
            <c:spPr>
              <a:solidFill>
                <a:srgbClr val="0B1F45"/>
              </a:solidFill>
              <a:effectLst/>
            </c:spPr>
            <c:extLst>
              <c:ext xmlns:c16="http://schemas.microsoft.com/office/drawing/2014/chart" uri="{C3380CC4-5D6E-409C-BE32-E72D297353CC}">
                <c16:uniqueId val="{00000003-76BE-4FFA-8464-F15BA735C51C}"/>
              </c:ext>
            </c:extLst>
          </c:dPt>
          <c:dLbls>
            <c:numFmt formatCode="#,##0" sourceLinked="0"/>
            <c:spPr>
              <a:noFill/>
              <a:ln>
                <a:noFill/>
              </a:ln>
              <a:effectLst/>
            </c:spPr>
            <c:txPr>
              <a:bodyPr/>
              <a:lstStyle/>
              <a:p>
                <a:pPr>
                  <a:defRPr sz="1200" b="1" i="0" u="none" strike="noStrike">
                    <a:solidFill>
                      <a:srgbClr val="0B1F45"/>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Booked separately</c:v>
                </c:pt>
                <c:pt idx="1">
                  <c:v>Campus Cruise</c:v>
                </c:pt>
              </c:strCache>
            </c:strRef>
          </c:cat>
          <c:val>
            <c:numRef>
              <c:f>Sheet1!$B$2:$B$3</c:f>
              <c:numCache>
                <c:formatCode>General</c:formatCode>
                <c:ptCount val="2"/>
                <c:pt idx="0">
                  <c:v>3330</c:v>
                </c:pt>
                <c:pt idx="1">
                  <c:v>1875</c:v>
                </c:pt>
              </c:numCache>
            </c:numRef>
          </c:val>
          <c:extLst>
            <c:ext xmlns:c16="http://schemas.microsoft.com/office/drawing/2014/chart" uri="{C3380CC4-5D6E-409C-BE32-E72D297353CC}">
              <c16:uniqueId val="{00000004-76BE-4FFA-8464-F15BA735C51C}"/>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mn-lt"/>
              </a:defRPr>
            </a:pPr>
            <a:endParaRPr lang="en-US"/>
          </a:p>
        </c:txPr>
        <c:crossAx val="2094734552"/>
        <c:crosses val="autoZero"/>
        <c:auto val="1"/>
        <c:lblAlgn val="ctr"/>
        <c:lblOffset val="100"/>
        <c:noMultiLvlLbl val="1"/>
      </c:catAx>
      <c:valAx>
        <c:axId val="2094734552"/>
        <c:scaling>
          <c:orientation val="minMax"/>
          <c:max val="42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1" i="0" u="none" strike="noStrike">
                <a:solidFill>
                  <a:srgbClr val="0B1F45"/>
                </a:solidFill>
                <a:latin typeface="+mn-lt"/>
              </a:defRPr>
            </a:pPr>
            <a:r>
              <a:rPr sz="1200" b="1" i="0" u="none" strike="noStrike">
                <a:solidFill>
                  <a:srgbClr val="0B1F45"/>
                </a:solidFill>
                <a:latin typeface="+mn-lt"/>
              </a:rPr>
              <a:t>Number of buses</a:t>
            </a:r>
          </a:p>
        </c:rich>
      </c:tx>
      <c:overlay val="0"/>
    </c:title>
    <c:autoTitleDeleted val="0"/>
    <c:plotArea>
      <c:layout/>
      <c:barChart>
        <c:barDir val="col"/>
        <c:grouping val="clustered"/>
        <c:varyColors val="0"/>
        <c:ser>
          <c:idx val="0"/>
          <c:order val="0"/>
          <c:tx>
            <c:strRef>
              <c:f>Sheet1!$B$1</c:f>
              <c:strCache>
                <c:ptCount val="1"/>
                <c:pt idx="0">
                  <c:v>Buses</c:v>
                </c:pt>
              </c:strCache>
            </c:strRef>
          </c:tx>
          <c:spPr>
            <a:solidFill>
              <a:srgbClr val="D7192F"/>
            </a:solidFill>
            <a:effectLst/>
          </c:spPr>
          <c:invertIfNegative val="0"/>
          <c:dPt>
            <c:idx val="0"/>
            <c:invertIfNegative val="0"/>
            <c:bubble3D val="0"/>
            <c:extLst>
              <c:ext xmlns:c16="http://schemas.microsoft.com/office/drawing/2014/chart" uri="{C3380CC4-5D6E-409C-BE32-E72D297353CC}">
                <c16:uniqueId val="{00000001-AAD9-413F-A58E-98CD793E50CD}"/>
              </c:ext>
            </c:extLst>
          </c:dPt>
          <c:dPt>
            <c:idx val="1"/>
            <c:invertIfNegative val="0"/>
            <c:bubble3D val="0"/>
            <c:spPr>
              <a:solidFill>
                <a:srgbClr val="0B1F45"/>
              </a:solidFill>
              <a:effectLst/>
            </c:spPr>
            <c:extLst>
              <c:ext xmlns:c16="http://schemas.microsoft.com/office/drawing/2014/chart" uri="{C3380CC4-5D6E-409C-BE32-E72D297353CC}">
                <c16:uniqueId val="{00000003-AAD9-413F-A58E-98CD793E50CD}"/>
              </c:ext>
            </c:extLst>
          </c:dPt>
          <c:dLbls>
            <c:numFmt formatCode="0" sourceLinked="0"/>
            <c:spPr>
              <a:noFill/>
              <a:ln>
                <a:noFill/>
              </a:ln>
              <a:effectLst/>
            </c:spPr>
            <c:txPr>
              <a:bodyPr/>
              <a:lstStyle/>
              <a:p>
                <a:pPr>
                  <a:defRPr sz="1200" b="1" i="0" u="none" strike="noStrike">
                    <a:solidFill>
                      <a:srgbClr val="0B1F45"/>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Booked separately</c:v>
                </c:pt>
                <c:pt idx="1">
                  <c:v>Campus Cruise</c:v>
                </c:pt>
              </c:strCache>
            </c:strRef>
          </c:cat>
          <c:val>
            <c:numRef>
              <c:f>Sheet1!$B$2:$B$3</c:f>
              <c:numCache>
                <c:formatCode>General</c:formatCode>
                <c:ptCount val="2"/>
                <c:pt idx="0">
                  <c:v>60</c:v>
                </c:pt>
                <c:pt idx="1">
                  <c:v>25</c:v>
                </c:pt>
              </c:numCache>
            </c:numRef>
          </c:val>
          <c:extLst>
            <c:ext xmlns:c16="http://schemas.microsoft.com/office/drawing/2014/chart" uri="{C3380CC4-5D6E-409C-BE32-E72D297353CC}">
              <c16:uniqueId val="{00000004-AAD9-413F-A58E-98CD793E50CD}"/>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mn-lt"/>
              </a:defRPr>
            </a:pPr>
            <a:endParaRPr lang="en-US"/>
          </a:p>
        </c:txPr>
        <c:crossAx val="2094734552"/>
        <c:crosses val="autoZero"/>
        <c:auto val="1"/>
        <c:lblAlgn val="ctr"/>
        <c:lblOffset val="100"/>
        <c:noMultiLvlLbl val="1"/>
      </c:catAx>
      <c:valAx>
        <c:axId val="2094734552"/>
        <c:scaling>
          <c:orientation val="minMax"/>
          <c:max val="76"/>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63923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0:00-0:20 (20 s)
SAY:
We're Dhanush Kalapati, Samyaka Nadavala and Sathwika Orugonda from Cardiff University. This is Campus Cruise: it decides which schools should share a bus to an event, so getting pupils there costs less, and it proves every plan keeps the rules.
KEY MESSAGE: Campus Cruise plans shared school buses to an event.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0:20-0:55 (35 s)
SAY:
Sixty schools are sending 1,244 people to the same stadium. If every school books its own bus, that's 60 buses, and only 68.0% of the seats are filled. Sharing is obviously cheaper, but schools differ in size and location, buses come in three sizes, and there are far too many groupings to check by hand. And each school's group must stay together on one bus, because one adult supervises it.
KEY MESSAGE: Booking separately wastes seats and money; sharing is too complex to plan by hand.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0:55-1:25 (30 s)
SAY:
Campus Cruise works in five steps. Load the schools: the bundled data, or upload any school CSV, and search any venue by address. Pick how buses are priced. OR-Tools decides which schools share each bus and the pickup order. Then separate code re-checks every rule and recalculates every cost; a plan that fails is never shown. Finally the plan goes to a dashboard and map, and can be downloaded for booking.
KEY MESSAGE: Every plan is optimised, then independently checked, before anyone sees it, for any schools and any venue.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1:25-2:10 (45 s)
SAY:
The challenge prices buses three ways. With a fixed price per bus, location doesn't matter, so it's a packing problem: OR-Tools' CP-SAT solver finds the cheapest plan and proves nothing cheaper exists. When price depends on miles or driving time, pickup order matters, so we use vehicle-routing search. It finds very good plans, but we never call them optimal. The rules are hard in every model. This is optimisation, not a trained model, so it works for any schools and any venue without retraining. Generative AI is a separate assistant, and the machine-learning model is an experimental offline fallback.
KEY MESSAGE: Exact optimisation where it can be proven; honest 'best found' labels where it cannot.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2:10-2:45 (35 s)
SAY:
With a fixed price per bus, the plan costs 1,875 instead of 3,330: 43.7% less, with 25 buses instead of 60, and 99.5% of seats filled. That is provably the cheapest. Bus-miles drop 38.8%. The other two models save 28.6% and 17.7%; those are the best plans found in five minutes. These are cost units, not pounds.
KEY MESSAGE: 43.7% cheaper and 35 fewer buses, proven optimal for fixed pricing.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2:45-4:05 (80 s, live)
SAY:
[Switch to the app at http://localhost:8501]
1. (15 s) Sidebar: Fixed price per bus, Run optimiser. Point at 'Proven optimal', 25 buses, 1,875 vs 3,330.
2. (20 s) Routes tab: Find a school, CF15, turn on Road paths. 'Bus 04 picks up four schools and is completely full, 50 of 50. The line is the real road route from OSRM.' Read the note: estimates exclude live traffic and boarding time.
3. (25 s) Destination: type 'Wembley Stadium', Find and use. 'Any venue: the coordinates fill in, the map moves, and every cost and route now goes there.' Run again, show routes ending at Wembley. Then Reset to Principality Stadium.
4. (20 s) School data: 'Organisers can upload their own schools as a CSV; a bad row is rejected with its row number, never silently dropped.'
If the demo fails: stay on this slide and talk through the screenshots.
KEY MESSAGE: It's a working app for any schools and any venue, with honest estimates.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4:05-4:40 (35 s)
SAY:
Organisers can also just type: 'Minimise bus costs while keeping nearby schools together.' GPT-4.1 mini turns that into a proposal, but it can't change anything. Code checks it against the data and shows it: nothing has changed yet. Only when I approve does the optimiser run. And it's honest: 'nearby' isn't a hard rule, it's how the fixed model breaks ties, and it says so.
KEY MESSAGE: Generative AI makes the tool easy to use, but people and the optimiser stay in control.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4:40-5:15 (35 s)
SAY:
Who gains? Organisers get a checked plan in seconds. Schools and pupils pay less to attend. Coach operators get a clear booking list, and venues have fewer coaches to park. On the challenge data that's 35 fewer buses, 99.5% of seats filled, and about 39% fewer bus-miles, straight-line, with no emissions claim. And because it takes any schools and any venue, it isn't tied to one stadium.
KEY MESSAGE: Measurable savings on the data, and a clear plan to prove them in the real world.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5:15-5:50 (35 s)
SAY:
Campus Cruise is decision support, not an autonomous system. Every plan says whether it's proven or just the best found. It uses school-level head counts only, no names, and the address search sends only the typed text. API keys are never shown, and the language model has no tools. The organiser approves every AI change, every run is in an audit report, and independent code re-checks every rule. And we are honest about limits: no live traffic or boarding time, and it has not yet run at a real event.
KEY MESSAGE: Responsible by design: people approve, code verifies.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5:50-6:10 (20 s)
SAY:
Campus Cruise finds which schools should share a bus: 43.7% cheaper on the challenge data, 25 buses instead of 60, proven optimal and independently checked, and it now works for any schools and any venue. Next, we'd like to pilot it with a Welsh event organiser.. Thank you, we're happy to take questions.
KEY MESSAGE: Campus Cruise: fewer buses, lower cost, and plans organisers can trust.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C_COV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C_DARK">
    <p:bg>
      <p:bgPr>
        <a:solidFill>
          <a:srgbClr val="0B1F45"/>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C_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292608"/>
            <a:ext cx="7315200" cy="274320"/>
          </a:xfrm>
          <a:prstGeom prst="rect">
            <a:avLst/>
          </a:prstGeom>
          <a:noFill/>
          <a:ln/>
        </p:spPr>
        <p:txBody>
          <a:bodyPr wrap="square" rtlCol="0"/>
          <a:lstStyle>
            <a:lvl1pPr marL="0" indent="0">
              <a:buNone/>
              <a:defRPr lang="en-US" sz="1300" b="1" kern="0" spc="100" dirty="0">
                <a:solidFill>
                  <a:schemeClr val="accent6"/>
                </a:solidFill>
              </a:defRPr>
            </a:lvl1pPr>
          </a:lstStyle>
          <a:p>
            <a:pPr marL="0" indent="0">
              <a:buNone/>
            </a:pPr>
            <a:endParaRPr lang="en-US" sz="1300" dirty="0"/>
          </a:p>
        </p:txBody>
      </p:sp>
      <p:sp>
        <p:nvSpPr>
          <p:cNvPr id="3" name="Shape 0"/>
          <p:cNvSpPr/>
          <p:nvPr/>
        </p:nvSpPr>
        <p:spPr>
          <a:xfrm>
            <a:off x="502920" y="621792"/>
            <a:ext cx="502920" cy="64008"/>
          </a:xfrm>
          <a:prstGeom prst="rect">
            <a:avLst/>
          </a:prstGeom>
          <a:solidFill>
            <a:schemeClr val="accent1"/>
          </a:solidFill>
          <a:ln w="12700">
            <a:solidFill>
              <a:schemeClr val="accent1"/>
            </a:solidFill>
            <a:prstDash val="solid"/>
          </a:ln>
        </p:spPr>
      </p:sp>
      <p:sp>
        <p:nvSpPr>
          <p:cNvPr id="4" name="Text 1"/>
          <p:cNvSpPr>
            <a:spLocks noGrp="1"/>
          </p:cNvSpPr>
          <p:nvPr>
            <p:ph type="title" idx="102" hasCustomPrompt="1"/>
          </p:nvPr>
        </p:nvSpPr>
        <p:spPr>
          <a:xfrm>
            <a:off x="502920" y="777240"/>
            <a:ext cx="7589520" cy="105156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5" name="Text 1"/>
          <p:cNvSpPr/>
          <p:nvPr/>
        </p:nvSpPr>
        <p:spPr>
          <a:xfrm>
            <a:off x="502920" y="6510528"/>
            <a:ext cx="7315200" cy="219456"/>
          </a:xfrm>
          <a:prstGeom prst="rect">
            <a:avLst/>
          </a:prstGeom>
          <a:noFill/>
          <a:ln/>
        </p:spPr>
        <p:txBody>
          <a:bodyPr wrap="square" lIns="0" tIns="0" rIns="0" bIns="0" rtlCol="0" anchor="ctr"/>
          <a:lstStyle/>
          <a:p>
            <a:pPr marL="0" indent="0">
              <a:buNone/>
            </a:pPr>
            <a:r>
              <a:rPr lang="en-US" sz="900" dirty="0">
                <a:solidFill>
                  <a:schemeClr val="accent6"/>
                </a:solidFill>
              </a:rPr>
              <a:t>Campus Cruise · AI Pollination Student Competition 2026 · Cardiff University</a:t>
            </a:r>
            <a:endParaRPr lang="en-US" sz="900" dirty="0"/>
          </a:p>
        </p:txBody>
      </p:sp>
      <p:sp>
        <p:nvSpPr>
          <p:cNvPr id="25"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0.png"/><Relationship Id="rId18" Type="http://schemas.openxmlformats.org/officeDocument/2006/relationships/image" Target="../media/image25.png"/><Relationship Id="rId3" Type="http://schemas.openxmlformats.org/officeDocument/2006/relationships/image" Target="../media/image13.png"/><Relationship Id="rId7" Type="http://schemas.openxmlformats.org/officeDocument/2006/relationships/image" Target="../media/image15.png"/><Relationship Id="rId12" Type="http://schemas.openxmlformats.org/officeDocument/2006/relationships/image" Target="../media/image19.png"/><Relationship Id="rId17" Type="http://schemas.openxmlformats.org/officeDocument/2006/relationships/image" Target="../media/image24.png"/><Relationship Id="rId2" Type="http://schemas.openxmlformats.org/officeDocument/2006/relationships/notesSlide" Target="../notesSlides/notesSlide3.xml"/><Relationship Id="rId16" Type="http://schemas.openxmlformats.org/officeDocument/2006/relationships/image" Target="../media/image23.png"/><Relationship Id="rId20" Type="http://schemas.openxmlformats.org/officeDocument/2006/relationships/image" Target="../media/image27.png"/><Relationship Id="rId1" Type="http://schemas.openxmlformats.org/officeDocument/2006/relationships/slideLayout" Target="../slideLayouts/slideLayout4.xml"/><Relationship Id="rId6" Type="http://schemas.openxmlformats.org/officeDocument/2006/relationships/image" Target="../media/image10.png"/><Relationship Id="rId11" Type="http://schemas.openxmlformats.org/officeDocument/2006/relationships/image" Target="../media/image18.png"/><Relationship Id="rId5" Type="http://schemas.openxmlformats.org/officeDocument/2006/relationships/image" Target="../media/image2.png"/><Relationship Id="rId15" Type="http://schemas.openxmlformats.org/officeDocument/2006/relationships/image" Target="../media/image22.png"/><Relationship Id="rId10" Type="http://schemas.openxmlformats.org/officeDocument/2006/relationships/image" Target="../media/image17.png"/><Relationship Id="rId19" Type="http://schemas.openxmlformats.org/officeDocument/2006/relationships/image" Target="../media/image26.png"/><Relationship Id="rId4" Type="http://schemas.openxmlformats.org/officeDocument/2006/relationships/image" Target="../media/image14.png"/><Relationship Id="rId9" Type="http://schemas.openxmlformats.org/officeDocument/2006/relationships/image" Target="../media/image16.png"/><Relationship Id="rId14" Type="http://schemas.openxmlformats.org/officeDocument/2006/relationships/image" Target="../media/image21.png"/></Relationships>
</file>

<file path=ppt/slides/_rels/slide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29.png"/><Relationship Id="rId5" Type="http://schemas.openxmlformats.org/officeDocument/2006/relationships/image" Target="../media/image16.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chart" Target="../charts/chart2.xml"/></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13.png"/><Relationship Id="rId7"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19.png"/><Relationship Id="rId4" Type="http://schemas.openxmlformats.org/officeDocument/2006/relationships/image" Target="../media/image32.png"/><Relationship Id="rId9" Type="http://schemas.openxmlformats.org/officeDocument/2006/relationships/image" Target="../media/image37.png"/></Relationships>
</file>

<file path=ppt/slides/_rels/slide7.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41.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30.png"/><Relationship Id="rId7" Type="http://schemas.openxmlformats.org/officeDocument/2006/relationships/image" Target="../media/image47.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28.png"/><Relationship Id="rId7" Type="http://schemas.openxmlformats.org/officeDocument/2006/relationships/image" Target="../media/image52.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9" Type="http://schemas.openxmlformats.org/officeDocument/2006/relationships/image" Target="../media/image54.png"/></Relationships>
</file>

<file path=ppt/slides/_rels/slide10.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chool pupils boarding coaches outside Principality Stadium, Cardiff (illustration from the team's reference slides)"/>
          <p:cNvPicPr>
            <a:picLocks noChangeAspect="1"/>
          </p:cNvPicPr>
          <p:nvPr/>
        </p:nvPicPr>
        <p:blipFill>
          <a:blip r:embed="rId3"/>
          <a:stretch>
            <a:fillRect/>
          </a:stretch>
        </p:blipFill>
        <p:spPr>
          <a:xfrm>
            <a:off x="5882335" y="0"/>
            <a:ext cx="6309360" cy="5257800"/>
          </a:xfrm>
          <a:prstGeom prst="rect">
            <a:avLst/>
          </a:prstGeom>
        </p:spPr>
      </p:pic>
      <p:sp>
        <p:nvSpPr>
          <p:cNvPr id="3" name="Text 0"/>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AI POLLINATION STUDENT COMPETITION 2026</a:t>
            </a:r>
            <a:endParaRPr lang="en-US" sz="1300" dirty="0"/>
          </a:p>
        </p:txBody>
      </p:sp>
      <p:sp>
        <p:nvSpPr>
          <p:cNvPr id="4" name="Shape 1"/>
          <p:cNvSpPr/>
          <p:nvPr/>
        </p:nvSpPr>
        <p:spPr>
          <a:xfrm>
            <a:off x="548640" y="1755648"/>
            <a:ext cx="502920" cy="64008"/>
          </a:xfrm>
          <a:prstGeom prst="rect">
            <a:avLst/>
          </a:prstGeom>
          <a:solidFill>
            <a:srgbClr val="D7192F"/>
          </a:solidFill>
          <a:ln w="12700">
            <a:solidFill>
              <a:srgbClr val="D7192F"/>
            </a:solidFill>
            <a:prstDash val="solid"/>
          </a:ln>
        </p:spPr>
      </p:sp>
      <p:sp>
        <p:nvSpPr>
          <p:cNvPr id="5" name="Text 2"/>
          <p:cNvSpPr txBox="1"/>
          <p:nvPr/>
        </p:nvSpPr>
        <p:spPr>
          <a:xfrm>
            <a:off x="548640" y="1965960"/>
            <a:ext cx="5669280" cy="914400"/>
          </a:xfrm>
          <a:prstGeom prst="rect">
            <a:avLst/>
          </a:prstGeom>
          <a:noFill/>
          <a:ln/>
        </p:spPr>
        <p:txBody>
          <a:bodyPr wrap="square" lIns="0" tIns="0" rIns="0" bIns="0" rtlCol="0" anchor="t"/>
          <a:lstStyle/>
          <a:p>
            <a:pPr marL="0" indent="0">
              <a:buNone/>
            </a:pPr>
            <a:r>
              <a:rPr lang="en-US" sz="5200" b="1" dirty="0">
                <a:solidFill>
                  <a:srgbClr val="0B1F45"/>
                </a:solidFill>
              </a:rPr>
              <a:t>Campus </a:t>
            </a:r>
            <a:r>
              <a:rPr lang="en-US" sz="5200" b="1" dirty="0">
                <a:solidFill>
                  <a:srgbClr val="D7192F"/>
                </a:solidFill>
              </a:rPr>
              <a:t>Cruise</a:t>
            </a:r>
            <a:endParaRPr lang="en-US" sz="5200" dirty="0"/>
          </a:p>
        </p:txBody>
      </p:sp>
      <p:sp>
        <p:nvSpPr>
          <p:cNvPr id="6" name="Text 3"/>
          <p:cNvSpPr txBox="1"/>
          <p:nvPr/>
        </p:nvSpPr>
        <p:spPr>
          <a:xfrm>
            <a:off x="548640" y="3017520"/>
            <a:ext cx="5486400" cy="777240"/>
          </a:xfrm>
          <a:prstGeom prst="rect">
            <a:avLst/>
          </a:prstGeom>
          <a:noFill/>
          <a:ln/>
        </p:spPr>
        <p:txBody>
          <a:bodyPr wrap="square" lIns="0" tIns="0" rIns="0" bIns="0" rtlCol="0" anchor="t"/>
          <a:lstStyle/>
          <a:p>
            <a:pPr marL="0" indent="0">
              <a:buNone/>
            </a:pPr>
            <a:r>
              <a:rPr lang="en-US" sz="2100" b="1" dirty="0">
                <a:solidFill>
                  <a:schemeClr val="tx1"/>
                </a:solidFill>
              </a:rPr>
              <a:t>AI-powered school transport optimisation for events in Wales</a:t>
            </a:r>
            <a:endParaRPr lang="en-US" sz="2100" dirty="0"/>
          </a:p>
        </p:txBody>
      </p:sp>
      <p:sp>
        <p:nvSpPr>
          <p:cNvPr id="7" name="Team"/>
          <p:cNvSpPr/>
          <p:nvPr/>
        </p:nvSpPr>
        <p:spPr>
          <a:xfrm>
            <a:off x="548640" y="5440680"/>
            <a:ext cx="11091672" cy="960120"/>
          </a:xfrm>
          <a:prstGeom prst="roundRect">
            <a:avLst>
              <a:gd name="adj" fmla="val 11429"/>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8" name="Icon FaUsers"/>
          <p:cNvSpPr/>
          <p:nvPr/>
        </p:nvSpPr>
        <p:spPr>
          <a:xfrm>
            <a:off x="749808" y="5596128"/>
            <a:ext cx="658368" cy="658368"/>
          </a:xfrm>
          <a:prstGeom prst="ellipse">
            <a:avLst/>
          </a:prstGeom>
          <a:solidFill>
            <a:srgbClr val="EAF1FB"/>
          </a:solidFill>
          <a:ln w="12700">
            <a:solidFill>
              <a:srgbClr val="EAF1FB"/>
            </a:solidFill>
            <a:prstDash val="solid"/>
          </a:ln>
        </p:spPr>
      </p:sp>
      <p:pic>
        <p:nvPicPr>
          <p:cNvPr id="9" name="Image 1" descr="FaUsers"/>
          <p:cNvPicPr>
            <a:picLocks noChangeAspect="1"/>
          </p:cNvPicPr>
          <p:nvPr/>
        </p:nvPicPr>
        <p:blipFill>
          <a:blip r:embed="rId4"/>
          <a:stretch>
            <a:fillRect/>
          </a:stretch>
        </p:blipFill>
        <p:spPr>
          <a:xfrm>
            <a:off x="914400" y="5760720"/>
            <a:ext cx="329184" cy="329184"/>
          </a:xfrm>
          <a:prstGeom prst="rect">
            <a:avLst/>
          </a:prstGeom>
        </p:spPr>
      </p:pic>
      <p:sp>
        <p:nvSpPr>
          <p:cNvPr id="10" name="Text 6"/>
          <p:cNvSpPr txBox="1"/>
          <p:nvPr/>
        </p:nvSpPr>
        <p:spPr>
          <a:xfrm>
            <a:off x="1600200" y="5596128"/>
            <a:ext cx="9875520" cy="347472"/>
          </a:xfrm>
          <a:prstGeom prst="rect">
            <a:avLst/>
          </a:prstGeom>
          <a:noFill/>
          <a:ln/>
        </p:spPr>
        <p:txBody>
          <a:bodyPr wrap="square" lIns="0" tIns="0" rIns="0" bIns="0" rtlCol="0" anchor="t"/>
          <a:lstStyle/>
          <a:p>
            <a:pPr marL="0" indent="0">
              <a:buNone/>
            </a:pPr>
            <a:r>
              <a:rPr lang="en-US" sz="1800" b="1" dirty="0">
                <a:solidFill>
                  <a:schemeClr val="tx1"/>
                </a:solidFill>
              </a:rPr>
              <a:t>Dhanush Kalapati · Samyaka Nadavala · Sathwika Orugonda</a:t>
            </a:r>
            <a:endParaRPr lang="en-US" sz="1800" dirty="0"/>
          </a:p>
        </p:txBody>
      </p:sp>
      <p:sp>
        <p:nvSpPr>
          <p:cNvPr id="11" name="Text 7"/>
          <p:cNvSpPr txBox="1"/>
          <p:nvPr/>
        </p:nvSpPr>
        <p:spPr>
          <a:xfrm>
            <a:off x="1600200" y="5961888"/>
            <a:ext cx="9875520" cy="274320"/>
          </a:xfrm>
          <a:prstGeom prst="rect">
            <a:avLst/>
          </a:prstGeom>
          <a:noFill/>
          <a:ln/>
        </p:spPr>
        <p:txBody>
          <a:bodyPr wrap="square" lIns="0" tIns="0" rIns="0" bIns="0" rtlCol="0" anchor="t"/>
          <a:lstStyle/>
          <a:p>
            <a:pPr marL="0" indent="0">
              <a:buNone/>
            </a:pPr>
            <a:r>
              <a:rPr lang="en-US" sz="1300" dirty="0">
                <a:solidFill>
                  <a:srgbClr val="64748B"/>
                </a:solidFill>
              </a:rPr>
              <a:t>Cardiff University</a:t>
            </a:r>
            <a:r>
              <a:rPr lang="en-US" sz="1300" b="1" dirty="0">
                <a:solidFill>
                  <a:srgbClr val="D7192F"/>
                </a:solidFill>
              </a:rPr>
              <a:t>   ·   Technical Challenge 2: Travel Organizer</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35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35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350"/>
                                        <p:tgtEl>
                                          <p:spTgt spid="5"/>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50"/>
                                        <p:tgtEl>
                                          <p:spTgt spid="6"/>
                                        </p:tgtEl>
                                      </p:cBhvr>
                                    </p:animEffect>
                                  </p:childTnLst>
                                </p:cTn>
                              </p:par>
                            </p:childTnLst>
                          </p:cTn>
                        </p:par>
                        <p:par>
                          <p:cTn id="18" fill="hold">
                            <p:stCondLst>
                              <p:cond delay="700"/>
                            </p:stCondLst>
                            <p:childTnLst>
                              <p:par>
                                <p:cTn id="19" presetID="10" presetClass="entr" presetSubtype="0"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35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350"/>
                                        <p:tgtEl>
                                          <p:spTgt spid="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350"/>
                                        <p:tgtEl>
                                          <p:spTgt spid="10"/>
                                        </p:tgtEl>
                                      </p:cBhvr>
                                    </p:animEffect>
                                  </p:childTnLst>
                                </p:cTn>
                              </p:par>
                              <p:par>
                                <p:cTn id="28" presetID="10" presetClass="entr" presetSubtype="0" fill="hold"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350"/>
                                        <p:tgtEl>
                                          <p:spTgt spid="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3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10" grpId="0" animBg="1"/>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upils boarding coaches outside Principality Stadium (illustration from the team's reference slides)"/>
          <p:cNvPicPr>
            <a:picLocks noChangeAspect="1"/>
          </p:cNvPicPr>
          <p:nvPr/>
        </p:nvPicPr>
        <p:blipFill>
          <a:blip r:embed="rId3"/>
          <a:stretch>
            <a:fillRect/>
          </a:stretch>
        </p:blipFill>
        <p:spPr>
          <a:xfrm>
            <a:off x="7363663" y="0"/>
            <a:ext cx="4828032" cy="4023360"/>
          </a:xfrm>
          <a:prstGeom prst="rect">
            <a:avLst/>
          </a:prstGeom>
        </p:spPr>
      </p:pic>
      <p:sp>
        <p:nvSpPr>
          <p:cNvPr id="3" name="Text 0"/>
          <p:cNvSpPr>
            <a:spLocks noGrp="1"/>
          </p:cNvSpPr>
          <p:nvPr>
            <p:ph type="body" idx="100" hasCustomPrompt="1"/>
          </p:nvPr>
        </p:nvSpPr>
        <p:spPr>
          <a:xfrm>
            <a:off x="502920" y="292608"/>
            <a:ext cx="731520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PROBLEM STATEMENT</a:t>
            </a:r>
            <a:endParaRPr lang="en-US" sz="1300" dirty="0"/>
          </a:p>
        </p:txBody>
      </p:sp>
      <p:sp>
        <p:nvSpPr>
          <p:cNvPr id="4" name="Text 1"/>
          <p:cNvSpPr>
            <a:spLocks noGrp="1"/>
          </p:cNvSpPr>
          <p:nvPr>
            <p:ph type="title" idx="102" hasCustomPrompt="1"/>
          </p:nvPr>
        </p:nvSpPr>
        <p:spPr>
          <a:xfrm>
            <a:off x="502920" y="777240"/>
            <a:ext cx="7589520" cy="1051560"/>
          </a:xfrm>
          <a:prstGeom prst="rect">
            <a:avLst/>
          </a:prstGeom>
          <a:noFill/>
          <a:ln/>
        </p:spPr>
        <p:txBody>
          <a:bodyPr wrap="square" lIns="0" tIns="0" rIns="0" bIns="0" rtlCol="0" anchor="t"/>
          <a:lstStyle/>
          <a:p>
            <a:pPr marL="0" indent="0" algn="l">
              <a:buNone/>
            </a:pPr>
            <a:r>
              <a:rPr lang="en-US" sz="3400" b="1" dirty="0">
                <a:solidFill>
                  <a:srgbClr val="0B1F45"/>
                </a:solidFill>
              </a:rPr>
              <a:t>The Challenge of
</a:t>
            </a:r>
            <a:r>
              <a:rPr lang="en-US" sz="3400" b="1" dirty="0">
                <a:solidFill>
                  <a:srgbClr val="D7192F"/>
                </a:solidFill>
              </a:rPr>
              <a:t>School Transport Planning</a:t>
            </a:r>
            <a:endParaRPr lang="en-US" sz="3400" dirty="0"/>
          </a:p>
        </p:txBody>
      </p:sp>
      <p:sp>
        <p:nvSpPr>
          <p:cNvPr id="5" name="Text 2"/>
          <p:cNvSpPr txBox="1"/>
          <p:nvPr/>
        </p:nvSpPr>
        <p:spPr>
          <a:xfrm>
            <a:off x="502920" y="1874520"/>
            <a:ext cx="6583680" cy="566928"/>
          </a:xfrm>
          <a:prstGeom prst="rect">
            <a:avLst/>
          </a:prstGeom>
          <a:noFill/>
          <a:ln/>
        </p:spPr>
        <p:txBody>
          <a:bodyPr wrap="square" lIns="0" tIns="0" rIns="0" bIns="0" rtlCol="0" anchor="t"/>
          <a:lstStyle/>
          <a:p>
            <a:pPr marL="0" indent="0">
              <a:buNone/>
            </a:pPr>
            <a:r>
              <a:rPr lang="en-US" sz="1500" dirty="0">
                <a:solidFill>
                  <a:schemeClr val="tx2"/>
                </a:solidFill>
              </a:rPr>
              <a:t>60 schools are sending 1,244 people to one event. Getting them there efficiently is a hard planning problem.</a:t>
            </a:r>
            <a:endParaRPr lang="en-US" sz="1500" dirty="0"/>
          </a:p>
        </p:txBody>
      </p:sp>
      <p:sp>
        <p:nvSpPr>
          <p:cNvPr id="6" name="High transport costs"/>
          <p:cNvSpPr/>
          <p:nvPr/>
        </p:nvSpPr>
        <p:spPr>
          <a:xfrm>
            <a:off x="502920" y="2560320"/>
            <a:ext cx="3429000" cy="1353312"/>
          </a:xfrm>
          <a:prstGeom prst="roundRect">
            <a:avLst>
              <a:gd name="adj" fmla="val 8108"/>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7" name="Empty seats"/>
          <p:cNvSpPr/>
          <p:nvPr/>
        </p:nvSpPr>
        <p:spPr>
          <a:xfrm>
            <a:off x="4114800" y="2560320"/>
            <a:ext cx="3429000" cy="1353312"/>
          </a:xfrm>
          <a:prstGeom prst="roundRect">
            <a:avLst>
              <a:gd name="adj" fmla="val 8108"/>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8" name="Groups stay together"/>
          <p:cNvSpPr/>
          <p:nvPr/>
        </p:nvSpPr>
        <p:spPr>
          <a:xfrm>
            <a:off x="502920" y="4041648"/>
            <a:ext cx="3429000" cy="1353312"/>
          </a:xfrm>
          <a:prstGeom prst="roundRect">
            <a:avLst>
              <a:gd name="adj" fmla="val 8108"/>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9" name="Too many choices"/>
          <p:cNvSpPr/>
          <p:nvPr/>
        </p:nvSpPr>
        <p:spPr>
          <a:xfrm>
            <a:off x="4114800" y="4041648"/>
            <a:ext cx="3429000" cy="1353312"/>
          </a:xfrm>
          <a:prstGeom prst="roundRect">
            <a:avLst>
              <a:gd name="adj" fmla="val 8108"/>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10" name="Icon FaCoins"/>
          <p:cNvSpPr/>
          <p:nvPr/>
        </p:nvSpPr>
        <p:spPr>
          <a:xfrm>
            <a:off x="667512" y="2761488"/>
            <a:ext cx="713232" cy="713232"/>
          </a:xfrm>
          <a:prstGeom prst="ellipse">
            <a:avLst/>
          </a:prstGeom>
          <a:solidFill>
            <a:srgbClr val="FDECEE"/>
          </a:solidFill>
          <a:ln w="12700">
            <a:solidFill>
              <a:srgbClr val="FDECEE"/>
            </a:solidFill>
            <a:prstDash val="solid"/>
          </a:ln>
        </p:spPr>
      </p:sp>
      <p:pic>
        <p:nvPicPr>
          <p:cNvPr id="11" name="Image 1" descr="FaCoins"/>
          <p:cNvPicPr>
            <a:picLocks noChangeAspect="1"/>
          </p:cNvPicPr>
          <p:nvPr/>
        </p:nvPicPr>
        <p:blipFill>
          <a:blip r:embed="rId4"/>
          <a:stretch>
            <a:fillRect/>
          </a:stretch>
        </p:blipFill>
        <p:spPr>
          <a:xfrm>
            <a:off x="845820" y="2939796"/>
            <a:ext cx="356616" cy="356616"/>
          </a:xfrm>
          <a:prstGeom prst="rect">
            <a:avLst/>
          </a:prstGeom>
        </p:spPr>
      </p:pic>
      <p:sp>
        <p:nvSpPr>
          <p:cNvPr id="12" name="Text 8"/>
          <p:cNvSpPr txBox="1"/>
          <p:nvPr/>
        </p:nvSpPr>
        <p:spPr>
          <a:xfrm>
            <a:off x="1527048" y="2715768"/>
            <a:ext cx="2286000" cy="292608"/>
          </a:xfrm>
          <a:prstGeom prst="rect">
            <a:avLst/>
          </a:prstGeom>
          <a:noFill/>
          <a:ln/>
        </p:spPr>
        <p:txBody>
          <a:bodyPr wrap="square" lIns="0" tIns="0" rIns="0" bIns="0" rtlCol="0" anchor="t"/>
          <a:lstStyle/>
          <a:p>
            <a:pPr marL="0" indent="0">
              <a:buNone/>
            </a:pPr>
            <a:r>
              <a:rPr lang="en-US" sz="1500" b="1" dirty="0">
                <a:solidFill>
                  <a:schemeClr val="tx1"/>
                </a:solidFill>
              </a:rPr>
              <a:t>High transport costs</a:t>
            </a:r>
            <a:endParaRPr lang="en-US" sz="1500" dirty="0"/>
          </a:p>
        </p:txBody>
      </p:sp>
      <p:sp>
        <p:nvSpPr>
          <p:cNvPr id="13" name="Shape 9"/>
          <p:cNvSpPr/>
          <p:nvPr/>
        </p:nvSpPr>
        <p:spPr>
          <a:xfrm>
            <a:off x="1527048" y="3044952"/>
            <a:ext cx="320040" cy="36576"/>
          </a:xfrm>
          <a:prstGeom prst="rect">
            <a:avLst/>
          </a:prstGeom>
          <a:solidFill>
            <a:srgbClr val="D7192F"/>
          </a:solidFill>
          <a:ln w="12700">
            <a:solidFill>
              <a:srgbClr val="D7192F"/>
            </a:solidFill>
            <a:prstDash val="solid"/>
          </a:ln>
        </p:spPr>
      </p:sp>
      <p:sp>
        <p:nvSpPr>
          <p:cNvPr id="14" name="Text 10"/>
          <p:cNvSpPr txBox="1"/>
          <p:nvPr/>
        </p:nvSpPr>
        <p:spPr>
          <a:xfrm>
            <a:off x="1527048" y="3154680"/>
            <a:ext cx="2286000" cy="713232"/>
          </a:xfrm>
          <a:prstGeom prst="rect">
            <a:avLst/>
          </a:prstGeom>
          <a:noFill/>
          <a:ln/>
        </p:spPr>
        <p:txBody>
          <a:bodyPr wrap="square" lIns="0" tIns="0" rIns="0" bIns="0" rtlCol="0" anchor="t"/>
          <a:lstStyle/>
          <a:p>
            <a:pPr marL="0" indent="0">
              <a:buNone/>
            </a:pPr>
            <a:r>
              <a:rPr lang="en-US" sz="1150" dirty="0">
                <a:solidFill>
                  <a:schemeClr val="tx2"/>
                </a:solidFill>
              </a:rPr>
              <a:t>Every school booking its own bus means 60 buses and 3,330 cost units.</a:t>
            </a:r>
            <a:endParaRPr lang="en-US" sz="1150" dirty="0"/>
          </a:p>
        </p:txBody>
      </p:sp>
      <p:sp>
        <p:nvSpPr>
          <p:cNvPr id="15" name="Icon FaBus"/>
          <p:cNvSpPr/>
          <p:nvPr/>
        </p:nvSpPr>
        <p:spPr>
          <a:xfrm>
            <a:off x="4279392" y="2761488"/>
            <a:ext cx="713232" cy="713232"/>
          </a:xfrm>
          <a:prstGeom prst="ellipse">
            <a:avLst/>
          </a:prstGeom>
          <a:solidFill>
            <a:srgbClr val="EAF1FB"/>
          </a:solidFill>
          <a:ln w="12700">
            <a:solidFill>
              <a:srgbClr val="EAF1FB"/>
            </a:solidFill>
            <a:prstDash val="solid"/>
          </a:ln>
        </p:spPr>
      </p:sp>
      <p:pic>
        <p:nvPicPr>
          <p:cNvPr id="16" name="Image 2" descr="FaBus"/>
          <p:cNvPicPr>
            <a:picLocks noChangeAspect="1"/>
          </p:cNvPicPr>
          <p:nvPr/>
        </p:nvPicPr>
        <p:blipFill>
          <a:blip r:embed="rId5"/>
          <a:stretch>
            <a:fillRect/>
          </a:stretch>
        </p:blipFill>
        <p:spPr>
          <a:xfrm>
            <a:off x="4457700" y="2939796"/>
            <a:ext cx="356616" cy="356616"/>
          </a:xfrm>
          <a:prstGeom prst="rect">
            <a:avLst/>
          </a:prstGeom>
        </p:spPr>
      </p:pic>
      <p:sp>
        <p:nvSpPr>
          <p:cNvPr id="17" name="Text 12"/>
          <p:cNvSpPr txBox="1"/>
          <p:nvPr/>
        </p:nvSpPr>
        <p:spPr>
          <a:xfrm>
            <a:off x="5138928" y="2715768"/>
            <a:ext cx="2286000" cy="292608"/>
          </a:xfrm>
          <a:prstGeom prst="rect">
            <a:avLst/>
          </a:prstGeom>
          <a:noFill/>
          <a:ln/>
        </p:spPr>
        <p:txBody>
          <a:bodyPr wrap="square" lIns="0" tIns="0" rIns="0" bIns="0" rtlCol="0" anchor="t"/>
          <a:lstStyle/>
          <a:p>
            <a:pPr marL="0" indent="0">
              <a:buNone/>
            </a:pPr>
            <a:r>
              <a:rPr lang="en-US" sz="1500" b="1" dirty="0">
                <a:solidFill>
                  <a:schemeClr val="tx1"/>
                </a:solidFill>
              </a:rPr>
              <a:t>Empty seats</a:t>
            </a:r>
            <a:endParaRPr lang="en-US" sz="1500" dirty="0"/>
          </a:p>
        </p:txBody>
      </p:sp>
      <p:sp>
        <p:nvSpPr>
          <p:cNvPr id="18" name="Shape 13"/>
          <p:cNvSpPr/>
          <p:nvPr/>
        </p:nvSpPr>
        <p:spPr>
          <a:xfrm>
            <a:off x="5138928" y="3044952"/>
            <a:ext cx="320040" cy="36576"/>
          </a:xfrm>
          <a:prstGeom prst="rect">
            <a:avLst/>
          </a:prstGeom>
          <a:solidFill>
            <a:srgbClr val="D7192F"/>
          </a:solidFill>
          <a:ln w="12700">
            <a:solidFill>
              <a:srgbClr val="D7192F"/>
            </a:solidFill>
            <a:prstDash val="solid"/>
          </a:ln>
        </p:spPr>
      </p:sp>
      <p:sp>
        <p:nvSpPr>
          <p:cNvPr id="19" name="Text 14"/>
          <p:cNvSpPr txBox="1"/>
          <p:nvPr/>
        </p:nvSpPr>
        <p:spPr>
          <a:xfrm>
            <a:off x="5138928" y="3154680"/>
            <a:ext cx="2286000" cy="713232"/>
          </a:xfrm>
          <a:prstGeom prst="rect">
            <a:avLst/>
          </a:prstGeom>
          <a:noFill/>
          <a:ln/>
        </p:spPr>
        <p:txBody>
          <a:bodyPr wrap="square" lIns="0" tIns="0" rIns="0" bIns="0" rtlCol="0" anchor="t"/>
          <a:lstStyle/>
          <a:p>
            <a:pPr marL="0" indent="0">
              <a:buNone/>
            </a:pPr>
            <a:r>
              <a:rPr lang="en-US" sz="1150" dirty="0">
                <a:solidFill>
                  <a:schemeClr val="tx2"/>
                </a:solidFill>
              </a:rPr>
              <a:t>Booked separately, only 68.0% of seats are filled; the rest are paid for and empty.</a:t>
            </a:r>
            <a:endParaRPr lang="en-US" sz="1150" dirty="0"/>
          </a:p>
        </p:txBody>
      </p:sp>
      <p:sp>
        <p:nvSpPr>
          <p:cNvPr id="20" name="Icon FaUsers"/>
          <p:cNvSpPr/>
          <p:nvPr/>
        </p:nvSpPr>
        <p:spPr>
          <a:xfrm>
            <a:off x="667512" y="4242816"/>
            <a:ext cx="713232" cy="713232"/>
          </a:xfrm>
          <a:prstGeom prst="ellipse">
            <a:avLst/>
          </a:prstGeom>
          <a:solidFill>
            <a:srgbClr val="EAF1FB"/>
          </a:solidFill>
          <a:ln w="12700">
            <a:solidFill>
              <a:srgbClr val="EAF1FB"/>
            </a:solidFill>
            <a:prstDash val="solid"/>
          </a:ln>
        </p:spPr>
      </p:sp>
      <p:pic>
        <p:nvPicPr>
          <p:cNvPr id="21" name="Image 3" descr="FaUsers"/>
          <p:cNvPicPr>
            <a:picLocks noChangeAspect="1"/>
          </p:cNvPicPr>
          <p:nvPr/>
        </p:nvPicPr>
        <p:blipFill>
          <a:blip r:embed="rId6"/>
          <a:stretch>
            <a:fillRect/>
          </a:stretch>
        </p:blipFill>
        <p:spPr>
          <a:xfrm>
            <a:off x="845820" y="4421124"/>
            <a:ext cx="356616" cy="356616"/>
          </a:xfrm>
          <a:prstGeom prst="rect">
            <a:avLst/>
          </a:prstGeom>
        </p:spPr>
      </p:pic>
      <p:sp>
        <p:nvSpPr>
          <p:cNvPr id="22" name="Text 16"/>
          <p:cNvSpPr txBox="1"/>
          <p:nvPr/>
        </p:nvSpPr>
        <p:spPr>
          <a:xfrm>
            <a:off x="1527048" y="4197096"/>
            <a:ext cx="2286000" cy="292608"/>
          </a:xfrm>
          <a:prstGeom prst="rect">
            <a:avLst/>
          </a:prstGeom>
          <a:noFill/>
          <a:ln/>
        </p:spPr>
        <p:txBody>
          <a:bodyPr wrap="square" lIns="0" tIns="0" rIns="0" bIns="0" rtlCol="0" anchor="t"/>
          <a:lstStyle/>
          <a:p>
            <a:pPr marL="0" indent="0">
              <a:buNone/>
            </a:pPr>
            <a:r>
              <a:rPr lang="en-US" sz="1500" b="1" dirty="0">
                <a:solidFill>
                  <a:schemeClr val="tx1"/>
                </a:solidFill>
              </a:rPr>
              <a:t>Groups stay together</a:t>
            </a:r>
            <a:endParaRPr lang="en-US" sz="1500" dirty="0"/>
          </a:p>
        </p:txBody>
      </p:sp>
      <p:sp>
        <p:nvSpPr>
          <p:cNvPr id="23" name="Shape 17"/>
          <p:cNvSpPr/>
          <p:nvPr/>
        </p:nvSpPr>
        <p:spPr>
          <a:xfrm>
            <a:off x="1527048" y="4526280"/>
            <a:ext cx="320040" cy="36576"/>
          </a:xfrm>
          <a:prstGeom prst="rect">
            <a:avLst/>
          </a:prstGeom>
          <a:solidFill>
            <a:srgbClr val="D7192F"/>
          </a:solidFill>
          <a:ln w="12700">
            <a:solidFill>
              <a:srgbClr val="D7192F"/>
            </a:solidFill>
            <a:prstDash val="solid"/>
          </a:ln>
        </p:spPr>
      </p:sp>
      <p:sp>
        <p:nvSpPr>
          <p:cNvPr id="24" name="Text 18"/>
          <p:cNvSpPr txBox="1"/>
          <p:nvPr/>
        </p:nvSpPr>
        <p:spPr>
          <a:xfrm>
            <a:off x="1527048" y="4636008"/>
            <a:ext cx="2286000" cy="713232"/>
          </a:xfrm>
          <a:prstGeom prst="rect">
            <a:avLst/>
          </a:prstGeom>
          <a:noFill/>
          <a:ln/>
        </p:spPr>
        <p:txBody>
          <a:bodyPr wrap="square" lIns="0" tIns="0" rIns="0" bIns="0" rtlCol="0" anchor="t"/>
          <a:lstStyle/>
          <a:p>
            <a:pPr marL="0" indent="0">
              <a:buNone/>
            </a:pPr>
            <a:r>
              <a:rPr lang="en-US" sz="1150" dirty="0">
                <a:solidFill>
                  <a:schemeClr val="tx2"/>
                </a:solidFill>
              </a:rPr>
              <a:t>Each school's group is supervised by its own adult, so it can never be split across buses.</a:t>
            </a:r>
            <a:endParaRPr lang="en-US" sz="1150" dirty="0"/>
          </a:p>
        </p:txBody>
      </p:sp>
      <p:sp>
        <p:nvSpPr>
          <p:cNvPr id="25" name="Icon FaRoute"/>
          <p:cNvSpPr/>
          <p:nvPr/>
        </p:nvSpPr>
        <p:spPr>
          <a:xfrm>
            <a:off x="4279392" y="4242816"/>
            <a:ext cx="713232" cy="713232"/>
          </a:xfrm>
          <a:prstGeom prst="ellipse">
            <a:avLst/>
          </a:prstGeom>
          <a:solidFill>
            <a:srgbClr val="FDECEE"/>
          </a:solidFill>
          <a:ln w="12700">
            <a:solidFill>
              <a:srgbClr val="FDECEE"/>
            </a:solidFill>
            <a:prstDash val="solid"/>
          </a:ln>
        </p:spPr>
      </p:sp>
      <p:pic>
        <p:nvPicPr>
          <p:cNvPr id="26" name="Image 4" descr="FaRoute"/>
          <p:cNvPicPr>
            <a:picLocks noChangeAspect="1"/>
          </p:cNvPicPr>
          <p:nvPr/>
        </p:nvPicPr>
        <p:blipFill>
          <a:blip r:embed="rId7"/>
          <a:stretch>
            <a:fillRect/>
          </a:stretch>
        </p:blipFill>
        <p:spPr>
          <a:xfrm>
            <a:off x="4457700" y="4421124"/>
            <a:ext cx="356616" cy="356616"/>
          </a:xfrm>
          <a:prstGeom prst="rect">
            <a:avLst/>
          </a:prstGeom>
        </p:spPr>
      </p:pic>
      <p:sp>
        <p:nvSpPr>
          <p:cNvPr id="27" name="Text 20"/>
          <p:cNvSpPr txBox="1"/>
          <p:nvPr/>
        </p:nvSpPr>
        <p:spPr>
          <a:xfrm>
            <a:off x="5138928" y="4197096"/>
            <a:ext cx="2286000" cy="292608"/>
          </a:xfrm>
          <a:prstGeom prst="rect">
            <a:avLst/>
          </a:prstGeom>
          <a:noFill/>
          <a:ln/>
        </p:spPr>
        <p:txBody>
          <a:bodyPr wrap="square" lIns="0" tIns="0" rIns="0" bIns="0" rtlCol="0" anchor="t"/>
          <a:lstStyle/>
          <a:p>
            <a:pPr marL="0" indent="0">
              <a:buNone/>
            </a:pPr>
            <a:r>
              <a:rPr lang="en-US" sz="1500" b="1" dirty="0">
                <a:solidFill>
                  <a:schemeClr val="tx1"/>
                </a:solidFill>
              </a:rPr>
              <a:t>Too many choices</a:t>
            </a:r>
            <a:endParaRPr lang="en-US" sz="1500" dirty="0"/>
          </a:p>
        </p:txBody>
      </p:sp>
      <p:sp>
        <p:nvSpPr>
          <p:cNvPr id="28" name="Shape 21"/>
          <p:cNvSpPr/>
          <p:nvPr/>
        </p:nvSpPr>
        <p:spPr>
          <a:xfrm>
            <a:off x="5138928" y="4526280"/>
            <a:ext cx="320040" cy="36576"/>
          </a:xfrm>
          <a:prstGeom prst="rect">
            <a:avLst/>
          </a:prstGeom>
          <a:solidFill>
            <a:srgbClr val="D7192F"/>
          </a:solidFill>
          <a:ln w="12700">
            <a:solidFill>
              <a:srgbClr val="D7192F"/>
            </a:solidFill>
            <a:prstDash val="solid"/>
          </a:ln>
        </p:spPr>
      </p:sp>
      <p:sp>
        <p:nvSpPr>
          <p:cNvPr id="29" name="Text 22"/>
          <p:cNvSpPr txBox="1"/>
          <p:nvPr/>
        </p:nvSpPr>
        <p:spPr>
          <a:xfrm>
            <a:off x="5138928" y="4636008"/>
            <a:ext cx="2286000" cy="713232"/>
          </a:xfrm>
          <a:prstGeom prst="rect">
            <a:avLst/>
          </a:prstGeom>
          <a:noFill/>
          <a:ln/>
        </p:spPr>
        <p:txBody>
          <a:bodyPr wrap="square" lIns="0" tIns="0" rIns="0" bIns="0" rtlCol="0" anchor="t"/>
          <a:lstStyle/>
          <a:p>
            <a:pPr marL="0" indent="0">
              <a:buNone/>
            </a:pPr>
            <a:r>
              <a:rPr lang="en-US" sz="1150" dirty="0">
                <a:solidFill>
                  <a:schemeClr val="tx2"/>
                </a:solidFill>
              </a:rPr>
              <a:t>Sizes, locations, 15/35/50-seat buses and prices: far too many groupings to check by hand.</a:t>
            </a:r>
            <a:endParaRPr lang="en-US" sz="1150" dirty="0"/>
          </a:p>
        </p:txBody>
      </p:sp>
      <p:sp>
        <p:nvSpPr>
          <p:cNvPr id="30" name="Flow"/>
          <p:cNvSpPr/>
          <p:nvPr/>
        </p:nvSpPr>
        <p:spPr>
          <a:xfrm>
            <a:off x="8001000" y="4224528"/>
            <a:ext cx="3685032" cy="1508760"/>
          </a:xfrm>
          <a:prstGeom prst="roundRect">
            <a:avLst>
              <a:gd name="adj" fmla="val 7273"/>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pic>
        <p:nvPicPr>
          <p:cNvPr id="31" name="Image 5" descr="School"/>
          <p:cNvPicPr>
            <a:picLocks noChangeAspect="1"/>
          </p:cNvPicPr>
          <p:nvPr/>
        </p:nvPicPr>
        <p:blipFill>
          <a:blip r:embed="rId8"/>
          <a:stretch>
            <a:fillRect/>
          </a:stretch>
        </p:blipFill>
        <p:spPr>
          <a:xfrm>
            <a:off x="8183880" y="4389120"/>
            <a:ext cx="329184" cy="329184"/>
          </a:xfrm>
          <a:prstGeom prst="rect">
            <a:avLst/>
          </a:prstGeom>
        </p:spPr>
      </p:pic>
      <p:pic>
        <p:nvPicPr>
          <p:cNvPr id="32" name="Image 6" descr="Pupils"/>
          <p:cNvPicPr>
            <a:picLocks noChangeAspect="1"/>
          </p:cNvPicPr>
          <p:nvPr/>
        </p:nvPicPr>
        <p:blipFill>
          <a:blip r:embed="rId6"/>
          <a:stretch>
            <a:fillRect/>
          </a:stretch>
        </p:blipFill>
        <p:spPr>
          <a:xfrm>
            <a:off x="8595360" y="4389120"/>
            <a:ext cx="329184" cy="329184"/>
          </a:xfrm>
          <a:prstGeom prst="rect">
            <a:avLst/>
          </a:prstGeom>
        </p:spPr>
      </p:pic>
      <p:pic>
        <p:nvPicPr>
          <p:cNvPr id="33" name="Image 7" descr="School"/>
          <p:cNvPicPr>
            <a:picLocks noChangeAspect="1"/>
          </p:cNvPicPr>
          <p:nvPr/>
        </p:nvPicPr>
        <p:blipFill>
          <a:blip r:embed="rId8"/>
          <a:stretch>
            <a:fillRect/>
          </a:stretch>
        </p:blipFill>
        <p:spPr>
          <a:xfrm>
            <a:off x="8183880" y="4818888"/>
            <a:ext cx="329184" cy="329184"/>
          </a:xfrm>
          <a:prstGeom prst="rect">
            <a:avLst/>
          </a:prstGeom>
        </p:spPr>
      </p:pic>
      <p:pic>
        <p:nvPicPr>
          <p:cNvPr id="34" name="Image 8" descr="Pupils"/>
          <p:cNvPicPr>
            <a:picLocks noChangeAspect="1"/>
          </p:cNvPicPr>
          <p:nvPr/>
        </p:nvPicPr>
        <p:blipFill>
          <a:blip r:embed="rId9"/>
          <a:stretch>
            <a:fillRect/>
          </a:stretch>
        </p:blipFill>
        <p:spPr>
          <a:xfrm>
            <a:off x="8595360" y="4818888"/>
            <a:ext cx="329184" cy="329184"/>
          </a:xfrm>
          <a:prstGeom prst="rect">
            <a:avLst/>
          </a:prstGeom>
        </p:spPr>
      </p:pic>
      <p:pic>
        <p:nvPicPr>
          <p:cNvPr id="35" name="Image 9" descr="School"/>
          <p:cNvPicPr>
            <a:picLocks noChangeAspect="1"/>
          </p:cNvPicPr>
          <p:nvPr/>
        </p:nvPicPr>
        <p:blipFill>
          <a:blip r:embed="rId8"/>
          <a:stretch>
            <a:fillRect/>
          </a:stretch>
        </p:blipFill>
        <p:spPr>
          <a:xfrm>
            <a:off x="8183880" y="5248656"/>
            <a:ext cx="329184" cy="329184"/>
          </a:xfrm>
          <a:prstGeom prst="rect">
            <a:avLst/>
          </a:prstGeom>
        </p:spPr>
      </p:pic>
      <p:pic>
        <p:nvPicPr>
          <p:cNvPr id="36" name="Image 10" descr="Pupils"/>
          <p:cNvPicPr>
            <a:picLocks noChangeAspect="1"/>
          </p:cNvPicPr>
          <p:nvPr/>
        </p:nvPicPr>
        <p:blipFill>
          <a:blip r:embed="rId10"/>
          <a:stretch>
            <a:fillRect/>
          </a:stretch>
        </p:blipFill>
        <p:spPr>
          <a:xfrm>
            <a:off x="8595360" y="5248656"/>
            <a:ext cx="329184" cy="329184"/>
          </a:xfrm>
          <a:prstGeom prst="rect">
            <a:avLst/>
          </a:prstGeom>
        </p:spPr>
      </p:pic>
      <p:sp>
        <p:nvSpPr>
          <p:cNvPr id="37" name="Text 24"/>
          <p:cNvSpPr txBox="1"/>
          <p:nvPr/>
        </p:nvSpPr>
        <p:spPr>
          <a:xfrm>
            <a:off x="9006840" y="4617720"/>
            <a:ext cx="365760" cy="548640"/>
          </a:xfrm>
          <a:prstGeom prst="rect">
            <a:avLst/>
          </a:prstGeom>
          <a:noFill/>
          <a:ln/>
        </p:spPr>
        <p:txBody>
          <a:bodyPr wrap="square" lIns="0" tIns="0" rIns="0" bIns="0" rtlCol="0" anchor="ctr"/>
          <a:lstStyle/>
          <a:p>
            <a:pPr marL="0" indent="0" algn="ctr">
              <a:buNone/>
            </a:pPr>
            <a:r>
              <a:rPr lang="en-US" sz="3000" b="1" dirty="0">
                <a:solidFill>
                  <a:schemeClr val="accent6"/>
                </a:solidFill>
              </a:rPr>
              <a:t>›</a:t>
            </a:r>
            <a:endParaRPr lang="en-US" sz="3000" dirty="0"/>
          </a:p>
        </p:txBody>
      </p:sp>
      <p:pic>
        <p:nvPicPr>
          <p:cNvPr id="38" name="Image 11" descr="Shared bus"/>
          <p:cNvPicPr>
            <a:picLocks noChangeAspect="1"/>
          </p:cNvPicPr>
          <p:nvPr/>
        </p:nvPicPr>
        <p:blipFill>
          <a:blip r:embed="rId11"/>
          <a:stretch>
            <a:fillRect/>
          </a:stretch>
        </p:blipFill>
        <p:spPr>
          <a:xfrm>
            <a:off x="9418320" y="4572000"/>
            <a:ext cx="640080" cy="640080"/>
          </a:xfrm>
          <a:prstGeom prst="rect">
            <a:avLst/>
          </a:prstGeom>
        </p:spPr>
      </p:pic>
      <p:sp>
        <p:nvSpPr>
          <p:cNvPr id="39" name="Text 25"/>
          <p:cNvSpPr txBox="1"/>
          <p:nvPr/>
        </p:nvSpPr>
        <p:spPr>
          <a:xfrm>
            <a:off x="10104120" y="4617720"/>
            <a:ext cx="365760" cy="548640"/>
          </a:xfrm>
          <a:prstGeom prst="rect">
            <a:avLst/>
          </a:prstGeom>
          <a:noFill/>
          <a:ln/>
        </p:spPr>
        <p:txBody>
          <a:bodyPr wrap="square" lIns="0" tIns="0" rIns="0" bIns="0" rtlCol="0" anchor="ctr"/>
          <a:lstStyle/>
          <a:p>
            <a:pPr marL="0" indent="0" algn="ctr">
              <a:buNone/>
            </a:pPr>
            <a:r>
              <a:rPr lang="en-US" sz="3000" b="1" dirty="0">
                <a:solidFill>
                  <a:schemeClr val="accent1"/>
                </a:solidFill>
              </a:rPr>
              <a:t>›</a:t>
            </a:r>
            <a:endParaRPr lang="en-US" sz="3000" dirty="0"/>
          </a:p>
        </p:txBody>
      </p:sp>
      <p:pic>
        <p:nvPicPr>
          <p:cNvPr id="40" name="Image 12" descr="Event venue"/>
          <p:cNvPicPr>
            <a:picLocks noChangeAspect="1"/>
          </p:cNvPicPr>
          <p:nvPr/>
        </p:nvPicPr>
        <p:blipFill>
          <a:blip r:embed="rId12"/>
          <a:stretch>
            <a:fillRect/>
          </a:stretch>
        </p:blipFill>
        <p:spPr>
          <a:xfrm>
            <a:off x="10652760" y="4443984"/>
            <a:ext cx="548640" cy="548640"/>
          </a:xfrm>
          <a:prstGeom prst="rect">
            <a:avLst/>
          </a:prstGeom>
        </p:spPr>
      </p:pic>
      <p:sp>
        <p:nvSpPr>
          <p:cNvPr id="41" name="Text 26"/>
          <p:cNvSpPr txBox="1"/>
          <p:nvPr/>
        </p:nvSpPr>
        <p:spPr>
          <a:xfrm>
            <a:off x="10378440" y="5074920"/>
            <a:ext cx="1143000" cy="274320"/>
          </a:xfrm>
          <a:prstGeom prst="rect">
            <a:avLst/>
          </a:prstGeom>
          <a:noFill/>
          <a:ln/>
        </p:spPr>
        <p:txBody>
          <a:bodyPr wrap="square" lIns="0" tIns="0" rIns="0" bIns="0" rtlCol="0" anchor="t"/>
          <a:lstStyle/>
          <a:p>
            <a:pPr marL="0" indent="0" algn="ctr">
              <a:buNone/>
            </a:pPr>
            <a:r>
              <a:rPr lang="en-US" sz="1100" b="1" dirty="0">
                <a:solidFill>
                  <a:schemeClr val="tx1"/>
                </a:solidFill>
              </a:rPr>
              <a:t>Event venue</a:t>
            </a:r>
            <a:endParaRPr lang="en-US" sz="1100" dirty="0"/>
          </a:p>
        </p:txBody>
      </p:sp>
      <p:sp>
        <p:nvSpPr>
          <p:cNvPr id="42" name="Problem question"/>
          <p:cNvSpPr/>
          <p:nvPr/>
        </p:nvSpPr>
        <p:spPr>
          <a:xfrm>
            <a:off x="502920" y="5669280"/>
            <a:ext cx="7315200" cy="713232"/>
          </a:xfrm>
          <a:prstGeom prst="roundRect">
            <a:avLst>
              <a:gd name="adj" fmla="val 15385"/>
            </a:avLst>
          </a:prstGeom>
          <a:solidFill>
            <a:srgbClr val="FDECEE"/>
          </a:solidFill>
          <a:ln w="9525">
            <a:solidFill>
              <a:srgbClr val="FDECEE"/>
            </a:solidFill>
            <a:prstDash val="solid"/>
          </a:ln>
        </p:spPr>
      </p:sp>
      <p:sp>
        <p:nvSpPr>
          <p:cNvPr id="43" name="Question mark"/>
          <p:cNvSpPr/>
          <p:nvPr/>
        </p:nvSpPr>
        <p:spPr>
          <a:xfrm>
            <a:off x="685800" y="5751576"/>
            <a:ext cx="548640" cy="548640"/>
          </a:xfrm>
          <a:prstGeom prst="ellipse">
            <a:avLst/>
          </a:prstGeom>
          <a:solidFill>
            <a:srgbClr val="D7192F"/>
          </a:solidFill>
          <a:ln w="12700">
            <a:solidFill>
              <a:srgbClr val="D7192F"/>
            </a:solidFill>
            <a:prstDash val="solid"/>
          </a:ln>
        </p:spPr>
      </p:sp>
      <p:pic>
        <p:nvPicPr>
          <p:cNvPr id="44" name="Image 13" descr="Question"/>
          <p:cNvPicPr>
            <a:picLocks noChangeAspect="1"/>
          </p:cNvPicPr>
          <p:nvPr/>
        </p:nvPicPr>
        <p:blipFill>
          <a:blip r:embed="rId13"/>
          <a:stretch>
            <a:fillRect/>
          </a:stretch>
        </p:blipFill>
        <p:spPr>
          <a:xfrm>
            <a:off x="822960" y="5888736"/>
            <a:ext cx="274320" cy="274320"/>
          </a:xfrm>
          <a:prstGeom prst="rect">
            <a:avLst/>
          </a:prstGeom>
        </p:spPr>
      </p:pic>
      <p:sp>
        <p:nvSpPr>
          <p:cNvPr id="45" name="Text 29"/>
          <p:cNvSpPr txBox="1"/>
          <p:nvPr/>
        </p:nvSpPr>
        <p:spPr>
          <a:xfrm>
            <a:off x="1417320" y="5669280"/>
            <a:ext cx="6263640" cy="713232"/>
          </a:xfrm>
          <a:prstGeom prst="rect">
            <a:avLst/>
          </a:prstGeom>
          <a:noFill/>
          <a:ln/>
        </p:spPr>
        <p:txBody>
          <a:bodyPr wrap="square" lIns="0" tIns="0" rIns="0" bIns="0" rtlCol="0" anchor="ctr"/>
          <a:lstStyle/>
          <a:p>
            <a:pPr marL="0" indent="0">
              <a:buNone/>
            </a:pPr>
            <a:r>
              <a:rPr lang="en-US" sz="1350" b="1" dirty="0">
                <a:solidFill>
                  <a:srgbClr val="0B1F45"/>
                </a:solidFill>
              </a:rPr>
              <a:t>The problem we are solving: </a:t>
            </a:r>
            <a:r>
              <a:rPr lang="en-US" sz="1350" dirty="0">
                <a:solidFill>
                  <a:schemeClr val="tx1"/>
                </a:solidFill>
              </a:rPr>
              <a:t>how can schools share buses, never split a group or overfill a bus, and pay as little as possible?</a:t>
            </a:r>
            <a:endParaRPr lang="en-US" sz="1350" dirty="0"/>
          </a:p>
        </p:txBody>
      </p:sp>
      <p:sp>
        <p:nvSpPr>
          <p:cNvPr id="46"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5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350"/>
                                        <p:tgtEl>
                                          <p:spTgt spid="7"/>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35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50"/>
                                        <p:tgtEl>
                                          <p:spTgt spid="17"/>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350"/>
                                        <p:tgtEl>
                                          <p:spTgt spid="15"/>
                                        </p:tgtEl>
                                      </p:cBhvr>
                                    </p:animEffect>
                                  </p:childTnLst>
                                </p:cTn>
                              </p:par>
                              <p:par>
                                <p:cTn id="27" presetID="10"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350"/>
                                        <p:tgtEl>
                                          <p:spTgt spid="11"/>
                                        </p:tgtEl>
                                      </p:cBhvr>
                                    </p:animEffect>
                                  </p:childTnLst>
                                </p:cTn>
                              </p:par>
                              <p:par>
                                <p:cTn id="30" presetID="10" presetClass="entr" presetSubtype="0" fill="hold"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5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50"/>
                                        <p:tgtEl>
                                          <p:spTgt spid="13"/>
                                        </p:tgtEl>
                                      </p:cBhvr>
                                    </p:animEffect>
                                  </p:childTnLst>
                                </p:cTn>
                              </p:par>
                              <p:par>
                                <p:cTn id="36" presetID="10" presetClass="entr" presetSubtype="0" fill="hold"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5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3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350"/>
                                        <p:tgtEl>
                                          <p:spTgt spid="19"/>
                                        </p:tgtEl>
                                      </p:cBhvr>
                                    </p:animEffect>
                                  </p:childTnLst>
                                </p:cTn>
                              </p:par>
                            </p:childTnLst>
                          </p:cTn>
                        </p:par>
                        <p:par>
                          <p:cTn id="45" fill="hold">
                            <p:stCondLst>
                              <p:cond delay="700"/>
                            </p:stCondLst>
                            <p:childTnLst>
                              <p:par>
                                <p:cTn id="46" presetID="10" presetClass="entr" presetSubtype="0" fill="hold" nodeType="afterEffect">
                                  <p:stCondLst>
                                    <p:cond delay="0"/>
                                  </p:stCondLst>
                                  <p:childTnLst>
                                    <p:set>
                                      <p:cBhvr>
                                        <p:cTn id="47" dur="1" fill="hold">
                                          <p:stCondLst>
                                            <p:cond delay="0"/>
                                          </p:stCondLst>
                                        </p:cTn>
                                        <p:tgtEl>
                                          <p:spTgt spid="8"/>
                                        </p:tgtEl>
                                        <p:attrNameLst>
                                          <p:attrName>style.visibility</p:attrName>
                                        </p:attrNameLst>
                                      </p:cBhvr>
                                      <p:to>
                                        <p:strVal val="visible"/>
                                      </p:to>
                                    </p:set>
                                    <p:animEffect transition="in" filter="fade">
                                      <p:cBhvr>
                                        <p:cTn id="48" dur="350"/>
                                        <p:tgtEl>
                                          <p:spTgt spid="8"/>
                                        </p:tgtEl>
                                      </p:cBhvr>
                                    </p:animEffect>
                                  </p:childTnLst>
                                </p:cTn>
                              </p:par>
                              <p:par>
                                <p:cTn id="49" presetID="10" presetClass="entr" presetSubtype="0" fill="hold" nodeType="with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fade">
                                      <p:cBhvr>
                                        <p:cTn id="51" dur="350"/>
                                        <p:tgtEl>
                                          <p:spTgt spid="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3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350"/>
                                        <p:tgtEl>
                                          <p:spTgt spid="27"/>
                                        </p:tgtEl>
                                      </p:cBhvr>
                                    </p:animEffect>
                                  </p:childTnLst>
                                </p:cTn>
                              </p:par>
                              <p:par>
                                <p:cTn id="58" presetID="10" presetClass="entr" presetSubtype="0" fill="hold" nodeType="with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350"/>
                                        <p:tgtEl>
                                          <p:spTgt spid="30"/>
                                        </p:tgtEl>
                                      </p:cBhvr>
                                    </p:animEffect>
                                  </p:childTnLst>
                                </p:cTn>
                              </p:par>
                              <p:par>
                                <p:cTn id="61" presetID="10" presetClass="entr" presetSubtype="0" fill="hold"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350"/>
                                        <p:tgtEl>
                                          <p:spTgt spid="20"/>
                                        </p:tgtEl>
                                      </p:cBhvr>
                                    </p:animEffect>
                                  </p:childTnLst>
                                </p:cTn>
                              </p:par>
                              <p:par>
                                <p:cTn id="64" presetID="10" presetClass="entr" presetSubtype="0" fill="hold"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350"/>
                                        <p:tgtEl>
                                          <p:spTgt spid="25"/>
                                        </p:tgtEl>
                                      </p:cBhvr>
                                    </p:animEffect>
                                  </p:childTnLst>
                                </p:cTn>
                              </p:par>
                              <p:par>
                                <p:cTn id="67" presetID="10" presetClass="entr" presetSubtype="0" fill="hold" nodeType="with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350"/>
                                        <p:tgtEl>
                                          <p:spTgt spid="31"/>
                                        </p:tgtEl>
                                      </p:cBhvr>
                                    </p:animEffect>
                                  </p:childTnLst>
                                </p:cTn>
                              </p:par>
                              <p:par>
                                <p:cTn id="70" presetID="10" presetClass="entr" presetSubtype="0" fill="hold" nodeType="with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350"/>
                                        <p:tgtEl>
                                          <p:spTgt spid="32"/>
                                        </p:tgtEl>
                                      </p:cBhvr>
                                    </p:animEffect>
                                  </p:childTnLst>
                                </p:cTn>
                              </p:par>
                              <p:par>
                                <p:cTn id="73" presetID="10"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350"/>
                                        <p:tgtEl>
                                          <p:spTgt spid="21"/>
                                        </p:tgtEl>
                                      </p:cBhvr>
                                    </p:animEffect>
                                  </p:childTnLst>
                                </p:cTn>
                              </p:par>
                              <p:par>
                                <p:cTn id="76" presetID="10" presetClass="entr" presetSubtype="0" fill="hold"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350"/>
                                        <p:tgtEl>
                                          <p:spTgt spid="26"/>
                                        </p:tgtEl>
                                      </p:cBhvr>
                                    </p:animEffect>
                                  </p:childTnLst>
                                </p:cTn>
                              </p:par>
                              <p:par>
                                <p:cTn id="79" presetID="10" presetClass="entr" presetSubtype="0" fill="hold" nodeType="with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fade">
                                      <p:cBhvr>
                                        <p:cTn id="81" dur="350"/>
                                        <p:tgtEl>
                                          <p:spTgt spid="40"/>
                                        </p:tgtEl>
                                      </p:cBhvr>
                                    </p:animEffect>
                                  </p:childTnLst>
                                </p:cTn>
                              </p:par>
                              <p:par>
                                <p:cTn id="82" presetID="10" presetClass="entr" presetSubtype="0" fill="hold"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350"/>
                                        <p:tgtEl>
                                          <p:spTgt spid="23"/>
                                        </p:tgtEl>
                                      </p:cBhvr>
                                    </p:animEffect>
                                  </p:childTnLst>
                                </p:cTn>
                              </p:par>
                              <p:par>
                                <p:cTn id="85" presetID="10" presetClass="entr" presetSubtype="0" fill="hold"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350"/>
                                        <p:tgtEl>
                                          <p:spTgt spid="28"/>
                                        </p:tgtEl>
                                      </p:cBhvr>
                                    </p:animEffect>
                                  </p:childTnLst>
                                </p:cTn>
                              </p:par>
                              <p:par>
                                <p:cTn id="88" presetID="10" presetClass="entr" presetSubtype="0" fill="hold" nodeType="withEffect">
                                  <p:stCondLst>
                                    <p:cond delay="0"/>
                                  </p:stCondLst>
                                  <p:childTnLst>
                                    <p:set>
                                      <p:cBhvr>
                                        <p:cTn id="89" dur="1" fill="hold">
                                          <p:stCondLst>
                                            <p:cond delay="0"/>
                                          </p:stCondLst>
                                        </p:cTn>
                                        <p:tgtEl>
                                          <p:spTgt spid="38"/>
                                        </p:tgtEl>
                                        <p:attrNameLst>
                                          <p:attrName>style.visibility</p:attrName>
                                        </p:attrNameLst>
                                      </p:cBhvr>
                                      <p:to>
                                        <p:strVal val="visible"/>
                                      </p:to>
                                    </p:set>
                                    <p:animEffect transition="in" filter="fade">
                                      <p:cBhvr>
                                        <p:cTn id="90" dur="350"/>
                                        <p:tgtEl>
                                          <p:spTgt spid="38"/>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35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9"/>
                                        </p:tgtEl>
                                        <p:attrNameLst>
                                          <p:attrName>style.visibility</p:attrName>
                                        </p:attrNameLst>
                                      </p:cBhvr>
                                      <p:to>
                                        <p:strVal val="visible"/>
                                      </p:to>
                                    </p:set>
                                    <p:animEffect transition="in" filter="fade">
                                      <p:cBhvr>
                                        <p:cTn id="96" dur="350"/>
                                        <p:tgtEl>
                                          <p:spTgt spid="39"/>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50"/>
                                        <p:tgtEl>
                                          <p:spTgt spid="2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350"/>
                                        <p:tgtEl>
                                          <p:spTgt spid="29"/>
                                        </p:tgtEl>
                                      </p:cBhvr>
                                    </p:animEffect>
                                  </p:childTnLst>
                                </p:cTn>
                              </p:par>
                            </p:childTnLst>
                          </p:cTn>
                        </p:par>
                        <p:par>
                          <p:cTn id="103" fill="hold">
                            <p:stCondLst>
                              <p:cond delay="1050"/>
                            </p:stCondLst>
                            <p:childTnLst>
                              <p:par>
                                <p:cTn id="104" presetID="10" presetClass="entr" presetSubtype="0" fill="hold" nodeType="after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fade">
                                      <p:cBhvr>
                                        <p:cTn id="106" dur="350"/>
                                        <p:tgtEl>
                                          <p:spTgt spid="33"/>
                                        </p:tgtEl>
                                      </p:cBhvr>
                                    </p:animEffect>
                                  </p:childTnLst>
                                </p:cTn>
                              </p:par>
                              <p:par>
                                <p:cTn id="107" presetID="10" presetClass="entr" presetSubtype="0" fill="hold"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09" dur="350"/>
                                        <p:tgtEl>
                                          <p:spTgt spid="3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350"/>
                                        <p:tgtEl>
                                          <p:spTgt spid="41"/>
                                        </p:tgtEl>
                                      </p:cBhvr>
                                    </p:animEffect>
                                  </p:childTnLst>
                                </p:cTn>
                              </p:par>
                              <p:par>
                                <p:cTn id="113" presetID="10" presetClass="entr" presetSubtype="0" fill="hold"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350"/>
                                        <p:tgtEl>
                                          <p:spTgt spid="35"/>
                                        </p:tgtEl>
                                      </p:cBhvr>
                                    </p:animEffect>
                                  </p:childTnLst>
                                </p:cTn>
                              </p:par>
                              <p:par>
                                <p:cTn id="116" presetID="10" presetClass="entr" presetSubtype="0" fill="hold" nodeType="withEffect">
                                  <p:stCondLst>
                                    <p:cond delay="0"/>
                                  </p:stCondLst>
                                  <p:childTnLst>
                                    <p:set>
                                      <p:cBhvr>
                                        <p:cTn id="117" dur="1" fill="hold">
                                          <p:stCondLst>
                                            <p:cond delay="0"/>
                                          </p:stCondLst>
                                        </p:cTn>
                                        <p:tgtEl>
                                          <p:spTgt spid="36"/>
                                        </p:tgtEl>
                                        <p:attrNameLst>
                                          <p:attrName>style.visibility</p:attrName>
                                        </p:attrNameLst>
                                      </p:cBhvr>
                                      <p:to>
                                        <p:strVal val="visible"/>
                                      </p:to>
                                    </p:set>
                                    <p:animEffect transition="in" filter="fade">
                                      <p:cBhvr>
                                        <p:cTn id="118" dur="350"/>
                                        <p:tgtEl>
                                          <p:spTgt spid="36"/>
                                        </p:tgtEl>
                                      </p:cBhvr>
                                    </p:animEffect>
                                  </p:childTnLst>
                                </p:cTn>
                              </p:par>
                            </p:childTnLst>
                          </p:cTn>
                        </p:par>
                        <p:par>
                          <p:cTn id="119" fill="hold">
                            <p:stCondLst>
                              <p:cond delay="1400"/>
                            </p:stCondLst>
                            <p:childTnLst>
                              <p:par>
                                <p:cTn id="120" presetID="10" presetClass="entr" presetSubtype="0" fill="hold" nodeType="afterEffect">
                                  <p:stCondLst>
                                    <p:cond delay="0"/>
                                  </p:stCondLst>
                                  <p:childTnLst>
                                    <p:set>
                                      <p:cBhvr>
                                        <p:cTn id="121" dur="1" fill="hold">
                                          <p:stCondLst>
                                            <p:cond delay="0"/>
                                          </p:stCondLst>
                                        </p:cTn>
                                        <p:tgtEl>
                                          <p:spTgt spid="42"/>
                                        </p:tgtEl>
                                        <p:attrNameLst>
                                          <p:attrName>style.visibility</p:attrName>
                                        </p:attrNameLst>
                                      </p:cBhvr>
                                      <p:to>
                                        <p:strVal val="visible"/>
                                      </p:to>
                                    </p:set>
                                    <p:animEffect transition="in" filter="fade">
                                      <p:cBhvr>
                                        <p:cTn id="122" dur="350"/>
                                        <p:tgtEl>
                                          <p:spTgt spid="42"/>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par>
                                <p:cTn id="126" presetID="10" presetClass="entr" presetSubtype="0" fill="hold"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350"/>
                                        <p:tgtEl>
                                          <p:spTgt spid="43"/>
                                        </p:tgtEl>
                                      </p:cBhvr>
                                    </p:animEffect>
                                  </p:childTnLst>
                                </p:cTn>
                              </p:par>
                              <p:par>
                                <p:cTn id="129" presetID="10" presetClass="entr" presetSubtype="0" fill="hold" nodeType="with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35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2" grpId="0" animBg="1"/>
      <p:bldP spid="14" grpId="0" animBg="1"/>
      <p:bldP spid="17" grpId="0" animBg="1"/>
      <p:bldP spid="19" grpId="0" animBg="1"/>
      <p:bldP spid="22" grpId="0" animBg="1"/>
      <p:bldP spid="24" grpId="0" animBg="1"/>
      <p:bldP spid="27" grpId="0" animBg="1"/>
      <p:bldP spid="29" grpId="0" animBg="1"/>
      <p:bldP spid="37" grpId="0" animBg="1"/>
      <p:bldP spid="39" grpId="0" animBg="1"/>
      <p:bldP spid="41" grpId="0" animBg="1"/>
      <p:bldP spid="4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oaches outside Principality Stadium, Cardiff (illustration from the team's reference slides)"/>
          <p:cNvPicPr>
            <a:picLocks noChangeAspect="1"/>
          </p:cNvPicPr>
          <p:nvPr/>
        </p:nvPicPr>
        <p:blipFill>
          <a:blip r:embed="rId3"/>
          <a:stretch>
            <a:fillRect/>
          </a:stretch>
        </p:blipFill>
        <p:spPr>
          <a:xfrm>
            <a:off x="8674138" y="0"/>
            <a:ext cx="3517557" cy="1828800"/>
          </a:xfrm>
          <a:prstGeom prst="rect">
            <a:avLst/>
          </a:prstGeom>
        </p:spPr>
      </p:pic>
      <p:sp>
        <p:nvSpPr>
          <p:cNvPr id="3" name="Text 0"/>
          <p:cNvSpPr>
            <a:spLocks noGrp="1"/>
          </p:cNvSpPr>
          <p:nvPr>
            <p:ph type="body" idx="100" hasCustomPrompt="1"/>
          </p:nvPr>
        </p:nvSpPr>
        <p:spPr>
          <a:xfrm>
            <a:off x="502920" y="292608"/>
            <a:ext cx="731520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PROPOSED SOLUTION</a:t>
            </a:r>
            <a:endParaRPr lang="en-US" sz="1300" dirty="0"/>
          </a:p>
        </p:txBody>
      </p:sp>
      <p:sp>
        <p:nvSpPr>
          <p:cNvPr id="4" name="Text 1"/>
          <p:cNvSpPr>
            <a:spLocks noGrp="1"/>
          </p:cNvSpPr>
          <p:nvPr>
            <p:ph type="title" idx="102" hasCustomPrompt="1"/>
          </p:nvPr>
        </p:nvSpPr>
        <p:spPr>
          <a:xfrm>
            <a:off x="502920" y="777240"/>
            <a:ext cx="7589520" cy="1051560"/>
          </a:xfrm>
          <a:prstGeom prst="rect">
            <a:avLst/>
          </a:prstGeom>
          <a:noFill/>
          <a:ln/>
        </p:spPr>
        <p:txBody>
          <a:bodyPr wrap="square" lIns="0" tIns="0" rIns="0" bIns="0" rtlCol="0" anchor="t"/>
          <a:lstStyle/>
          <a:p>
            <a:pPr marL="0" indent="0" algn="l">
              <a:buNone/>
            </a:pPr>
            <a:r>
              <a:rPr lang="en-US" sz="3400" b="1" dirty="0">
                <a:solidFill>
                  <a:srgbClr val="0B1F45"/>
                </a:solidFill>
              </a:rPr>
              <a:t>Campus </a:t>
            </a:r>
            <a:r>
              <a:rPr lang="en-US" sz="3400" b="1" dirty="0">
                <a:solidFill>
                  <a:srgbClr val="D7192F"/>
                </a:solidFill>
              </a:rPr>
              <a:t>Cruise</a:t>
            </a:r>
            <a:endParaRPr lang="en-US" sz="3400" dirty="0"/>
          </a:p>
        </p:txBody>
      </p:sp>
      <p:sp>
        <p:nvSpPr>
          <p:cNvPr id="5" name="Text 2"/>
          <p:cNvSpPr txBox="1"/>
          <p:nvPr/>
        </p:nvSpPr>
        <p:spPr>
          <a:xfrm>
            <a:off x="502920" y="1481328"/>
            <a:ext cx="7589520" cy="566928"/>
          </a:xfrm>
          <a:prstGeom prst="rect">
            <a:avLst/>
          </a:prstGeom>
          <a:noFill/>
          <a:ln/>
        </p:spPr>
        <p:txBody>
          <a:bodyPr wrap="square" lIns="0" tIns="0" rIns="0" bIns="0" rtlCol="0" anchor="t"/>
          <a:lstStyle/>
          <a:p>
            <a:pPr marL="0" indent="0">
              <a:buNone/>
            </a:pPr>
            <a:r>
              <a:rPr lang="en-US" sz="1500" dirty="0">
                <a:solidFill>
                  <a:schemeClr val="tx2"/>
                </a:solidFill>
              </a:rPr>
              <a:t>Plans shared school buses to any event: picks which schools share each bus and the pickup order, then checks every rule before anyone sees the plan.</a:t>
            </a:r>
            <a:endParaRPr lang="en-US" sz="1500" dirty="0"/>
          </a:p>
        </p:txBody>
      </p:sp>
      <p:sp>
        <p:nvSpPr>
          <p:cNvPr id="6" name="Step Input data"/>
          <p:cNvSpPr/>
          <p:nvPr/>
        </p:nvSpPr>
        <p:spPr>
          <a:xfrm>
            <a:off x="502920" y="2286000"/>
            <a:ext cx="2103120" cy="3154680"/>
          </a:xfrm>
          <a:prstGeom prst="roundRect">
            <a:avLst>
              <a:gd name="adj" fmla="val 5217"/>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7" name="Shape 4"/>
          <p:cNvSpPr/>
          <p:nvPr/>
        </p:nvSpPr>
        <p:spPr>
          <a:xfrm>
            <a:off x="502920" y="2286000"/>
            <a:ext cx="2103120" cy="749808"/>
          </a:xfrm>
          <a:prstGeom prst="roundRect">
            <a:avLst>
              <a:gd name="adj" fmla="val 14634"/>
            </a:avLst>
          </a:prstGeom>
          <a:solidFill>
            <a:srgbClr val="EAF1FB"/>
          </a:solidFill>
          <a:ln w="12700">
            <a:solidFill>
              <a:srgbClr val="EAF1FB"/>
            </a:solidFill>
            <a:prstDash val="solid"/>
          </a:ln>
        </p:spPr>
      </p:sp>
      <p:sp>
        <p:nvSpPr>
          <p:cNvPr id="8" name="Step 1"/>
          <p:cNvSpPr/>
          <p:nvPr/>
        </p:nvSpPr>
        <p:spPr>
          <a:xfrm>
            <a:off x="630936" y="2432304"/>
            <a:ext cx="457200" cy="457200"/>
          </a:xfrm>
          <a:prstGeom prst="ellipse">
            <a:avLst/>
          </a:prstGeom>
          <a:solidFill>
            <a:srgbClr val="0B1F45"/>
          </a:solidFill>
          <a:ln w="12700">
            <a:solidFill>
              <a:srgbClr val="0B1F45"/>
            </a:solidFill>
            <a:prstDash val="solid"/>
          </a:ln>
        </p:spPr>
      </p:sp>
      <p:sp>
        <p:nvSpPr>
          <p:cNvPr id="9" name="Text 6"/>
          <p:cNvSpPr txBox="1"/>
          <p:nvPr/>
        </p:nvSpPr>
        <p:spPr>
          <a:xfrm>
            <a:off x="630936" y="2432304"/>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1</a:t>
            </a:r>
            <a:endParaRPr lang="en-US" sz="1700" dirty="0"/>
          </a:p>
        </p:txBody>
      </p:sp>
      <p:sp>
        <p:nvSpPr>
          <p:cNvPr id="10" name="Text 7"/>
          <p:cNvSpPr txBox="1"/>
          <p:nvPr/>
        </p:nvSpPr>
        <p:spPr>
          <a:xfrm>
            <a:off x="1179576" y="2395728"/>
            <a:ext cx="1371600" cy="292608"/>
          </a:xfrm>
          <a:prstGeom prst="rect">
            <a:avLst/>
          </a:prstGeom>
          <a:noFill/>
          <a:ln/>
        </p:spPr>
        <p:txBody>
          <a:bodyPr wrap="square" lIns="0" tIns="0" rIns="0" bIns="0" rtlCol="0" anchor="t"/>
          <a:lstStyle/>
          <a:p>
            <a:pPr marL="0" indent="0">
              <a:buNone/>
            </a:pPr>
            <a:r>
              <a:rPr lang="en-US" sz="1500" b="1" dirty="0">
                <a:solidFill>
                  <a:schemeClr val="tx1"/>
                </a:solidFill>
              </a:rPr>
              <a:t>Input data</a:t>
            </a:r>
            <a:endParaRPr lang="en-US" sz="1500" dirty="0"/>
          </a:p>
        </p:txBody>
      </p:sp>
      <p:sp>
        <p:nvSpPr>
          <p:cNvPr id="11" name="Text 8"/>
          <p:cNvSpPr txBox="1"/>
          <p:nvPr/>
        </p:nvSpPr>
        <p:spPr>
          <a:xfrm>
            <a:off x="1179576" y="2688336"/>
            <a:ext cx="1371600" cy="274320"/>
          </a:xfrm>
          <a:prstGeom prst="rect">
            <a:avLst/>
          </a:prstGeom>
          <a:noFill/>
          <a:ln/>
        </p:spPr>
        <p:txBody>
          <a:bodyPr wrap="square" lIns="0" tIns="0" rIns="0" bIns="0" rtlCol="0" anchor="t"/>
          <a:lstStyle/>
          <a:p>
            <a:pPr marL="0" indent="0">
              <a:buNone/>
            </a:pPr>
            <a:r>
              <a:rPr lang="en-US" sz="1050" dirty="0">
                <a:solidFill>
                  <a:schemeClr val="tx2"/>
                </a:solidFill>
              </a:rPr>
              <a:t>Schools and venue</a:t>
            </a:r>
            <a:endParaRPr lang="en-US" sz="1050" dirty="0"/>
          </a:p>
        </p:txBody>
      </p:sp>
      <p:sp>
        <p:nvSpPr>
          <p:cNvPr id="12" name="Text 9"/>
          <p:cNvSpPr txBox="1"/>
          <p:nvPr/>
        </p:nvSpPr>
        <p:spPr>
          <a:xfrm>
            <a:off x="2587752" y="3657600"/>
            <a:ext cx="178308" cy="457200"/>
          </a:xfrm>
          <a:prstGeom prst="rect">
            <a:avLst/>
          </a:prstGeom>
          <a:noFill/>
          <a:ln/>
        </p:spPr>
        <p:txBody>
          <a:bodyPr wrap="square" lIns="0" tIns="0" rIns="0" bIns="0" rtlCol="0" anchor="ctr"/>
          <a:lstStyle/>
          <a:p>
            <a:pPr marL="0" indent="0" algn="ctr">
              <a:buNone/>
            </a:pPr>
            <a:r>
              <a:rPr lang="en-US" sz="2000" b="1" dirty="0">
                <a:solidFill>
                  <a:schemeClr val="tx1"/>
                </a:solidFill>
              </a:rPr>
              <a:t>›</a:t>
            </a:r>
            <a:endParaRPr lang="en-US" sz="2000" dirty="0"/>
          </a:p>
        </p:txBody>
      </p:sp>
      <p:sp>
        <p:nvSpPr>
          <p:cNvPr id="13" name="Step Optimise"/>
          <p:cNvSpPr/>
          <p:nvPr/>
        </p:nvSpPr>
        <p:spPr>
          <a:xfrm>
            <a:off x="2747772" y="2286000"/>
            <a:ext cx="2103120" cy="3154680"/>
          </a:xfrm>
          <a:prstGeom prst="roundRect">
            <a:avLst>
              <a:gd name="adj" fmla="val 5217"/>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14" name="Shape 11"/>
          <p:cNvSpPr/>
          <p:nvPr/>
        </p:nvSpPr>
        <p:spPr>
          <a:xfrm>
            <a:off x="2747772" y="2286000"/>
            <a:ext cx="2103120" cy="749808"/>
          </a:xfrm>
          <a:prstGeom prst="roundRect">
            <a:avLst>
              <a:gd name="adj" fmla="val 14634"/>
            </a:avLst>
          </a:prstGeom>
          <a:solidFill>
            <a:srgbClr val="FDECEE"/>
          </a:solidFill>
          <a:ln w="12700">
            <a:solidFill>
              <a:srgbClr val="FDECEE"/>
            </a:solidFill>
            <a:prstDash val="solid"/>
          </a:ln>
        </p:spPr>
      </p:sp>
      <p:sp>
        <p:nvSpPr>
          <p:cNvPr id="15" name="Step 2"/>
          <p:cNvSpPr/>
          <p:nvPr/>
        </p:nvSpPr>
        <p:spPr>
          <a:xfrm>
            <a:off x="2875788" y="2432304"/>
            <a:ext cx="457200" cy="457200"/>
          </a:xfrm>
          <a:prstGeom prst="ellipse">
            <a:avLst/>
          </a:prstGeom>
          <a:solidFill>
            <a:srgbClr val="D7192F"/>
          </a:solidFill>
          <a:ln w="12700">
            <a:solidFill>
              <a:srgbClr val="D7192F"/>
            </a:solidFill>
            <a:prstDash val="solid"/>
          </a:ln>
        </p:spPr>
      </p:sp>
      <p:sp>
        <p:nvSpPr>
          <p:cNvPr id="16" name="Text 13"/>
          <p:cNvSpPr txBox="1"/>
          <p:nvPr/>
        </p:nvSpPr>
        <p:spPr>
          <a:xfrm>
            <a:off x="2875788" y="2432304"/>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2</a:t>
            </a:r>
            <a:endParaRPr lang="en-US" sz="1700" dirty="0"/>
          </a:p>
        </p:txBody>
      </p:sp>
      <p:sp>
        <p:nvSpPr>
          <p:cNvPr id="17" name="Text 14"/>
          <p:cNvSpPr txBox="1"/>
          <p:nvPr/>
        </p:nvSpPr>
        <p:spPr>
          <a:xfrm>
            <a:off x="3424428" y="2395728"/>
            <a:ext cx="1371600" cy="292608"/>
          </a:xfrm>
          <a:prstGeom prst="rect">
            <a:avLst/>
          </a:prstGeom>
          <a:noFill/>
          <a:ln/>
        </p:spPr>
        <p:txBody>
          <a:bodyPr wrap="square" lIns="0" tIns="0" rIns="0" bIns="0" rtlCol="0" anchor="t"/>
          <a:lstStyle/>
          <a:p>
            <a:pPr marL="0" indent="0">
              <a:buNone/>
            </a:pPr>
            <a:r>
              <a:rPr lang="en-US" sz="1500" b="1" dirty="0">
                <a:solidFill>
                  <a:schemeClr val="accent1"/>
                </a:solidFill>
              </a:rPr>
              <a:t>Optimise</a:t>
            </a:r>
            <a:endParaRPr lang="en-US" sz="1500" dirty="0"/>
          </a:p>
        </p:txBody>
      </p:sp>
      <p:sp>
        <p:nvSpPr>
          <p:cNvPr id="18" name="Text 15"/>
          <p:cNvSpPr txBox="1"/>
          <p:nvPr/>
        </p:nvSpPr>
        <p:spPr>
          <a:xfrm>
            <a:off x="3424428" y="2688336"/>
            <a:ext cx="1371600" cy="274320"/>
          </a:xfrm>
          <a:prstGeom prst="rect">
            <a:avLst/>
          </a:prstGeom>
          <a:noFill/>
          <a:ln/>
        </p:spPr>
        <p:txBody>
          <a:bodyPr wrap="square" lIns="0" tIns="0" rIns="0" bIns="0" rtlCol="0" anchor="t"/>
          <a:lstStyle/>
          <a:p>
            <a:pPr marL="0" indent="0">
              <a:buNone/>
            </a:pPr>
            <a:r>
              <a:rPr lang="en-US" sz="1050" dirty="0">
                <a:solidFill>
                  <a:schemeClr val="tx2"/>
                </a:solidFill>
              </a:rPr>
              <a:t>Choose the cost model</a:t>
            </a:r>
            <a:endParaRPr lang="en-US" sz="1050" dirty="0"/>
          </a:p>
        </p:txBody>
      </p:sp>
      <p:sp>
        <p:nvSpPr>
          <p:cNvPr id="19" name="Text 16"/>
          <p:cNvSpPr txBox="1"/>
          <p:nvPr/>
        </p:nvSpPr>
        <p:spPr>
          <a:xfrm>
            <a:off x="4832604" y="3657600"/>
            <a:ext cx="178308" cy="457200"/>
          </a:xfrm>
          <a:prstGeom prst="rect">
            <a:avLst/>
          </a:prstGeom>
          <a:noFill/>
          <a:ln/>
        </p:spPr>
        <p:txBody>
          <a:bodyPr wrap="square" lIns="0" tIns="0" rIns="0" bIns="0" rtlCol="0" anchor="ctr"/>
          <a:lstStyle/>
          <a:p>
            <a:pPr marL="0" indent="0" algn="ctr">
              <a:buNone/>
            </a:pPr>
            <a:r>
              <a:rPr lang="en-US" sz="2000" b="1" dirty="0">
                <a:solidFill>
                  <a:schemeClr val="tx1"/>
                </a:solidFill>
              </a:rPr>
              <a:t>›</a:t>
            </a:r>
            <a:endParaRPr lang="en-US" sz="2000" dirty="0"/>
          </a:p>
        </p:txBody>
      </p:sp>
      <p:sp>
        <p:nvSpPr>
          <p:cNvPr id="20" name="Step Validate"/>
          <p:cNvSpPr/>
          <p:nvPr/>
        </p:nvSpPr>
        <p:spPr>
          <a:xfrm>
            <a:off x="4992624" y="2286000"/>
            <a:ext cx="2103120" cy="3154680"/>
          </a:xfrm>
          <a:prstGeom prst="roundRect">
            <a:avLst>
              <a:gd name="adj" fmla="val 5217"/>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21" name="Shape 18"/>
          <p:cNvSpPr/>
          <p:nvPr/>
        </p:nvSpPr>
        <p:spPr>
          <a:xfrm>
            <a:off x="4992624" y="2286000"/>
            <a:ext cx="2103120" cy="749808"/>
          </a:xfrm>
          <a:prstGeom prst="roundRect">
            <a:avLst>
              <a:gd name="adj" fmla="val 14634"/>
            </a:avLst>
          </a:prstGeom>
          <a:solidFill>
            <a:srgbClr val="EAF6EE"/>
          </a:solidFill>
          <a:ln w="12700">
            <a:solidFill>
              <a:srgbClr val="EAF6EE"/>
            </a:solidFill>
            <a:prstDash val="solid"/>
          </a:ln>
        </p:spPr>
      </p:sp>
      <p:sp>
        <p:nvSpPr>
          <p:cNvPr id="22" name="Step 3"/>
          <p:cNvSpPr/>
          <p:nvPr/>
        </p:nvSpPr>
        <p:spPr>
          <a:xfrm>
            <a:off x="5120640" y="2432304"/>
            <a:ext cx="457200" cy="457200"/>
          </a:xfrm>
          <a:prstGeom prst="ellipse">
            <a:avLst/>
          </a:prstGeom>
          <a:solidFill>
            <a:srgbClr val="0B1F45"/>
          </a:solidFill>
          <a:ln w="12700">
            <a:solidFill>
              <a:srgbClr val="0B1F45"/>
            </a:solidFill>
            <a:prstDash val="solid"/>
          </a:ln>
        </p:spPr>
      </p:sp>
      <p:sp>
        <p:nvSpPr>
          <p:cNvPr id="23" name="Text 20"/>
          <p:cNvSpPr txBox="1"/>
          <p:nvPr/>
        </p:nvSpPr>
        <p:spPr>
          <a:xfrm>
            <a:off x="5120640" y="2432304"/>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3</a:t>
            </a:r>
            <a:endParaRPr lang="en-US" sz="1700" dirty="0"/>
          </a:p>
        </p:txBody>
      </p:sp>
      <p:sp>
        <p:nvSpPr>
          <p:cNvPr id="24" name="Text 21"/>
          <p:cNvSpPr txBox="1"/>
          <p:nvPr/>
        </p:nvSpPr>
        <p:spPr>
          <a:xfrm>
            <a:off x="5669280" y="2395728"/>
            <a:ext cx="1371600" cy="292608"/>
          </a:xfrm>
          <a:prstGeom prst="rect">
            <a:avLst/>
          </a:prstGeom>
          <a:noFill/>
          <a:ln/>
        </p:spPr>
        <p:txBody>
          <a:bodyPr wrap="square" lIns="0" tIns="0" rIns="0" bIns="0" rtlCol="0" anchor="t"/>
          <a:lstStyle/>
          <a:p>
            <a:pPr marL="0" indent="0">
              <a:buNone/>
            </a:pPr>
            <a:r>
              <a:rPr lang="en-US" sz="1500" b="1" dirty="0">
                <a:solidFill>
                  <a:schemeClr val="tx1"/>
                </a:solidFill>
              </a:rPr>
              <a:t>Validate</a:t>
            </a:r>
            <a:endParaRPr lang="en-US" sz="1500" dirty="0"/>
          </a:p>
        </p:txBody>
      </p:sp>
      <p:sp>
        <p:nvSpPr>
          <p:cNvPr id="25" name="Text 22"/>
          <p:cNvSpPr txBox="1"/>
          <p:nvPr/>
        </p:nvSpPr>
        <p:spPr>
          <a:xfrm>
            <a:off x="5669280" y="2688336"/>
            <a:ext cx="1371600" cy="274320"/>
          </a:xfrm>
          <a:prstGeom prst="rect">
            <a:avLst/>
          </a:prstGeom>
          <a:noFill/>
          <a:ln/>
        </p:spPr>
        <p:txBody>
          <a:bodyPr wrap="square" lIns="0" tIns="0" rIns="0" bIns="0" rtlCol="0" anchor="t"/>
          <a:lstStyle/>
          <a:p>
            <a:pPr marL="0" indent="0">
              <a:buNone/>
            </a:pPr>
            <a:r>
              <a:rPr lang="en-US" sz="1050" dirty="0">
                <a:solidFill>
                  <a:schemeClr val="tx2"/>
                </a:solidFill>
              </a:rPr>
              <a:t>Independent re-check</a:t>
            </a:r>
            <a:endParaRPr lang="en-US" sz="1050" dirty="0"/>
          </a:p>
        </p:txBody>
      </p:sp>
      <p:sp>
        <p:nvSpPr>
          <p:cNvPr id="26" name="Text 23"/>
          <p:cNvSpPr txBox="1"/>
          <p:nvPr/>
        </p:nvSpPr>
        <p:spPr>
          <a:xfrm>
            <a:off x="7077456" y="3657600"/>
            <a:ext cx="178308" cy="457200"/>
          </a:xfrm>
          <a:prstGeom prst="rect">
            <a:avLst/>
          </a:prstGeom>
          <a:noFill/>
          <a:ln/>
        </p:spPr>
        <p:txBody>
          <a:bodyPr wrap="square" lIns="0" tIns="0" rIns="0" bIns="0" rtlCol="0" anchor="ctr"/>
          <a:lstStyle/>
          <a:p>
            <a:pPr marL="0" indent="0" algn="ctr">
              <a:buNone/>
            </a:pPr>
            <a:r>
              <a:rPr lang="en-US" sz="2000" b="1" dirty="0">
                <a:solidFill>
                  <a:schemeClr val="tx1"/>
                </a:solidFill>
              </a:rPr>
              <a:t>›</a:t>
            </a:r>
            <a:endParaRPr lang="en-US" sz="2000" dirty="0"/>
          </a:p>
        </p:txBody>
      </p:sp>
      <p:sp>
        <p:nvSpPr>
          <p:cNvPr id="27" name="Step Visualise"/>
          <p:cNvSpPr/>
          <p:nvPr/>
        </p:nvSpPr>
        <p:spPr>
          <a:xfrm>
            <a:off x="7237476" y="2286000"/>
            <a:ext cx="2103120" cy="3154680"/>
          </a:xfrm>
          <a:prstGeom prst="roundRect">
            <a:avLst>
              <a:gd name="adj" fmla="val 5217"/>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28" name="Shape 25"/>
          <p:cNvSpPr/>
          <p:nvPr/>
        </p:nvSpPr>
        <p:spPr>
          <a:xfrm>
            <a:off x="7237476" y="2286000"/>
            <a:ext cx="2103120" cy="749808"/>
          </a:xfrm>
          <a:prstGeom prst="roundRect">
            <a:avLst>
              <a:gd name="adj" fmla="val 14634"/>
            </a:avLst>
          </a:prstGeom>
          <a:solidFill>
            <a:srgbClr val="FDECEE"/>
          </a:solidFill>
          <a:ln w="12700">
            <a:solidFill>
              <a:srgbClr val="FDECEE"/>
            </a:solidFill>
            <a:prstDash val="solid"/>
          </a:ln>
        </p:spPr>
      </p:sp>
      <p:sp>
        <p:nvSpPr>
          <p:cNvPr id="29" name="Step 4"/>
          <p:cNvSpPr/>
          <p:nvPr/>
        </p:nvSpPr>
        <p:spPr>
          <a:xfrm>
            <a:off x="7365492" y="2432304"/>
            <a:ext cx="457200" cy="457200"/>
          </a:xfrm>
          <a:prstGeom prst="ellipse">
            <a:avLst/>
          </a:prstGeom>
          <a:solidFill>
            <a:srgbClr val="D7192F"/>
          </a:solidFill>
          <a:ln w="12700">
            <a:solidFill>
              <a:srgbClr val="D7192F"/>
            </a:solidFill>
            <a:prstDash val="solid"/>
          </a:ln>
        </p:spPr>
      </p:sp>
      <p:sp>
        <p:nvSpPr>
          <p:cNvPr id="30" name="Text 27"/>
          <p:cNvSpPr txBox="1"/>
          <p:nvPr/>
        </p:nvSpPr>
        <p:spPr>
          <a:xfrm>
            <a:off x="7365492" y="2432304"/>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4</a:t>
            </a:r>
            <a:endParaRPr lang="en-US" sz="1700" dirty="0"/>
          </a:p>
        </p:txBody>
      </p:sp>
      <p:sp>
        <p:nvSpPr>
          <p:cNvPr id="31" name="Text 28"/>
          <p:cNvSpPr txBox="1"/>
          <p:nvPr/>
        </p:nvSpPr>
        <p:spPr>
          <a:xfrm>
            <a:off x="7914132" y="2395728"/>
            <a:ext cx="1371600" cy="292608"/>
          </a:xfrm>
          <a:prstGeom prst="rect">
            <a:avLst/>
          </a:prstGeom>
          <a:noFill/>
          <a:ln/>
        </p:spPr>
        <p:txBody>
          <a:bodyPr wrap="square" lIns="0" tIns="0" rIns="0" bIns="0" rtlCol="0" anchor="t"/>
          <a:lstStyle/>
          <a:p>
            <a:pPr marL="0" indent="0">
              <a:buNone/>
            </a:pPr>
            <a:r>
              <a:rPr lang="en-US" sz="1500" b="1" dirty="0">
                <a:solidFill>
                  <a:schemeClr val="accent1"/>
                </a:solidFill>
              </a:rPr>
              <a:t>Visualise</a:t>
            </a:r>
            <a:endParaRPr lang="en-US" sz="1500" dirty="0"/>
          </a:p>
        </p:txBody>
      </p:sp>
      <p:sp>
        <p:nvSpPr>
          <p:cNvPr id="32" name="Text 29"/>
          <p:cNvSpPr txBox="1"/>
          <p:nvPr/>
        </p:nvSpPr>
        <p:spPr>
          <a:xfrm>
            <a:off x="7914132" y="2688336"/>
            <a:ext cx="1371600" cy="274320"/>
          </a:xfrm>
          <a:prstGeom prst="rect">
            <a:avLst/>
          </a:prstGeom>
          <a:noFill/>
          <a:ln/>
        </p:spPr>
        <p:txBody>
          <a:bodyPr wrap="square" lIns="0" tIns="0" rIns="0" bIns="0" rtlCol="0" anchor="t"/>
          <a:lstStyle/>
          <a:p>
            <a:pPr marL="0" indent="0">
              <a:buNone/>
            </a:pPr>
            <a:r>
              <a:rPr lang="en-US" sz="1050" dirty="0">
                <a:solidFill>
                  <a:schemeClr val="tx2"/>
                </a:solidFill>
              </a:rPr>
              <a:t>Dashboard and map</a:t>
            </a:r>
            <a:endParaRPr lang="en-US" sz="1050" dirty="0"/>
          </a:p>
        </p:txBody>
      </p:sp>
      <p:sp>
        <p:nvSpPr>
          <p:cNvPr id="33" name="Text 30"/>
          <p:cNvSpPr txBox="1"/>
          <p:nvPr/>
        </p:nvSpPr>
        <p:spPr>
          <a:xfrm>
            <a:off x="9322308" y="3657600"/>
            <a:ext cx="178308" cy="457200"/>
          </a:xfrm>
          <a:prstGeom prst="rect">
            <a:avLst/>
          </a:prstGeom>
          <a:noFill/>
          <a:ln/>
        </p:spPr>
        <p:txBody>
          <a:bodyPr wrap="square" lIns="0" tIns="0" rIns="0" bIns="0" rtlCol="0" anchor="ctr"/>
          <a:lstStyle/>
          <a:p>
            <a:pPr marL="0" indent="0" algn="ctr">
              <a:buNone/>
            </a:pPr>
            <a:r>
              <a:rPr lang="en-US" sz="2000" b="1" dirty="0">
                <a:solidFill>
                  <a:schemeClr val="tx1"/>
                </a:solidFill>
              </a:rPr>
              <a:t>›</a:t>
            </a:r>
            <a:endParaRPr lang="en-US" sz="2000" dirty="0"/>
          </a:p>
        </p:txBody>
      </p:sp>
      <p:sp>
        <p:nvSpPr>
          <p:cNvPr id="34" name="Step Export"/>
          <p:cNvSpPr/>
          <p:nvPr/>
        </p:nvSpPr>
        <p:spPr>
          <a:xfrm>
            <a:off x="9482328" y="2286000"/>
            <a:ext cx="2103120" cy="3154680"/>
          </a:xfrm>
          <a:prstGeom prst="roundRect">
            <a:avLst>
              <a:gd name="adj" fmla="val 5217"/>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35" name="Shape 32"/>
          <p:cNvSpPr/>
          <p:nvPr/>
        </p:nvSpPr>
        <p:spPr>
          <a:xfrm>
            <a:off x="9482328" y="2286000"/>
            <a:ext cx="2103120" cy="749808"/>
          </a:xfrm>
          <a:prstGeom prst="roundRect">
            <a:avLst>
              <a:gd name="adj" fmla="val 14634"/>
            </a:avLst>
          </a:prstGeom>
          <a:solidFill>
            <a:srgbClr val="EAF1FB"/>
          </a:solidFill>
          <a:ln w="12700">
            <a:solidFill>
              <a:srgbClr val="EAF1FB"/>
            </a:solidFill>
            <a:prstDash val="solid"/>
          </a:ln>
        </p:spPr>
      </p:sp>
      <p:sp>
        <p:nvSpPr>
          <p:cNvPr id="36" name="Step 5"/>
          <p:cNvSpPr/>
          <p:nvPr/>
        </p:nvSpPr>
        <p:spPr>
          <a:xfrm>
            <a:off x="9610344" y="2432304"/>
            <a:ext cx="457200" cy="457200"/>
          </a:xfrm>
          <a:prstGeom prst="ellipse">
            <a:avLst/>
          </a:prstGeom>
          <a:solidFill>
            <a:srgbClr val="0B1F45"/>
          </a:solidFill>
          <a:ln w="12700">
            <a:solidFill>
              <a:srgbClr val="0B1F45"/>
            </a:solidFill>
            <a:prstDash val="solid"/>
          </a:ln>
        </p:spPr>
      </p:sp>
      <p:sp>
        <p:nvSpPr>
          <p:cNvPr id="37" name="Text 34"/>
          <p:cNvSpPr txBox="1"/>
          <p:nvPr/>
        </p:nvSpPr>
        <p:spPr>
          <a:xfrm>
            <a:off x="9610344" y="2432304"/>
            <a:ext cx="457200" cy="457200"/>
          </a:xfrm>
          <a:prstGeom prst="rect">
            <a:avLst/>
          </a:prstGeom>
          <a:noFill/>
          <a:ln/>
        </p:spPr>
        <p:txBody>
          <a:bodyPr wrap="square" lIns="0" tIns="0" rIns="0" bIns="0" rtlCol="0" anchor="ctr"/>
          <a:lstStyle/>
          <a:p>
            <a:pPr marL="0" indent="0" algn="ctr">
              <a:buNone/>
            </a:pPr>
            <a:r>
              <a:rPr lang="en-US" sz="1700" b="1" dirty="0">
                <a:solidFill>
                  <a:schemeClr val="bg1"/>
                </a:solidFill>
              </a:rPr>
              <a:t>5</a:t>
            </a:r>
            <a:endParaRPr lang="en-US" sz="1700" dirty="0"/>
          </a:p>
        </p:txBody>
      </p:sp>
      <p:sp>
        <p:nvSpPr>
          <p:cNvPr id="38" name="Text 35"/>
          <p:cNvSpPr txBox="1"/>
          <p:nvPr/>
        </p:nvSpPr>
        <p:spPr>
          <a:xfrm>
            <a:off x="10158984" y="2395728"/>
            <a:ext cx="1371600" cy="292608"/>
          </a:xfrm>
          <a:prstGeom prst="rect">
            <a:avLst/>
          </a:prstGeom>
          <a:noFill/>
          <a:ln/>
        </p:spPr>
        <p:txBody>
          <a:bodyPr wrap="square" lIns="0" tIns="0" rIns="0" bIns="0" rtlCol="0" anchor="t"/>
          <a:lstStyle/>
          <a:p>
            <a:pPr marL="0" indent="0">
              <a:buNone/>
            </a:pPr>
            <a:r>
              <a:rPr lang="en-US" sz="1500" b="1" dirty="0">
                <a:solidFill>
                  <a:schemeClr val="tx1"/>
                </a:solidFill>
              </a:rPr>
              <a:t>Export</a:t>
            </a:r>
            <a:endParaRPr lang="en-US" sz="1500" dirty="0"/>
          </a:p>
        </p:txBody>
      </p:sp>
      <p:sp>
        <p:nvSpPr>
          <p:cNvPr id="39" name="Text 36"/>
          <p:cNvSpPr txBox="1"/>
          <p:nvPr/>
        </p:nvSpPr>
        <p:spPr>
          <a:xfrm>
            <a:off x="10158984" y="2688336"/>
            <a:ext cx="1371600" cy="274320"/>
          </a:xfrm>
          <a:prstGeom prst="rect">
            <a:avLst/>
          </a:prstGeom>
          <a:noFill/>
          <a:ln/>
        </p:spPr>
        <p:txBody>
          <a:bodyPr wrap="square" lIns="0" tIns="0" rIns="0" bIns="0" rtlCol="0" anchor="t"/>
          <a:lstStyle/>
          <a:p>
            <a:pPr marL="0" indent="0">
              <a:buNone/>
            </a:pPr>
            <a:r>
              <a:rPr lang="en-US" sz="1050" dirty="0">
                <a:solidFill>
                  <a:schemeClr val="tx2"/>
                </a:solidFill>
              </a:rPr>
              <a:t>Share and book</a:t>
            </a:r>
            <a:endParaRPr lang="en-US" sz="1050" dirty="0"/>
          </a:p>
        </p:txBody>
      </p:sp>
      <p:pic>
        <p:nvPicPr>
          <p:cNvPr id="40" name="Image 1" descr="School CSV upload, checked row by row"/>
          <p:cNvPicPr>
            <a:picLocks noChangeAspect="1"/>
          </p:cNvPicPr>
          <p:nvPr/>
        </p:nvPicPr>
        <p:blipFill>
          <a:blip r:embed="rId4"/>
          <a:stretch>
            <a:fillRect/>
          </a:stretch>
        </p:blipFill>
        <p:spPr>
          <a:xfrm>
            <a:off x="667512" y="3236976"/>
            <a:ext cx="292608" cy="292608"/>
          </a:xfrm>
          <a:prstGeom prst="rect">
            <a:avLst/>
          </a:prstGeom>
        </p:spPr>
      </p:pic>
      <p:sp>
        <p:nvSpPr>
          <p:cNvPr id="41" name="Text 37"/>
          <p:cNvSpPr txBox="1"/>
          <p:nvPr/>
        </p:nvSpPr>
        <p:spPr>
          <a:xfrm>
            <a:off x="1069848" y="3200400"/>
            <a:ext cx="1444752" cy="457200"/>
          </a:xfrm>
          <a:prstGeom prst="rect">
            <a:avLst/>
          </a:prstGeom>
          <a:noFill/>
          <a:ln/>
        </p:spPr>
        <p:txBody>
          <a:bodyPr wrap="square" lIns="0" tIns="0" rIns="0" bIns="0" rtlCol="0" anchor="ctr"/>
          <a:lstStyle/>
          <a:p>
            <a:pPr marL="0" indent="0">
              <a:buNone/>
            </a:pPr>
            <a:r>
              <a:rPr lang="en-US" sz="1050" dirty="0">
                <a:solidFill>
                  <a:schemeClr val="tx1"/>
                </a:solidFill>
              </a:rPr>
              <a:t>School CSV upload, checked row by row</a:t>
            </a:r>
            <a:endParaRPr lang="en-US" sz="1050" dirty="0"/>
          </a:p>
        </p:txBody>
      </p:sp>
      <p:pic>
        <p:nvPicPr>
          <p:cNvPr id="42" name="Image 2" descr="Attendees per school"/>
          <p:cNvPicPr>
            <a:picLocks noChangeAspect="1"/>
          </p:cNvPicPr>
          <p:nvPr/>
        </p:nvPicPr>
        <p:blipFill>
          <a:blip r:embed="rId5"/>
          <a:stretch>
            <a:fillRect/>
          </a:stretch>
        </p:blipFill>
        <p:spPr>
          <a:xfrm>
            <a:off x="667512" y="3785616"/>
            <a:ext cx="292608" cy="292608"/>
          </a:xfrm>
          <a:prstGeom prst="rect">
            <a:avLst/>
          </a:prstGeom>
        </p:spPr>
      </p:pic>
      <p:sp>
        <p:nvSpPr>
          <p:cNvPr id="43" name="Text 38"/>
          <p:cNvSpPr txBox="1"/>
          <p:nvPr/>
        </p:nvSpPr>
        <p:spPr>
          <a:xfrm>
            <a:off x="1069848" y="3749040"/>
            <a:ext cx="1444752" cy="457200"/>
          </a:xfrm>
          <a:prstGeom prst="rect">
            <a:avLst/>
          </a:prstGeom>
          <a:noFill/>
          <a:ln/>
        </p:spPr>
        <p:txBody>
          <a:bodyPr wrap="square" lIns="0" tIns="0" rIns="0" bIns="0" rtlCol="0" anchor="ctr"/>
          <a:lstStyle/>
          <a:p>
            <a:pPr marL="0" indent="0">
              <a:buNone/>
            </a:pPr>
            <a:r>
              <a:rPr lang="en-US" sz="1050" dirty="0">
                <a:solidFill>
                  <a:schemeClr val="tx1"/>
                </a:solidFill>
              </a:rPr>
              <a:t>Attendees per school</a:t>
            </a:r>
            <a:endParaRPr lang="en-US" sz="1050" dirty="0"/>
          </a:p>
        </p:txBody>
      </p:sp>
      <p:pic>
        <p:nvPicPr>
          <p:cNvPr id="44" name="Image 3" descr="Bus sizes and prices"/>
          <p:cNvPicPr>
            <a:picLocks noChangeAspect="1"/>
          </p:cNvPicPr>
          <p:nvPr/>
        </p:nvPicPr>
        <p:blipFill>
          <a:blip r:embed="rId6"/>
          <a:stretch>
            <a:fillRect/>
          </a:stretch>
        </p:blipFill>
        <p:spPr>
          <a:xfrm>
            <a:off x="667512" y="4334256"/>
            <a:ext cx="292608" cy="292608"/>
          </a:xfrm>
          <a:prstGeom prst="rect">
            <a:avLst/>
          </a:prstGeom>
        </p:spPr>
      </p:pic>
      <p:sp>
        <p:nvSpPr>
          <p:cNvPr id="45" name="Text 39"/>
          <p:cNvSpPr txBox="1"/>
          <p:nvPr/>
        </p:nvSpPr>
        <p:spPr>
          <a:xfrm>
            <a:off x="1069848" y="4297680"/>
            <a:ext cx="1444752" cy="457200"/>
          </a:xfrm>
          <a:prstGeom prst="rect">
            <a:avLst/>
          </a:prstGeom>
          <a:noFill/>
          <a:ln/>
        </p:spPr>
        <p:txBody>
          <a:bodyPr wrap="square" lIns="0" tIns="0" rIns="0" bIns="0" rtlCol="0" anchor="ctr"/>
          <a:lstStyle/>
          <a:p>
            <a:pPr marL="0" indent="0">
              <a:buNone/>
            </a:pPr>
            <a:r>
              <a:rPr lang="en-US" sz="1050" dirty="0">
                <a:solidFill>
                  <a:schemeClr val="tx1"/>
                </a:solidFill>
              </a:rPr>
              <a:t>Bus sizes and prices</a:t>
            </a:r>
            <a:endParaRPr lang="en-US" sz="1050" dirty="0"/>
          </a:p>
        </p:txBody>
      </p:sp>
      <p:pic>
        <p:nvPicPr>
          <p:cNvPr id="46" name="Image 4" descr="Venue: search any address"/>
          <p:cNvPicPr>
            <a:picLocks noChangeAspect="1"/>
          </p:cNvPicPr>
          <p:nvPr/>
        </p:nvPicPr>
        <p:blipFill>
          <a:blip r:embed="rId7"/>
          <a:stretch>
            <a:fillRect/>
          </a:stretch>
        </p:blipFill>
        <p:spPr>
          <a:xfrm>
            <a:off x="667512" y="4882896"/>
            <a:ext cx="292608" cy="292608"/>
          </a:xfrm>
          <a:prstGeom prst="rect">
            <a:avLst/>
          </a:prstGeom>
        </p:spPr>
      </p:pic>
      <p:sp>
        <p:nvSpPr>
          <p:cNvPr id="47" name="Text 40"/>
          <p:cNvSpPr txBox="1"/>
          <p:nvPr/>
        </p:nvSpPr>
        <p:spPr>
          <a:xfrm>
            <a:off x="1069848" y="4846320"/>
            <a:ext cx="1444752" cy="457200"/>
          </a:xfrm>
          <a:prstGeom prst="rect">
            <a:avLst/>
          </a:prstGeom>
          <a:noFill/>
          <a:ln/>
        </p:spPr>
        <p:txBody>
          <a:bodyPr wrap="square" lIns="0" tIns="0" rIns="0" bIns="0" rtlCol="0" anchor="ctr"/>
          <a:lstStyle/>
          <a:p>
            <a:pPr marL="0" indent="0">
              <a:buNone/>
            </a:pPr>
            <a:r>
              <a:rPr lang="en-US" sz="1050" dirty="0">
                <a:solidFill>
                  <a:schemeClr val="tx1"/>
                </a:solidFill>
              </a:rPr>
              <a:t>Venue: search any address</a:t>
            </a:r>
            <a:endParaRPr lang="en-US" sz="1050" dirty="0"/>
          </a:p>
        </p:txBody>
      </p:sp>
      <p:sp>
        <p:nvSpPr>
          <p:cNvPr id="48" name="Fixed price per bus"/>
          <p:cNvSpPr/>
          <p:nvPr/>
        </p:nvSpPr>
        <p:spPr>
          <a:xfrm>
            <a:off x="2875788" y="3200400"/>
            <a:ext cx="1847088" cy="603504"/>
          </a:xfrm>
          <a:prstGeom prst="roundRect">
            <a:avLst>
              <a:gd name="adj" fmla="val 18182"/>
            </a:avLst>
          </a:prstGeom>
          <a:solidFill>
            <a:srgbClr val="FDECEE"/>
          </a:solidFill>
          <a:ln w="9525">
            <a:solidFill>
              <a:srgbClr val="FDECEE"/>
            </a:solidFill>
            <a:prstDash val="solid"/>
          </a:ln>
        </p:spPr>
      </p:sp>
      <p:pic>
        <p:nvPicPr>
          <p:cNvPr id="49" name="Image 5" descr="Fixed price per bus"/>
          <p:cNvPicPr>
            <a:picLocks noChangeAspect="1"/>
          </p:cNvPicPr>
          <p:nvPr/>
        </p:nvPicPr>
        <p:blipFill>
          <a:blip r:embed="rId8"/>
          <a:stretch>
            <a:fillRect/>
          </a:stretch>
        </p:blipFill>
        <p:spPr>
          <a:xfrm>
            <a:off x="2985516" y="3355848"/>
            <a:ext cx="292608" cy="292608"/>
          </a:xfrm>
          <a:prstGeom prst="rect">
            <a:avLst/>
          </a:prstGeom>
        </p:spPr>
      </p:pic>
      <p:sp>
        <p:nvSpPr>
          <p:cNvPr id="50" name="Text 42"/>
          <p:cNvSpPr txBox="1"/>
          <p:nvPr/>
        </p:nvSpPr>
        <p:spPr>
          <a:xfrm>
            <a:off x="3369564" y="3200400"/>
            <a:ext cx="1280160" cy="603504"/>
          </a:xfrm>
          <a:prstGeom prst="rect">
            <a:avLst/>
          </a:prstGeom>
          <a:noFill/>
          <a:ln/>
        </p:spPr>
        <p:txBody>
          <a:bodyPr wrap="square" lIns="0" tIns="0" rIns="0" bIns="0" rtlCol="0" anchor="ctr"/>
          <a:lstStyle/>
          <a:p>
            <a:pPr marL="0" indent="0">
              <a:buNone/>
            </a:pPr>
            <a:r>
              <a:rPr lang="en-US" sz="1100" b="1" dirty="0">
                <a:solidFill>
                  <a:srgbClr val="D7192F"/>
                </a:solidFill>
              </a:rPr>
              <a:t>Fixed price per bus</a:t>
            </a:r>
            <a:endParaRPr lang="en-US" sz="1100" dirty="0"/>
          </a:p>
        </p:txBody>
      </p:sp>
      <p:sp>
        <p:nvSpPr>
          <p:cNvPr id="51" name="Price per mile"/>
          <p:cNvSpPr/>
          <p:nvPr/>
        </p:nvSpPr>
        <p:spPr>
          <a:xfrm>
            <a:off x="2875788" y="3913632"/>
            <a:ext cx="1847088" cy="603504"/>
          </a:xfrm>
          <a:prstGeom prst="roundRect">
            <a:avLst>
              <a:gd name="adj" fmla="val 18182"/>
            </a:avLst>
          </a:prstGeom>
          <a:solidFill>
            <a:srgbClr val="EAF1FB"/>
          </a:solidFill>
          <a:ln w="9525">
            <a:solidFill>
              <a:srgbClr val="EAF1FB"/>
            </a:solidFill>
            <a:prstDash val="solid"/>
          </a:ln>
        </p:spPr>
      </p:sp>
      <p:pic>
        <p:nvPicPr>
          <p:cNvPr id="52" name="Image 6" descr="Price per mile"/>
          <p:cNvPicPr>
            <a:picLocks noChangeAspect="1"/>
          </p:cNvPicPr>
          <p:nvPr/>
        </p:nvPicPr>
        <p:blipFill>
          <a:blip r:embed="rId9"/>
          <a:stretch>
            <a:fillRect/>
          </a:stretch>
        </p:blipFill>
        <p:spPr>
          <a:xfrm>
            <a:off x="2985516" y="4069080"/>
            <a:ext cx="292608" cy="292608"/>
          </a:xfrm>
          <a:prstGeom prst="rect">
            <a:avLst/>
          </a:prstGeom>
        </p:spPr>
      </p:pic>
      <p:sp>
        <p:nvSpPr>
          <p:cNvPr id="53" name="Text 44"/>
          <p:cNvSpPr txBox="1"/>
          <p:nvPr/>
        </p:nvSpPr>
        <p:spPr>
          <a:xfrm>
            <a:off x="3369564" y="3913632"/>
            <a:ext cx="1280160" cy="603504"/>
          </a:xfrm>
          <a:prstGeom prst="rect">
            <a:avLst/>
          </a:prstGeom>
          <a:noFill/>
          <a:ln/>
        </p:spPr>
        <p:txBody>
          <a:bodyPr wrap="square" lIns="0" tIns="0" rIns="0" bIns="0" rtlCol="0" anchor="ctr"/>
          <a:lstStyle/>
          <a:p>
            <a:pPr marL="0" indent="0">
              <a:buNone/>
            </a:pPr>
            <a:r>
              <a:rPr lang="en-US" sz="1100" b="1" dirty="0">
                <a:solidFill>
                  <a:srgbClr val="1F5FBF"/>
                </a:solidFill>
              </a:rPr>
              <a:t>Price per mile</a:t>
            </a:r>
            <a:endParaRPr lang="en-US" sz="1100" dirty="0"/>
          </a:p>
        </p:txBody>
      </p:sp>
      <p:sp>
        <p:nvSpPr>
          <p:cNvPr id="54" name="Price per driving hour"/>
          <p:cNvSpPr/>
          <p:nvPr/>
        </p:nvSpPr>
        <p:spPr>
          <a:xfrm>
            <a:off x="2875788" y="4626864"/>
            <a:ext cx="1847088" cy="603504"/>
          </a:xfrm>
          <a:prstGeom prst="roundRect">
            <a:avLst>
              <a:gd name="adj" fmla="val 18182"/>
            </a:avLst>
          </a:prstGeom>
          <a:solidFill>
            <a:srgbClr val="FDECEE"/>
          </a:solidFill>
          <a:ln w="9525">
            <a:solidFill>
              <a:srgbClr val="FDECEE"/>
            </a:solidFill>
            <a:prstDash val="solid"/>
          </a:ln>
        </p:spPr>
      </p:sp>
      <p:pic>
        <p:nvPicPr>
          <p:cNvPr id="55" name="Image 7" descr="Price per driving hour"/>
          <p:cNvPicPr>
            <a:picLocks noChangeAspect="1"/>
          </p:cNvPicPr>
          <p:nvPr/>
        </p:nvPicPr>
        <p:blipFill>
          <a:blip r:embed="rId10"/>
          <a:stretch>
            <a:fillRect/>
          </a:stretch>
        </p:blipFill>
        <p:spPr>
          <a:xfrm>
            <a:off x="2985516" y="4782312"/>
            <a:ext cx="292608" cy="292608"/>
          </a:xfrm>
          <a:prstGeom prst="rect">
            <a:avLst/>
          </a:prstGeom>
        </p:spPr>
      </p:pic>
      <p:sp>
        <p:nvSpPr>
          <p:cNvPr id="56" name="Text 46"/>
          <p:cNvSpPr txBox="1"/>
          <p:nvPr/>
        </p:nvSpPr>
        <p:spPr>
          <a:xfrm>
            <a:off x="3369564" y="4626864"/>
            <a:ext cx="1280160" cy="603504"/>
          </a:xfrm>
          <a:prstGeom prst="rect">
            <a:avLst/>
          </a:prstGeom>
          <a:noFill/>
          <a:ln/>
        </p:spPr>
        <p:txBody>
          <a:bodyPr wrap="square" lIns="0" tIns="0" rIns="0" bIns="0" rtlCol="0" anchor="ctr"/>
          <a:lstStyle/>
          <a:p>
            <a:pPr marL="0" indent="0">
              <a:buNone/>
            </a:pPr>
            <a:r>
              <a:rPr lang="en-US" sz="1100" b="1" dirty="0">
                <a:solidFill>
                  <a:srgbClr val="D7192F"/>
                </a:solidFill>
              </a:rPr>
              <a:t>Price per driving hour</a:t>
            </a:r>
            <a:endParaRPr lang="en-US" sz="1100" dirty="0"/>
          </a:p>
        </p:txBody>
      </p:sp>
      <p:pic>
        <p:nvPicPr>
          <p:cNvPr id="57" name="Image 8" descr="Check"/>
          <p:cNvPicPr>
            <a:picLocks noChangeAspect="1"/>
          </p:cNvPicPr>
          <p:nvPr/>
        </p:nvPicPr>
        <p:blipFill>
          <a:blip r:embed="rId11"/>
          <a:stretch>
            <a:fillRect/>
          </a:stretch>
        </p:blipFill>
        <p:spPr>
          <a:xfrm>
            <a:off x="5157216" y="3236976"/>
            <a:ext cx="256032" cy="256032"/>
          </a:xfrm>
          <a:prstGeom prst="rect">
            <a:avLst/>
          </a:prstGeom>
        </p:spPr>
      </p:pic>
      <p:sp>
        <p:nvSpPr>
          <p:cNvPr id="58" name="Text 47"/>
          <p:cNvSpPr txBox="1"/>
          <p:nvPr/>
        </p:nvSpPr>
        <p:spPr>
          <a:xfrm>
            <a:off x="5504688" y="3182112"/>
            <a:ext cx="1499616" cy="365760"/>
          </a:xfrm>
          <a:prstGeom prst="rect">
            <a:avLst/>
          </a:prstGeom>
          <a:noFill/>
          <a:ln/>
        </p:spPr>
        <p:txBody>
          <a:bodyPr wrap="square" lIns="0" tIns="0" rIns="0" bIns="0" rtlCol="0" anchor="ctr"/>
          <a:lstStyle/>
          <a:p>
            <a:pPr marL="0" indent="0">
              <a:buNone/>
            </a:pPr>
            <a:r>
              <a:rPr lang="en-US" sz="1050" dirty="0">
                <a:solidFill>
                  <a:schemeClr val="tx1"/>
                </a:solidFill>
              </a:rPr>
              <a:t>Every school allocated</a:t>
            </a:r>
            <a:endParaRPr lang="en-US" sz="1050" dirty="0"/>
          </a:p>
        </p:txBody>
      </p:sp>
      <p:pic>
        <p:nvPicPr>
          <p:cNvPr id="59" name="Image 9" descr="Check"/>
          <p:cNvPicPr>
            <a:picLocks noChangeAspect="1"/>
          </p:cNvPicPr>
          <p:nvPr/>
        </p:nvPicPr>
        <p:blipFill>
          <a:blip r:embed="rId11"/>
          <a:stretch>
            <a:fillRect/>
          </a:stretch>
        </p:blipFill>
        <p:spPr>
          <a:xfrm>
            <a:off x="5157216" y="3675888"/>
            <a:ext cx="256032" cy="256032"/>
          </a:xfrm>
          <a:prstGeom prst="rect">
            <a:avLst/>
          </a:prstGeom>
        </p:spPr>
      </p:pic>
      <p:sp>
        <p:nvSpPr>
          <p:cNvPr id="60" name="Text 48"/>
          <p:cNvSpPr txBox="1"/>
          <p:nvPr/>
        </p:nvSpPr>
        <p:spPr>
          <a:xfrm>
            <a:off x="5504688" y="3621024"/>
            <a:ext cx="1499616" cy="365760"/>
          </a:xfrm>
          <a:prstGeom prst="rect">
            <a:avLst/>
          </a:prstGeom>
          <a:noFill/>
          <a:ln/>
        </p:spPr>
        <p:txBody>
          <a:bodyPr wrap="square" lIns="0" tIns="0" rIns="0" bIns="0" rtlCol="0" anchor="ctr"/>
          <a:lstStyle/>
          <a:p>
            <a:pPr marL="0" indent="0">
              <a:buNone/>
            </a:pPr>
            <a:r>
              <a:rPr lang="en-US" sz="1050" dirty="0">
                <a:solidFill>
                  <a:schemeClr val="tx1"/>
                </a:solidFill>
              </a:rPr>
              <a:t>No school split</a:t>
            </a:r>
            <a:endParaRPr lang="en-US" sz="1050" dirty="0"/>
          </a:p>
        </p:txBody>
      </p:sp>
      <p:pic>
        <p:nvPicPr>
          <p:cNvPr id="61" name="Image 10" descr="Check"/>
          <p:cNvPicPr>
            <a:picLocks noChangeAspect="1"/>
          </p:cNvPicPr>
          <p:nvPr/>
        </p:nvPicPr>
        <p:blipFill>
          <a:blip r:embed="rId11"/>
          <a:stretch>
            <a:fillRect/>
          </a:stretch>
        </p:blipFill>
        <p:spPr>
          <a:xfrm>
            <a:off x="5157216" y="4114800"/>
            <a:ext cx="256032" cy="256032"/>
          </a:xfrm>
          <a:prstGeom prst="rect">
            <a:avLst/>
          </a:prstGeom>
        </p:spPr>
      </p:pic>
      <p:sp>
        <p:nvSpPr>
          <p:cNvPr id="62" name="Text 49"/>
          <p:cNvSpPr txBox="1"/>
          <p:nvPr/>
        </p:nvSpPr>
        <p:spPr>
          <a:xfrm>
            <a:off x="5504688" y="4059936"/>
            <a:ext cx="1499616" cy="365760"/>
          </a:xfrm>
          <a:prstGeom prst="rect">
            <a:avLst/>
          </a:prstGeom>
          <a:noFill/>
          <a:ln/>
        </p:spPr>
        <p:txBody>
          <a:bodyPr wrap="square" lIns="0" tIns="0" rIns="0" bIns="0" rtlCol="0" anchor="ctr"/>
          <a:lstStyle/>
          <a:p>
            <a:pPr marL="0" indent="0">
              <a:buNone/>
            </a:pPr>
            <a:r>
              <a:rPr lang="en-US" sz="1050" dirty="0">
                <a:solidFill>
                  <a:schemeClr val="tx1"/>
                </a:solidFill>
              </a:rPr>
              <a:t>No bus over capacity</a:t>
            </a:r>
            <a:endParaRPr lang="en-US" sz="1050" dirty="0"/>
          </a:p>
        </p:txBody>
      </p:sp>
      <p:pic>
        <p:nvPicPr>
          <p:cNvPr id="63" name="Image 11" descr="Check"/>
          <p:cNvPicPr>
            <a:picLocks noChangeAspect="1"/>
          </p:cNvPicPr>
          <p:nvPr/>
        </p:nvPicPr>
        <p:blipFill>
          <a:blip r:embed="rId11"/>
          <a:stretch>
            <a:fillRect/>
          </a:stretch>
        </p:blipFill>
        <p:spPr>
          <a:xfrm>
            <a:off x="5157216" y="4553712"/>
            <a:ext cx="256032" cy="256032"/>
          </a:xfrm>
          <a:prstGeom prst="rect">
            <a:avLst/>
          </a:prstGeom>
        </p:spPr>
      </p:pic>
      <p:sp>
        <p:nvSpPr>
          <p:cNvPr id="64" name="Text 50"/>
          <p:cNvSpPr txBox="1"/>
          <p:nvPr/>
        </p:nvSpPr>
        <p:spPr>
          <a:xfrm>
            <a:off x="5504688" y="4498848"/>
            <a:ext cx="1499616" cy="365760"/>
          </a:xfrm>
          <a:prstGeom prst="rect">
            <a:avLst/>
          </a:prstGeom>
          <a:noFill/>
          <a:ln/>
        </p:spPr>
        <p:txBody>
          <a:bodyPr wrap="square" lIns="0" tIns="0" rIns="0" bIns="0" rtlCol="0" anchor="ctr"/>
          <a:lstStyle/>
          <a:p>
            <a:pPr marL="0" indent="0">
              <a:buNone/>
            </a:pPr>
            <a:r>
              <a:rPr lang="en-US" sz="1050" dirty="0">
                <a:solidFill>
                  <a:schemeClr val="tx1"/>
                </a:solidFill>
              </a:rPr>
              <a:t>Every attendee seated</a:t>
            </a:r>
            <a:endParaRPr lang="en-US" sz="1050" dirty="0"/>
          </a:p>
        </p:txBody>
      </p:sp>
      <p:pic>
        <p:nvPicPr>
          <p:cNvPr id="65" name="Image 12" descr="Check"/>
          <p:cNvPicPr>
            <a:picLocks noChangeAspect="1"/>
          </p:cNvPicPr>
          <p:nvPr/>
        </p:nvPicPr>
        <p:blipFill>
          <a:blip r:embed="rId11"/>
          <a:stretch>
            <a:fillRect/>
          </a:stretch>
        </p:blipFill>
        <p:spPr>
          <a:xfrm>
            <a:off x="5157216" y="4992624"/>
            <a:ext cx="256032" cy="256032"/>
          </a:xfrm>
          <a:prstGeom prst="rect">
            <a:avLst/>
          </a:prstGeom>
        </p:spPr>
      </p:pic>
      <p:sp>
        <p:nvSpPr>
          <p:cNvPr id="66" name="Text 51"/>
          <p:cNvSpPr txBox="1"/>
          <p:nvPr/>
        </p:nvSpPr>
        <p:spPr>
          <a:xfrm>
            <a:off x="5504688" y="4937760"/>
            <a:ext cx="1499616" cy="365760"/>
          </a:xfrm>
          <a:prstGeom prst="rect">
            <a:avLst/>
          </a:prstGeom>
          <a:noFill/>
          <a:ln/>
        </p:spPr>
        <p:txBody>
          <a:bodyPr wrap="square" lIns="0" tIns="0" rIns="0" bIns="0" rtlCol="0" anchor="ctr"/>
          <a:lstStyle/>
          <a:p>
            <a:pPr marL="0" indent="0">
              <a:buNone/>
            </a:pPr>
            <a:r>
              <a:rPr lang="en-US" sz="1050" dirty="0">
                <a:solidFill>
                  <a:schemeClr val="tx1"/>
                </a:solidFill>
              </a:rPr>
              <a:t>Costs recalculated</a:t>
            </a:r>
            <a:endParaRPr lang="en-US" sz="1050" dirty="0"/>
          </a:p>
        </p:txBody>
      </p:sp>
      <p:sp>
        <p:nvSpPr>
          <p:cNvPr id="67" name="Shape 52"/>
          <p:cNvSpPr/>
          <p:nvPr/>
        </p:nvSpPr>
        <p:spPr>
          <a:xfrm>
            <a:off x="7347204" y="3163824"/>
            <a:ext cx="1883664" cy="1477194"/>
          </a:xfrm>
          <a:prstGeom prst="rect">
            <a:avLst/>
          </a:prstGeom>
          <a:solidFill>
            <a:srgbClr val="D7DCE3"/>
          </a:solidFill>
          <a:ln w="12700">
            <a:solidFill>
              <a:srgbClr val="D7DCE3"/>
            </a:solidFill>
            <a:prstDash val="solid"/>
          </a:ln>
        </p:spPr>
      </p:sp>
      <p:pic>
        <p:nvPicPr>
          <p:cNvPr id="68" name="Image 13" descr="Campus Cruise route map: 25 buses from 60 schools to Principality Stadium"/>
          <p:cNvPicPr>
            <a:picLocks noChangeAspect="1"/>
          </p:cNvPicPr>
          <p:nvPr/>
        </p:nvPicPr>
        <p:blipFill>
          <a:blip r:embed="rId12"/>
          <a:stretch>
            <a:fillRect/>
          </a:stretch>
        </p:blipFill>
        <p:spPr>
          <a:xfrm>
            <a:off x="7365492" y="3182112"/>
            <a:ext cx="1847088" cy="1440618"/>
          </a:xfrm>
          <a:prstGeom prst="rect">
            <a:avLst/>
          </a:prstGeom>
        </p:spPr>
      </p:pic>
      <p:sp>
        <p:nvSpPr>
          <p:cNvPr id="69" name="Text 53"/>
          <p:cNvSpPr txBox="1"/>
          <p:nvPr/>
        </p:nvSpPr>
        <p:spPr>
          <a:xfrm>
            <a:off x="7365492" y="4677594"/>
            <a:ext cx="1847088" cy="457200"/>
          </a:xfrm>
          <a:prstGeom prst="rect">
            <a:avLst/>
          </a:prstGeom>
          <a:noFill/>
          <a:ln/>
        </p:spPr>
        <p:txBody>
          <a:bodyPr wrap="square" lIns="0" tIns="0" rIns="0" bIns="0" rtlCol="0" anchor="t"/>
          <a:lstStyle/>
          <a:p>
            <a:pPr marL="0" indent="0">
              <a:buNone/>
            </a:pPr>
            <a:r>
              <a:rPr lang="en-US" sz="1000" dirty="0">
                <a:solidFill>
                  <a:schemeClr val="tx2"/>
                </a:solidFill>
              </a:rPr>
              <a:t>25 buses, one colour each; star = venue</a:t>
            </a:r>
            <a:endParaRPr lang="en-US" sz="1000" dirty="0"/>
          </a:p>
        </p:txBody>
      </p:sp>
      <p:pic>
        <p:nvPicPr>
          <p:cNvPr id="70" name="Image 14" descr="Plan CSV: bus, pickup order, cost share"/>
          <p:cNvPicPr>
            <a:picLocks noChangeAspect="1"/>
          </p:cNvPicPr>
          <p:nvPr/>
        </p:nvPicPr>
        <p:blipFill>
          <a:blip r:embed="rId13"/>
          <a:stretch>
            <a:fillRect/>
          </a:stretch>
        </p:blipFill>
        <p:spPr>
          <a:xfrm>
            <a:off x="9646920" y="3236976"/>
            <a:ext cx="292608" cy="292608"/>
          </a:xfrm>
          <a:prstGeom prst="rect">
            <a:avLst/>
          </a:prstGeom>
        </p:spPr>
      </p:pic>
      <p:sp>
        <p:nvSpPr>
          <p:cNvPr id="71" name="Text 54"/>
          <p:cNvSpPr txBox="1"/>
          <p:nvPr/>
        </p:nvSpPr>
        <p:spPr>
          <a:xfrm>
            <a:off x="10049256" y="3200400"/>
            <a:ext cx="1444752" cy="457200"/>
          </a:xfrm>
          <a:prstGeom prst="rect">
            <a:avLst/>
          </a:prstGeom>
          <a:noFill/>
          <a:ln/>
        </p:spPr>
        <p:txBody>
          <a:bodyPr wrap="square" lIns="0" tIns="0" rIns="0" bIns="0" rtlCol="0" anchor="ctr"/>
          <a:lstStyle/>
          <a:p>
            <a:pPr marL="0" indent="0">
              <a:buNone/>
            </a:pPr>
            <a:r>
              <a:rPr lang="en-US" sz="1050" dirty="0">
                <a:solidFill>
                  <a:schemeClr val="tx1"/>
                </a:solidFill>
              </a:rPr>
              <a:t>Plan CSV: bus, pickup order, cost share</a:t>
            </a:r>
            <a:endParaRPr lang="en-US" sz="1050" dirty="0"/>
          </a:p>
        </p:txBody>
      </p:sp>
      <p:pic>
        <p:nvPicPr>
          <p:cNvPr id="72" name="Image 15" descr="Report and audit report"/>
          <p:cNvPicPr>
            <a:picLocks noChangeAspect="1"/>
          </p:cNvPicPr>
          <p:nvPr/>
        </p:nvPicPr>
        <p:blipFill>
          <a:blip r:embed="rId14"/>
          <a:stretch>
            <a:fillRect/>
          </a:stretch>
        </p:blipFill>
        <p:spPr>
          <a:xfrm>
            <a:off x="9646920" y="3785616"/>
            <a:ext cx="292608" cy="292608"/>
          </a:xfrm>
          <a:prstGeom prst="rect">
            <a:avLst/>
          </a:prstGeom>
        </p:spPr>
      </p:pic>
      <p:sp>
        <p:nvSpPr>
          <p:cNvPr id="73" name="Text 55"/>
          <p:cNvSpPr txBox="1"/>
          <p:nvPr/>
        </p:nvSpPr>
        <p:spPr>
          <a:xfrm>
            <a:off x="10049256" y="3749040"/>
            <a:ext cx="1444752" cy="457200"/>
          </a:xfrm>
          <a:prstGeom prst="rect">
            <a:avLst/>
          </a:prstGeom>
          <a:noFill/>
          <a:ln/>
        </p:spPr>
        <p:txBody>
          <a:bodyPr wrap="square" lIns="0" tIns="0" rIns="0" bIns="0" rtlCol="0" anchor="ctr"/>
          <a:lstStyle/>
          <a:p>
            <a:pPr marL="0" indent="0">
              <a:buNone/>
            </a:pPr>
            <a:r>
              <a:rPr lang="en-US" sz="1050" dirty="0">
                <a:solidFill>
                  <a:schemeClr val="tx1"/>
                </a:solidFill>
              </a:rPr>
              <a:t>Report and audit report</a:t>
            </a:r>
            <a:endParaRPr lang="en-US" sz="1050" dirty="0"/>
          </a:p>
        </p:txBody>
      </p:sp>
      <p:pic>
        <p:nvPicPr>
          <p:cNvPr id="74" name="Image 16" descr="Clear pickup order per bus"/>
          <p:cNvPicPr>
            <a:picLocks noChangeAspect="1"/>
          </p:cNvPicPr>
          <p:nvPr/>
        </p:nvPicPr>
        <p:blipFill>
          <a:blip r:embed="rId15"/>
          <a:stretch>
            <a:fillRect/>
          </a:stretch>
        </p:blipFill>
        <p:spPr>
          <a:xfrm>
            <a:off x="9646920" y="4334256"/>
            <a:ext cx="292608" cy="292608"/>
          </a:xfrm>
          <a:prstGeom prst="rect">
            <a:avLst/>
          </a:prstGeom>
        </p:spPr>
      </p:pic>
      <p:sp>
        <p:nvSpPr>
          <p:cNvPr id="75" name="Text 56"/>
          <p:cNvSpPr txBox="1"/>
          <p:nvPr/>
        </p:nvSpPr>
        <p:spPr>
          <a:xfrm>
            <a:off x="10049256" y="4297680"/>
            <a:ext cx="1444752" cy="457200"/>
          </a:xfrm>
          <a:prstGeom prst="rect">
            <a:avLst/>
          </a:prstGeom>
          <a:noFill/>
          <a:ln/>
        </p:spPr>
        <p:txBody>
          <a:bodyPr wrap="square" lIns="0" tIns="0" rIns="0" bIns="0" rtlCol="0" anchor="ctr"/>
          <a:lstStyle/>
          <a:p>
            <a:pPr marL="0" indent="0">
              <a:buNone/>
            </a:pPr>
            <a:r>
              <a:rPr lang="en-US" sz="1050" dirty="0">
                <a:solidFill>
                  <a:schemeClr val="tx1"/>
                </a:solidFill>
              </a:rPr>
              <a:t>Clear pickup order per bus</a:t>
            </a:r>
            <a:endParaRPr lang="en-US" sz="1050" dirty="0"/>
          </a:p>
        </p:txBody>
      </p:sp>
      <p:pic>
        <p:nvPicPr>
          <p:cNvPr id="76" name="Image 17" descr="Ready for booking"/>
          <p:cNvPicPr>
            <a:picLocks noChangeAspect="1"/>
          </p:cNvPicPr>
          <p:nvPr/>
        </p:nvPicPr>
        <p:blipFill>
          <a:blip r:embed="rId16"/>
          <a:stretch>
            <a:fillRect/>
          </a:stretch>
        </p:blipFill>
        <p:spPr>
          <a:xfrm>
            <a:off x="9646920" y="4882896"/>
            <a:ext cx="292608" cy="292608"/>
          </a:xfrm>
          <a:prstGeom prst="rect">
            <a:avLst/>
          </a:prstGeom>
        </p:spPr>
      </p:pic>
      <p:sp>
        <p:nvSpPr>
          <p:cNvPr id="77" name="Text 57"/>
          <p:cNvSpPr txBox="1"/>
          <p:nvPr/>
        </p:nvSpPr>
        <p:spPr>
          <a:xfrm>
            <a:off x="10049256" y="4846320"/>
            <a:ext cx="1444752" cy="457200"/>
          </a:xfrm>
          <a:prstGeom prst="rect">
            <a:avLst/>
          </a:prstGeom>
          <a:noFill/>
          <a:ln/>
        </p:spPr>
        <p:txBody>
          <a:bodyPr wrap="square" lIns="0" tIns="0" rIns="0" bIns="0" rtlCol="0" anchor="ctr"/>
          <a:lstStyle/>
          <a:p>
            <a:pPr marL="0" indent="0">
              <a:buNone/>
            </a:pPr>
            <a:r>
              <a:rPr lang="en-US" sz="1050" dirty="0">
                <a:solidFill>
                  <a:schemeClr val="tx1"/>
                </a:solidFill>
              </a:rPr>
              <a:t>Ready for booking</a:t>
            </a:r>
            <a:endParaRPr lang="en-US" sz="1050" dirty="0"/>
          </a:p>
        </p:txBody>
      </p:sp>
      <p:sp>
        <p:nvSpPr>
          <p:cNvPr id="78" name="Goal and benefits"/>
          <p:cNvSpPr/>
          <p:nvPr/>
        </p:nvSpPr>
        <p:spPr>
          <a:xfrm>
            <a:off x="502920" y="5623560"/>
            <a:ext cx="11183112" cy="777240"/>
          </a:xfrm>
          <a:prstGeom prst="roundRect">
            <a:avLst>
              <a:gd name="adj" fmla="val 14118"/>
            </a:avLst>
          </a:prstGeom>
          <a:solidFill>
            <a:srgbClr val="FDECEE"/>
          </a:solidFill>
          <a:ln w="9525">
            <a:solidFill>
              <a:srgbClr val="FDECEE"/>
            </a:solidFill>
            <a:prstDash val="solid"/>
          </a:ln>
        </p:spPr>
      </p:sp>
      <p:pic>
        <p:nvPicPr>
          <p:cNvPr id="79" name="Image 18" descr="Goal"/>
          <p:cNvPicPr>
            <a:picLocks noChangeAspect="1"/>
          </p:cNvPicPr>
          <p:nvPr/>
        </p:nvPicPr>
        <p:blipFill>
          <a:blip r:embed="rId17"/>
          <a:stretch>
            <a:fillRect/>
          </a:stretch>
        </p:blipFill>
        <p:spPr>
          <a:xfrm>
            <a:off x="731520" y="5760720"/>
            <a:ext cx="502920" cy="502920"/>
          </a:xfrm>
          <a:prstGeom prst="rect">
            <a:avLst/>
          </a:prstGeom>
        </p:spPr>
      </p:pic>
      <p:sp>
        <p:nvSpPr>
          <p:cNvPr id="80" name="Text 59"/>
          <p:cNvSpPr txBox="1"/>
          <p:nvPr/>
        </p:nvSpPr>
        <p:spPr>
          <a:xfrm>
            <a:off x="1371600" y="5623560"/>
            <a:ext cx="4389120" cy="777240"/>
          </a:xfrm>
          <a:prstGeom prst="rect">
            <a:avLst/>
          </a:prstGeom>
          <a:noFill/>
          <a:ln/>
        </p:spPr>
        <p:txBody>
          <a:bodyPr wrap="square" lIns="0" tIns="0" rIns="0" bIns="0" rtlCol="0" anchor="ctr"/>
          <a:lstStyle/>
          <a:p>
            <a:pPr marL="0" indent="0">
              <a:buNone/>
            </a:pPr>
            <a:r>
              <a:rPr lang="en-US" sz="1300" b="1" dirty="0">
                <a:solidFill>
                  <a:srgbClr val="D7192F"/>
                </a:solidFill>
              </a:rPr>
              <a:t>Our goal: </a:t>
            </a:r>
            <a:r>
              <a:rPr lang="en-US" sz="1300" dirty="0">
                <a:solidFill>
                  <a:schemeClr val="tx1"/>
                </a:solidFill>
              </a:rPr>
              <a:t>the cheapest plan that keeps every rule, for any schools and any venue.</a:t>
            </a:r>
            <a:endParaRPr lang="en-US" sz="1300" dirty="0"/>
          </a:p>
        </p:txBody>
      </p:sp>
      <p:pic>
        <p:nvPicPr>
          <p:cNvPr id="81" name="Image 19" descr="Lower cost"/>
          <p:cNvPicPr>
            <a:picLocks noChangeAspect="1"/>
          </p:cNvPicPr>
          <p:nvPr/>
        </p:nvPicPr>
        <p:blipFill>
          <a:blip r:embed="rId18"/>
          <a:stretch>
            <a:fillRect/>
          </a:stretch>
        </p:blipFill>
        <p:spPr>
          <a:xfrm>
            <a:off x="5989320" y="5833872"/>
            <a:ext cx="347472" cy="347472"/>
          </a:xfrm>
          <a:prstGeom prst="rect">
            <a:avLst/>
          </a:prstGeom>
        </p:spPr>
      </p:pic>
      <p:sp>
        <p:nvSpPr>
          <p:cNvPr id="82" name="Text 60"/>
          <p:cNvSpPr txBox="1"/>
          <p:nvPr/>
        </p:nvSpPr>
        <p:spPr>
          <a:xfrm>
            <a:off x="6409944" y="5623560"/>
            <a:ext cx="960120" cy="777240"/>
          </a:xfrm>
          <a:prstGeom prst="rect">
            <a:avLst/>
          </a:prstGeom>
          <a:noFill/>
          <a:ln/>
        </p:spPr>
        <p:txBody>
          <a:bodyPr wrap="square" lIns="0" tIns="0" rIns="0" bIns="0" rtlCol="0" anchor="ctr"/>
          <a:lstStyle/>
          <a:p>
            <a:pPr marL="0" indent="0">
              <a:buNone/>
            </a:pPr>
            <a:r>
              <a:rPr lang="en-US" sz="1150" b="1" dirty="0">
                <a:solidFill>
                  <a:schemeClr val="tx1"/>
                </a:solidFill>
              </a:rPr>
              <a:t>Lower cost</a:t>
            </a:r>
            <a:endParaRPr lang="en-US" sz="1150" dirty="0"/>
          </a:p>
        </p:txBody>
      </p:sp>
      <p:pic>
        <p:nvPicPr>
          <p:cNvPr id="83" name="Image 20" descr="Fuller buses"/>
          <p:cNvPicPr>
            <a:picLocks noChangeAspect="1"/>
          </p:cNvPicPr>
          <p:nvPr/>
        </p:nvPicPr>
        <p:blipFill>
          <a:blip r:embed="rId5"/>
          <a:stretch>
            <a:fillRect/>
          </a:stretch>
        </p:blipFill>
        <p:spPr>
          <a:xfrm>
            <a:off x="7406640" y="5833872"/>
            <a:ext cx="347472" cy="347472"/>
          </a:xfrm>
          <a:prstGeom prst="rect">
            <a:avLst/>
          </a:prstGeom>
        </p:spPr>
      </p:pic>
      <p:sp>
        <p:nvSpPr>
          <p:cNvPr id="84" name="Text 61"/>
          <p:cNvSpPr txBox="1"/>
          <p:nvPr/>
        </p:nvSpPr>
        <p:spPr>
          <a:xfrm>
            <a:off x="7827264" y="5623560"/>
            <a:ext cx="960120" cy="777240"/>
          </a:xfrm>
          <a:prstGeom prst="rect">
            <a:avLst/>
          </a:prstGeom>
          <a:noFill/>
          <a:ln/>
        </p:spPr>
        <p:txBody>
          <a:bodyPr wrap="square" lIns="0" tIns="0" rIns="0" bIns="0" rtlCol="0" anchor="ctr"/>
          <a:lstStyle/>
          <a:p>
            <a:pPr marL="0" indent="0">
              <a:buNone/>
            </a:pPr>
            <a:r>
              <a:rPr lang="en-US" sz="1150" b="1" dirty="0">
                <a:solidFill>
                  <a:schemeClr val="tx1"/>
                </a:solidFill>
              </a:rPr>
              <a:t>Fuller buses</a:t>
            </a:r>
            <a:endParaRPr lang="en-US" sz="1150" dirty="0"/>
          </a:p>
        </p:txBody>
      </p:sp>
      <p:pic>
        <p:nvPicPr>
          <p:cNvPr id="85" name="Image 21" descr="Fewer miles"/>
          <p:cNvPicPr>
            <a:picLocks noChangeAspect="1"/>
          </p:cNvPicPr>
          <p:nvPr/>
        </p:nvPicPr>
        <p:blipFill>
          <a:blip r:embed="rId19"/>
          <a:stretch>
            <a:fillRect/>
          </a:stretch>
        </p:blipFill>
        <p:spPr>
          <a:xfrm>
            <a:off x="8823960" y="5833872"/>
            <a:ext cx="347472" cy="347472"/>
          </a:xfrm>
          <a:prstGeom prst="rect">
            <a:avLst/>
          </a:prstGeom>
        </p:spPr>
      </p:pic>
      <p:sp>
        <p:nvSpPr>
          <p:cNvPr id="86" name="Text 62"/>
          <p:cNvSpPr txBox="1"/>
          <p:nvPr/>
        </p:nvSpPr>
        <p:spPr>
          <a:xfrm>
            <a:off x="9244584" y="5623560"/>
            <a:ext cx="960120" cy="777240"/>
          </a:xfrm>
          <a:prstGeom prst="rect">
            <a:avLst/>
          </a:prstGeom>
          <a:noFill/>
          <a:ln/>
        </p:spPr>
        <p:txBody>
          <a:bodyPr wrap="square" lIns="0" tIns="0" rIns="0" bIns="0" rtlCol="0" anchor="ctr"/>
          <a:lstStyle/>
          <a:p>
            <a:pPr marL="0" indent="0">
              <a:buNone/>
            </a:pPr>
            <a:r>
              <a:rPr lang="en-US" sz="1150" b="1" dirty="0">
                <a:solidFill>
                  <a:schemeClr val="tx1"/>
                </a:solidFill>
              </a:rPr>
              <a:t>Fewer miles</a:t>
            </a:r>
            <a:endParaRPr lang="en-US" sz="1150" dirty="0"/>
          </a:p>
        </p:txBody>
      </p:sp>
      <p:pic>
        <p:nvPicPr>
          <p:cNvPr id="87" name="Image 22" descr="Plan in seconds"/>
          <p:cNvPicPr>
            <a:picLocks noChangeAspect="1"/>
          </p:cNvPicPr>
          <p:nvPr/>
        </p:nvPicPr>
        <p:blipFill>
          <a:blip r:embed="rId20"/>
          <a:stretch>
            <a:fillRect/>
          </a:stretch>
        </p:blipFill>
        <p:spPr>
          <a:xfrm>
            <a:off x="10241280" y="5833872"/>
            <a:ext cx="347472" cy="347472"/>
          </a:xfrm>
          <a:prstGeom prst="rect">
            <a:avLst/>
          </a:prstGeom>
        </p:spPr>
      </p:pic>
      <p:sp>
        <p:nvSpPr>
          <p:cNvPr id="88" name="Text 63"/>
          <p:cNvSpPr txBox="1"/>
          <p:nvPr/>
        </p:nvSpPr>
        <p:spPr>
          <a:xfrm>
            <a:off x="10661904" y="5623560"/>
            <a:ext cx="960120" cy="777240"/>
          </a:xfrm>
          <a:prstGeom prst="rect">
            <a:avLst/>
          </a:prstGeom>
          <a:noFill/>
          <a:ln/>
        </p:spPr>
        <p:txBody>
          <a:bodyPr wrap="square" lIns="0" tIns="0" rIns="0" bIns="0" rtlCol="0" anchor="ctr"/>
          <a:lstStyle/>
          <a:p>
            <a:pPr marL="0" indent="0">
              <a:buNone/>
            </a:pPr>
            <a:r>
              <a:rPr lang="en-US" sz="1150" b="1" dirty="0">
                <a:solidFill>
                  <a:schemeClr val="tx1"/>
                </a:solidFill>
              </a:rPr>
              <a:t>Plan in seconds</a:t>
            </a:r>
            <a:endParaRPr lang="en-US" sz="1150" dirty="0"/>
          </a:p>
        </p:txBody>
      </p:sp>
      <p:sp>
        <p:nvSpPr>
          <p:cNvPr id="89"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childTnLst>
                          </p:cTn>
                        </p:par>
                        <p:par>
                          <p:cTn id="8" fill="hold">
                            <p:stCondLst>
                              <p:cond delay="3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p:tgtEl>
                                          <p:spTgt spid="6"/>
                                        </p:tgtEl>
                                      </p:cBhvr>
                                    </p:animEffect>
                                  </p:childTnLst>
                                </p:cTn>
                              </p:par>
                              <p:par>
                                <p:cTn id="15" presetID="10"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50"/>
                                        <p:tgtEl>
                                          <p:spTgt spid="14"/>
                                        </p:tgtEl>
                                      </p:cBhvr>
                                    </p:animEffect>
                                  </p:childTnLst>
                                </p:cTn>
                              </p:par>
                              <p:par>
                                <p:cTn id="18" presetID="10" presetClass="entr" presetSubtype="0" fill="hold"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350"/>
                                        <p:tgtEl>
                                          <p:spTgt spid="13"/>
                                        </p:tgtEl>
                                      </p:cBhvr>
                                    </p:animEffect>
                                  </p:childTnLst>
                                </p:cTn>
                              </p:par>
                              <p:par>
                                <p:cTn id="21" presetID="10"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35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50"/>
                                        <p:tgtEl>
                                          <p:spTgt spid="20"/>
                                        </p:tgtEl>
                                      </p:cBhvr>
                                    </p:animEffect>
                                  </p:childTnLst>
                                </p:cTn>
                              </p:par>
                              <p:par>
                                <p:cTn id="27" presetID="10" presetClass="entr" presetSubtype="0" fill="hold" nodeType="with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350"/>
                                        <p:tgtEl>
                                          <p:spTgt spid="28"/>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3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350"/>
                                        <p:tgtEl>
                                          <p:spTgt spid="35"/>
                                        </p:tgtEl>
                                      </p:cBhvr>
                                    </p:animEffect>
                                  </p:childTnLst>
                                </p:cTn>
                              </p:par>
                              <p:par>
                                <p:cTn id="36" presetID="10" presetClass="entr" presetSubtype="0" fill="hold" nodeType="withEffect">
                                  <p:stCondLst>
                                    <p:cond delay="0"/>
                                  </p:stCondLst>
                                  <p:childTnLst>
                                    <p:set>
                                      <p:cBhvr>
                                        <p:cTn id="37" dur="1" fill="hold">
                                          <p:stCondLst>
                                            <p:cond delay="0"/>
                                          </p:stCondLst>
                                        </p:cTn>
                                        <p:tgtEl>
                                          <p:spTgt spid="34"/>
                                        </p:tgtEl>
                                        <p:attrNameLst>
                                          <p:attrName>style.visibility</p:attrName>
                                        </p:attrNameLst>
                                      </p:cBhvr>
                                      <p:to>
                                        <p:strVal val="visible"/>
                                      </p:to>
                                    </p:set>
                                    <p:animEffect transition="in" filter="fade">
                                      <p:cBhvr>
                                        <p:cTn id="38" dur="350"/>
                                        <p:tgtEl>
                                          <p:spTgt spid="3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350"/>
                                        <p:tgtEl>
                                          <p:spTgt spid="1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350"/>
                                        <p:tgtEl>
                                          <p:spTgt spid="1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35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350"/>
                                        <p:tgtEl>
                                          <p:spTgt spid="3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350"/>
                                        <p:tgtEl>
                                          <p:spTgt spid="38"/>
                                        </p:tgtEl>
                                      </p:cBhvr>
                                    </p:animEffect>
                                  </p:childTnLst>
                                </p:cTn>
                              </p:par>
                              <p:par>
                                <p:cTn id="54" presetID="10" presetClass="entr" presetSubtype="0" fill="hold" nodeType="withEffect">
                                  <p:stCondLst>
                                    <p:cond delay="0"/>
                                  </p:stCondLst>
                                  <p:childTnLst>
                                    <p:set>
                                      <p:cBhvr>
                                        <p:cTn id="55" dur="1" fill="hold">
                                          <p:stCondLst>
                                            <p:cond delay="0"/>
                                          </p:stCondLst>
                                        </p:cTn>
                                        <p:tgtEl>
                                          <p:spTgt spid="8"/>
                                        </p:tgtEl>
                                        <p:attrNameLst>
                                          <p:attrName>style.visibility</p:attrName>
                                        </p:attrNameLst>
                                      </p:cBhvr>
                                      <p:to>
                                        <p:strVal val="visible"/>
                                      </p:to>
                                    </p:set>
                                    <p:animEffect transition="in" filter="fade">
                                      <p:cBhvr>
                                        <p:cTn id="56" dur="350"/>
                                        <p:tgtEl>
                                          <p:spTgt spid="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9"/>
                                        </p:tgtEl>
                                        <p:attrNameLst>
                                          <p:attrName>style.visibility</p:attrName>
                                        </p:attrNameLst>
                                      </p:cBhvr>
                                      <p:to>
                                        <p:strVal val="visible"/>
                                      </p:to>
                                    </p:set>
                                    <p:animEffect transition="in" filter="fade">
                                      <p:cBhvr>
                                        <p:cTn id="59" dur="350"/>
                                        <p:tgtEl>
                                          <p:spTgt spid="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350"/>
                                        <p:tgtEl>
                                          <p:spTgt spid="16"/>
                                        </p:tgtEl>
                                      </p:cBhvr>
                                    </p:animEffect>
                                  </p:childTnLst>
                                </p:cTn>
                              </p:par>
                              <p:par>
                                <p:cTn id="63" presetID="10"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350"/>
                                        <p:tgtEl>
                                          <p:spTgt spid="1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350"/>
                                        <p:tgtEl>
                                          <p:spTgt spid="23"/>
                                        </p:tgtEl>
                                      </p:cBhvr>
                                    </p:animEffect>
                                  </p:childTnLst>
                                </p:cTn>
                              </p:par>
                              <p:par>
                                <p:cTn id="69" presetID="10" presetClass="entr" presetSubtype="0" fill="hold"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350"/>
                                        <p:tgtEl>
                                          <p:spTgt spid="22"/>
                                        </p:tgtEl>
                                      </p:cBhvr>
                                    </p:animEffect>
                                  </p:childTnLst>
                                </p:cTn>
                              </p:par>
                              <p:par>
                                <p:cTn id="72" presetID="10" presetClass="entr" presetSubtype="0" fill="hold" nodeType="with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fade">
                                      <p:cBhvr>
                                        <p:cTn id="74" dur="350"/>
                                        <p:tgtEl>
                                          <p:spTgt spid="2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0"/>
                                        </p:tgtEl>
                                        <p:attrNameLst>
                                          <p:attrName>style.visibility</p:attrName>
                                        </p:attrNameLst>
                                      </p:cBhvr>
                                      <p:to>
                                        <p:strVal val="visible"/>
                                      </p:to>
                                    </p:set>
                                    <p:animEffect transition="in" filter="fade">
                                      <p:cBhvr>
                                        <p:cTn id="77" dur="350"/>
                                        <p:tgtEl>
                                          <p:spTgt spid="30"/>
                                        </p:tgtEl>
                                      </p:cBhvr>
                                    </p:animEffect>
                                  </p:childTnLst>
                                </p:cTn>
                              </p:par>
                              <p:par>
                                <p:cTn id="78" presetID="10" presetClass="entr" presetSubtype="0" fill="hold" nodeType="with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fade">
                                      <p:cBhvr>
                                        <p:cTn id="80" dur="350"/>
                                        <p:tgtEl>
                                          <p:spTgt spid="3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350"/>
                                        <p:tgtEl>
                                          <p:spTgt spid="3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11"/>
                                        </p:tgtEl>
                                        <p:attrNameLst>
                                          <p:attrName>style.visibility</p:attrName>
                                        </p:attrNameLst>
                                      </p:cBhvr>
                                      <p:to>
                                        <p:strVal val="visible"/>
                                      </p:to>
                                    </p:set>
                                    <p:animEffect transition="in" filter="fade">
                                      <p:cBhvr>
                                        <p:cTn id="86" dur="350"/>
                                        <p:tgtEl>
                                          <p:spTgt spid="11"/>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18"/>
                                        </p:tgtEl>
                                        <p:attrNameLst>
                                          <p:attrName>style.visibility</p:attrName>
                                        </p:attrNameLst>
                                      </p:cBhvr>
                                      <p:to>
                                        <p:strVal val="visible"/>
                                      </p:to>
                                    </p:set>
                                    <p:animEffect transition="in" filter="fade">
                                      <p:cBhvr>
                                        <p:cTn id="89" dur="350"/>
                                        <p:tgtEl>
                                          <p:spTgt spid="18"/>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fade">
                                      <p:cBhvr>
                                        <p:cTn id="92" dur="350"/>
                                        <p:tgtEl>
                                          <p:spTgt spid="25"/>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350"/>
                                        <p:tgtEl>
                                          <p:spTgt spid="3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9"/>
                                        </p:tgtEl>
                                        <p:attrNameLst>
                                          <p:attrName>style.visibility</p:attrName>
                                        </p:attrNameLst>
                                      </p:cBhvr>
                                      <p:to>
                                        <p:strVal val="visible"/>
                                      </p:to>
                                    </p:set>
                                    <p:animEffect transition="in" filter="fade">
                                      <p:cBhvr>
                                        <p:cTn id="98" dur="350"/>
                                        <p:tgtEl>
                                          <p:spTgt spid="39"/>
                                        </p:tgtEl>
                                      </p:cBhvr>
                                    </p:animEffect>
                                  </p:childTnLst>
                                </p:cTn>
                              </p:par>
                            </p:childTnLst>
                          </p:cTn>
                        </p:par>
                        <p:par>
                          <p:cTn id="99" fill="hold">
                            <p:stCondLst>
                              <p:cond delay="700"/>
                            </p:stCondLst>
                            <p:childTnLst>
                              <p:par>
                                <p:cTn id="100" presetID="10" presetClass="entr" presetSubtype="0" fill="hold" nodeType="afterEffect">
                                  <p:stCondLst>
                                    <p:cond delay="0"/>
                                  </p:stCondLst>
                                  <p:childTnLst>
                                    <p:set>
                                      <p:cBhvr>
                                        <p:cTn id="101" dur="1" fill="hold">
                                          <p:stCondLst>
                                            <p:cond delay="0"/>
                                          </p:stCondLst>
                                        </p:cTn>
                                        <p:tgtEl>
                                          <p:spTgt spid="67"/>
                                        </p:tgtEl>
                                        <p:attrNameLst>
                                          <p:attrName>style.visibility</p:attrName>
                                        </p:attrNameLst>
                                      </p:cBhvr>
                                      <p:to>
                                        <p:strVal val="visible"/>
                                      </p:to>
                                    </p:set>
                                    <p:animEffect transition="in" filter="fade">
                                      <p:cBhvr>
                                        <p:cTn id="102" dur="350"/>
                                        <p:tgtEl>
                                          <p:spTgt spid="67"/>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8"/>
                                        </p:tgtEl>
                                        <p:attrNameLst>
                                          <p:attrName>style.visibility</p:attrName>
                                        </p:attrNameLst>
                                      </p:cBhvr>
                                      <p:to>
                                        <p:strVal val="visible"/>
                                      </p:to>
                                    </p:set>
                                    <p:animEffect transition="in" filter="fade">
                                      <p:cBhvr>
                                        <p:cTn id="105" dur="350"/>
                                        <p:tgtEl>
                                          <p:spTgt spid="58"/>
                                        </p:tgtEl>
                                      </p:cBhvr>
                                    </p:animEffect>
                                  </p:childTnLst>
                                </p:cTn>
                              </p:par>
                              <p:par>
                                <p:cTn id="106" presetID="10" presetClass="entr" presetSubtype="0" fill="hold" nodeType="withEffect">
                                  <p:stCondLst>
                                    <p:cond delay="0"/>
                                  </p:stCondLst>
                                  <p:childTnLst>
                                    <p:set>
                                      <p:cBhvr>
                                        <p:cTn id="107" dur="1" fill="hold">
                                          <p:stCondLst>
                                            <p:cond delay="0"/>
                                          </p:stCondLst>
                                        </p:cTn>
                                        <p:tgtEl>
                                          <p:spTgt spid="68"/>
                                        </p:tgtEl>
                                        <p:attrNameLst>
                                          <p:attrName>style.visibility</p:attrName>
                                        </p:attrNameLst>
                                      </p:cBhvr>
                                      <p:to>
                                        <p:strVal val="visible"/>
                                      </p:to>
                                    </p:set>
                                    <p:animEffect transition="in" filter="fade">
                                      <p:cBhvr>
                                        <p:cTn id="108" dur="350"/>
                                        <p:tgtEl>
                                          <p:spTgt spid="6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41"/>
                                        </p:tgtEl>
                                        <p:attrNameLst>
                                          <p:attrName>style.visibility</p:attrName>
                                        </p:attrNameLst>
                                      </p:cBhvr>
                                      <p:to>
                                        <p:strVal val="visible"/>
                                      </p:to>
                                    </p:set>
                                    <p:animEffect transition="in" filter="fade">
                                      <p:cBhvr>
                                        <p:cTn id="111" dur="350"/>
                                        <p:tgtEl>
                                          <p:spTgt spid="41"/>
                                        </p:tgtEl>
                                      </p:cBhvr>
                                    </p:animEffect>
                                  </p:childTnLst>
                                </p:cTn>
                              </p:par>
                              <p:par>
                                <p:cTn id="112" presetID="10" presetClass="entr" presetSubtype="0" fill="hold" nodeType="withEffect">
                                  <p:stCondLst>
                                    <p:cond delay="0"/>
                                  </p:stCondLst>
                                  <p:childTnLst>
                                    <p:set>
                                      <p:cBhvr>
                                        <p:cTn id="113" dur="1" fill="hold">
                                          <p:stCondLst>
                                            <p:cond delay="0"/>
                                          </p:stCondLst>
                                        </p:cTn>
                                        <p:tgtEl>
                                          <p:spTgt spid="48"/>
                                        </p:tgtEl>
                                        <p:attrNameLst>
                                          <p:attrName>style.visibility</p:attrName>
                                        </p:attrNameLst>
                                      </p:cBhvr>
                                      <p:to>
                                        <p:strVal val="visible"/>
                                      </p:to>
                                    </p:set>
                                    <p:animEffect transition="in" filter="fade">
                                      <p:cBhvr>
                                        <p:cTn id="114" dur="350"/>
                                        <p:tgtEl>
                                          <p:spTgt spid="48"/>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0"/>
                                        </p:tgtEl>
                                        <p:attrNameLst>
                                          <p:attrName>style.visibility</p:attrName>
                                        </p:attrNameLst>
                                      </p:cBhvr>
                                      <p:to>
                                        <p:strVal val="visible"/>
                                      </p:to>
                                    </p:set>
                                    <p:animEffect transition="in" filter="fade">
                                      <p:cBhvr>
                                        <p:cTn id="117" dur="350"/>
                                        <p:tgtEl>
                                          <p:spTgt spid="5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71"/>
                                        </p:tgtEl>
                                        <p:attrNameLst>
                                          <p:attrName>style.visibility</p:attrName>
                                        </p:attrNameLst>
                                      </p:cBhvr>
                                      <p:to>
                                        <p:strVal val="visible"/>
                                      </p:to>
                                    </p:set>
                                    <p:animEffect transition="in" filter="fade">
                                      <p:cBhvr>
                                        <p:cTn id="120" dur="350"/>
                                        <p:tgtEl>
                                          <p:spTgt spid="71"/>
                                        </p:tgtEl>
                                      </p:cBhvr>
                                    </p:animEffect>
                                  </p:childTnLst>
                                </p:cTn>
                              </p:par>
                              <p:par>
                                <p:cTn id="121" presetID="10" presetClass="entr" presetSubtype="0" fill="hold" nodeType="withEffect">
                                  <p:stCondLst>
                                    <p:cond delay="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3" dur="350"/>
                                        <p:tgtEl>
                                          <p:spTgt spid="40"/>
                                        </p:tgtEl>
                                      </p:cBhvr>
                                    </p:animEffect>
                                  </p:childTnLst>
                                </p:cTn>
                              </p:par>
                              <p:par>
                                <p:cTn id="124" presetID="10" presetClass="entr" presetSubtype="0" fill="hold" nodeType="withEffect">
                                  <p:stCondLst>
                                    <p:cond delay="0"/>
                                  </p:stCondLst>
                                  <p:childTnLst>
                                    <p:set>
                                      <p:cBhvr>
                                        <p:cTn id="125" dur="1" fill="hold">
                                          <p:stCondLst>
                                            <p:cond delay="0"/>
                                          </p:stCondLst>
                                        </p:cTn>
                                        <p:tgtEl>
                                          <p:spTgt spid="57"/>
                                        </p:tgtEl>
                                        <p:attrNameLst>
                                          <p:attrName>style.visibility</p:attrName>
                                        </p:attrNameLst>
                                      </p:cBhvr>
                                      <p:to>
                                        <p:strVal val="visible"/>
                                      </p:to>
                                    </p:set>
                                    <p:animEffect transition="in" filter="fade">
                                      <p:cBhvr>
                                        <p:cTn id="126" dur="350"/>
                                        <p:tgtEl>
                                          <p:spTgt spid="57"/>
                                        </p:tgtEl>
                                      </p:cBhvr>
                                    </p:animEffect>
                                  </p:childTnLst>
                                </p:cTn>
                              </p:par>
                              <p:par>
                                <p:cTn id="127" presetID="10" presetClass="entr" presetSubtype="0" fill="hold" nodeType="withEffect">
                                  <p:stCondLst>
                                    <p:cond delay="0"/>
                                  </p:stCondLst>
                                  <p:childTnLst>
                                    <p:set>
                                      <p:cBhvr>
                                        <p:cTn id="128" dur="1" fill="hold">
                                          <p:stCondLst>
                                            <p:cond delay="0"/>
                                          </p:stCondLst>
                                        </p:cTn>
                                        <p:tgtEl>
                                          <p:spTgt spid="70"/>
                                        </p:tgtEl>
                                        <p:attrNameLst>
                                          <p:attrName>style.visibility</p:attrName>
                                        </p:attrNameLst>
                                      </p:cBhvr>
                                      <p:to>
                                        <p:strVal val="visible"/>
                                      </p:to>
                                    </p:set>
                                    <p:animEffect transition="in" filter="fade">
                                      <p:cBhvr>
                                        <p:cTn id="129" dur="350"/>
                                        <p:tgtEl>
                                          <p:spTgt spid="70"/>
                                        </p:tgtEl>
                                      </p:cBhvr>
                                    </p:animEffect>
                                  </p:childTnLst>
                                </p:cTn>
                              </p:par>
                              <p:par>
                                <p:cTn id="130" presetID="10" presetClass="entr" presetSubtype="0" fill="hold" nodeType="withEffect">
                                  <p:stCondLst>
                                    <p:cond delay="0"/>
                                  </p:stCondLst>
                                  <p:childTnLst>
                                    <p:set>
                                      <p:cBhvr>
                                        <p:cTn id="131" dur="1" fill="hold">
                                          <p:stCondLst>
                                            <p:cond delay="0"/>
                                          </p:stCondLst>
                                        </p:cTn>
                                        <p:tgtEl>
                                          <p:spTgt spid="49"/>
                                        </p:tgtEl>
                                        <p:attrNameLst>
                                          <p:attrName>style.visibility</p:attrName>
                                        </p:attrNameLst>
                                      </p:cBhvr>
                                      <p:to>
                                        <p:strVal val="visible"/>
                                      </p:to>
                                    </p:set>
                                    <p:animEffect transition="in" filter="fade">
                                      <p:cBhvr>
                                        <p:cTn id="132" dur="350"/>
                                        <p:tgtEl>
                                          <p:spTgt spid="49"/>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0"/>
                                        </p:tgtEl>
                                        <p:attrNameLst>
                                          <p:attrName>style.visibility</p:attrName>
                                        </p:attrNameLst>
                                      </p:cBhvr>
                                      <p:to>
                                        <p:strVal val="visible"/>
                                      </p:to>
                                    </p:set>
                                    <p:animEffect transition="in" filter="fade">
                                      <p:cBhvr>
                                        <p:cTn id="135" dur="350"/>
                                        <p:tgtEl>
                                          <p:spTgt spid="60"/>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12"/>
                                        </p:tgtEl>
                                        <p:attrNameLst>
                                          <p:attrName>style.visibility</p:attrName>
                                        </p:attrNameLst>
                                      </p:cBhvr>
                                      <p:to>
                                        <p:strVal val="visible"/>
                                      </p:to>
                                    </p:set>
                                    <p:animEffect transition="in" filter="fade">
                                      <p:cBhvr>
                                        <p:cTn id="138" dur="350"/>
                                        <p:tgtEl>
                                          <p:spTgt spid="12"/>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19"/>
                                        </p:tgtEl>
                                        <p:attrNameLst>
                                          <p:attrName>style.visibility</p:attrName>
                                        </p:attrNameLst>
                                      </p:cBhvr>
                                      <p:to>
                                        <p:strVal val="visible"/>
                                      </p:to>
                                    </p:set>
                                    <p:animEffect transition="in" filter="fade">
                                      <p:cBhvr>
                                        <p:cTn id="141" dur="350"/>
                                        <p:tgtEl>
                                          <p:spTgt spid="19"/>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26"/>
                                        </p:tgtEl>
                                        <p:attrNameLst>
                                          <p:attrName>style.visibility</p:attrName>
                                        </p:attrNameLst>
                                      </p:cBhvr>
                                      <p:to>
                                        <p:strVal val="visible"/>
                                      </p:to>
                                    </p:set>
                                    <p:animEffect transition="in" filter="fade">
                                      <p:cBhvr>
                                        <p:cTn id="144" dur="350"/>
                                        <p:tgtEl>
                                          <p:spTgt spid="26"/>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350"/>
                                        <p:tgtEl>
                                          <p:spTgt spid="33"/>
                                        </p:tgtEl>
                                      </p:cBhvr>
                                    </p:animEffect>
                                  </p:childTnLst>
                                </p:cTn>
                              </p:par>
                              <p:par>
                                <p:cTn id="148" presetID="10" presetClass="entr" presetSubtype="0" fill="hold" nodeType="withEffect">
                                  <p:stCondLst>
                                    <p:cond delay="0"/>
                                  </p:stCondLst>
                                  <p:childTnLst>
                                    <p:set>
                                      <p:cBhvr>
                                        <p:cTn id="149" dur="1" fill="hold">
                                          <p:stCondLst>
                                            <p:cond delay="0"/>
                                          </p:stCondLst>
                                        </p:cTn>
                                        <p:tgtEl>
                                          <p:spTgt spid="59"/>
                                        </p:tgtEl>
                                        <p:attrNameLst>
                                          <p:attrName>style.visibility</p:attrName>
                                        </p:attrNameLst>
                                      </p:cBhvr>
                                      <p:to>
                                        <p:strVal val="visible"/>
                                      </p:to>
                                    </p:set>
                                    <p:animEffect transition="in" filter="fade">
                                      <p:cBhvr>
                                        <p:cTn id="150" dur="350"/>
                                        <p:tgtEl>
                                          <p:spTgt spid="59"/>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43"/>
                                        </p:tgtEl>
                                        <p:attrNameLst>
                                          <p:attrName>style.visibility</p:attrName>
                                        </p:attrNameLst>
                                      </p:cBhvr>
                                      <p:to>
                                        <p:strVal val="visible"/>
                                      </p:to>
                                    </p:set>
                                    <p:animEffect transition="in" filter="fade">
                                      <p:cBhvr>
                                        <p:cTn id="153" dur="350"/>
                                        <p:tgtEl>
                                          <p:spTgt spid="43"/>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73"/>
                                        </p:tgtEl>
                                        <p:attrNameLst>
                                          <p:attrName>style.visibility</p:attrName>
                                        </p:attrNameLst>
                                      </p:cBhvr>
                                      <p:to>
                                        <p:strVal val="visible"/>
                                      </p:to>
                                    </p:set>
                                    <p:animEffect transition="in" filter="fade">
                                      <p:cBhvr>
                                        <p:cTn id="156" dur="350"/>
                                        <p:tgtEl>
                                          <p:spTgt spid="73"/>
                                        </p:tgtEl>
                                      </p:cBhvr>
                                    </p:animEffect>
                                  </p:childTnLst>
                                </p:cTn>
                              </p:par>
                              <p:par>
                                <p:cTn id="157" presetID="10" presetClass="entr" presetSubtype="0" fill="hold" nodeType="withEffect">
                                  <p:stCondLst>
                                    <p:cond delay="0"/>
                                  </p:stCondLst>
                                  <p:childTnLst>
                                    <p:set>
                                      <p:cBhvr>
                                        <p:cTn id="158" dur="1" fill="hold">
                                          <p:stCondLst>
                                            <p:cond delay="0"/>
                                          </p:stCondLst>
                                        </p:cTn>
                                        <p:tgtEl>
                                          <p:spTgt spid="42"/>
                                        </p:tgtEl>
                                        <p:attrNameLst>
                                          <p:attrName>style.visibility</p:attrName>
                                        </p:attrNameLst>
                                      </p:cBhvr>
                                      <p:to>
                                        <p:strVal val="visible"/>
                                      </p:to>
                                    </p:set>
                                    <p:animEffect transition="in" filter="fade">
                                      <p:cBhvr>
                                        <p:cTn id="159" dur="350"/>
                                        <p:tgtEl>
                                          <p:spTgt spid="42"/>
                                        </p:tgtEl>
                                      </p:cBhvr>
                                    </p:animEffect>
                                  </p:childTnLst>
                                </p:cTn>
                              </p:par>
                              <p:par>
                                <p:cTn id="160" presetID="10" presetClass="entr" presetSubtype="0" fill="hold" nodeType="withEffect">
                                  <p:stCondLst>
                                    <p:cond delay="0"/>
                                  </p:stCondLst>
                                  <p:childTnLst>
                                    <p:set>
                                      <p:cBhvr>
                                        <p:cTn id="161" dur="1" fill="hold">
                                          <p:stCondLst>
                                            <p:cond delay="0"/>
                                          </p:stCondLst>
                                        </p:cTn>
                                        <p:tgtEl>
                                          <p:spTgt spid="72"/>
                                        </p:tgtEl>
                                        <p:attrNameLst>
                                          <p:attrName>style.visibility</p:attrName>
                                        </p:attrNameLst>
                                      </p:cBhvr>
                                      <p:to>
                                        <p:strVal val="visible"/>
                                      </p:to>
                                    </p:set>
                                    <p:animEffect transition="in" filter="fade">
                                      <p:cBhvr>
                                        <p:cTn id="162" dur="350"/>
                                        <p:tgtEl>
                                          <p:spTgt spid="72"/>
                                        </p:tgtEl>
                                      </p:cBhvr>
                                    </p:animEffect>
                                  </p:childTnLst>
                                </p:cTn>
                              </p:par>
                            </p:childTnLst>
                          </p:cTn>
                        </p:par>
                        <p:par>
                          <p:cTn id="163" fill="hold">
                            <p:stCondLst>
                              <p:cond delay="1050"/>
                            </p:stCondLst>
                            <p:childTnLst>
                              <p:par>
                                <p:cTn id="164" presetID="10" presetClass="entr" presetSubtype="0" fill="hold" nodeType="afterEffect">
                                  <p:stCondLst>
                                    <p:cond delay="0"/>
                                  </p:stCondLst>
                                  <p:childTnLst>
                                    <p:set>
                                      <p:cBhvr>
                                        <p:cTn id="165" dur="1" fill="hold">
                                          <p:stCondLst>
                                            <p:cond delay="0"/>
                                          </p:stCondLst>
                                        </p:cTn>
                                        <p:tgtEl>
                                          <p:spTgt spid="51"/>
                                        </p:tgtEl>
                                        <p:attrNameLst>
                                          <p:attrName>style.visibility</p:attrName>
                                        </p:attrNameLst>
                                      </p:cBhvr>
                                      <p:to>
                                        <p:strVal val="visible"/>
                                      </p:to>
                                    </p:set>
                                    <p:animEffect transition="in" filter="fade">
                                      <p:cBhvr>
                                        <p:cTn id="166" dur="350"/>
                                        <p:tgtEl>
                                          <p:spTgt spid="51"/>
                                        </p:tgtEl>
                                      </p:cBhvr>
                                    </p:animEffect>
                                  </p:childTnLst>
                                </p:cTn>
                              </p:par>
                              <p:par>
                                <p:cTn id="167" presetID="10" presetClass="entr" presetSubtype="0" fill="hold" grpId="0" nodeType="withEffect">
                                  <p:stCondLst>
                                    <p:cond delay="0"/>
                                  </p:stCondLst>
                                  <p:childTnLst>
                                    <p:set>
                                      <p:cBhvr>
                                        <p:cTn id="168" dur="1" fill="hold">
                                          <p:stCondLst>
                                            <p:cond delay="0"/>
                                          </p:stCondLst>
                                        </p:cTn>
                                        <p:tgtEl>
                                          <p:spTgt spid="53"/>
                                        </p:tgtEl>
                                        <p:attrNameLst>
                                          <p:attrName>style.visibility</p:attrName>
                                        </p:attrNameLst>
                                      </p:cBhvr>
                                      <p:to>
                                        <p:strVal val="visible"/>
                                      </p:to>
                                    </p:set>
                                    <p:animEffect transition="in" filter="fade">
                                      <p:cBhvr>
                                        <p:cTn id="169" dur="350"/>
                                        <p:tgtEl>
                                          <p:spTgt spid="53"/>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62"/>
                                        </p:tgtEl>
                                        <p:attrNameLst>
                                          <p:attrName>style.visibility</p:attrName>
                                        </p:attrNameLst>
                                      </p:cBhvr>
                                      <p:to>
                                        <p:strVal val="visible"/>
                                      </p:to>
                                    </p:set>
                                    <p:animEffect transition="in" filter="fade">
                                      <p:cBhvr>
                                        <p:cTn id="172" dur="350"/>
                                        <p:tgtEl>
                                          <p:spTgt spid="62"/>
                                        </p:tgtEl>
                                      </p:cBhvr>
                                    </p:animEffect>
                                  </p:childTnLst>
                                </p:cTn>
                              </p:par>
                              <p:par>
                                <p:cTn id="173" presetID="10" presetClass="entr" presetSubtype="0" fill="hold" nodeType="withEffect">
                                  <p:stCondLst>
                                    <p:cond delay="0"/>
                                  </p:stCondLst>
                                  <p:childTnLst>
                                    <p:set>
                                      <p:cBhvr>
                                        <p:cTn id="174" dur="1" fill="hold">
                                          <p:stCondLst>
                                            <p:cond delay="0"/>
                                          </p:stCondLst>
                                        </p:cTn>
                                        <p:tgtEl>
                                          <p:spTgt spid="52"/>
                                        </p:tgtEl>
                                        <p:attrNameLst>
                                          <p:attrName>style.visibility</p:attrName>
                                        </p:attrNameLst>
                                      </p:cBhvr>
                                      <p:to>
                                        <p:strVal val="visible"/>
                                      </p:to>
                                    </p:set>
                                    <p:animEffect transition="in" filter="fade">
                                      <p:cBhvr>
                                        <p:cTn id="175" dur="350"/>
                                        <p:tgtEl>
                                          <p:spTgt spid="52"/>
                                        </p:tgtEl>
                                      </p:cBhvr>
                                    </p:animEffect>
                                  </p:childTnLst>
                                </p:cTn>
                              </p:par>
                              <p:par>
                                <p:cTn id="176" presetID="10" presetClass="entr" presetSubtype="0" fill="hold" nodeType="withEffect">
                                  <p:stCondLst>
                                    <p:cond delay="0"/>
                                  </p:stCondLst>
                                  <p:childTnLst>
                                    <p:set>
                                      <p:cBhvr>
                                        <p:cTn id="177" dur="1" fill="hold">
                                          <p:stCondLst>
                                            <p:cond delay="0"/>
                                          </p:stCondLst>
                                        </p:cTn>
                                        <p:tgtEl>
                                          <p:spTgt spid="61"/>
                                        </p:tgtEl>
                                        <p:attrNameLst>
                                          <p:attrName>style.visibility</p:attrName>
                                        </p:attrNameLst>
                                      </p:cBhvr>
                                      <p:to>
                                        <p:strVal val="visible"/>
                                      </p:to>
                                    </p:set>
                                    <p:animEffect transition="in" filter="fade">
                                      <p:cBhvr>
                                        <p:cTn id="178" dur="350"/>
                                        <p:tgtEl>
                                          <p:spTgt spid="61"/>
                                        </p:tgtEl>
                                      </p:cBhvr>
                                    </p:animEffect>
                                  </p:childTnLst>
                                </p:cTn>
                              </p:par>
                              <p:par>
                                <p:cTn id="179" presetID="10" presetClass="entr" presetSubtype="0" fill="hold" grpId="0" nodeType="withEffect">
                                  <p:stCondLst>
                                    <p:cond delay="0"/>
                                  </p:stCondLst>
                                  <p:childTnLst>
                                    <p:set>
                                      <p:cBhvr>
                                        <p:cTn id="180" dur="1" fill="hold">
                                          <p:stCondLst>
                                            <p:cond delay="0"/>
                                          </p:stCondLst>
                                        </p:cTn>
                                        <p:tgtEl>
                                          <p:spTgt spid="45"/>
                                        </p:tgtEl>
                                        <p:attrNameLst>
                                          <p:attrName>style.visibility</p:attrName>
                                        </p:attrNameLst>
                                      </p:cBhvr>
                                      <p:to>
                                        <p:strVal val="visible"/>
                                      </p:to>
                                    </p:set>
                                    <p:animEffect transition="in" filter="fade">
                                      <p:cBhvr>
                                        <p:cTn id="181" dur="350"/>
                                        <p:tgtEl>
                                          <p:spTgt spid="45"/>
                                        </p:tgtEl>
                                      </p:cBhvr>
                                    </p:animEffect>
                                  </p:childTnLst>
                                </p:cTn>
                              </p:par>
                              <p:par>
                                <p:cTn id="182" presetID="10" presetClass="entr" presetSubtype="0" fill="hold" grpId="0" nodeType="withEffect">
                                  <p:stCondLst>
                                    <p:cond delay="0"/>
                                  </p:stCondLst>
                                  <p:childTnLst>
                                    <p:set>
                                      <p:cBhvr>
                                        <p:cTn id="183" dur="1" fill="hold">
                                          <p:stCondLst>
                                            <p:cond delay="0"/>
                                          </p:stCondLst>
                                        </p:cTn>
                                        <p:tgtEl>
                                          <p:spTgt spid="75"/>
                                        </p:tgtEl>
                                        <p:attrNameLst>
                                          <p:attrName>style.visibility</p:attrName>
                                        </p:attrNameLst>
                                      </p:cBhvr>
                                      <p:to>
                                        <p:strVal val="visible"/>
                                      </p:to>
                                    </p:set>
                                    <p:animEffect transition="in" filter="fade">
                                      <p:cBhvr>
                                        <p:cTn id="184" dur="350"/>
                                        <p:tgtEl>
                                          <p:spTgt spid="75"/>
                                        </p:tgtEl>
                                      </p:cBhvr>
                                    </p:animEffect>
                                  </p:childTnLst>
                                </p:cTn>
                              </p:par>
                              <p:par>
                                <p:cTn id="185" presetID="10" presetClass="entr" presetSubtype="0" fill="hold" nodeType="withEffect">
                                  <p:stCondLst>
                                    <p:cond delay="0"/>
                                  </p:stCondLst>
                                  <p:childTnLst>
                                    <p:set>
                                      <p:cBhvr>
                                        <p:cTn id="186" dur="1" fill="hold">
                                          <p:stCondLst>
                                            <p:cond delay="0"/>
                                          </p:stCondLst>
                                        </p:cTn>
                                        <p:tgtEl>
                                          <p:spTgt spid="44"/>
                                        </p:tgtEl>
                                        <p:attrNameLst>
                                          <p:attrName>style.visibility</p:attrName>
                                        </p:attrNameLst>
                                      </p:cBhvr>
                                      <p:to>
                                        <p:strVal val="visible"/>
                                      </p:to>
                                    </p:set>
                                    <p:animEffect transition="in" filter="fade">
                                      <p:cBhvr>
                                        <p:cTn id="187" dur="350"/>
                                        <p:tgtEl>
                                          <p:spTgt spid="44"/>
                                        </p:tgtEl>
                                      </p:cBhvr>
                                    </p:animEffect>
                                  </p:childTnLst>
                                </p:cTn>
                              </p:par>
                              <p:par>
                                <p:cTn id="188" presetID="10" presetClass="entr" presetSubtype="0" fill="hold" nodeType="withEffect">
                                  <p:stCondLst>
                                    <p:cond delay="0"/>
                                  </p:stCondLst>
                                  <p:childTnLst>
                                    <p:set>
                                      <p:cBhvr>
                                        <p:cTn id="189" dur="1" fill="hold">
                                          <p:stCondLst>
                                            <p:cond delay="0"/>
                                          </p:stCondLst>
                                        </p:cTn>
                                        <p:tgtEl>
                                          <p:spTgt spid="74"/>
                                        </p:tgtEl>
                                        <p:attrNameLst>
                                          <p:attrName>style.visibility</p:attrName>
                                        </p:attrNameLst>
                                      </p:cBhvr>
                                      <p:to>
                                        <p:strVal val="visible"/>
                                      </p:to>
                                    </p:set>
                                    <p:animEffect transition="in" filter="fade">
                                      <p:cBhvr>
                                        <p:cTn id="190" dur="350"/>
                                        <p:tgtEl>
                                          <p:spTgt spid="7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64"/>
                                        </p:tgtEl>
                                        <p:attrNameLst>
                                          <p:attrName>style.visibility</p:attrName>
                                        </p:attrNameLst>
                                      </p:cBhvr>
                                      <p:to>
                                        <p:strVal val="visible"/>
                                      </p:to>
                                    </p:set>
                                    <p:animEffect transition="in" filter="fade">
                                      <p:cBhvr>
                                        <p:cTn id="193" dur="350"/>
                                        <p:tgtEl>
                                          <p:spTgt spid="64"/>
                                        </p:tgtEl>
                                      </p:cBhvr>
                                    </p:animEffect>
                                  </p:childTnLst>
                                </p:cTn>
                              </p:par>
                              <p:par>
                                <p:cTn id="194" presetID="10" presetClass="entr" presetSubtype="0" fill="hold" nodeType="withEffect">
                                  <p:stCondLst>
                                    <p:cond delay="0"/>
                                  </p:stCondLst>
                                  <p:childTnLst>
                                    <p:set>
                                      <p:cBhvr>
                                        <p:cTn id="195" dur="1" fill="hold">
                                          <p:stCondLst>
                                            <p:cond delay="0"/>
                                          </p:stCondLst>
                                        </p:cTn>
                                        <p:tgtEl>
                                          <p:spTgt spid="63"/>
                                        </p:tgtEl>
                                        <p:attrNameLst>
                                          <p:attrName>style.visibility</p:attrName>
                                        </p:attrNameLst>
                                      </p:cBhvr>
                                      <p:to>
                                        <p:strVal val="visible"/>
                                      </p:to>
                                    </p:set>
                                    <p:animEffect transition="in" filter="fade">
                                      <p:cBhvr>
                                        <p:cTn id="196" dur="350"/>
                                        <p:tgtEl>
                                          <p:spTgt spid="63"/>
                                        </p:tgtEl>
                                      </p:cBhvr>
                                    </p:animEffect>
                                  </p:childTnLst>
                                </p:cTn>
                              </p:par>
                            </p:childTnLst>
                          </p:cTn>
                        </p:par>
                        <p:par>
                          <p:cTn id="197" fill="hold">
                            <p:stCondLst>
                              <p:cond delay="1400"/>
                            </p:stCondLst>
                            <p:childTnLst>
                              <p:par>
                                <p:cTn id="198" presetID="10" presetClass="entr" presetSubtype="0" fill="hold" nodeType="afterEffect">
                                  <p:stCondLst>
                                    <p:cond delay="0"/>
                                  </p:stCondLst>
                                  <p:childTnLst>
                                    <p:set>
                                      <p:cBhvr>
                                        <p:cTn id="199" dur="1" fill="hold">
                                          <p:stCondLst>
                                            <p:cond delay="0"/>
                                          </p:stCondLst>
                                        </p:cTn>
                                        <p:tgtEl>
                                          <p:spTgt spid="54"/>
                                        </p:tgtEl>
                                        <p:attrNameLst>
                                          <p:attrName>style.visibility</p:attrName>
                                        </p:attrNameLst>
                                      </p:cBhvr>
                                      <p:to>
                                        <p:strVal val="visible"/>
                                      </p:to>
                                    </p:set>
                                    <p:animEffect transition="in" filter="fade">
                                      <p:cBhvr>
                                        <p:cTn id="200" dur="350"/>
                                        <p:tgtEl>
                                          <p:spTgt spid="54"/>
                                        </p:tgtEl>
                                      </p:cBhvr>
                                    </p:animEffect>
                                  </p:childTnLst>
                                </p:cTn>
                              </p:par>
                              <p:par>
                                <p:cTn id="201" presetID="10" presetClass="entr" presetSubtype="0" fill="hold" grpId="0" nodeType="withEffect">
                                  <p:stCondLst>
                                    <p:cond delay="0"/>
                                  </p:stCondLst>
                                  <p:childTnLst>
                                    <p:set>
                                      <p:cBhvr>
                                        <p:cTn id="202" dur="1" fill="hold">
                                          <p:stCondLst>
                                            <p:cond delay="0"/>
                                          </p:stCondLst>
                                        </p:cTn>
                                        <p:tgtEl>
                                          <p:spTgt spid="56"/>
                                        </p:tgtEl>
                                        <p:attrNameLst>
                                          <p:attrName>style.visibility</p:attrName>
                                        </p:attrNameLst>
                                      </p:cBhvr>
                                      <p:to>
                                        <p:strVal val="visible"/>
                                      </p:to>
                                    </p:set>
                                    <p:animEffect transition="in" filter="fade">
                                      <p:cBhvr>
                                        <p:cTn id="203" dur="350"/>
                                        <p:tgtEl>
                                          <p:spTgt spid="56"/>
                                        </p:tgtEl>
                                      </p:cBhvr>
                                    </p:animEffect>
                                  </p:childTnLst>
                                </p:cTn>
                              </p:par>
                              <p:par>
                                <p:cTn id="204" presetID="10" presetClass="entr" presetSubtype="0" fill="hold" grpId="0" nodeType="withEffect">
                                  <p:stCondLst>
                                    <p:cond delay="0"/>
                                  </p:stCondLst>
                                  <p:childTnLst>
                                    <p:set>
                                      <p:cBhvr>
                                        <p:cTn id="205" dur="1" fill="hold">
                                          <p:stCondLst>
                                            <p:cond delay="0"/>
                                          </p:stCondLst>
                                        </p:cTn>
                                        <p:tgtEl>
                                          <p:spTgt spid="69"/>
                                        </p:tgtEl>
                                        <p:attrNameLst>
                                          <p:attrName>style.visibility</p:attrName>
                                        </p:attrNameLst>
                                      </p:cBhvr>
                                      <p:to>
                                        <p:strVal val="visible"/>
                                      </p:to>
                                    </p:set>
                                    <p:animEffect transition="in" filter="fade">
                                      <p:cBhvr>
                                        <p:cTn id="206" dur="350"/>
                                        <p:tgtEl>
                                          <p:spTgt spid="69"/>
                                        </p:tgtEl>
                                      </p:cBhvr>
                                    </p:animEffect>
                                  </p:childTnLst>
                                </p:cTn>
                              </p:par>
                              <p:par>
                                <p:cTn id="207" presetID="10" presetClass="entr" presetSubtype="0" fill="hold" nodeType="withEffect">
                                  <p:stCondLst>
                                    <p:cond delay="0"/>
                                  </p:stCondLst>
                                  <p:childTnLst>
                                    <p:set>
                                      <p:cBhvr>
                                        <p:cTn id="208" dur="1" fill="hold">
                                          <p:stCondLst>
                                            <p:cond delay="0"/>
                                          </p:stCondLst>
                                        </p:cTn>
                                        <p:tgtEl>
                                          <p:spTgt spid="55"/>
                                        </p:tgtEl>
                                        <p:attrNameLst>
                                          <p:attrName>style.visibility</p:attrName>
                                        </p:attrNameLst>
                                      </p:cBhvr>
                                      <p:to>
                                        <p:strVal val="visible"/>
                                      </p:to>
                                    </p:set>
                                    <p:animEffect transition="in" filter="fade">
                                      <p:cBhvr>
                                        <p:cTn id="209" dur="350"/>
                                        <p:tgtEl>
                                          <p:spTgt spid="55"/>
                                        </p:tgtEl>
                                      </p:cBhvr>
                                    </p:animEffect>
                                  </p:childTnLst>
                                </p:cTn>
                              </p:par>
                              <p:par>
                                <p:cTn id="210" presetID="10" presetClass="entr" presetSubtype="0" fill="hold" grpId="0" nodeType="withEffect">
                                  <p:stCondLst>
                                    <p:cond delay="0"/>
                                  </p:stCondLst>
                                  <p:childTnLst>
                                    <p:set>
                                      <p:cBhvr>
                                        <p:cTn id="211" dur="1" fill="hold">
                                          <p:stCondLst>
                                            <p:cond delay="0"/>
                                          </p:stCondLst>
                                        </p:cTn>
                                        <p:tgtEl>
                                          <p:spTgt spid="47"/>
                                        </p:tgtEl>
                                        <p:attrNameLst>
                                          <p:attrName>style.visibility</p:attrName>
                                        </p:attrNameLst>
                                      </p:cBhvr>
                                      <p:to>
                                        <p:strVal val="visible"/>
                                      </p:to>
                                    </p:set>
                                    <p:animEffect transition="in" filter="fade">
                                      <p:cBhvr>
                                        <p:cTn id="212" dur="350"/>
                                        <p:tgtEl>
                                          <p:spTgt spid="47"/>
                                        </p:tgtEl>
                                      </p:cBhvr>
                                    </p:animEffect>
                                  </p:childTnLst>
                                </p:cTn>
                              </p:par>
                              <p:par>
                                <p:cTn id="213" presetID="10" presetClass="entr" presetSubtype="0" fill="hold" grpId="0" nodeType="withEffect">
                                  <p:stCondLst>
                                    <p:cond delay="0"/>
                                  </p:stCondLst>
                                  <p:childTnLst>
                                    <p:set>
                                      <p:cBhvr>
                                        <p:cTn id="214" dur="1" fill="hold">
                                          <p:stCondLst>
                                            <p:cond delay="0"/>
                                          </p:stCondLst>
                                        </p:cTn>
                                        <p:tgtEl>
                                          <p:spTgt spid="77"/>
                                        </p:tgtEl>
                                        <p:attrNameLst>
                                          <p:attrName>style.visibility</p:attrName>
                                        </p:attrNameLst>
                                      </p:cBhvr>
                                      <p:to>
                                        <p:strVal val="visible"/>
                                      </p:to>
                                    </p:set>
                                    <p:animEffect transition="in" filter="fade">
                                      <p:cBhvr>
                                        <p:cTn id="215" dur="350"/>
                                        <p:tgtEl>
                                          <p:spTgt spid="77"/>
                                        </p:tgtEl>
                                      </p:cBhvr>
                                    </p:animEffect>
                                  </p:childTnLst>
                                </p:cTn>
                              </p:par>
                              <p:par>
                                <p:cTn id="216" presetID="10" presetClass="entr" presetSubtype="0" fill="hold" nodeType="withEffect">
                                  <p:stCondLst>
                                    <p:cond delay="0"/>
                                  </p:stCondLst>
                                  <p:childTnLst>
                                    <p:set>
                                      <p:cBhvr>
                                        <p:cTn id="217" dur="1" fill="hold">
                                          <p:stCondLst>
                                            <p:cond delay="0"/>
                                          </p:stCondLst>
                                        </p:cTn>
                                        <p:tgtEl>
                                          <p:spTgt spid="46"/>
                                        </p:tgtEl>
                                        <p:attrNameLst>
                                          <p:attrName>style.visibility</p:attrName>
                                        </p:attrNameLst>
                                      </p:cBhvr>
                                      <p:to>
                                        <p:strVal val="visible"/>
                                      </p:to>
                                    </p:set>
                                    <p:animEffect transition="in" filter="fade">
                                      <p:cBhvr>
                                        <p:cTn id="218" dur="350"/>
                                        <p:tgtEl>
                                          <p:spTgt spid="46"/>
                                        </p:tgtEl>
                                      </p:cBhvr>
                                    </p:animEffect>
                                  </p:childTnLst>
                                </p:cTn>
                              </p:par>
                              <p:par>
                                <p:cTn id="219" presetID="10" presetClass="entr" presetSubtype="0" fill="hold" nodeType="withEffect">
                                  <p:stCondLst>
                                    <p:cond delay="0"/>
                                  </p:stCondLst>
                                  <p:childTnLst>
                                    <p:set>
                                      <p:cBhvr>
                                        <p:cTn id="220" dur="1" fill="hold">
                                          <p:stCondLst>
                                            <p:cond delay="0"/>
                                          </p:stCondLst>
                                        </p:cTn>
                                        <p:tgtEl>
                                          <p:spTgt spid="76"/>
                                        </p:tgtEl>
                                        <p:attrNameLst>
                                          <p:attrName>style.visibility</p:attrName>
                                        </p:attrNameLst>
                                      </p:cBhvr>
                                      <p:to>
                                        <p:strVal val="visible"/>
                                      </p:to>
                                    </p:set>
                                    <p:animEffect transition="in" filter="fade">
                                      <p:cBhvr>
                                        <p:cTn id="221" dur="350"/>
                                        <p:tgtEl>
                                          <p:spTgt spid="76"/>
                                        </p:tgtEl>
                                      </p:cBhvr>
                                    </p:animEffect>
                                  </p:childTnLst>
                                </p:cTn>
                              </p:par>
                              <p:par>
                                <p:cTn id="222" presetID="10" presetClass="entr" presetSubtype="0" fill="hold" grpId="0" nodeType="withEffect">
                                  <p:stCondLst>
                                    <p:cond delay="0"/>
                                  </p:stCondLst>
                                  <p:childTnLst>
                                    <p:set>
                                      <p:cBhvr>
                                        <p:cTn id="223" dur="1" fill="hold">
                                          <p:stCondLst>
                                            <p:cond delay="0"/>
                                          </p:stCondLst>
                                        </p:cTn>
                                        <p:tgtEl>
                                          <p:spTgt spid="66"/>
                                        </p:tgtEl>
                                        <p:attrNameLst>
                                          <p:attrName>style.visibility</p:attrName>
                                        </p:attrNameLst>
                                      </p:cBhvr>
                                      <p:to>
                                        <p:strVal val="visible"/>
                                      </p:to>
                                    </p:set>
                                    <p:animEffect transition="in" filter="fade">
                                      <p:cBhvr>
                                        <p:cTn id="224" dur="350"/>
                                        <p:tgtEl>
                                          <p:spTgt spid="66"/>
                                        </p:tgtEl>
                                      </p:cBhvr>
                                    </p:animEffect>
                                  </p:childTnLst>
                                </p:cTn>
                              </p:par>
                              <p:par>
                                <p:cTn id="225" presetID="10" presetClass="entr" presetSubtype="0" fill="hold" nodeType="withEffect">
                                  <p:stCondLst>
                                    <p:cond delay="0"/>
                                  </p:stCondLst>
                                  <p:childTnLst>
                                    <p:set>
                                      <p:cBhvr>
                                        <p:cTn id="226" dur="1" fill="hold">
                                          <p:stCondLst>
                                            <p:cond delay="0"/>
                                          </p:stCondLst>
                                        </p:cTn>
                                        <p:tgtEl>
                                          <p:spTgt spid="65"/>
                                        </p:tgtEl>
                                        <p:attrNameLst>
                                          <p:attrName>style.visibility</p:attrName>
                                        </p:attrNameLst>
                                      </p:cBhvr>
                                      <p:to>
                                        <p:strVal val="visible"/>
                                      </p:to>
                                    </p:set>
                                    <p:animEffect transition="in" filter="fade">
                                      <p:cBhvr>
                                        <p:cTn id="227" dur="350"/>
                                        <p:tgtEl>
                                          <p:spTgt spid="65"/>
                                        </p:tgtEl>
                                      </p:cBhvr>
                                    </p:animEffect>
                                  </p:childTnLst>
                                </p:cTn>
                              </p:par>
                            </p:childTnLst>
                          </p:cTn>
                        </p:par>
                        <p:par>
                          <p:cTn id="228" fill="hold">
                            <p:stCondLst>
                              <p:cond delay="1750"/>
                            </p:stCondLst>
                            <p:childTnLst>
                              <p:par>
                                <p:cTn id="229" presetID="10" presetClass="entr" presetSubtype="0" fill="hold" nodeType="afterEffect">
                                  <p:stCondLst>
                                    <p:cond delay="0"/>
                                  </p:stCondLst>
                                  <p:childTnLst>
                                    <p:set>
                                      <p:cBhvr>
                                        <p:cTn id="230" dur="1" fill="hold">
                                          <p:stCondLst>
                                            <p:cond delay="0"/>
                                          </p:stCondLst>
                                        </p:cTn>
                                        <p:tgtEl>
                                          <p:spTgt spid="78"/>
                                        </p:tgtEl>
                                        <p:attrNameLst>
                                          <p:attrName>style.visibility</p:attrName>
                                        </p:attrNameLst>
                                      </p:cBhvr>
                                      <p:to>
                                        <p:strVal val="visible"/>
                                      </p:to>
                                    </p:set>
                                    <p:animEffect transition="in" filter="fade">
                                      <p:cBhvr>
                                        <p:cTn id="231" dur="350"/>
                                        <p:tgtEl>
                                          <p:spTgt spid="78"/>
                                        </p:tgtEl>
                                      </p:cBhvr>
                                    </p:animEffect>
                                  </p:childTnLst>
                                </p:cTn>
                              </p:par>
                              <p:par>
                                <p:cTn id="232" presetID="10" presetClass="entr" presetSubtype="0" fill="hold" grpId="0" nodeType="withEffect">
                                  <p:stCondLst>
                                    <p:cond delay="0"/>
                                  </p:stCondLst>
                                  <p:childTnLst>
                                    <p:set>
                                      <p:cBhvr>
                                        <p:cTn id="233" dur="1" fill="hold">
                                          <p:stCondLst>
                                            <p:cond delay="0"/>
                                          </p:stCondLst>
                                        </p:cTn>
                                        <p:tgtEl>
                                          <p:spTgt spid="80"/>
                                        </p:tgtEl>
                                        <p:attrNameLst>
                                          <p:attrName>style.visibility</p:attrName>
                                        </p:attrNameLst>
                                      </p:cBhvr>
                                      <p:to>
                                        <p:strVal val="visible"/>
                                      </p:to>
                                    </p:set>
                                    <p:animEffect transition="in" filter="fade">
                                      <p:cBhvr>
                                        <p:cTn id="234" dur="350"/>
                                        <p:tgtEl>
                                          <p:spTgt spid="80"/>
                                        </p:tgtEl>
                                      </p:cBhvr>
                                    </p:animEffect>
                                  </p:childTnLst>
                                </p:cTn>
                              </p:par>
                              <p:par>
                                <p:cTn id="235" presetID="10" presetClass="entr" presetSubtype="0" fill="hold" grpId="0" nodeType="withEffect">
                                  <p:stCondLst>
                                    <p:cond delay="0"/>
                                  </p:stCondLst>
                                  <p:childTnLst>
                                    <p:set>
                                      <p:cBhvr>
                                        <p:cTn id="236" dur="1" fill="hold">
                                          <p:stCondLst>
                                            <p:cond delay="0"/>
                                          </p:stCondLst>
                                        </p:cTn>
                                        <p:tgtEl>
                                          <p:spTgt spid="82"/>
                                        </p:tgtEl>
                                        <p:attrNameLst>
                                          <p:attrName>style.visibility</p:attrName>
                                        </p:attrNameLst>
                                      </p:cBhvr>
                                      <p:to>
                                        <p:strVal val="visible"/>
                                      </p:to>
                                    </p:set>
                                    <p:animEffect transition="in" filter="fade">
                                      <p:cBhvr>
                                        <p:cTn id="237" dur="350"/>
                                        <p:tgtEl>
                                          <p:spTgt spid="82"/>
                                        </p:tgtEl>
                                      </p:cBhvr>
                                    </p:animEffect>
                                  </p:childTnLst>
                                </p:cTn>
                              </p:par>
                              <p:par>
                                <p:cTn id="238" presetID="10" presetClass="entr" presetSubtype="0" fill="hold" grpId="0" nodeType="withEffect">
                                  <p:stCondLst>
                                    <p:cond delay="0"/>
                                  </p:stCondLst>
                                  <p:childTnLst>
                                    <p:set>
                                      <p:cBhvr>
                                        <p:cTn id="239" dur="1" fill="hold">
                                          <p:stCondLst>
                                            <p:cond delay="0"/>
                                          </p:stCondLst>
                                        </p:cTn>
                                        <p:tgtEl>
                                          <p:spTgt spid="84"/>
                                        </p:tgtEl>
                                        <p:attrNameLst>
                                          <p:attrName>style.visibility</p:attrName>
                                        </p:attrNameLst>
                                      </p:cBhvr>
                                      <p:to>
                                        <p:strVal val="visible"/>
                                      </p:to>
                                    </p:set>
                                    <p:animEffect transition="in" filter="fade">
                                      <p:cBhvr>
                                        <p:cTn id="240" dur="350"/>
                                        <p:tgtEl>
                                          <p:spTgt spid="84"/>
                                        </p:tgtEl>
                                      </p:cBhvr>
                                    </p:animEffect>
                                  </p:childTnLst>
                                </p:cTn>
                              </p:par>
                              <p:par>
                                <p:cTn id="241" presetID="10" presetClass="entr" presetSubtype="0" fill="hold" grpId="0" nodeType="withEffect">
                                  <p:stCondLst>
                                    <p:cond delay="0"/>
                                  </p:stCondLst>
                                  <p:childTnLst>
                                    <p:set>
                                      <p:cBhvr>
                                        <p:cTn id="242" dur="1" fill="hold">
                                          <p:stCondLst>
                                            <p:cond delay="0"/>
                                          </p:stCondLst>
                                        </p:cTn>
                                        <p:tgtEl>
                                          <p:spTgt spid="86"/>
                                        </p:tgtEl>
                                        <p:attrNameLst>
                                          <p:attrName>style.visibility</p:attrName>
                                        </p:attrNameLst>
                                      </p:cBhvr>
                                      <p:to>
                                        <p:strVal val="visible"/>
                                      </p:to>
                                    </p:set>
                                    <p:animEffect transition="in" filter="fade">
                                      <p:cBhvr>
                                        <p:cTn id="243" dur="350"/>
                                        <p:tgtEl>
                                          <p:spTgt spid="86"/>
                                        </p:tgtEl>
                                      </p:cBhvr>
                                    </p:animEffect>
                                  </p:childTnLst>
                                </p:cTn>
                              </p:par>
                              <p:par>
                                <p:cTn id="244" presetID="10" presetClass="entr" presetSubtype="0" fill="hold" grpId="0" nodeType="withEffect">
                                  <p:stCondLst>
                                    <p:cond delay="0"/>
                                  </p:stCondLst>
                                  <p:childTnLst>
                                    <p:set>
                                      <p:cBhvr>
                                        <p:cTn id="245" dur="1" fill="hold">
                                          <p:stCondLst>
                                            <p:cond delay="0"/>
                                          </p:stCondLst>
                                        </p:cTn>
                                        <p:tgtEl>
                                          <p:spTgt spid="88"/>
                                        </p:tgtEl>
                                        <p:attrNameLst>
                                          <p:attrName>style.visibility</p:attrName>
                                        </p:attrNameLst>
                                      </p:cBhvr>
                                      <p:to>
                                        <p:strVal val="visible"/>
                                      </p:to>
                                    </p:set>
                                    <p:animEffect transition="in" filter="fade">
                                      <p:cBhvr>
                                        <p:cTn id="246" dur="350"/>
                                        <p:tgtEl>
                                          <p:spTgt spid="88"/>
                                        </p:tgtEl>
                                      </p:cBhvr>
                                    </p:animEffect>
                                  </p:childTnLst>
                                </p:cTn>
                              </p:par>
                              <p:par>
                                <p:cTn id="247" presetID="10" presetClass="entr" presetSubtype="0" fill="hold" nodeType="withEffect">
                                  <p:stCondLst>
                                    <p:cond delay="0"/>
                                  </p:stCondLst>
                                  <p:childTnLst>
                                    <p:set>
                                      <p:cBhvr>
                                        <p:cTn id="248" dur="1" fill="hold">
                                          <p:stCondLst>
                                            <p:cond delay="0"/>
                                          </p:stCondLst>
                                        </p:cTn>
                                        <p:tgtEl>
                                          <p:spTgt spid="79"/>
                                        </p:tgtEl>
                                        <p:attrNameLst>
                                          <p:attrName>style.visibility</p:attrName>
                                        </p:attrNameLst>
                                      </p:cBhvr>
                                      <p:to>
                                        <p:strVal val="visible"/>
                                      </p:to>
                                    </p:set>
                                    <p:animEffect transition="in" filter="fade">
                                      <p:cBhvr>
                                        <p:cTn id="249" dur="350"/>
                                        <p:tgtEl>
                                          <p:spTgt spid="79"/>
                                        </p:tgtEl>
                                      </p:cBhvr>
                                    </p:animEffect>
                                  </p:childTnLst>
                                </p:cTn>
                              </p:par>
                              <p:par>
                                <p:cTn id="250" presetID="10" presetClass="entr" presetSubtype="0" fill="hold" nodeType="withEffect">
                                  <p:stCondLst>
                                    <p:cond delay="0"/>
                                  </p:stCondLst>
                                  <p:childTnLst>
                                    <p:set>
                                      <p:cBhvr>
                                        <p:cTn id="251" dur="1" fill="hold">
                                          <p:stCondLst>
                                            <p:cond delay="0"/>
                                          </p:stCondLst>
                                        </p:cTn>
                                        <p:tgtEl>
                                          <p:spTgt spid="81"/>
                                        </p:tgtEl>
                                        <p:attrNameLst>
                                          <p:attrName>style.visibility</p:attrName>
                                        </p:attrNameLst>
                                      </p:cBhvr>
                                      <p:to>
                                        <p:strVal val="visible"/>
                                      </p:to>
                                    </p:set>
                                    <p:animEffect transition="in" filter="fade">
                                      <p:cBhvr>
                                        <p:cTn id="252" dur="350"/>
                                        <p:tgtEl>
                                          <p:spTgt spid="81"/>
                                        </p:tgtEl>
                                      </p:cBhvr>
                                    </p:animEffect>
                                  </p:childTnLst>
                                </p:cTn>
                              </p:par>
                              <p:par>
                                <p:cTn id="253" presetID="10" presetClass="entr" presetSubtype="0" fill="hold" nodeType="withEffect">
                                  <p:stCondLst>
                                    <p:cond delay="0"/>
                                  </p:stCondLst>
                                  <p:childTnLst>
                                    <p:set>
                                      <p:cBhvr>
                                        <p:cTn id="254" dur="1" fill="hold">
                                          <p:stCondLst>
                                            <p:cond delay="0"/>
                                          </p:stCondLst>
                                        </p:cTn>
                                        <p:tgtEl>
                                          <p:spTgt spid="83"/>
                                        </p:tgtEl>
                                        <p:attrNameLst>
                                          <p:attrName>style.visibility</p:attrName>
                                        </p:attrNameLst>
                                      </p:cBhvr>
                                      <p:to>
                                        <p:strVal val="visible"/>
                                      </p:to>
                                    </p:set>
                                    <p:animEffect transition="in" filter="fade">
                                      <p:cBhvr>
                                        <p:cTn id="255" dur="350"/>
                                        <p:tgtEl>
                                          <p:spTgt spid="83"/>
                                        </p:tgtEl>
                                      </p:cBhvr>
                                    </p:animEffect>
                                  </p:childTnLst>
                                </p:cTn>
                              </p:par>
                              <p:par>
                                <p:cTn id="256" presetID="10" presetClass="entr" presetSubtype="0" fill="hold" nodeType="withEffect">
                                  <p:stCondLst>
                                    <p:cond delay="0"/>
                                  </p:stCondLst>
                                  <p:childTnLst>
                                    <p:set>
                                      <p:cBhvr>
                                        <p:cTn id="257" dur="1" fill="hold">
                                          <p:stCondLst>
                                            <p:cond delay="0"/>
                                          </p:stCondLst>
                                        </p:cTn>
                                        <p:tgtEl>
                                          <p:spTgt spid="85"/>
                                        </p:tgtEl>
                                        <p:attrNameLst>
                                          <p:attrName>style.visibility</p:attrName>
                                        </p:attrNameLst>
                                      </p:cBhvr>
                                      <p:to>
                                        <p:strVal val="visible"/>
                                      </p:to>
                                    </p:set>
                                    <p:animEffect transition="in" filter="fade">
                                      <p:cBhvr>
                                        <p:cTn id="258" dur="350"/>
                                        <p:tgtEl>
                                          <p:spTgt spid="85"/>
                                        </p:tgtEl>
                                      </p:cBhvr>
                                    </p:animEffect>
                                  </p:childTnLst>
                                </p:cTn>
                              </p:par>
                              <p:par>
                                <p:cTn id="259" presetID="10" presetClass="entr" presetSubtype="0" fill="hold" nodeType="withEffect">
                                  <p:stCondLst>
                                    <p:cond delay="0"/>
                                  </p:stCondLst>
                                  <p:childTnLst>
                                    <p:set>
                                      <p:cBhvr>
                                        <p:cTn id="260" dur="1" fill="hold">
                                          <p:stCondLst>
                                            <p:cond delay="0"/>
                                          </p:stCondLst>
                                        </p:cTn>
                                        <p:tgtEl>
                                          <p:spTgt spid="87"/>
                                        </p:tgtEl>
                                        <p:attrNameLst>
                                          <p:attrName>style.visibility</p:attrName>
                                        </p:attrNameLst>
                                      </p:cBhvr>
                                      <p:to>
                                        <p:strVal val="visible"/>
                                      </p:to>
                                    </p:set>
                                    <p:animEffect transition="in" filter="fade">
                                      <p:cBhvr>
                                        <p:cTn id="261" dur="35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6" grpId="0" animBg="1"/>
      <p:bldP spid="17" grpId="0" animBg="1"/>
      <p:bldP spid="18" grpId="0" animBg="1"/>
      <p:bldP spid="19" grpId="0" animBg="1"/>
      <p:bldP spid="23" grpId="0" animBg="1"/>
      <p:bldP spid="24" grpId="0" animBg="1"/>
      <p:bldP spid="25" grpId="0" animBg="1"/>
      <p:bldP spid="26" grpId="0" animBg="1"/>
      <p:bldP spid="30" grpId="0" animBg="1"/>
      <p:bldP spid="31" grpId="0" animBg="1"/>
      <p:bldP spid="32" grpId="0" animBg="1"/>
      <p:bldP spid="33" grpId="0" animBg="1"/>
      <p:bldP spid="37" grpId="0" animBg="1"/>
      <p:bldP spid="38" grpId="0" animBg="1"/>
      <p:bldP spid="39" grpId="0" animBg="1"/>
      <p:bldP spid="41" grpId="0" animBg="1"/>
      <p:bldP spid="43" grpId="0" animBg="1"/>
      <p:bldP spid="45" grpId="0" animBg="1"/>
      <p:bldP spid="47" grpId="0" animBg="1"/>
      <p:bldP spid="50" grpId="0" animBg="1"/>
      <p:bldP spid="53" grpId="0" animBg="1"/>
      <p:bldP spid="56" grpId="0" animBg="1"/>
      <p:bldP spid="58" grpId="0" animBg="1"/>
      <p:bldP spid="60" grpId="0" animBg="1"/>
      <p:bldP spid="62" grpId="0" animBg="1"/>
      <p:bldP spid="64" grpId="0" animBg="1"/>
      <p:bldP spid="66" grpId="0" animBg="1"/>
      <p:bldP spid="69" grpId="0" animBg="1"/>
      <p:bldP spid="71" grpId="0" animBg="1"/>
      <p:bldP spid="73" grpId="0" animBg="1"/>
      <p:bldP spid="75" grpId="0" animBg="1"/>
      <p:bldP spid="77" grpId="0" animBg="1"/>
      <p:bldP spid="80" grpId="0" animBg="1"/>
      <p:bldP spid="82" grpId="0" animBg="1"/>
      <p:bldP spid="84" grpId="0" animBg="1"/>
      <p:bldP spid="86" grpId="0" animBg="1"/>
      <p:bldP spid="8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oaches outside Principality Stadium, Cardiff (illustration from the team's reference slides)"/>
          <p:cNvPicPr>
            <a:picLocks noChangeAspect="1"/>
          </p:cNvPicPr>
          <p:nvPr/>
        </p:nvPicPr>
        <p:blipFill>
          <a:blip r:embed="rId3"/>
          <a:stretch>
            <a:fillRect/>
          </a:stretch>
        </p:blipFill>
        <p:spPr>
          <a:xfrm>
            <a:off x="8653357" y="0"/>
            <a:ext cx="3538338" cy="1874520"/>
          </a:xfrm>
          <a:prstGeom prst="rect">
            <a:avLst/>
          </a:prstGeom>
        </p:spPr>
      </p:pic>
      <p:sp>
        <p:nvSpPr>
          <p:cNvPr id="3" name="Text 0"/>
          <p:cNvSpPr>
            <a:spLocks noGrp="1"/>
          </p:cNvSpPr>
          <p:nvPr>
            <p:ph type="body" idx="100" hasCustomPrompt="1"/>
          </p:nvPr>
        </p:nvSpPr>
        <p:spPr>
          <a:xfrm>
            <a:off x="502920" y="292608"/>
            <a:ext cx="731520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ALGORITHMS AND AI APPROACH</a:t>
            </a:r>
            <a:endParaRPr lang="en-US" sz="1300" dirty="0"/>
          </a:p>
        </p:txBody>
      </p:sp>
      <p:sp>
        <p:nvSpPr>
          <p:cNvPr id="4" name="Text 1"/>
          <p:cNvSpPr>
            <a:spLocks noGrp="1"/>
          </p:cNvSpPr>
          <p:nvPr>
            <p:ph type="title" idx="102" hasCustomPrompt="1"/>
          </p:nvPr>
        </p:nvSpPr>
        <p:spPr>
          <a:xfrm>
            <a:off x="502920" y="777240"/>
            <a:ext cx="7589520" cy="1051560"/>
          </a:xfrm>
          <a:prstGeom prst="rect">
            <a:avLst/>
          </a:prstGeom>
          <a:noFill/>
          <a:ln/>
        </p:spPr>
        <p:txBody>
          <a:bodyPr wrap="square" lIns="0" tIns="0" rIns="0" bIns="0" rtlCol="0" anchor="t"/>
          <a:lstStyle/>
          <a:p>
            <a:pPr marL="0" indent="0" algn="l">
              <a:buNone/>
            </a:pPr>
            <a:r>
              <a:rPr lang="en-US" sz="3400" b="1" dirty="0">
                <a:solidFill>
                  <a:srgbClr val="0B1F45"/>
                </a:solidFill>
              </a:rPr>
              <a:t>Optimisation Models
</a:t>
            </a:r>
            <a:r>
              <a:rPr lang="en-US" sz="3400" b="1" dirty="0">
                <a:solidFill>
                  <a:srgbClr val="D7192F"/>
                </a:solidFill>
              </a:rPr>
              <a:t>and AI Approach</a:t>
            </a:r>
            <a:endParaRPr lang="en-US" sz="3400" dirty="0"/>
          </a:p>
        </p:txBody>
      </p:sp>
      <p:sp>
        <p:nvSpPr>
          <p:cNvPr id="5" name="Text 2"/>
          <p:cNvSpPr txBox="1"/>
          <p:nvPr/>
        </p:nvSpPr>
        <p:spPr>
          <a:xfrm>
            <a:off x="502920" y="1874520"/>
            <a:ext cx="7315200" cy="566928"/>
          </a:xfrm>
          <a:prstGeom prst="rect">
            <a:avLst/>
          </a:prstGeom>
          <a:noFill/>
          <a:ln/>
        </p:spPr>
        <p:txBody>
          <a:bodyPr wrap="square" lIns="0" tIns="0" rIns="0" bIns="0" rtlCol="0" anchor="t"/>
          <a:lstStyle/>
          <a:p>
            <a:pPr marL="0" indent="0">
              <a:buNone/>
            </a:pPr>
            <a:r>
              <a:rPr lang="en-US" sz="1500" dirty="0">
                <a:solidFill>
                  <a:schemeClr val="tx2"/>
                </a:solidFill>
              </a:rPr>
              <a:t>One general engine, three pricing rules: no retraining for new schools or venues.</a:t>
            </a:r>
            <a:endParaRPr lang="en-US" sz="1500" dirty="0"/>
          </a:p>
        </p:txBody>
      </p:sp>
      <p:sp>
        <p:nvSpPr>
          <p:cNvPr id="6" name="Fixed Cost Model"/>
          <p:cNvSpPr/>
          <p:nvPr/>
        </p:nvSpPr>
        <p:spPr>
          <a:xfrm>
            <a:off x="502920" y="2487168"/>
            <a:ext cx="3611880" cy="3794760"/>
          </a:xfrm>
          <a:prstGeom prst="roundRect">
            <a:avLst>
              <a:gd name="adj" fmla="val 3038"/>
            </a:avLst>
          </a:prstGeom>
          <a:solidFill>
            <a:srgbClr val="FDECEE"/>
          </a:solidFill>
          <a:ln w="9525">
            <a:solidFill>
              <a:srgbClr val="FDECEE"/>
            </a:solidFill>
            <a:prstDash val="solid"/>
          </a:ln>
        </p:spPr>
      </p:sp>
      <p:sp>
        <p:nvSpPr>
          <p:cNvPr id="7" name="Step 1"/>
          <p:cNvSpPr/>
          <p:nvPr/>
        </p:nvSpPr>
        <p:spPr>
          <a:xfrm>
            <a:off x="685800" y="2670048"/>
            <a:ext cx="530352" cy="530352"/>
          </a:xfrm>
          <a:prstGeom prst="ellipse">
            <a:avLst/>
          </a:prstGeom>
          <a:solidFill>
            <a:srgbClr val="D7192F"/>
          </a:solidFill>
          <a:ln w="12700">
            <a:solidFill>
              <a:srgbClr val="D7192F"/>
            </a:solidFill>
            <a:prstDash val="solid"/>
          </a:ln>
        </p:spPr>
      </p:sp>
      <p:sp>
        <p:nvSpPr>
          <p:cNvPr id="8" name="Text 5"/>
          <p:cNvSpPr txBox="1"/>
          <p:nvPr/>
        </p:nvSpPr>
        <p:spPr>
          <a:xfrm>
            <a:off x="685800" y="2670048"/>
            <a:ext cx="530352" cy="530352"/>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9" name="Text 6"/>
          <p:cNvSpPr txBox="1"/>
          <p:nvPr/>
        </p:nvSpPr>
        <p:spPr>
          <a:xfrm>
            <a:off x="1344168" y="2642616"/>
            <a:ext cx="2103120" cy="329184"/>
          </a:xfrm>
          <a:prstGeom prst="rect">
            <a:avLst/>
          </a:prstGeom>
          <a:noFill/>
          <a:ln/>
        </p:spPr>
        <p:txBody>
          <a:bodyPr wrap="square" lIns="0" tIns="0" rIns="0" bIns="0" rtlCol="0" anchor="t"/>
          <a:lstStyle/>
          <a:p>
            <a:pPr marL="0" indent="0">
              <a:buNone/>
            </a:pPr>
            <a:r>
              <a:rPr lang="en-US" sz="1600" b="1" dirty="0">
                <a:solidFill>
                  <a:schemeClr val="tx1"/>
                </a:solidFill>
              </a:rPr>
              <a:t>Fixed Cost Model</a:t>
            </a:r>
            <a:endParaRPr lang="en-US" sz="1600" dirty="0"/>
          </a:p>
        </p:txBody>
      </p:sp>
      <p:sp>
        <p:nvSpPr>
          <p:cNvPr id="10" name="Text 7"/>
          <p:cNvSpPr txBox="1"/>
          <p:nvPr/>
        </p:nvSpPr>
        <p:spPr>
          <a:xfrm>
            <a:off x="1344168" y="2971800"/>
            <a:ext cx="2103120" cy="274320"/>
          </a:xfrm>
          <a:prstGeom prst="rect">
            <a:avLst/>
          </a:prstGeom>
          <a:noFill/>
          <a:ln/>
        </p:spPr>
        <p:txBody>
          <a:bodyPr wrap="square" lIns="0" tIns="0" rIns="0" bIns="0" rtlCol="0" anchor="t"/>
          <a:lstStyle/>
          <a:p>
            <a:pPr marL="0" indent="0">
              <a:buNone/>
            </a:pPr>
            <a:r>
              <a:rPr lang="en-US" sz="1050" b="1" dirty="0">
                <a:solidFill>
                  <a:srgbClr val="D7192F"/>
                </a:solidFill>
              </a:rPr>
              <a:t>Minimise total bus rental price</a:t>
            </a:r>
            <a:endParaRPr lang="en-US" sz="1050" dirty="0"/>
          </a:p>
        </p:txBody>
      </p:sp>
      <p:pic>
        <p:nvPicPr>
          <p:cNvPr id="11" name="Image 1" descr="FaCoins"/>
          <p:cNvPicPr>
            <a:picLocks noChangeAspect="1"/>
          </p:cNvPicPr>
          <p:nvPr/>
        </p:nvPicPr>
        <p:blipFill>
          <a:blip r:embed="rId4"/>
          <a:stretch>
            <a:fillRect/>
          </a:stretch>
        </p:blipFill>
        <p:spPr>
          <a:xfrm>
            <a:off x="3493008" y="2688336"/>
            <a:ext cx="438912" cy="438912"/>
          </a:xfrm>
          <a:prstGeom prst="rect">
            <a:avLst/>
          </a:prstGeom>
        </p:spPr>
      </p:pic>
      <p:sp>
        <p:nvSpPr>
          <p:cNvPr id="12" name="Shape 8"/>
          <p:cNvSpPr/>
          <p:nvPr/>
        </p:nvSpPr>
        <p:spPr>
          <a:xfrm>
            <a:off x="685800" y="3383280"/>
            <a:ext cx="3246120" cy="0"/>
          </a:xfrm>
          <a:prstGeom prst="line">
            <a:avLst/>
          </a:prstGeom>
          <a:noFill/>
          <a:ln w="9525">
            <a:solidFill>
              <a:srgbClr val="D9DEE6"/>
            </a:solidFill>
            <a:prstDash val="solid"/>
          </a:ln>
        </p:spPr>
      </p:sp>
      <p:sp>
        <p:nvSpPr>
          <p:cNvPr id="13" name="Text 9"/>
          <p:cNvSpPr txBox="1"/>
          <p:nvPr/>
        </p:nvSpPr>
        <p:spPr>
          <a:xfrm>
            <a:off x="685800" y="3511296"/>
            <a:ext cx="3291840" cy="16459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OR-Tools CP-SAT constraint solver</a:t>
            </a:r>
            <a:endParaRPr lang="en-US" sz="1300" dirty="0"/>
          </a:p>
          <a:p>
            <a:pPr marL="177800" indent="-177800">
              <a:spcAft>
                <a:spcPts val="600"/>
              </a:spcAft>
              <a:buSzPct val="100000"/>
              <a:buChar char="•"/>
            </a:pPr>
            <a:r>
              <a:rPr lang="en-US" sz="1300" dirty="0">
                <a:solidFill>
                  <a:schemeClr val="tx1"/>
                </a:solidFill>
              </a:rPr>
              <a:t>Exact bin packing: chooses bus sizes and groups</a:t>
            </a:r>
            <a:endParaRPr lang="en-US" sz="1300" dirty="0"/>
          </a:p>
          <a:p>
            <a:pPr marL="177800" indent="-177800">
              <a:spcAft>
                <a:spcPts val="600"/>
              </a:spcAft>
              <a:buSzPct val="100000"/>
              <a:buChar char="•"/>
            </a:pPr>
            <a:r>
              <a:rPr lang="en-US" sz="1300" dirty="0">
                <a:solidFill>
                  <a:schemeClr val="tx1"/>
                </a:solidFill>
              </a:rPr>
              <a:t>Location does not change the price</a:t>
            </a:r>
            <a:endParaRPr lang="en-US" sz="1300" dirty="0"/>
          </a:p>
          <a:p>
            <a:pPr marL="177800" indent="-177800">
              <a:spcAft>
                <a:spcPts val="600"/>
              </a:spcAft>
              <a:buSzPct val="100000"/>
              <a:buChar char="•"/>
            </a:pPr>
            <a:r>
              <a:rPr lang="en-US" sz="1300" dirty="0">
                <a:solidFill>
                  <a:schemeClr val="tx1"/>
                </a:solidFill>
              </a:rPr>
              <a:t>Can prove no cheaper plan exists</a:t>
            </a:r>
            <a:endParaRPr lang="en-US" sz="1300" dirty="0"/>
          </a:p>
        </p:txBody>
      </p:sp>
      <p:sp>
        <p:nvSpPr>
          <p:cNvPr id="14" name="Fixed Cost Model result"/>
          <p:cNvSpPr/>
          <p:nvPr/>
        </p:nvSpPr>
        <p:spPr>
          <a:xfrm>
            <a:off x="685800" y="5276088"/>
            <a:ext cx="3246120" cy="822960"/>
          </a:xfrm>
          <a:prstGeom prst="roundRect">
            <a:avLst>
              <a:gd name="adj" fmla="val 13333"/>
            </a:avLst>
          </a:prstGeom>
          <a:solidFill>
            <a:srgbClr val="FFFFFF"/>
          </a:solidFill>
          <a:ln w="9525">
            <a:solidFill>
              <a:srgbClr val="E6E9EF"/>
            </a:solidFill>
            <a:prstDash val="solid"/>
          </a:ln>
        </p:spPr>
      </p:sp>
      <p:sp>
        <p:nvSpPr>
          <p:cNvPr id="15" name="Text 11"/>
          <p:cNvSpPr txBox="1"/>
          <p:nvPr/>
        </p:nvSpPr>
        <p:spPr>
          <a:xfrm>
            <a:off x="850392" y="5312664"/>
            <a:ext cx="1417320" cy="502920"/>
          </a:xfrm>
          <a:prstGeom prst="rect">
            <a:avLst/>
          </a:prstGeom>
          <a:noFill/>
          <a:ln/>
        </p:spPr>
        <p:txBody>
          <a:bodyPr wrap="square" lIns="0" tIns="0" rIns="0" bIns="0" rtlCol="0" anchor="ctr"/>
          <a:lstStyle/>
          <a:p>
            <a:pPr marL="0" indent="0">
              <a:buNone/>
            </a:pPr>
            <a:r>
              <a:rPr lang="en-US" sz="2600" b="1" dirty="0">
                <a:solidFill>
                  <a:srgbClr val="D7192F"/>
                </a:solidFill>
              </a:rPr>
              <a:t>1,875</a:t>
            </a:r>
            <a:endParaRPr lang="en-US" sz="2600" dirty="0"/>
          </a:p>
        </p:txBody>
      </p:sp>
      <p:sp>
        <p:nvSpPr>
          <p:cNvPr id="16" name="Text 12"/>
          <p:cNvSpPr txBox="1"/>
          <p:nvPr/>
        </p:nvSpPr>
        <p:spPr>
          <a:xfrm>
            <a:off x="2286000" y="5330952"/>
            <a:ext cx="1554480" cy="457200"/>
          </a:xfrm>
          <a:prstGeom prst="rect">
            <a:avLst/>
          </a:prstGeom>
          <a:noFill/>
          <a:ln/>
        </p:spPr>
        <p:txBody>
          <a:bodyPr wrap="square" lIns="0" tIns="0" rIns="0" bIns="0" rtlCol="0" anchor="ctr"/>
          <a:lstStyle/>
          <a:p>
            <a:pPr marL="0" indent="0">
              <a:buNone/>
            </a:pPr>
            <a:r>
              <a:rPr lang="en-US" sz="1100" b="1" dirty="0">
                <a:solidFill>
                  <a:schemeClr val="tx1"/>
                </a:solidFill>
              </a:rPr>
              <a:t>Proven optimal</a:t>
            </a:r>
            <a:endParaRPr lang="en-US" sz="1100" dirty="0"/>
          </a:p>
        </p:txBody>
      </p:sp>
      <p:sp>
        <p:nvSpPr>
          <p:cNvPr id="17" name="Text 13"/>
          <p:cNvSpPr txBox="1"/>
          <p:nvPr/>
        </p:nvSpPr>
        <p:spPr>
          <a:xfrm>
            <a:off x="850392" y="5788152"/>
            <a:ext cx="2971800" cy="256032"/>
          </a:xfrm>
          <a:prstGeom prst="rect">
            <a:avLst/>
          </a:prstGeom>
          <a:noFill/>
          <a:ln/>
        </p:spPr>
        <p:txBody>
          <a:bodyPr wrap="square" lIns="0" tIns="0" rIns="0" bIns="0" rtlCol="0" anchor="t"/>
          <a:lstStyle/>
          <a:p>
            <a:pPr marL="0" indent="0">
              <a:buNone/>
            </a:pPr>
            <a:r>
              <a:rPr lang="en-US" sz="1000" dirty="0">
                <a:solidFill>
                  <a:schemeClr val="tx2"/>
                </a:solidFill>
              </a:rPr>
              <a:t>vs 3,330 booked separately</a:t>
            </a:r>
            <a:endParaRPr lang="en-US" sz="1000" dirty="0"/>
          </a:p>
        </p:txBody>
      </p:sp>
      <p:sp>
        <p:nvSpPr>
          <p:cNvPr id="18" name="Distance Model"/>
          <p:cNvSpPr/>
          <p:nvPr/>
        </p:nvSpPr>
        <p:spPr>
          <a:xfrm>
            <a:off x="4288536" y="2487168"/>
            <a:ext cx="3611880" cy="3794760"/>
          </a:xfrm>
          <a:prstGeom prst="roundRect">
            <a:avLst>
              <a:gd name="adj" fmla="val 3038"/>
            </a:avLst>
          </a:prstGeom>
          <a:solidFill>
            <a:srgbClr val="EAF1FB"/>
          </a:solidFill>
          <a:ln w="9525">
            <a:solidFill>
              <a:srgbClr val="EAF1FB"/>
            </a:solidFill>
            <a:prstDash val="solid"/>
          </a:ln>
        </p:spPr>
      </p:sp>
      <p:sp>
        <p:nvSpPr>
          <p:cNvPr id="19" name="Step 2"/>
          <p:cNvSpPr/>
          <p:nvPr/>
        </p:nvSpPr>
        <p:spPr>
          <a:xfrm>
            <a:off x="4471416" y="2670048"/>
            <a:ext cx="530352" cy="530352"/>
          </a:xfrm>
          <a:prstGeom prst="ellipse">
            <a:avLst/>
          </a:prstGeom>
          <a:solidFill>
            <a:srgbClr val="1F5FBF"/>
          </a:solidFill>
          <a:ln w="12700">
            <a:solidFill>
              <a:srgbClr val="1F5FBF"/>
            </a:solidFill>
            <a:prstDash val="solid"/>
          </a:ln>
        </p:spPr>
      </p:sp>
      <p:sp>
        <p:nvSpPr>
          <p:cNvPr id="20" name="Text 16"/>
          <p:cNvSpPr txBox="1"/>
          <p:nvPr/>
        </p:nvSpPr>
        <p:spPr>
          <a:xfrm>
            <a:off x="4471416" y="2670048"/>
            <a:ext cx="530352" cy="530352"/>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21" name="Text 17"/>
          <p:cNvSpPr txBox="1"/>
          <p:nvPr/>
        </p:nvSpPr>
        <p:spPr>
          <a:xfrm>
            <a:off x="5129784" y="2642616"/>
            <a:ext cx="2103120" cy="329184"/>
          </a:xfrm>
          <a:prstGeom prst="rect">
            <a:avLst/>
          </a:prstGeom>
          <a:noFill/>
          <a:ln/>
        </p:spPr>
        <p:txBody>
          <a:bodyPr wrap="square" lIns="0" tIns="0" rIns="0" bIns="0" rtlCol="0" anchor="t"/>
          <a:lstStyle/>
          <a:p>
            <a:pPr marL="0" indent="0">
              <a:buNone/>
            </a:pPr>
            <a:r>
              <a:rPr lang="en-US" sz="1600" b="1" dirty="0">
                <a:solidFill>
                  <a:schemeClr val="tx1"/>
                </a:solidFill>
              </a:rPr>
              <a:t>Distance Model</a:t>
            </a:r>
            <a:endParaRPr lang="en-US" sz="1600" dirty="0"/>
          </a:p>
        </p:txBody>
      </p:sp>
      <p:sp>
        <p:nvSpPr>
          <p:cNvPr id="22" name="Text 18"/>
          <p:cNvSpPr txBox="1"/>
          <p:nvPr/>
        </p:nvSpPr>
        <p:spPr>
          <a:xfrm>
            <a:off x="5129784" y="2971800"/>
            <a:ext cx="2103120" cy="274320"/>
          </a:xfrm>
          <a:prstGeom prst="rect">
            <a:avLst/>
          </a:prstGeom>
          <a:noFill/>
          <a:ln/>
        </p:spPr>
        <p:txBody>
          <a:bodyPr wrap="square" lIns="0" tIns="0" rIns="0" bIns="0" rtlCol="0" anchor="t"/>
          <a:lstStyle/>
          <a:p>
            <a:pPr marL="0" indent="0">
              <a:buNone/>
            </a:pPr>
            <a:r>
              <a:rPr lang="en-US" sz="1050" b="1" dirty="0">
                <a:solidFill>
                  <a:srgbClr val="1F5FBF"/>
                </a:solidFill>
              </a:rPr>
              <a:t>Minimise rate × miles</a:t>
            </a:r>
            <a:endParaRPr lang="en-US" sz="1050" dirty="0"/>
          </a:p>
        </p:txBody>
      </p:sp>
      <p:pic>
        <p:nvPicPr>
          <p:cNvPr id="23" name="Image 2" descr="FaRoute"/>
          <p:cNvPicPr>
            <a:picLocks noChangeAspect="1"/>
          </p:cNvPicPr>
          <p:nvPr/>
        </p:nvPicPr>
        <p:blipFill>
          <a:blip r:embed="rId5"/>
          <a:stretch>
            <a:fillRect/>
          </a:stretch>
        </p:blipFill>
        <p:spPr>
          <a:xfrm>
            <a:off x="7278624" y="2688336"/>
            <a:ext cx="438912" cy="438912"/>
          </a:xfrm>
          <a:prstGeom prst="rect">
            <a:avLst/>
          </a:prstGeom>
        </p:spPr>
      </p:pic>
      <p:sp>
        <p:nvSpPr>
          <p:cNvPr id="24" name="Shape 19"/>
          <p:cNvSpPr/>
          <p:nvPr/>
        </p:nvSpPr>
        <p:spPr>
          <a:xfrm>
            <a:off x="4471416" y="3383280"/>
            <a:ext cx="3246120" cy="0"/>
          </a:xfrm>
          <a:prstGeom prst="line">
            <a:avLst/>
          </a:prstGeom>
          <a:noFill/>
          <a:ln w="9525">
            <a:solidFill>
              <a:srgbClr val="D9DEE6"/>
            </a:solidFill>
            <a:prstDash val="solid"/>
          </a:ln>
        </p:spPr>
      </p:sp>
      <p:sp>
        <p:nvSpPr>
          <p:cNvPr id="25" name="Text 20"/>
          <p:cNvSpPr txBox="1"/>
          <p:nvPr/>
        </p:nvSpPr>
        <p:spPr>
          <a:xfrm>
            <a:off x="4471416" y="3511296"/>
            <a:ext cx="3291840" cy="16459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OR-Tools vehicle routing</a:t>
            </a:r>
            <a:endParaRPr lang="en-US" sz="1300" dirty="0"/>
          </a:p>
          <a:p>
            <a:pPr marL="177800" indent="-177800">
              <a:spcAft>
                <a:spcPts val="600"/>
              </a:spcAft>
              <a:buSzPct val="100000"/>
              <a:buChar char="•"/>
            </a:pPr>
            <a:r>
              <a:rPr lang="en-US" sz="1300" dirty="0">
                <a:solidFill>
                  <a:schemeClr val="tx1"/>
                </a:solidFill>
              </a:rPr>
              <a:t>Cheapest-arc start + guided local search</a:t>
            </a:r>
            <a:endParaRPr lang="en-US" sz="1300" dirty="0"/>
          </a:p>
          <a:p>
            <a:pPr marL="177800" indent="-177800">
              <a:spcAft>
                <a:spcPts val="600"/>
              </a:spcAft>
              <a:buSzPct val="100000"/>
              <a:buChar char="•"/>
            </a:pPr>
            <a:r>
              <a:rPr lang="en-US" sz="1300" dirty="0">
                <a:solidFill>
                  <a:schemeClr val="tx1"/>
                </a:solidFill>
              </a:rPr>
              <a:t>Orders the pickups on each bus</a:t>
            </a:r>
            <a:endParaRPr lang="en-US" sz="1300" dirty="0"/>
          </a:p>
          <a:p>
            <a:pPr marL="177800" indent="-177800">
              <a:spcAft>
                <a:spcPts val="600"/>
              </a:spcAft>
              <a:buSzPct val="100000"/>
              <a:buChar char="•"/>
            </a:pPr>
            <a:r>
              <a:rPr lang="en-US" sz="1300" dirty="0">
                <a:solidFill>
                  <a:schemeClr val="tx1"/>
                </a:solidFill>
              </a:rPr>
              <a:t>Miles are straight-line (haversine)</a:t>
            </a:r>
            <a:endParaRPr lang="en-US" sz="1300" dirty="0"/>
          </a:p>
        </p:txBody>
      </p:sp>
      <p:sp>
        <p:nvSpPr>
          <p:cNvPr id="26" name="Distance Model result"/>
          <p:cNvSpPr/>
          <p:nvPr/>
        </p:nvSpPr>
        <p:spPr>
          <a:xfrm>
            <a:off x="4471416" y="5276088"/>
            <a:ext cx="3246120" cy="822960"/>
          </a:xfrm>
          <a:prstGeom prst="roundRect">
            <a:avLst>
              <a:gd name="adj" fmla="val 13333"/>
            </a:avLst>
          </a:prstGeom>
          <a:solidFill>
            <a:srgbClr val="FFFFFF"/>
          </a:solidFill>
          <a:ln w="9525">
            <a:solidFill>
              <a:srgbClr val="E6E9EF"/>
            </a:solidFill>
            <a:prstDash val="solid"/>
          </a:ln>
        </p:spPr>
      </p:sp>
      <p:sp>
        <p:nvSpPr>
          <p:cNvPr id="27" name="Text 22"/>
          <p:cNvSpPr txBox="1"/>
          <p:nvPr/>
        </p:nvSpPr>
        <p:spPr>
          <a:xfrm>
            <a:off x="4636008" y="5312664"/>
            <a:ext cx="1417320" cy="502920"/>
          </a:xfrm>
          <a:prstGeom prst="rect">
            <a:avLst/>
          </a:prstGeom>
          <a:noFill/>
          <a:ln/>
        </p:spPr>
        <p:txBody>
          <a:bodyPr wrap="square" lIns="0" tIns="0" rIns="0" bIns="0" rtlCol="0" anchor="ctr"/>
          <a:lstStyle/>
          <a:p>
            <a:pPr marL="0" indent="0">
              <a:buNone/>
            </a:pPr>
            <a:r>
              <a:rPr lang="en-US" sz="2600" b="1" dirty="0">
                <a:solidFill>
                  <a:srgbClr val="1F5FBF"/>
                </a:solidFill>
              </a:rPr>
              <a:t>2,787</a:t>
            </a:r>
            <a:endParaRPr lang="en-US" sz="2600" dirty="0"/>
          </a:p>
        </p:txBody>
      </p:sp>
      <p:sp>
        <p:nvSpPr>
          <p:cNvPr id="28" name="Text 23"/>
          <p:cNvSpPr txBox="1"/>
          <p:nvPr/>
        </p:nvSpPr>
        <p:spPr>
          <a:xfrm>
            <a:off x="6071616" y="5330952"/>
            <a:ext cx="1554480" cy="457200"/>
          </a:xfrm>
          <a:prstGeom prst="rect">
            <a:avLst/>
          </a:prstGeom>
          <a:noFill/>
          <a:ln/>
        </p:spPr>
        <p:txBody>
          <a:bodyPr wrap="square" lIns="0" tIns="0" rIns="0" bIns="0" rtlCol="0" anchor="ctr"/>
          <a:lstStyle/>
          <a:p>
            <a:pPr marL="0" indent="0">
              <a:buNone/>
            </a:pPr>
            <a:r>
              <a:rPr lang="en-US" sz="1100" b="1" dirty="0">
                <a:solidFill>
                  <a:schemeClr val="tx1"/>
                </a:solidFill>
              </a:rPr>
              <a:t>Best found in 300 s</a:t>
            </a:r>
            <a:endParaRPr lang="en-US" sz="1100" dirty="0"/>
          </a:p>
        </p:txBody>
      </p:sp>
      <p:sp>
        <p:nvSpPr>
          <p:cNvPr id="29" name="Text 24"/>
          <p:cNvSpPr txBox="1"/>
          <p:nvPr/>
        </p:nvSpPr>
        <p:spPr>
          <a:xfrm>
            <a:off x="4636008" y="5788152"/>
            <a:ext cx="2971800" cy="256032"/>
          </a:xfrm>
          <a:prstGeom prst="rect">
            <a:avLst/>
          </a:prstGeom>
          <a:noFill/>
          <a:ln/>
        </p:spPr>
        <p:txBody>
          <a:bodyPr wrap="square" lIns="0" tIns="0" rIns="0" bIns="0" rtlCol="0" anchor="t"/>
          <a:lstStyle/>
          <a:p>
            <a:pPr marL="0" indent="0">
              <a:buNone/>
            </a:pPr>
            <a:r>
              <a:rPr lang="en-US" sz="1000" dirty="0">
                <a:solidFill>
                  <a:schemeClr val="tx2"/>
                </a:solidFill>
              </a:rPr>
              <a:t>vs 3,904 booked separately</a:t>
            </a:r>
            <a:endParaRPr lang="en-US" sz="1000" dirty="0"/>
          </a:p>
        </p:txBody>
      </p:sp>
      <p:sp>
        <p:nvSpPr>
          <p:cNvPr id="30" name="Travel-time Model"/>
          <p:cNvSpPr/>
          <p:nvPr/>
        </p:nvSpPr>
        <p:spPr>
          <a:xfrm>
            <a:off x="8074152" y="2487168"/>
            <a:ext cx="3611880" cy="3794760"/>
          </a:xfrm>
          <a:prstGeom prst="roundRect">
            <a:avLst>
              <a:gd name="adj" fmla="val 3038"/>
            </a:avLst>
          </a:prstGeom>
          <a:solidFill>
            <a:srgbClr val="EAF6EE"/>
          </a:solidFill>
          <a:ln w="9525">
            <a:solidFill>
              <a:srgbClr val="EAF6EE"/>
            </a:solidFill>
            <a:prstDash val="solid"/>
          </a:ln>
        </p:spPr>
      </p:sp>
      <p:sp>
        <p:nvSpPr>
          <p:cNvPr id="31" name="Step 3"/>
          <p:cNvSpPr/>
          <p:nvPr/>
        </p:nvSpPr>
        <p:spPr>
          <a:xfrm>
            <a:off x="8257032" y="2670048"/>
            <a:ext cx="530352" cy="530352"/>
          </a:xfrm>
          <a:prstGeom prst="ellipse">
            <a:avLst/>
          </a:prstGeom>
          <a:solidFill>
            <a:srgbClr val="2E9E4F"/>
          </a:solidFill>
          <a:ln w="12700">
            <a:solidFill>
              <a:srgbClr val="2E9E4F"/>
            </a:solidFill>
            <a:prstDash val="solid"/>
          </a:ln>
        </p:spPr>
      </p:sp>
      <p:sp>
        <p:nvSpPr>
          <p:cNvPr id="32" name="Text 27"/>
          <p:cNvSpPr txBox="1"/>
          <p:nvPr/>
        </p:nvSpPr>
        <p:spPr>
          <a:xfrm>
            <a:off x="8257032" y="2670048"/>
            <a:ext cx="530352" cy="530352"/>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33" name="Text 28"/>
          <p:cNvSpPr txBox="1"/>
          <p:nvPr/>
        </p:nvSpPr>
        <p:spPr>
          <a:xfrm>
            <a:off x="8915400" y="2642616"/>
            <a:ext cx="2103120" cy="329184"/>
          </a:xfrm>
          <a:prstGeom prst="rect">
            <a:avLst/>
          </a:prstGeom>
          <a:noFill/>
          <a:ln/>
        </p:spPr>
        <p:txBody>
          <a:bodyPr wrap="square" lIns="0" tIns="0" rIns="0" bIns="0" rtlCol="0" anchor="t"/>
          <a:lstStyle/>
          <a:p>
            <a:pPr marL="0" indent="0">
              <a:buNone/>
            </a:pPr>
            <a:r>
              <a:rPr lang="en-US" sz="1600" b="1" dirty="0">
                <a:solidFill>
                  <a:schemeClr val="tx1"/>
                </a:solidFill>
              </a:rPr>
              <a:t>Travel-time Model</a:t>
            </a:r>
            <a:endParaRPr lang="en-US" sz="1600" dirty="0"/>
          </a:p>
        </p:txBody>
      </p:sp>
      <p:sp>
        <p:nvSpPr>
          <p:cNvPr id="34" name="Text 29"/>
          <p:cNvSpPr txBox="1"/>
          <p:nvPr/>
        </p:nvSpPr>
        <p:spPr>
          <a:xfrm>
            <a:off x="8915400" y="2971800"/>
            <a:ext cx="2103120" cy="274320"/>
          </a:xfrm>
          <a:prstGeom prst="rect">
            <a:avLst/>
          </a:prstGeom>
          <a:noFill/>
          <a:ln/>
        </p:spPr>
        <p:txBody>
          <a:bodyPr wrap="square" lIns="0" tIns="0" rIns="0" bIns="0" rtlCol="0" anchor="t"/>
          <a:lstStyle/>
          <a:p>
            <a:pPr marL="0" indent="0">
              <a:buNone/>
            </a:pPr>
            <a:r>
              <a:rPr lang="en-US" sz="1050" b="1" dirty="0">
                <a:solidFill>
                  <a:srgbClr val="2E9E4F"/>
                </a:solidFill>
              </a:rPr>
              <a:t>Minimise rate × driving hours</a:t>
            </a:r>
            <a:endParaRPr lang="en-US" sz="1050" dirty="0"/>
          </a:p>
        </p:txBody>
      </p:sp>
      <p:pic>
        <p:nvPicPr>
          <p:cNvPr id="35" name="Image 3" descr="FaClock"/>
          <p:cNvPicPr>
            <a:picLocks noChangeAspect="1"/>
          </p:cNvPicPr>
          <p:nvPr/>
        </p:nvPicPr>
        <p:blipFill>
          <a:blip r:embed="rId6"/>
          <a:stretch>
            <a:fillRect/>
          </a:stretch>
        </p:blipFill>
        <p:spPr>
          <a:xfrm>
            <a:off x="11064240" y="2688336"/>
            <a:ext cx="438912" cy="438912"/>
          </a:xfrm>
          <a:prstGeom prst="rect">
            <a:avLst/>
          </a:prstGeom>
        </p:spPr>
      </p:pic>
      <p:sp>
        <p:nvSpPr>
          <p:cNvPr id="36" name="Shape 30"/>
          <p:cNvSpPr/>
          <p:nvPr/>
        </p:nvSpPr>
        <p:spPr>
          <a:xfrm>
            <a:off x="8257032" y="3383280"/>
            <a:ext cx="3246120" cy="0"/>
          </a:xfrm>
          <a:prstGeom prst="line">
            <a:avLst/>
          </a:prstGeom>
          <a:noFill/>
          <a:ln w="9525">
            <a:solidFill>
              <a:srgbClr val="D9DEE6"/>
            </a:solidFill>
            <a:prstDash val="solid"/>
          </a:ln>
        </p:spPr>
      </p:sp>
      <p:sp>
        <p:nvSpPr>
          <p:cNvPr id="37" name="Text 31"/>
          <p:cNvSpPr txBox="1"/>
          <p:nvPr/>
        </p:nvSpPr>
        <p:spPr>
          <a:xfrm>
            <a:off x="8257032" y="3511296"/>
            <a:ext cx="3291840" cy="16459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Same routing search</a:t>
            </a:r>
            <a:endParaRPr lang="en-US" sz="1300" dirty="0"/>
          </a:p>
          <a:p>
            <a:pPr marL="177800" indent="-177800">
              <a:spcAft>
                <a:spcPts val="600"/>
              </a:spcAft>
              <a:buSzPct val="100000"/>
              <a:buChar char="•"/>
            </a:pPr>
            <a:r>
              <a:rPr lang="en-US" sz="1300" dirty="0">
                <a:solidFill>
                  <a:schemeClr val="tx1"/>
                </a:solidFill>
              </a:rPr>
              <a:t>OSRM road driving times, cached</a:t>
            </a:r>
            <a:endParaRPr lang="en-US" sz="1300" dirty="0"/>
          </a:p>
          <a:p>
            <a:pPr marL="177800" indent="-177800">
              <a:spcAft>
                <a:spcPts val="600"/>
              </a:spcAft>
              <a:buSzPct val="100000"/>
              <a:buChar char="•"/>
            </a:pPr>
            <a:r>
              <a:rPr lang="en-US" sz="1300" dirty="0">
                <a:solidFill>
                  <a:schemeClr val="tx1"/>
                </a:solidFill>
              </a:rPr>
              <a:t>If OSRM is unavailable: labelled estimate</a:t>
            </a:r>
            <a:endParaRPr lang="en-US" sz="1300" dirty="0"/>
          </a:p>
          <a:p>
            <a:pPr marL="177800" indent="-177800">
              <a:spcAft>
                <a:spcPts val="600"/>
              </a:spcAft>
              <a:buSzPct val="100000"/>
              <a:buChar char="•"/>
            </a:pPr>
            <a:r>
              <a:rPr lang="en-US" sz="1300" dirty="0">
                <a:solidFill>
                  <a:schemeClr val="tx1"/>
                </a:solidFill>
              </a:rPr>
              <a:t>No live traffic or boarding time</a:t>
            </a:r>
            <a:endParaRPr lang="en-US" sz="1300" dirty="0"/>
          </a:p>
        </p:txBody>
      </p:sp>
      <p:sp>
        <p:nvSpPr>
          <p:cNvPr id="38" name="Travel-time Model result"/>
          <p:cNvSpPr/>
          <p:nvPr/>
        </p:nvSpPr>
        <p:spPr>
          <a:xfrm>
            <a:off x="8257032" y="5276088"/>
            <a:ext cx="3246120" cy="822960"/>
          </a:xfrm>
          <a:prstGeom prst="roundRect">
            <a:avLst>
              <a:gd name="adj" fmla="val 13333"/>
            </a:avLst>
          </a:prstGeom>
          <a:solidFill>
            <a:srgbClr val="FFFFFF"/>
          </a:solidFill>
          <a:ln w="9525">
            <a:solidFill>
              <a:srgbClr val="E6E9EF"/>
            </a:solidFill>
            <a:prstDash val="solid"/>
          </a:ln>
        </p:spPr>
      </p:sp>
      <p:sp>
        <p:nvSpPr>
          <p:cNvPr id="39" name="Text 33"/>
          <p:cNvSpPr txBox="1"/>
          <p:nvPr/>
        </p:nvSpPr>
        <p:spPr>
          <a:xfrm>
            <a:off x="8421624" y="5312664"/>
            <a:ext cx="1417320" cy="502920"/>
          </a:xfrm>
          <a:prstGeom prst="rect">
            <a:avLst/>
          </a:prstGeom>
          <a:noFill/>
          <a:ln/>
        </p:spPr>
        <p:txBody>
          <a:bodyPr wrap="square" lIns="0" tIns="0" rIns="0" bIns="0" rtlCol="0" anchor="ctr"/>
          <a:lstStyle/>
          <a:p>
            <a:pPr marL="0" indent="0">
              <a:buNone/>
            </a:pPr>
            <a:r>
              <a:rPr lang="en-US" sz="2600" b="1" dirty="0">
                <a:solidFill>
                  <a:srgbClr val="2E9E4F"/>
                </a:solidFill>
              </a:rPr>
              <a:t>6,763</a:t>
            </a:r>
            <a:endParaRPr lang="en-US" sz="2600" dirty="0"/>
          </a:p>
        </p:txBody>
      </p:sp>
      <p:sp>
        <p:nvSpPr>
          <p:cNvPr id="40" name="Text 34"/>
          <p:cNvSpPr txBox="1"/>
          <p:nvPr/>
        </p:nvSpPr>
        <p:spPr>
          <a:xfrm>
            <a:off x="9857232" y="5330952"/>
            <a:ext cx="1554480" cy="457200"/>
          </a:xfrm>
          <a:prstGeom prst="rect">
            <a:avLst/>
          </a:prstGeom>
          <a:noFill/>
          <a:ln/>
        </p:spPr>
        <p:txBody>
          <a:bodyPr wrap="square" lIns="0" tIns="0" rIns="0" bIns="0" rtlCol="0" anchor="ctr"/>
          <a:lstStyle/>
          <a:p>
            <a:pPr marL="0" indent="0">
              <a:buNone/>
            </a:pPr>
            <a:r>
              <a:rPr lang="en-US" sz="1100" b="1" dirty="0">
                <a:solidFill>
                  <a:schemeClr val="tx1"/>
                </a:solidFill>
              </a:rPr>
              <a:t>Best found in 300 s</a:t>
            </a:r>
            <a:endParaRPr lang="en-US" sz="1100" dirty="0"/>
          </a:p>
        </p:txBody>
      </p:sp>
      <p:sp>
        <p:nvSpPr>
          <p:cNvPr id="41" name="Text 35"/>
          <p:cNvSpPr txBox="1"/>
          <p:nvPr/>
        </p:nvSpPr>
        <p:spPr>
          <a:xfrm>
            <a:off x="8421624" y="5788152"/>
            <a:ext cx="2971800" cy="256032"/>
          </a:xfrm>
          <a:prstGeom prst="rect">
            <a:avLst/>
          </a:prstGeom>
          <a:noFill/>
          <a:ln/>
        </p:spPr>
        <p:txBody>
          <a:bodyPr wrap="square" lIns="0" tIns="0" rIns="0" bIns="0" rtlCol="0" anchor="t"/>
          <a:lstStyle/>
          <a:p>
            <a:pPr marL="0" indent="0">
              <a:buNone/>
            </a:pPr>
            <a:r>
              <a:rPr lang="en-US" sz="1000" dirty="0">
                <a:solidFill>
                  <a:schemeClr val="tx2"/>
                </a:solidFill>
              </a:rPr>
              <a:t>vs 8,220 booked separately</a:t>
            </a:r>
            <a:endParaRPr lang="en-US" sz="1000" dirty="0"/>
          </a:p>
        </p:txBody>
      </p:sp>
      <p:sp>
        <p:nvSpPr>
          <p:cNvPr id="42"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5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350"/>
                                        <p:tgtEl>
                                          <p:spTgt spid="30"/>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350"/>
                                        <p:tgtEl>
                                          <p:spTgt spid="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350"/>
                                        <p:tgtEl>
                                          <p:spTgt spid="2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35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50"/>
                                        <p:tgtEl>
                                          <p:spTgt spid="8"/>
                                        </p:tgtEl>
                                      </p:cBhvr>
                                    </p:animEffect>
                                  </p:childTnLst>
                                </p:cTn>
                              </p:par>
                              <p:par>
                                <p:cTn id="30" presetID="10" presetClass="entr" presetSubtype="0" fill="hold" nodeType="with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350"/>
                                        <p:tgtEl>
                                          <p:spTgt spid="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350"/>
                                        <p:tgtEl>
                                          <p:spTgt spid="20"/>
                                        </p:tgtEl>
                                      </p:cBhvr>
                                    </p:animEffect>
                                  </p:childTnLst>
                                </p:cTn>
                              </p:par>
                              <p:par>
                                <p:cTn id="36" presetID="10" presetClass="entr" presetSubtype="0" fill="hold" nodeType="with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35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3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3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50"/>
                                        <p:tgtEl>
                                          <p:spTgt spid="11"/>
                                        </p:tgtEl>
                                      </p:cBhvr>
                                    </p:animEffect>
                                  </p:childTnLst>
                                </p:cTn>
                              </p:par>
                              <p:par>
                                <p:cTn id="48" presetID="10" presetClass="entr" presetSubtype="0" fill="hold"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350"/>
                                        <p:tgtEl>
                                          <p:spTgt spid="23"/>
                                        </p:tgtEl>
                                      </p:cBhvr>
                                    </p:animEffect>
                                  </p:childTnLst>
                                </p:cTn>
                              </p:par>
                              <p:par>
                                <p:cTn id="51" presetID="10" presetClass="entr" presetSubtype="0" fill="hold"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35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0"/>
                                        </p:tgtEl>
                                        <p:attrNameLst>
                                          <p:attrName>style.visibility</p:attrName>
                                        </p:attrNameLst>
                                      </p:cBhvr>
                                      <p:to>
                                        <p:strVal val="visible"/>
                                      </p:to>
                                    </p:set>
                                    <p:animEffect transition="in" filter="fade">
                                      <p:cBhvr>
                                        <p:cTn id="56" dur="350"/>
                                        <p:tgtEl>
                                          <p:spTgt spid="1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350"/>
                                        <p:tgtEl>
                                          <p:spTgt spid="2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350"/>
                                        <p:tgtEl>
                                          <p:spTgt spid="34"/>
                                        </p:tgtEl>
                                      </p:cBhvr>
                                    </p:animEffect>
                                  </p:childTnLst>
                                </p:cTn>
                              </p:par>
                            </p:childTnLst>
                          </p:cTn>
                        </p:par>
                        <p:par>
                          <p:cTn id="63" fill="hold">
                            <p:stCondLst>
                              <p:cond delay="700"/>
                            </p:stCondLst>
                            <p:childTnLst>
                              <p:par>
                                <p:cTn id="64" presetID="10" presetClass="entr" presetSubtype="0" fill="hold" nodeType="afterEffect">
                                  <p:stCondLst>
                                    <p:cond delay="0"/>
                                  </p:stCondLst>
                                  <p:childTnLst>
                                    <p:set>
                                      <p:cBhvr>
                                        <p:cTn id="65" dur="1" fill="hold">
                                          <p:stCondLst>
                                            <p:cond delay="0"/>
                                          </p:stCondLst>
                                        </p:cTn>
                                        <p:tgtEl>
                                          <p:spTgt spid="12"/>
                                        </p:tgtEl>
                                        <p:attrNameLst>
                                          <p:attrName>style.visibility</p:attrName>
                                        </p:attrNameLst>
                                      </p:cBhvr>
                                      <p:to>
                                        <p:strVal val="visible"/>
                                      </p:to>
                                    </p:set>
                                    <p:animEffect transition="in" filter="fade">
                                      <p:cBhvr>
                                        <p:cTn id="66" dur="350"/>
                                        <p:tgtEl>
                                          <p:spTgt spid="12"/>
                                        </p:tgtEl>
                                      </p:cBhvr>
                                    </p:animEffect>
                                  </p:childTnLst>
                                </p:cTn>
                              </p:par>
                              <p:par>
                                <p:cTn id="67" presetID="10" presetClass="entr" presetSubtype="0" fill="hold"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35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36"/>
                                        </p:tgtEl>
                                        <p:attrNameLst>
                                          <p:attrName>style.visibility</p:attrName>
                                        </p:attrNameLst>
                                      </p:cBhvr>
                                      <p:to>
                                        <p:strVal val="visible"/>
                                      </p:to>
                                    </p:set>
                                    <p:animEffect transition="in" filter="fade">
                                      <p:cBhvr>
                                        <p:cTn id="72" dur="350"/>
                                        <p:tgtEl>
                                          <p:spTgt spid="3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3"/>
                                        </p:tgtEl>
                                        <p:attrNameLst>
                                          <p:attrName>style.visibility</p:attrName>
                                        </p:attrNameLst>
                                      </p:cBhvr>
                                      <p:to>
                                        <p:strVal val="visible"/>
                                      </p:to>
                                    </p:set>
                                    <p:animEffect transition="in" filter="fade">
                                      <p:cBhvr>
                                        <p:cTn id="75" dur="350"/>
                                        <p:tgtEl>
                                          <p:spTgt spid="1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3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350"/>
                                        <p:tgtEl>
                                          <p:spTgt spid="37"/>
                                        </p:tgtEl>
                                      </p:cBhvr>
                                    </p:animEffect>
                                  </p:childTnLst>
                                </p:cTn>
                              </p:par>
                            </p:childTnLst>
                          </p:cTn>
                        </p:par>
                        <p:par>
                          <p:cTn id="82" fill="hold">
                            <p:stCondLst>
                              <p:cond delay="1050"/>
                            </p:stCondLst>
                            <p:childTnLst>
                              <p:par>
                                <p:cTn id="83" presetID="10" presetClass="entr" presetSubtype="0" fill="hold" nodeType="afterEffect">
                                  <p:stCondLst>
                                    <p:cond delay="0"/>
                                  </p:stCondLst>
                                  <p:childTnLst>
                                    <p:set>
                                      <p:cBhvr>
                                        <p:cTn id="84" dur="1" fill="hold">
                                          <p:stCondLst>
                                            <p:cond delay="0"/>
                                          </p:stCondLst>
                                        </p:cTn>
                                        <p:tgtEl>
                                          <p:spTgt spid="14"/>
                                        </p:tgtEl>
                                        <p:attrNameLst>
                                          <p:attrName>style.visibility</p:attrName>
                                        </p:attrNameLst>
                                      </p:cBhvr>
                                      <p:to>
                                        <p:strVal val="visible"/>
                                      </p:to>
                                    </p:set>
                                    <p:animEffect transition="in" filter="fade">
                                      <p:cBhvr>
                                        <p:cTn id="85" dur="350"/>
                                        <p:tgtEl>
                                          <p:spTgt spid="14"/>
                                        </p:tgtEl>
                                      </p:cBhvr>
                                    </p:animEffect>
                                  </p:childTnLst>
                                </p:cTn>
                              </p:par>
                              <p:par>
                                <p:cTn id="86" presetID="10" presetClass="entr" presetSubtype="0" fill="hold" nodeType="withEffect">
                                  <p:stCondLst>
                                    <p:cond delay="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350"/>
                                        <p:tgtEl>
                                          <p:spTgt spid="26"/>
                                        </p:tgtEl>
                                      </p:cBhvr>
                                    </p:animEffect>
                                  </p:childTnLst>
                                </p:cTn>
                              </p:par>
                              <p:par>
                                <p:cTn id="89" presetID="10" presetClass="entr" presetSubtype="0" fill="hold" nodeType="withEffect">
                                  <p:stCondLst>
                                    <p:cond delay="0"/>
                                  </p:stCondLst>
                                  <p:childTnLst>
                                    <p:set>
                                      <p:cBhvr>
                                        <p:cTn id="90" dur="1" fill="hold">
                                          <p:stCondLst>
                                            <p:cond delay="0"/>
                                          </p:stCondLst>
                                        </p:cTn>
                                        <p:tgtEl>
                                          <p:spTgt spid="38"/>
                                        </p:tgtEl>
                                        <p:attrNameLst>
                                          <p:attrName>style.visibility</p:attrName>
                                        </p:attrNameLst>
                                      </p:cBhvr>
                                      <p:to>
                                        <p:strVal val="visible"/>
                                      </p:to>
                                    </p:set>
                                    <p:animEffect transition="in" filter="fade">
                                      <p:cBhvr>
                                        <p:cTn id="91" dur="350"/>
                                        <p:tgtEl>
                                          <p:spTgt spid="38"/>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15"/>
                                        </p:tgtEl>
                                        <p:attrNameLst>
                                          <p:attrName>style.visibility</p:attrName>
                                        </p:attrNameLst>
                                      </p:cBhvr>
                                      <p:to>
                                        <p:strVal val="visible"/>
                                      </p:to>
                                    </p:set>
                                    <p:animEffect transition="in" filter="fade">
                                      <p:cBhvr>
                                        <p:cTn id="94" dur="350"/>
                                        <p:tgtEl>
                                          <p:spTgt spid="1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350"/>
                                        <p:tgtEl>
                                          <p:spTgt spid="2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9"/>
                                        </p:tgtEl>
                                        <p:attrNameLst>
                                          <p:attrName>style.visibility</p:attrName>
                                        </p:attrNameLst>
                                      </p:cBhvr>
                                      <p:to>
                                        <p:strVal val="visible"/>
                                      </p:to>
                                    </p:set>
                                    <p:animEffect transition="in" filter="fade">
                                      <p:cBhvr>
                                        <p:cTn id="100" dur="350"/>
                                        <p:tgtEl>
                                          <p:spTgt spid="3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16"/>
                                        </p:tgtEl>
                                        <p:attrNameLst>
                                          <p:attrName>style.visibility</p:attrName>
                                        </p:attrNameLst>
                                      </p:cBhvr>
                                      <p:to>
                                        <p:strVal val="visible"/>
                                      </p:to>
                                    </p:set>
                                    <p:animEffect transition="in" filter="fade">
                                      <p:cBhvr>
                                        <p:cTn id="103" dur="350"/>
                                        <p:tgtEl>
                                          <p:spTgt spid="1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350"/>
                                        <p:tgtEl>
                                          <p:spTgt spid="2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350"/>
                                        <p:tgtEl>
                                          <p:spTgt spid="40"/>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17"/>
                                        </p:tgtEl>
                                        <p:attrNameLst>
                                          <p:attrName>style.visibility</p:attrName>
                                        </p:attrNameLst>
                                      </p:cBhvr>
                                      <p:to>
                                        <p:strVal val="visible"/>
                                      </p:to>
                                    </p:set>
                                    <p:animEffect transition="in" filter="fade">
                                      <p:cBhvr>
                                        <p:cTn id="112" dur="350"/>
                                        <p:tgtEl>
                                          <p:spTgt spid="1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5" dur="350"/>
                                        <p:tgtEl>
                                          <p:spTgt spid="29"/>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3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P spid="10" grpId="0" animBg="1"/>
      <p:bldP spid="13" grpId="0" animBg="1"/>
      <p:bldP spid="15" grpId="0" animBg="1"/>
      <p:bldP spid="16" grpId="0" animBg="1"/>
      <p:bldP spid="17" grpId="0" animBg="1"/>
      <p:bldP spid="20" grpId="0" animBg="1"/>
      <p:bldP spid="21" grpId="0" animBg="1"/>
      <p:bldP spid="22" grpId="0" animBg="1"/>
      <p:bldP spid="25" grpId="0" animBg="1"/>
      <p:bldP spid="27" grpId="0" animBg="1"/>
      <p:bldP spid="28" grpId="0" animBg="1"/>
      <p:bldP spid="29" grpId="0" animBg="1"/>
      <p:bldP spid="32" grpId="0" animBg="1"/>
      <p:bldP spid="33" grpId="0" animBg="1"/>
      <p:bldP spid="34" grpId="0" animBg="1"/>
      <p:bldP spid="37" grpId="0" animBg="1"/>
      <p:bldP spid="39" grpId="0" animBg="1"/>
      <p:bldP spid="40" grpId="0" animBg="1"/>
      <p:bldP spid="4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oaches outside Principality Stadium, Cardiff (illustration from the team's reference slides)"/>
          <p:cNvPicPr>
            <a:picLocks noChangeAspect="1"/>
          </p:cNvPicPr>
          <p:nvPr/>
        </p:nvPicPr>
        <p:blipFill>
          <a:blip r:embed="rId3"/>
          <a:stretch>
            <a:fillRect/>
          </a:stretch>
        </p:blipFill>
        <p:spPr>
          <a:xfrm>
            <a:off x="8908338" y="0"/>
            <a:ext cx="3283357" cy="1874520"/>
          </a:xfrm>
          <a:prstGeom prst="rect">
            <a:avLst/>
          </a:prstGeom>
        </p:spPr>
      </p:pic>
      <p:sp>
        <p:nvSpPr>
          <p:cNvPr id="3" name="Text 0"/>
          <p:cNvSpPr>
            <a:spLocks noGrp="1"/>
          </p:cNvSpPr>
          <p:nvPr>
            <p:ph type="body" idx="100" hasCustomPrompt="1"/>
          </p:nvPr>
        </p:nvSpPr>
        <p:spPr>
          <a:xfrm>
            <a:off x="502920" y="292608"/>
            <a:ext cx="731520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RESULTS AND PERFORMANCE</a:t>
            </a:r>
            <a:endParaRPr lang="en-US" sz="1300" dirty="0"/>
          </a:p>
        </p:txBody>
      </p:sp>
      <p:sp>
        <p:nvSpPr>
          <p:cNvPr id="4" name="Text 1"/>
          <p:cNvSpPr>
            <a:spLocks noGrp="1"/>
          </p:cNvSpPr>
          <p:nvPr>
            <p:ph type="title" idx="102" hasCustomPrompt="1"/>
          </p:nvPr>
        </p:nvSpPr>
        <p:spPr>
          <a:xfrm>
            <a:off x="502920" y="777240"/>
            <a:ext cx="7589520" cy="1051560"/>
          </a:xfrm>
          <a:prstGeom prst="rect">
            <a:avLst/>
          </a:prstGeom>
          <a:noFill/>
          <a:ln/>
        </p:spPr>
        <p:txBody>
          <a:bodyPr wrap="square" lIns="0" tIns="0" rIns="0" bIns="0" rtlCol="0" anchor="t"/>
          <a:lstStyle/>
          <a:p>
            <a:pPr marL="0" indent="0" algn="l">
              <a:buNone/>
            </a:pPr>
            <a:r>
              <a:rPr lang="en-US" sz="3400" b="1" dirty="0">
                <a:solidFill>
                  <a:srgbClr val="0B1F45"/>
                </a:solidFill>
              </a:rPr>
              <a:t>Significant Improvements in
</a:t>
            </a:r>
            <a:r>
              <a:rPr lang="en-US" sz="3400" b="1" dirty="0">
                <a:solidFill>
                  <a:srgbClr val="D7192F"/>
                </a:solidFill>
              </a:rPr>
              <a:t>Transport Efficiency</a:t>
            </a:r>
            <a:endParaRPr lang="en-US" sz="3400" dirty="0"/>
          </a:p>
        </p:txBody>
      </p:sp>
      <p:sp>
        <p:nvSpPr>
          <p:cNvPr id="5" name="Text 2"/>
          <p:cNvSpPr txBox="1"/>
          <p:nvPr/>
        </p:nvSpPr>
        <p:spPr>
          <a:xfrm>
            <a:off x="502920" y="1874520"/>
            <a:ext cx="7315200" cy="566928"/>
          </a:xfrm>
          <a:prstGeom prst="rect">
            <a:avLst/>
          </a:prstGeom>
          <a:noFill/>
          <a:ln/>
        </p:spPr>
        <p:txBody>
          <a:bodyPr wrap="square" lIns="0" tIns="0" rIns="0" bIns="0" rtlCol="0" anchor="t"/>
          <a:lstStyle/>
          <a:p>
            <a:pPr marL="0" indent="0">
              <a:buNone/>
            </a:pPr>
            <a:r>
              <a:rPr lang="en-US" sz="1500" dirty="0">
                <a:solidFill>
                  <a:schemeClr val="tx2"/>
                </a:solidFill>
              </a:rPr>
              <a:t>Fixed-price plan on the challenge data: fewer, fuller buses, every school kept together.</a:t>
            </a:r>
            <a:endParaRPr lang="en-US" sz="1500" dirty="0"/>
          </a:p>
        </p:txBody>
      </p:sp>
      <p:sp>
        <p:nvSpPr>
          <p:cNvPr id="6" name="Total transport cost"/>
          <p:cNvSpPr/>
          <p:nvPr/>
        </p:nvSpPr>
        <p:spPr>
          <a:xfrm>
            <a:off x="502920" y="2487168"/>
            <a:ext cx="2697480" cy="1207008"/>
          </a:xfrm>
          <a:prstGeom prst="roundRect">
            <a:avLst>
              <a:gd name="adj" fmla="val 9091"/>
            </a:avLst>
          </a:prstGeom>
          <a:solidFill>
            <a:srgbClr val="FDECEE"/>
          </a:solidFill>
          <a:ln w="9525">
            <a:solidFill>
              <a:srgbClr val="FDECEE"/>
            </a:solidFill>
            <a:prstDash val="solid"/>
          </a:ln>
        </p:spPr>
      </p:sp>
      <p:pic>
        <p:nvPicPr>
          <p:cNvPr id="7" name="Image 1" descr="Total transport cost"/>
          <p:cNvPicPr>
            <a:picLocks noChangeAspect="1"/>
          </p:cNvPicPr>
          <p:nvPr/>
        </p:nvPicPr>
        <p:blipFill>
          <a:blip r:embed="rId4"/>
          <a:stretch>
            <a:fillRect/>
          </a:stretch>
        </p:blipFill>
        <p:spPr>
          <a:xfrm>
            <a:off x="685800" y="2788920"/>
            <a:ext cx="566928" cy="566928"/>
          </a:xfrm>
          <a:prstGeom prst="rect">
            <a:avLst/>
          </a:prstGeom>
        </p:spPr>
      </p:pic>
      <p:sp>
        <p:nvSpPr>
          <p:cNvPr id="8" name="Text 4"/>
          <p:cNvSpPr txBox="1"/>
          <p:nvPr/>
        </p:nvSpPr>
        <p:spPr>
          <a:xfrm>
            <a:off x="1417320" y="2578608"/>
            <a:ext cx="1737360" cy="256032"/>
          </a:xfrm>
          <a:prstGeom prst="rect">
            <a:avLst/>
          </a:prstGeom>
          <a:noFill/>
          <a:ln/>
        </p:spPr>
        <p:txBody>
          <a:bodyPr wrap="square" lIns="0" tIns="0" rIns="0" bIns="0" rtlCol="0" anchor="t"/>
          <a:lstStyle/>
          <a:p>
            <a:pPr marL="0" indent="0">
              <a:buNone/>
            </a:pPr>
            <a:r>
              <a:rPr lang="en-US" sz="1200" b="1" dirty="0">
                <a:solidFill>
                  <a:schemeClr val="tx1"/>
                </a:solidFill>
              </a:rPr>
              <a:t>Total transport cost</a:t>
            </a:r>
            <a:endParaRPr lang="en-US" sz="1200" dirty="0"/>
          </a:p>
        </p:txBody>
      </p:sp>
      <p:sp>
        <p:nvSpPr>
          <p:cNvPr id="9" name="Text 5"/>
          <p:cNvSpPr txBox="1"/>
          <p:nvPr/>
        </p:nvSpPr>
        <p:spPr>
          <a:xfrm>
            <a:off x="1417320" y="2834640"/>
            <a:ext cx="1737360" cy="475488"/>
          </a:xfrm>
          <a:prstGeom prst="rect">
            <a:avLst/>
          </a:prstGeom>
          <a:noFill/>
          <a:ln/>
        </p:spPr>
        <p:txBody>
          <a:bodyPr wrap="square" lIns="0" tIns="0" rIns="0" bIns="0" rtlCol="0" anchor="t"/>
          <a:lstStyle/>
          <a:p>
            <a:pPr marL="0" indent="0">
              <a:buNone/>
            </a:pPr>
            <a:r>
              <a:rPr lang="en-US" sz="2500" b="1" dirty="0">
                <a:solidFill>
                  <a:srgbClr val="D7192F"/>
                </a:solidFill>
              </a:rPr>
              <a:t>↓ 43.7%</a:t>
            </a:r>
            <a:endParaRPr lang="en-US" sz="2500" dirty="0"/>
          </a:p>
        </p:txBody>
      </p:sp>
      <p:sp>
        <p:nvSpPr>
          <p:cNvPr id="10" name="Text 6"/>
          <p:cNvSpPr txBox="1"/>
          <p:nvPr/>
        </p:nvSpPr>
        <p:spPr>
          <a:xfrm>
            <a:off x="1417320" y="3310128"/>
            <a:ext cx="1737360" cy="329184"/>
          </a:xfrm>
          <a:prstGeom prst="rect">
            <a:avLst/>
          </a:prstGeom>
          <a:noFill/>
          <a:ln/>
        </p:spPr>
        <p:txBody>
          <a:bodyPr wrap="square" lIns="0" tIns="0" rIns="0" bIns="0" rtlCol="0" anchor="t"/>
          <a:lstStyle/>
          <a:p>
            <a:pPr marL="0" indent="0">
              <a:buNone/>
            </a:pPr>
            <a:r>
              <a:rPr lang="en-US" sz="1000" dirty="0">
                <a:solidFill>
                  <a:schemeClr val="tx2"/>
                </a:solidFill>
              </a:rPr>
              <a:t>3,330 → 1,875 cost units</a:t>
            </a:r>
            <a:endParaRPr lang="en-US" sz="1000" dirty="0"/>
          </a:p>
        </p:txBody>
      </p:sp>
      <p:sp>
        <p:nvSpPr>
          <p:cNvPr id="11" name="Number of buses"/>
          <p:cNvSpPr/>
          <p:nvPr/>
        </p:nvSpPr>
        <p:spPr>
          <a:xfrm>
            <a:off x="3337560" y="2487168"/>
            <a:ext cx="2697480" cy="1207008"/>
          </a:xfrm>
          <a:prstGeom prst="roundRect">
            <a:avLst>
              <a:gd name="adj" fmla="val 9091"/>
            </a:avLst>
          </a:prstGeom>
          <a:solidFill>
            <a:srgbClr val="EAF1FB"/>
          </a:solidFill>
          <a:ln w="9525">
            <a:solidFill>
              <a:srgbClr val="EAF1FB"/>
            </a:solidFill>
            <a:prstDash val="solid"/>
          </a:ln>
        </p:spPr>
      </p:sp>
      <p:pic>
        <p:nvPicPr>
          <p:cNvPr id="12" name="Image 2" descr="Number of buses"/>
          <p:cNvPicPr>
            <a:picLocks noChangeAspect="1"/>
          </p:cNvPicPr>
          <p:nvPr/>
        </p:nvPicPr>
        <p:blipFill>
          <a:blip r:embed="rId5"/>
          <a:stretch>
            <a:fillRect/>
          </a:stretch>
        </p:blipFill>
        <p:spPr>
          <a:xfrm>
            <a:off x="3520440" y="2788920"/>
            <a:ext cx="566928" cy="566928"/>
          </a:xfrm>
          <a:prstGeom prst="rect">
            <a:avLst/>
          </a:prstGeom>
        </p:spPr>
      </p:pic>
      <p:sp>
        <p:nvSpPr>
          <p:cNvPr id="13" name="Text 8"/>
          <p:cNvSpPr txBox="1"/>
          <p:nvPr/>
        </p:nvSpPr>
        <p:spPr>
          <a:xfrm>
            <a:off x="4251960" y="2578608"/>
            <a:ext cx="1737360" cy="256032"/>
          </a:xfrm>
          <a:prstGeom prst="rect">
            <a:avLst/>
          </a:prstGeom>
          <a:noFill/>
          <a:ln/>
        </p:spPr>
        <p:txBody>
          <a:bodyPr wrap="square" lIns="0" tIns="0" rIns="0" bIns="0" rtlCol="0" anchor="t"/>
          <a:lstStyle/>
          <a:p>
            <a:pPr marL="0" indent="0">
              <a:buNone/>
            </a:pPr>
            <a:r>
              <a:rPr lang="en-US" sz="1200" b="1" dirty="0">
                <a:solidFill>
                  <a:schemeClr val="tx1"/>
                </a:solidFill>
              </a:rPr>
              <a:t>Number of buses</a:t>
            </a:r>
            <a:endParaRPr lang="en-US" sz="1200" dirty="0"/>
          </a:p>
        </p:txBody>
      </p:sp>
      <p:sp>
        <p:nvSpPr>
          <p:cNvPr id="14" name="Text 9"/>
          <p:cNvSpPr txBox="1"/>
          <p:nvPr/>
        </p:nvSpPr>
        <p:spPr>
          <a:xfrm>
            <a:off x="4251960" y="2834640"/>
            <a:ext cx="1737360" cy="475488"/>
          </a:xfrm>
          <a:prstGeom prst="rect">
            <a:avLst/>
          </a:prstGeom>
          <a:noFill/>
          <a:ln/>
        </p:spPr>
        <p:txBody>
          <a:bodyPr wrap="square" lIns="0" tIns="0" rIns="0" bIns="0" rtlCol="0" anchor="t"/>
          <a:lstStyle/>
          <a:p>
            <a:pPr marL="0" indent="0">
              <a:buNone/>
            </a:pPr>
            <a:r>
              <a:rPr lang="en-US" sz="2500" b="1" dirty="0">
                <a:solidFill>
                  <a:srgbClr val="1F5FBF"/>
                </a:solidFill>
              </a:rPr>
              <a:t>60 → 25</a:t>
            </a:r>
            <a:endParaRPr lang="en-US" sz="2500" dirty="0"/>
          </a:p>
        </p:txBody>
      </p:sp>
      <p:sp>
        <p:nvSpPr>
          <p:cNvPr id="15" name="Text 10"/>
          <p:cNvSpPr txBox="1"/>
          <p:nvPr/>
        </p:nvSpPr>
        <p:spPr>
          <a:xfrm>
            <a:off x="4251960" y="3310128"/>
            <a:ext cx="1737360" cy="329184"/>
          </a:xfrm>
          <a:prstGeom prst="rect">
            <a:avLst/>
          </a:prstGeom>
          <a:noFill/>
          <a:ln/>
        </p:spPr>
        <p:txBody>
          <a:bodyPr wrap="square" lIns="0" tIns="0" rIns="0" bIns="0" rtlCol="0" anchor="t"/>
          <a:lstStyle/>
          <a:p>
            <a:pPr marL="0" indent="0">
              <a:buNone/>
            </a:pPr>
            <a:r>
              <a:rPr lang="en-US" sz="1000" dirty="0">
                <a:solidFill>
                  <a:schemeClr val="tx2"/>
                </a:solidFill>
              </a:rPr>
              <a:t>58.3% fewer buses</a:t>
            </a:r>
            <a:endParaRPr lang="en-US" sz="1000" dirty="0"/>
          </a:p>
        </p:txBody>
      </p:sp>
      <p:sp>
        <p:nvSpPr>
          <p:cNvPr id="16" name="Attendees"/>
          <p:cNvSpPr/>
          <p:nvPr/>
        </p:nvSpPr>
        <p:spPr>
          <a:xfrm>
            <a:off x="6172200" y="2487168"/>
            <a:ext cx="2697480" cy="1207008"/>
          </a:xfrm>
          <a:prstGeom prst="roundRect">
            <a:avLst>
              <a:gd name="adj" fmla="val 9091"/>
            </a:avLst>
          </a:prstGeom>
          <a:solidFill>
            <a:srgbClr val="EAF6EE"/>
          </a:solidFill>
          <a:ln w="9525">
            <a:solidFill>
              <a:srgbClr val="EAF6EE"/>
            </a:solidFill>
            <a:prstDash val="solid"/>
          </a:ln>
        </p:spPr>
      </p:sp>
      <p:pic>
        <p:nvPicPr>
          <p:cNvPr id="17" name="Image 3" descr="Attendees"/>
          <p:cNvPicPr>
            <a:picLocks noChangeAspect="1"/>
          </p:cNvPicPr>
          <p:nvPr/>
        </p:nvPicPr>
        <p:blipFill>
          <a:blip r:embed="rId6"/>
          <a:stretch>
            <a:fillRect/>
          </a:stretch>
        </p:blipFill>
        <p:spPr>
          <a:xfrm>
            <a:off x="6355080" y="2788920"/>
            <a:ext cx="566928" cy="566928"/>
          </a:xfrm>
          <a:prstGeom prst="rect">
            <a:avLst/>
          </a:prstGeom>
        </p:spPr>
      </p:pic>
      <p:sp>
        <p:nvSpPr>
          <p:cNvPr id="18" name="Text 12"/>
          <p:cNvSpPr txBox="1"/>
          <p:nvPr/>
        </p:nvSpPr>
        <p:spPr>
          <a:xfrm>
            <a:off x="7086600" y="2578608"/>
            <a:ext cx="1737360" cy="256032"/>
          </a:xfrm>
          <a:prstGeom prst="rect">
            <a:avLst/>
          </a:prstGeom>
          <a:noFill/>
          <a:ln/>
        </p:spPr>
        <p:txBody>
          <a:bodyPr wrap="square" lIns="0" tIns="0" rIns="0" bIns="0" rtlCol="0" anchor="t"/>
          <a:lstStyle/>
          <a:p>
            <a:pPr marL="0" indent="0">
              <a:buNone/>
            </a:pPr>
            <a:r>
              <a:rPr lang="en-US" sz="1200" b="1" dirty="0">
                <a:solidFill>
                  <a:schemeClr val="tx1"/>
                </a:solidFill>
              </a:rPr>
              <a:t>Attendees</a:t>
            </a:r>
            <a:endParaRPr lang="en-US" sz="1200" dirty="0"/>
          </a:p>
        </p:txBody>
      </p:sp>
      <p:sp>
        <p:nvSpPr>
          <p:cNvPr id="19" name="Text 13"/>
          <p:cNvSpPr txBox="1"/>
          <p:nvPr/>
        </p:nvSpPr>
        <p:spPr>
          <a:xfrm>
            <a:off x="7086600" y="2834640"/>
            <a:ext cx="1737360" cy="475488"/>
          </a:xfrm>
          <a:prstGeom prst="rect">
            <a:avLst/>
          </a:prstGeom>
          <a:noFill/>
          <a:ln/>
        </p:spPr>
        <p:txBody>
          <a:bodyPr wrap="square" lIns="0" tIns="0" rIns="0" bIns="0" rtlCol="0" anchor="t"/>
          <a:lstStyle/>
          <a:p>
            <a:pPr marL="0" indent="0">
              <a:buNone/>
            </a:pPr>
            <a:r>
              <a:rPr lang="en-US" sz="2500" b="1" dirty="0">
                <a:solidFill>
                  <a:srgbClr val="2E9E4F"/>
                </a:solidFill>
              </a:rPr>
              <a:t>1,244</a:t>
            </a:r>
            <a:endParaRPr lang="en-US" sz="2500" dirty="0"/>
          </a:p>
        </p:txBody>
      </p:sp>
      <p:sp>
        <p:nvSpPr>
          <p:cNvPr id="20" name="Text 14"/>
          <p:cNvSpPr txBox="1"/>
          <p:nvPr/>
        </p:nvSpPr>
        <p:spPr>
          <a:xfrm>
            <a:off x="7086600" y="3310128"/>
            <a:ext cx="1737360" cy="329184"/>
          </a:xfrm>
          <a:prstGeom prst="rect">
            <a:avLst/>
          </a:prstGeom>
          <a:noFill/>
          <a:ln/>
        </p:spPr>
        <p:txBody>
          <a:bodyPr wrap="square" lIns="0" tIns="0" rIns="0" bIns="0" rtlCol="0" anchor="t"/>
          <a:lstStyle/>
          <a:p>
            <a:pPr marL="0" indent="0">
              <a:buNone/>
            </a:pPr>
            <a:r>
              <a:rPr lang="en-US" sz="1000" dirty="0">
                <a:solidFill>
                  <a:schemeClr val="tx2"/>
                </a:solidFill>
              </a:rPr>
              <a:t>all seated, from 60 schools</a:t>
            </a:r>
            <a:endParaRPr lang="en-US" sz="1000" dirty="0"/>
          </a:p>
        </p:txBody>
      </p:sp>
      <p:sp>
        <p:nvSpPr>
          <p:cNvPr id="21" name="Seats filled"/>
          <p:cNvSpPr/>
          <p:nvPr/>
        </p:nvSpPr>
        <p:spPr>
          <a:xfrm>
            <a:off x="9006840" y="2487168"/>
            <a:ext cx="2697480" cy="1207008"/>
          </a:xfrm>
          <a:prstGeom prst="roundRect">
            <a:avLst>
              <a:gd name="adj" fmla="val 9091"/>
            </a:avLst>
          </a:prstGeom>
          <a:solidFill>
            <a:srgbClr val="FEF4E6"/>
          </a:solidFill>
          <a:ln w="9525">
            <a:solidFill>
              <a:srgbClr val="FEF4E6"/>
            </a:solidFill>
            <a:prstDash val="solid"/>
          </a:ln>
        </p:spPr>
      </p:sp>
      <p:pic>
        <p:nvPicPr>
          <p:cNvPr id="22" name="Image 4" descr="Seats filled"/>
          <p:cNvPicPr>
            <a:picLocks noChangeAspect="1"/>
          </p:cNvPicPr>
          <p:nvPr/>
        </p:nvPicPr>
        <p:blipFill>
          <a:blip r:embed="rId7"/>
          <a:stretch>
            <a:fillRect/>
          </a:stretch>
        </p:blipFill>
        <p:spPr>
          <a:xfrm>
            <a:off x="9189720" y="2788920"/>
            <a:ext cx="566928" cy="566928"/>
          </a:xfrm>
          <a:prstGeom prst="rect">
            <a:avLst/>
          </a:prstGeom>
        </p:spPr>
      </p:pic>
      <p:sp>
        <p:nvSpPr>
          <p:cNvPr id="23" name="Text 16"/>
          <p:cNvSpPr txBox="1"/>
          <p:nvPr/>
        </p:nvSpPr>
        <p:spPr>
          <a:xfrm>
            <a:off x="9921240" y="2578608"/>
            <a:ext cx="1737360" cy="256032"/>
          </a:xfrm>
          <a:prstGeom prst="rect">
            <a:avLst/>
          </a:prstGeom>
          <a:noFill/>
          <a:ln/>
        </p:spPr>
        <p:txBody>
          <a:bodyPr wrap="square" lIns="0" tIns="0" rIns="0" bIns="0" rtlCol="0" anchor="t"/>
          <a:lstStyle/>
          <a:p>
            <a:pPr marL="0" indent="0">
              <a:buNone/>
            </a:pPr>
            <a:r>
              <a:rPr lang="en-US" sz="1200" b="1" dirty="0">
                <a:solidFill>
                  <a:schemeClr val="tx1"/>
                </a:solidFill>
              </a:rPr>
              <a:t>Seats filled</a:t>
            </a:r>
            <a:endParaRPr lang="en-US" sz="1200" dirty="0"/>
          </a:p>
        </p:txBody>
      </p:sp>
      <p:sp>
        <p:nvSpPr>
          <p:cNvPr id="24" name="Text 17"/>
          <p:cNvSpPr txBox="1"/>
          <p:nvPr/>
        </p:nvSpPr>
        <p:spPr>
          <a:xfrm>
            <a:off x="9921240" y="2834640"/>
            <a:ext cx="1737360" cy="475488"/>
          </a:xfrm>
          <a:prstGeom prst="rect">
            <a:avLst/>
          </a:prstGeom>
          <a:noFill/>
          <a:ln/>
        </p:spPr>
        <p:txBody>
          <a:bodyPr wrap="square" lIns="0" tIns="0" rIns="0" bIns="0" rtlCol="0" anchor="t"/>
          <a:lstStyle/>
          <a:p>
            <a:pPr marL="0" indent="0">
              <a:buNone/>
            </a:pPr>
            <a:r>
              <a:rPr lang="en-US" sz="2500" b="1" dirty="0">
                <a:solidFill>
                  <a:srgbClr val="F29A1F"/>
                </a:solidFill>
              </a:rPr>
              <a:t>99.5%</a:t>
            </a:r>
            <a:endParaRPr lang="en-US" sz="2500" dirty="0"/>
          </a:p>
        </p:txBody>
      </p:sp>
      <p:sp>
        <p:nvSpPr>
          <p:cNvPr id="25" name="Text 18"/>
          <p:cNvSpPr txBox="1"/>
          <p:nvPr/>
        </p:nvSpPr>
        <p:spPr>
          <a:xfrm>
            <a:off x="9921240" y="3310128"/>
            <a:ext cx="1737360" cy="329184"/>
          </a:xfrm>
          <a:prstGeom prst="rect">
            <a:avLst/>
          </a:prstGeom>
          <a:noFill/>
          <a:ln/>
        </p:spPr>
        <p:txBody>
          <a:bodyPr wrap="square" lIns="0" tIns="0" rIns="0" bIns="0" rtlCol="0" anchor="t"/>
          <a:lstStyle/>
          <a:p>
            <a:pPr marL="0" indent="0">
              <a:buNone/>
            </a:pPr>
            <a:r>
              <a:rPr lang="en-US" sz="1000" dirty="0">
                <a:solidFill>
                  <a:schemeClr val="tx2"/>
                </a:solidFill>
              </a:rPr>
              <a:t>was 68.0% booked separately</a:t>
            </a:r>
            <a:endParaRPr lang="en-US" sz="1000" dirty="0"/>
          </a:p>
        </p:txBody>
      </p:sp>
      <p:sp>
        <p:nvSpPr>
          <p:cNvPr id="26" name="Cost chart"/>
          <p:cNvSpPr/>
          <p:nvPr/>
        </p:nvSpPr>
        <p:spPr>
          <a:xfrm>
            <a:off x="502920" y="3840480"/>
            <a:ext cx="2743200" cy="2560320"/>
          </a:xfrm>
          <a:prstGeom prst="roundRect">
            <a:avLst>
              <a:gd name="adj" fmla="val 4286"/>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graphicFrame>
        <p:nvGraphicFramePr>
          <p:cNvPr id="27" name="Chart 0"/>
          <p:cNvGraphicFramePr/>
          <p:nvPr/>
        </p:nvGraphicFramePr>
        <p:xfrm>
          <a:off x="594360" y="3904488"/>
          <a:ext cx="2560320" cy="2432304"/>
        </p:xfrm>
        <a:graphic>
          <a:graphicData uri="http://schemas.openxmlformats.org/drawingml/2006/chart">
            <c:chart xmlns:c="http://schemas.openxmlformats.org/drawingml/2006/chart" xmlns:r="http://schemas.openxmlformats.org/officeDocument/2006/relationships" r:id="rId8"/>
          </a:graphicData>
        </a:graphic>
      </p:graphicFrame>
      <p:sp>
        <p:nvSpPr>
          <p:cNvPr id="28" name="Bus chart"/>
          <p:cNvSpPr/>
          <p:nvPr/>
        </p:nvSpPr>
        <p:spPr>
          <a:xfrm>
            <a:off x="3383280" y="3840480"/>
            <a:ext cx="2743200" cy="2560320"/>
          </a:xfrm>
          <a:prstGeom prst="roundRect">
            <a:avLst>
              <a:gd name="adj" fmla="val 4286"/>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graphicFrame>
        <p:nvGraphicFramePr>
          <p:cNvPr id="29" name="Chart 1"/>
          <p:cNvGraphicFramePr/>
          <p:nvPr/>
        </p:nvGraphicFramePr>
        <p:xfrm>
          <a:off x="3474720" y="3904488"/>
          <a:ext cx="2560320" cy="2432304"/>
        </p:xfrm>
        <a:graphic>
          <a:graphicData uri="http://schemas.openxmlformats.org/drawingml/2006/chart">
            <c:chart xmlns:c="http://schemas.openxmlformats.org/drawingml/2006/chart" xmlns:r="http://schemas.openxmlformats.org/officeDocument/2006/relationships" r:id="rId9"/>
          </a:graphicData>
        </a:graphic>
      </p:graphicFrame>
      <p:sp>
        <p:nvSpPr>
          <p:cNvPr id="30" name="Metrics table"/>
          <p:cNvSpPr/>
          <p:nvPr/>
        </p:nvSpPr>
        <p:spPr>
          <a:xfrm>
            <a:off x="6263640" y="3840480"/>
            <a:ext cx="5422392" cy="2560320"/>
          </a:xfrm>
          <a:prstGeom prst="roundRect">
            <a:avLst>
              <a:gd name="adj" fmla="val 4286"/>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0" y="3959352"/>
          <a:ext cx="514807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1216152">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01752">
                <a:tc>
                  <a:txBody>
                    <a:bodyPr/>
                    <a:lstStyle/>
                    <a:p>
                      <a:pPr marL="0" indent="0" algn="l">
                        <a:buNone/>
                      </a:pPr>
                      <a:r>
                        <a:rPr lang="en-US" sz="1100" b="1" dirty="0">
                          <a:solidFill>
                            <a:srgbClr val="FFFFFF"/>
                          </a:solidFill>
                        </a:rPr>
                        <a:t>Metric</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0B1F45"/>
                    </a:solidFill>
                  </a:tcPr>
                </a:tc>
                <a:tc>
                  <a:txBody>
                    <a:bodyPr/>
                    <a:lstStyle/>
                    <a:p>
                      <a:pPr marL="0" indent="0" algn="ctr">
                        <a:buNone/>
                      </a:pPr>
                      <a:r>
                        <a:rPr lang="en-US" sz="1100" b="1" dirty="0">
                          <a:solidFill>
                            <a:srgbClr val="FFFFFF"/>
                          </a:solidFill>
                        </a:rPr>
                        <a:t>Separate</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0B1F45"/>
                    </a:solidFill>
                  </a:tcPr>
                </a:tc>
                <a:tc>
                  <a:txBody>
                    <a:bodyPr/>
                    <a:lstStyle/>
                    <a:p>
                      <a:pPr marL="0" indent="0" algn="ctr">
                        <a:buNone/>
                      </a:pPr>
                      <a:r>
                        <a:rPr lang="en-US" sz="1100" b="1" dirty="0">
                          <a:solidFill>
                            <a:srgbClr val="FFFFFF"/>
                          </a:solidFill>
                        </a:rPr>
                        <a:t>Campus Cruise</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0B1F45"/>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0B1F45"/>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0B1F45"/>
                          </a:solidFill>
                        </a:rPr>
                        <a:t>Total cost</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3,330</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1,875</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2E9E4F"/>
                          </a:solidFill>
                        </a:rPr>
                        <a:t>−43.7%</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0B1F45"/>
                          </a:solidFill>
                        </a:rPr>
                        <a:t>Buses</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60</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25</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2E9E4F"/>
                          </a:solidFill>
                        </a:rPr>
                        <a:t>−35</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0B1F45"/>
                          </a:solidFill>
                        </a:rPr>
                        <a:t>Seats filled</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68.0%</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99.5%</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2E9E4F"/>
                          </a:solidFill>
                        </a:rPr>
                        <a:t>+31.5 pp</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0B1F45"/>
                          </a:solidFill>
                        </a:rPr>
                        <a:t>Cost per attendee</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2.68</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1.51</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2E9E4F"/>
                          </a:solidFill>
                        </a:rPr>
                        <a:t>−44%</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0B1F45"/>
                          </a:solidFill>
                        </a:rPr>
                        <a:t>Bus-miles (straight line)</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1,289.4</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B1F45"/>
                          </a:solidFill>
                        </a:rPr>
                        <a:t>789.4</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2E9E4F"/>
                          </a:solidFill>
                        </a:rPr>
                        <a:t>−38.8%</a:t>
                      </a:r>
                      <a:endParaRPr lang="en-US" sz="1100" dirty="0"/>
                    </a:p>
                  </a:txBody>
                  <a:tcPr marL="45720" marR="4572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32" name="Text 22"/>
          <p:cNvSpPr txBox="1"/>
          <p:nvPr/>
        </p:nvSpPr>
        <p:spPr>
          <a:xfrm>
            <a:off x="6400800" y="6035040"/>
            <a:ext cx="5148072" cy="310896"/>
          </a:xfrm>
          <a:prstGeom prst="rect">
            <a:avLst/>
          </a:prstGeom>
          <a:noFill/>
          <a:ln/>
        </p:spPr>
        <p:txBody>
          <a:bodyPr wrap="square" lIns="0" tIns="0" rIns="0" bIns="0" rtlCol="0" anchor="t"/>
          <a:lstStyle/>
          <a:p>
            <a:pPr marL="0" indent="0">
              <a:buNone/>
            </a:pPr>
            <a:r>
              <a:rPr lang="en-US" sz="950" dirty="0">
                <a:solidFill>
                  <a:schemeClr val="tx2"/>
                </a:solidFill>
              </a:rPr>
              <a:t>Other models (best found in 300 s): per mile −28.6%, per driving hour −17.7%. Challenge data only.</a:t>
            </a:r>
            <a:endParaRPr lang="en-US" sz="950" dirty="0"/>
          </a:p>
        </p:txBody>
      </p:sp>
      <p:sp>
        <p:nvSpPr>
          <p:cNvPr id="33"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5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5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350"/>
                                        <p:tgtEl>
                                          <p:spTgt spid="16"/>
                                        </p:tgtEl>
                                      </p:cBhvr>
                                    </p:animEffect>
                                  </p:childTnLst>
                                </p:cTn>
                              </p:par>
                              <p:par>
                                <p:cTn id="17" presetID="10" presetClass="entr" presetSubtype="0" fill="hold"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350"/>
                                        <p:tgtEl>
                                          <p:spTgt spid="21"/>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5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50"/>
                                        <p:tgtEl>
                                          <p:spTgt spid="1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350"/>
                                        <p:tgtEl>
                                          <p:spTgt spid="23"/>
                                        </p:tgtEl>
                                      </p:cBhvr>
                                    </p:animEffect>
                                  </p:childTnLst>
                                </p:cTn>
                              </p:par>
                              <p:par>
                                <p:cTn id="33" presetID="10" presetClass="entr" presetSubtype="0" fill="hold" nodeType="with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350"/>
                                        <p:tgtEl>
                                          <p:spTgt spid="7"/>
                                        </p:tgtEl>
                                      </p:cBhvr>
                                    </p:animEffect>
                                  </p:childTnLst>
                                </p:cTn>
                              </p:par>
                              <p:par>
                                <p:cTn id="36" presetID="10" presetClass="entr" presetSubtype="0" fill="hold"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350"/>
                                        <p:tgtEl>
                                          <p:spTgt spid="12"/>
                                        </p:tgtEl>
                                      </p:cBhvr>
                                    </p:animEffect>
                                  </p:childTnLst>
                                </p:cTn>
                              </p:par>
                              <p:par>
                                <p:cTn id="39" presetID="10"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350"/>
                                        <p:tgtEl>
                                          <p:spTgt spid="17"/>
                                        </p:tgtEl>
                                      </p:cBhvr>
                                    </p:animEffect>
                                  </p:childTnLst>
                                </p:cTn>
                              </p:par>
                              <p:par>
                                <p:cTn id="42" presetID="10" presetClass="entr" presetSubtype="0" fill="hold" nodeType="with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350"/>
                                        <p:tgtEl>
                                          <p:spTgt spid="2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9"/>
                                        </p:tgtEl>
                                        <p:attrNameLst>
                                          <p:attrName>style.visibility</p:attrName>
                                        </p:attrNameLst>
                                      </p:cBhvr>
                                      <p:to>
                                        <p:strVal val="visible"/>
                                      </p:to>
                                    </p:set>
                                    <p:animEffect transition="in" filter="fade">
                                      <p:cBhvr>
                                        <p:cTn id="47" dur="350"/>
                                        <p:tgtEl>
                                          <p:spTgt spid="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350"/>
                                        <p:tgtEl>
                                          <p:spTgt spid="1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5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350"/>
                                        <p:tgtEl>
                                          <p:spTgt spid="24"/>
                                        </p:tgtEl>
                                      </p:cBhvr>
                                    </p:animEffect>
                                  </p:childTnLst>
                                </p:cTn>
                              </p:par>
                            </p:childTnLst>
                          </p:cTn>
                        </p:par>
                        <p:par>
                          <p:cTn id="57" fill="hold">
                            <p:stCondLst>
                              <p:cond delay="700"/>
                            </p:stCondLst>
                            <p:childTnLst>
                              <p:par>
                                <p:cTn id="58" presetID="10" presetClass="entr" presetSubtype="0" fill="hold" grpId="0" nodeType="afterEffect">
                                  <p:stCondLst>
                                    <p:cond delay="0"/>
                                  </p:stCondLst>
                                  <p:childTnLst>
                                    <p:set>
                                      <p:cBhvr>
                                        <p:cTn id="59" dur="1" fill="hold">
                                          <p:stCondLst>
                                            <p:cond delay="0"/>
                                          </p:stCondLst>
                                        </p:cTn>
                                        <p:tgtEl>
                                          <p:spTgt spid="10"/>
                                        </p:tgtEl>
                                        <p:attrNameLst>
                                          <p:attrName>style.visibility</p:attrName>
                                        </p:attrNameLst>
                                      </p:cBhvr>
                                      <p:to>
                                        <p:strVal val="visible"/>
                                      </p:to>
                                    </p:set>
                                    <p:animEffect transition="in" filter="fade">
                                      <p:cBhvr>
                                        <p:cTn id="60" dur="350"/>
                                        <p:tgtEl>
                                          <p:spTgt spid="1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350"/>
                                        <p:tgtEl>
                                          <p:spTgt spid="1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350"/>
                                        <p:tgtEl>
                                          <p:spTgt spid="2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5"/>
                                        </p:tgtEl>
                                        <p:attrNameLst>
                                          <p:attrName>style.visibility</p:attrName>
                                        </p:attrNameLst>
                                      </p:cBhvr>
                                      <p:to>
                                        <p:strVal val="visible"/>
                                      </p:to>
                                    </p:set>
                                    <p:animEffect transition="in" filter="fade">
                                      <p:cBhvr>
                                        <p:cTn id="69" dur="350"/>
                                        <p:tgtEl>
                                          <p:spTgt spid="25"/>
                                        </p:tgtEl>
                                      </p:cBhvr>
                                    </p:animEffect>
                                  </p:childTnLst>
                                </p:cTn>
                              </p:par>
                              <p:par>
                                <p:cTn id="70" presetID="10" presetClass="entr" presetSubtype="0" fill="hold"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2" dur="350"/>
                                        <p:tgtEl>
                                          <p:spTgt spid="26"/>
                                        </p:tgtEl>
                                      </p:cBhvr>
                                    </p:animEffect>
                                  </p:childTnLst>
                                </p:cTn>
                              </p:par>
                              <p:par>
                                <p:cTn id="73" presetID="10" presetClass="entr" presetSubtype="0" fill="hold" nodeType="withEffect">
                                  <p:stCondLst>
                                    <p:cond delay="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350"/>
                                        <p:tgtEl>
                                          <p:spTgt spid="28"/>
                                        </p:tgtEl>
                                      </p:cBhvr>
                                    </p:animEffect>
                                  </p:childTnLst>
                                </p:cTn>
                              </p:par>
                              <p:par>
                                <p:cTn id="76" presetID="10" presetClass="entr" presetSubtype="0"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35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35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fade">
                                      <p:cBhvr>
                                        <p:cTn id="87" dur="350"/>
                                        <p:tgtEl>
                                          <p:spTgt spid="31"/>
                                        </p:tgtEl>
                                      </p:cBhvr>
                                    </p:animEffect>
                                  </p:childTnLst>
                                </p:cTn>
                              </p:par>
                            </p:childTnLst>
                          </p:cTn>
                        </p:par>
                        <p:par>
                          <p:cTn id="88" fill="hold">
                            <p:stCondLst>
                              <p:cond delay="1050"/>
                            </p:stCondLst>
                            <p:childTnLst>
                              <p:par>
                                <p:cTn id="89" presetID="10" presetClass="entr" presetSubtype="0"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fade">
                                      <p:cBhvr>
                                        <p:cTn id="91" dur="3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P spid="10" grpId="0" animBg="1"/>
      <p:bldP spid="13" grpId="0" animBg="1"/>
      <p:bldP spid="14" grpId="0" animBg="1"/>
      <p:bldP spid="15" grpId="0" animBg="1"/>
      <p:bldP spid="18" grpId="0" animBg="1"/>
      <p:bldP spid="19" grpId="0" animBg="1"/>
      <p:bldP spid="20" grpId="0" animBg="1"/>
      <p:bldP spid="23" grpId="0" animBg="1"/>
      <p:bldP spid="24" grpId="0" animBg="1"/>
      <p:bldP spid="25" grpId="0" animBg="1"/>
      <p:bldGraphic spid="27" grpId="0">
        <p:bldAsOne/>
      </p:bldGraphic>
      <p:bldGraphic spid="29" grpId="0">
        <p:bldAsOne/>
      </p:bldGraphic>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oaches outside Principality Stadium, Cardiff (illustration from the team's reference slides)"/>
          <p:cNvPicPr>
            <a:picLocks noChangeAspect="1"/>
          </p:cNvPicPr>
          <p:nvPr/>
        </p:nvPicPr>
        <p:blipFill>
          <a:blip r:embed="rId3"/>
          <a:stretch>
            <a:fillRect/>
          </a:stretch>
        </p:blipFill>
        <p:spPr>
          <a:xfrm>
            <a:off x="8674138" y="0"/>
            <a:ext cx="3517557" cy="1828800"/>
          </a:xfrm>
          <a:prstGeom prst="rect">
            <a:avLst/>
          </a:prstGeom>
        </p:spPr>
      </p:pic>
      <p:sp>
        <p:nvSpPr>
          <p:cNvPr id="3" name="Text 0"/>
          <p:cNvSpPr>
            <a:spLocks noGrp="1"/>
          </p:cNvSpPr>
          <p:nvPr>
            <p:ph type="body" idx="100" hasCustomPrompt="1"/>
          </p:nvPr>
        </p:nvSpPr>
        <p:spPr>
          <a:xfrm>
            <a:off x="502920" y="292608"/>
            <a:ext cx="731520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APPLICATION AND KEY FEATURES</a:t>
            </a:r>
            <a:endParaRPr lang="en-US" sz="1300" dirty="0"/>
          </a:p>
        </p:txBody>
      </p:sp>
      <p:sp>
        <p:nvSpPr>
          <p:cNvPr id="4" name="Text 1"/>
          <p:cNvSpPr>
            <a:spLocks noGrp="1"/>
          </p:cNvSpPr>
          <p:nvPr>
            <p:ph type="title" idx="102" hasCustomPrompt="1"/>
          </p:nvPr>
        </p:nvSpPr>
        <p:spPr>
          <a:xfrm>
            <a:off x="502920" y="777240"/>
            <a:ext cx="7589520" cy="1051560"/>
          </a:xfrm>
          <a:prstGeom prst="rect">
            <a:avLst/>
          </a:prstGeom>
          <a:noFill/>
          <a:ln/>
        </p:spPr>
        <p:txBody>
          <a:bodyPr wrap="square" lIns="0" tIns="0" rIns="0" bIns="0" rtlCol="0" anchor="t"/>
          <a:lstStyle/>
          <a:p>
            <a:pPr marL="0" indent="0" algn="l">
              <a:buNone/>
            </a:pPr>
            <a:r>
              <a:rPr lang="en-US" sz="3400" b="1" dirty="0">
                <a:solidFill>
                  <a:srgbClr val="0B1F45"/>
                </a:solidFill>
              </a:rPr>
              <a:t>Campus Cruise </a:t>
            </a:r>
            <a:r>
              <a:rPr lang="en-US" sz="3400" b="1" dirty="0">
                <a:solidFill>
                  <a:srgbClr val="D7192F"/>
                </a:solidFill>
              </a:rPr>
              <a:t>in Action</a:t>
            </a:r>
            <a:endParaRPr lang="en-US" sz="3400" dirty="0"/>
          </a:p>
        </p:txBody>
      </p:sp>
      <p:sp>
        <p:nvSpPr>
          <p:cNvPr id="5" name="Text 2"/>
          <p:cNvSpPr txBox="1"/>
          <p:nvPr/>
        </p:nvSpPr>
        <p:spPr>
          <a:xfrm>
            <a:off x="502920" y="1481328"/>
            <a:ext cx="7589520" cy="566928"/>
          </a:xfrm>
          <a:prstGeom prst="rect">
            <a:avLst/>
          </a:prstGeom>
          <a:noFill/>
          <a:ln/>
        </p:spPr>
        <p:txBody>
          <a:bodyPr wrap="square" lIns="0" tIns="0" rIns="0" bIns="0" rtlCol="0" anchor="t"/>
          <a:lstStyle/>
          <a:p>
            <a:pPr marL="0" indent="0">
              <a:buNone/>
            </a:pPr>
            <a:r>
              <a:rPr lang="en-US" sz="1500" dirty="0">
                <a:solidFill>
                  <a:schemeClr val="tx2"/>
                </a:solidFill>
              </a:rPr>
              <a:t>A working web application to plan, optimise and check shared school transport for any event.</a:t>
            </a:r>
            <a:endParaRPr lang="en-US" sz="1500" dirty="0"/>
          </a:p>
        </p:txBody>
      </p:sp>
      <p:sp>
        <p:nvSpPr>
          <p:cNvPr id="6" name="Upload school data"/>
          <p:cNvSpPr/>
          <p:nvPr/>
        </p:nvSpPr>
        <p:spPr>
          <a:xfrm>
            <a:off x="502920" y="2212848"/>
            <a:ext cx="3794760" cy="731520"/>
          </a:xfrm>
          <a:prstGeom prst="roundRect">
            <a:avLst>
              <a:gd name="adj" fmla="val 15000"/>
            </a:avLst>
          </a:prstGeom>
          <a:solidFill>
            <a:srgbClr val="FDECEE"/>
          </a:solidFill>
          <a:ln w="9525">
            <a:solidFill>
              <a:srgbClr val="FDECEE"/>
            </a:solidFill>
            <a:prstDash val="solid"/>
          </a:ln>
        </p:spPr>
      </p:sp>
      <p:sp>
        <p:nvSpPr>
          <p:cNvPr id="7" name="Upload school data"/>
          <p:cNvSpPr/>
          <p:nvPr/>
        </p:nvSpPr>
        <p:spPr>
          <a:xfrm>
            <a:off x="640080" y="2304288"/>
            <a:ext cx="548640" cy="548640"/>
          </a:xfrm>
          <a:prstGeom prst="ellipse">
            <a:avLst/>
          </a:prstGeom>
          <a:solidFill>
            <a:srgbClr val="D7192F"/>
          </a:solidFill>
          <a:ln w="12700">
            <a:solidFill>
              <a:srgbClr val="D7192F"/>
            </a:solidFill>
            <a:prstDash val="solid"/>
          </a:ln>
        </p:spPr>
      </p:sp>
      <p:pic>
        <p:nvPicPr>
          <p:cNvPr id="8" name="Image 1" descr="Upload school data"/>
          <p:cNvPicPr>
            <a:picLocks noChangeAspect="1"/>
          </p:cNvPicPr>
          <p:nvPr/>
        </p:nvPicPr>
        <p:blipFill>
          <a:blip r:embed="rId4"/>
          <a:stretch>
            <a:fillRect/>
          </a:stretch>
        </p:blipFill>
        <p:spPr>
          <a:xfrm>
            <a:off x="777240" y="2441448"/>
            <a:ext cx="274320" cy="274320"/>
          </a:xfrm>
          <a:prstGeom prst="rect">
            <a:avLst/>
          </a:prstGeom>
        </p:spPr>
      </p:pic>
      <p:sp>
        <p:nvSpPr>
          <p:cNvPr id="9" name="Text 5"/>
          <p:cNvSpPr txBox="1"/>
          <p:nvPr/>
        </p:nvSpPr>
        <p:spPr>
          <a:xfrm>
            <a:off x="1325880" y="2286000"/>
            <a:ext cx="2880360" cy="292608"/>
          </a:xfrm>
          <a:prstGeom prst="rect">
            <a:avLst/>
          </a:prstGeom>
          <a:noFill/>
          <a:ln/>
        </p:spPr>
        <p:txBody>
          <a:bodyPr wrap="square" lIns="0" tIns="0" rIns="0" bIns="0" rtlCol="0" anchor="t"/>
          <a:lstStyle/>
          <a:p>
            <a:pPr marL="0" indent="0">
              <a:buNone/>
            </a:pPr>
            <a:r>
              <a:rPr lang="en-US" sz="1400" b="1" dirty="0">
                <a:solidFill>
                  <a:schemeClr val="tx1"/>
                </a:solidFill>
              </a:rPr>
              <a:t>Upload school data</a:t>
            </a:r>
            <a:endParaRPr lang="en-US" sz="1400" dirty="0"/>
          </a:p>
        </p:txBody>
      </p:sp>
      <p:sp>
        <p:nvSpPr>
          <p:cNvPr id="10" name="Text 6"/>
          <p:cNvSpPr txBox="1"/>
          <p:nvPr/>
        </p:nvSpPr>
        <p:spPr>
          <a:xfrm>
            <a:off x="1325880" y="2578608"/>
            <a:ext cx="2880360" cy="292608"/>
          </a:xfrm>
          <a:prstGeom prst="rect">
            <a:avLst/>
          </a:prstGeom>
          <a:noFill/>
          <a:ln/>
        </p:spPr>
        <p:txBody>
          <a:bodyPr wrap="square" lIns="0" tIns="0" rIns="0" bIns="0" rtlCol="0" anchor="t"/>
          <a:lstStyle/>
          <a:p>
            <a:pPr marL="0" indent="0">
              <a:buNone/>
            </a:pPr>
            <a:r>
              <a:rPr lang="en-US" sz="1100" dirty="0">
                <a:solidFill>
                  <a:schemeClr val="tx2"/>
                </a:solidFill>
              </a:rPr>
              <a:t>Any CSV; bad rows rejected by row number</a:t>
            </a:r>
            <a:endParaRPr lang="en-US" sz="1100" dirty="0"/>
          </a:p>
        </p:txBody>
      </p:sp>
      <p:sp>
        <p:nvSpPr>
          <p:cNvPr id="11" name="Search any venue"/>
          <p:cNvSpPr/>
          <p:nvPr/>
        </p:nvSpPr>
        <p:spPr>
          <a:xfrm>
            <a:off x="502920" y="3054096"/>
            <a:ext cx="3794760" cy="731520"/>
          </a:xfrm>
          <a:prstGeom prst="roundRect">
            <a:avLst>
              <a:gd name="adj" fmla="val 15000"/>
            </a:avLst>
          </a:prstGeom>
          <a:solidFill>
            <a:srgbClr val="EAF1FB"/>
          </a:solidFill>
          <a:ln w="9525">
            <a:solidFill>
              <a:srgbClr val="EAF1FB"/>
            </a:solidFill>
            <a:prstDash val="solid"/>
          </a:ln>
        </p:spPr>
      </p:sp>
      <p:sp>
        <p:nvSpPr>
          <p:cNvPr id="12" name="Search any venue"/>
          <p:cNvSpPr/>
          <p:nvPr/>
        </p:nvSpPr>
        <p:spPr>
          <a:xfrm>
            <a:off x="640080" y="3145536"/>
            <a:ext cx="548640" cy="548640"/>
          </a:xfrm>
          <a:prstGeom prst="ellipse">
            <a:avLst/>
          </a:prstGeom>
          <a:solidFill>
            <a:srgbClr val="1F5FBF"/>
          </a:solidFill>
          <a:ln w="12700">
            <a:solidFill>
              <a:srgbClr val="1F5FBF"/>
            </a:solidFill>
            <a:prstDash val="solid"/>
          </a:ln>
        </p:spPr>
      </p:sp>
      <p:pic>
        <p:nvPicPr>
          <p:cNvPr id="13" name="Image 2" descr="Search any venue"/>
          <p:cNvPicPr>
            <a:picLocks noChangeAspect="1"/>
          </p:cNvPicPr>
          <p:nvPr/>
        </p:nvPicPr>
        <p:blipFill>
          <a:blip r:embed="rId5"/>
          <a:stretch>
            <a:fillRect/>
          </a:stretch>
        </p:blipFill>
        <p:spPr>
          <a:xfrm>
            <a:off x="777240" y="3282696"/>
            <a:ext cx="274320" cy="274320"/>
          </a:xfrm>
          <a:prstGeom prst="rect">
            <a:avLst/>
          </a:prstGeom>
        </p:spPr>
      </p:pic>
      <p:sp>
        <p:nvSpPr>
          <p:cNvPr id="14" name="Text 9"/>
          <p:cNvSpPr txBox="1"/>
          <p:nvPr/>
        </p:nvSpPr>
        <p:spPr>
          <a:xfrm>
            <a:off x="1325880" y="3127248"/>
            <a:ext cx="2880360" cy="292608"/>
          </a:xfrm>
          <a:prstGeom prst="rect">
            <a:avLst/>
          </a:prstGeom>
          <a:noFill/>
          <a:ln/>
        </p:spPr>
        <p:txBody>
          <a:bodyPr wrap="square" lIns="0" tIns="0" rIns="0" bIns="0" rtlCol="0" anchor="t"/>
          <a:lstStyle/>
          <a:p>
            <a:pPr marL="0" indent="0">
              <a:buNone/>
            </a:pPr>
            <a:r>
              <a:rPr lang="en-US" sz="1400" b="1" dirty="0">
                <a:solidFill>
                  <a:schemeClr val="tx1"/>
                </a:solidFill>
              </a:rPr>
              <a:t>Search any venue</a:t>
            </a:r>
            <a:endParaRPr lang="en-US" sz="1400" dirty="0"/>
          </a:p>
        </p:txBody>
      </p:sp>
      <p:sp>
        <p:nvSpPr>
          <p:cNvPr id="15" name="Text 10"/>
          <p:cNvSpPr txBox="1"/>
          <p:nvPr/>
        </p:nvSpPr>
        <p:spPr>
          <a:xfrm>
            <a:off x="1325880" y="3419856"/>
            <a:ext cx="2880360" cy="292608"/>
          </a:xfrm>
          <a:prstGeom prst="rect">
            <a:avLst/>
          </a:prstGeom>
          <a:noFill/>
          <a:ln/>
        </p:spPr>
        <p:txBody>
          <a:bodyPr wrap="square" lIns="0" tIns="0" rIns="0" bIns="0" rtlCol="0" anchor="t"/>
          <a:lstStyle/>
          <a:p>
            <a:pPr marL="0" indent="0">
              <a:buNone/>
            </a:pPr>
            <a:r>
              <a:rPr lang="en-US" sz="1100" dirty="0">
                <a:solidFill>
                  <a:schemeClr val="tx2"/>
                </a:solidFill>
              </a:rPr>
              <a:t>Type an address; coordinates fill in</a:t>
            </a:r>
            <a:endParaRPr lang="en-US" sz="1100" dirty="0"/>
          </a:p>
        </p:txBody>
      </p:sp>
      <p:sp>
        <p:nvSpPr>
          <p:cNvPr id="16" name="Choose the objective"/>
          <p:cNvSpPr/>
          <p:nvPr/>
        </p:nvSpPr>
        <p:spPr>
          <a:xfrm>
            <a:off x="502920" y="3895344"/>
            <a:ext cx="3794760" cy="731520"/>
          </a:xfrm>
          <a:prstGeom prst="roundRect">
            <a:avLst>
              <a:gd name="adj" fmla="val 15000"/>
            </a:avLst>
          </a:prstGeom>
          <a:solidFill>
            <a:srgbClr val="EAF6EE"/>
          </a:solidFill>
          <a:ln w="9525">
            <a:solidFill>
              <a:srgbClr val="EAF6EE"/>
            </a:solidFill>
            <a:prstDash val="solid"/>
          </a:ln>
        </p:spPr>
      </p:sp>
      <p:sp>
        <p:nvSpPr>
          <p:cNvPr id="17" name="Choose the objective"/>
          <p:cNvSpPr/>
          <p:nvPr/>
        </p:nvSpPr>
        <p:spPr>
          <a:xfrm>
            <a:off x="640080" y="3986784"/>
            <a:ext cx="548640" cy="548640"/>
          </a:xfrm>
          <a:prstGeom prst="ellipse">
            <a:avLst/>
          </a:prstGeom>
          <a:solidFill>
            <a:srgbClr val="2E9E4F"/>
          </a:solidFill>
          <a:ln w="12700">
            <a:solidFill>
              <a:srgbClr val="2E9E4F"/>
            </a:solidFill>
            <a:prstDash val="solid"/>
          </a:ln>
        </p:spPr>
      </p:sp>
      <p:pic>
        <p:nvPicPr>
          <p:cNvPr id="18" name="Image 3" descr="Choose the objective"/>
          <p:cNvPicPr>
            <a:picLocks noChangeAspect="1"/>
          </p:cNvPicPr>
          <p:nvPr/>
        </p:nvPicPr>
        <p:blipFill>
          <a:blip r:embed="rId6"/>
          <a:stretch>
            <a:fillRect/>
          </a:stretch>
        </p:blipFill>
        <p:spPr>
          <a:xfrm>
            <a:off x="777240" y="4123944"/>
            <a:ext cx="274320" cy="274320"/>
          </a:xfrm>
          <a:prstGeom prst="rect">
            <a:avLst/>
          </a:prstGeom>
        </p:spPr>
      </p:pic>
      <p:sp>
        <p:nvSpPr>
          <p:cNvPr id="19" name="Text 13"/>
          <p:cNvSpPr txBox="1"/>
          <p:nvPr/>
        </p:nvSpPr>
        <p:spPr>
          <a:xfrm>
            <a:off x="1325880" y="3968496"/>
            <a:ext cx="2880360" cy="292608"/>
          </a:xfrm>
          <a:prstGeom prst="rect">
            <a:avLst/>
          </a:prstGeom>
          <a:noFill/>
          <a:ln/>
        </p:spPr>
        <p:txBody>
          <a:bodyPr wrap="square" lIns="0" tIns="0" rIns="0" bIns="0" rtlCol="0" anchor="t"/>
          <a:lstStyle/>
          <a:p>
            <a:pPr marL="0" indent="0">
              <a:buNone/>
            </a:pPr>
            <a:r>
              <a:rPr lang="en-US" sz="1400" b="1" dirty="0">
                <a:solidFill>
                  <a:schemeClr val="tx1"/>
                </a:solidFill>
              </a:rPr>
              <a:t>Choose the objective</a:t>
            </a:r>
            <a:endParaRPr lang="en-US" sz="1400" dirty="0"/>
          </a:p>
        </p:txBody>
      </p:sp>
      <p:sp>
        <p:nvSpPr>
          <p:cNvPr id="20" name="Text 14"/>
          <p:cNvSpPr txBox="1"/>
          <p:nvPr/>
        </p:nvSpPr>
        <p:spPr>
          <a:xfrm>
            <a:off x="1325880" y="4261104"/>
            <a:ext cx="2880360" cy="292608"/>
          </a:xfrm>
          <a:prstGeom prst="rect">
            <a:avLst/>
          </a:prstGeom>
          <a:noFill/>
          <a:ln/>
        </p:spPr>
        <p:txBody>
          <a:bodyPr wrap="square" lIns="0" tIns="0" rIns="0" bIns="0" rtlCol="0" anchor="t"/>
          <a:lstStyle/>
          <a:p>
            <a:pPr marL="0" indent="0">
              <a:buNone/>
            </a:pPr>
            <a:r>
              <a:rPr lang="en-US" sz="1100" dirty="0">
                <a:solidFill>
                  <a:schemeClr val="tx2"/>
                </a:solidFill>
              </a:rPr>
              <a:t>Fixed price, per mile or per hour</a:t>
            </a:r>
            <a:endParaRPr lang="en-US" sz="1100" dirty="0"/>
          </a:p>
        </p:txBody>
      </p:sp>
      <p:sp>
        <p:nvSpPr>
          <p:cNvPr id="21" name="Interactive route map"/>
          <p:cNvSpPr/>
          <p:nvPr/>
        </p:nvSpPr>
        <p:spPr>
          <a:xfrm>
            <a:off x="502920" y="4736592"/>
            <a:ext cx="3794760" cy="731520"/>
          </a:xfrm>
          <a:prstGeom prst="roundRect">
            <a:avLst>
              <a:gd name="adj" fmla="val 15000"/>
            </a:avLst>
          </a:prstGeom>
          <a:solidFill>
            <a:srgbClr val="FEF4E6"/>
          </a:solidFill>
          <a:ln w="9525">
            <a:solidFill>
              <a:srgbClr val="FEF4E6"/>
            </a:solidFill>
            <a:prstDash val="solid"/>
          </a:ln>
        </p:spPr>
      </p:sp>
      <p:sp>
        <p:nvSpPr>
          <p:cNvPr id="22" name="Interactive route map"/>
          <p:cNvSpPr/>
          <p:nvPr/>
        </p:nvSpPr>
        <p:spPr>
          <a:xfrm>
            <a:off x="640080" y="4828032"/>
            <a:ext cx="548640" cy="548640"/>
          </a:xfrm>
          <a:prstGeom prst="ellipse">
            <a:avLst/>
          </a:prstGeom>
          <a:solidFill>
            <a:srgbClr val="F29A1F"/>
          </a:solidFill>
          <a:ln w="12700">
            <a:solidFill>
              <a:srgbClr val="F29A1F"/>
            </a:solidFill>
            <a:prstDash val="solid"/>
          </a:ln>
        </p:spPr>
      </p:sp>
      <p:pic>
        <p:nvPicPr>
          <p:cNvPr id="23" name="Image 4" descr="Interactive route map"/>
          <p:cNvPicPr>
            <a:picLocks noChangeAspect="1"/>
          </p:cNvPicPr>
          <p:nvPr/>
        </p:nvPicPr>
        <p:blipFill>
          <a:blip r:embed="rId7"/>
          <a:stretch>
            <a:fillRect/>
          </a:stretch>
        </p:blipFill>
        <p:spPr>
          <a:xfrm>
            <a:off x="777240" y="4965192"/>
            <a:ext cx="274320" cy="274320"/>
          </a:xfrm>
          <a:prstGeom prst="rect">
            <a:avLst/>
          </a:prstGeom>
        </p:spPr>
      </p:pic>
      <p:sp>
        <p:nvSpPr>
          <p:cNvPr id="24" name="Text 17"/>
          <p:cNvSpPr txBox="1"/>
          <p:nvPr/>
        </p:nvSpPr>
        <p:spPr>
          <a:xfrm>
            <a:off x="1325880" y="4809744"/>
            <a:ext cx="2880360" cy="292608"/>
          </a:xfrm>
          <a:prstGeom prst="rect">
            <a:avLst/>
          </a:prstGeom>
          <a:noFill/>
          <a:ln/>
        </p:spPr>
        <p:txBody>
          <a:bodyPr wrap="square" lIns="0" tIns="0" rIns="0" bIns="0" rtlCol="0" anchor="t"/>
          <a:lstStyle/>
          <a:p>
            <a:pPr marL="0" indent="0">
              <a:buNone/>
            </a:pPr>
            <a:r>
              <a:rPr lang="en-US" sz="1400" b="1" dirty="0">
                <a:solidFill>
                  <a:schemeClr val="tx1"/>
                </a:solidFill>
              </a:rPr>
              <a:t>Interactive route map</a:t>
            </a:r>
            <a:endParaRPr lang="en-US" sz="1400" dirty="0"/>
          </a:p>
        </p:txBody>
      </p:sp>
      <p:sp>
        <p:nvSpPr>
          <p:cNvPr id="25" name="Text 18"/>
          <p:cNvSpPr txBox="1"/>
          <p:nvPr/>
        </p:nvSpPr>
        <p:spPr>
          <a:xfrm>
            <a:off x="1325880" y="5102352"/>
            <a:ext cx="2880360" cy="292608"/>
          </a:xfrm>
          <a:prstGeom prst="rect">
            <a:avLst/>
          </a:prstGeom>
          <a:noFill/>
          <a:ln/>
        </p:spPr>
        <p:txBody>
          <a:bodyPr wrap="square" lIns="0" tIns="0" rIns="0" bIns="0" rtlCol="0" anchor="t"/>
          <a:lstStyle/>
          <a:p>
            <a:pPr marL="0" indent="0">
              <a:buNone/>
            </a:pPr>
            <a:r>
              <a:rPr lang="en-US" sz="1100" dirty="0">
                <a:solidFill>
                  <a:schemeClr val="tx2"/>
                </a:solidFill>
              </a:rPr>
              <a:t>Every bus, its schools and road path</a:t>
            </a:r>
            <a:endParaRPr lang="en-US" sz="1100" dirty="0"/>
          </a:p>
        </p:txBody>
      </p:sp>
      <p:sp>
        <p:nvSpPr>
          <p:cNvPr id="26" name="Results and export"/>
          <p:cNvSpPr/>
          <p:nvPr/>
        </p:nvSpPr>
        <p:spPr>
          <a:xfrm>
            <a:off x="502920" y="5577840"/>
            <a:ext cx="3794760" cy="731520"/>
          </a:xfrm>
          <a:prstGeom prst="roundRect">
            <a:avLst>
              <a:gd name="adj" fmla="val 15000"/>
            </a:avLst>
          </a:prstGeom>
          <a:solidFill>
            <a:srgbClr val="F2EDFB"/>
          </a:solidFill>
          <a:ln w="9525">
            <a:solidFill>
              <a:srgbClr val="F2EDFB"/>
            </a:solidFill>
            <a:prstDash val="solid"/>
          </a:ln>
        </p:spPr>
      </p:sp>
      <p:sp>
        <p:nvSpPr>
          <p:cNvPr id="27" name="Results and export"/>
          <p:cNvSpPr/>
          <p:nvPr/>
        </p:nvSpPr>
        <p:spPr>
          <a:xfrm>
            <a:off x="640080" y="5669280"/>
            <a:ext cx="548640" cy="548640"/>
          </a:xfrm>
          <a:prstGeom prst="ellipse">
            <a:avLst/>
          </a:prstGeom>
          <a:solidFill>
            <a:srgbClr val="6B3FB5"/>
          </a:solidFill>
          <a:ln w="12700">
            <a:solidFill>
              <a:srgbClr val="6B3FB5"/>
            </a:solidFill>
            <a:prstDash val="solid"/>
          </a:ln>
        </p:spPr>
      </p:sp>
      <p:pic>
        <p:nvPicPr>
          <p:cNvPr id="28" name="Image 5" descr="Results and export"/>
          <p:cNvPicPr>
            <a:picLocks noChangeAspect="1"/>
          </p:cNvPicPr>
          <p:nvPr/>
        </p:nvPicPr>
        <p:blipFill>
          <a:blip r:embed="rId8"/>
          <a:stretch>
            <a:fillRect/>
          </a:stretch>
        </p:blipFill>
        <p:spPr>
          <a:xfrm>
            <a:off x="777240" y="5806440"/>
            <a:ext cx="274320" cy="274320"/>
          </a:xfrm>
          <a:prstGeom prst="rect">
            <a:avLst/>
          </a:prstGeom>
        </p:spPr>
      </p:pic>
      <p:sp>
        <p:nvSpPr>
          <p:cNvPr id="29" name="Text 21"/>
          <p:cNvSpPr txBox="1"/>
          <p:nvPr/>
        </p:nvSpPr>
        <p:spPr>
          <a:xfrm>
            <a:off x="1325880" y="5650992"/>
            <a:ext cx="2880360" cy="292608"/>
          </a:xfrm>
          <a:prstGeom prst="rect">
            <a:avLst/>
          </a:prstGeom>
          <a:noFill/>
          <a:ln/>
        </p:spPr>
        <p:txBody>
          <a:bodyPr wrap="square" lIns="0" tIns="0" rIns="0" bIns="0" rtlCol="0" anchor="t"/>
          <a:lstStyle/>
          <a:p>
            <a:pPr marL="0" indent="0">
              <a:buNone/>
            </a:pPr>
            <a:r>
              <a:rPr lang="en-US" sz="1400" b="1" dirty="0">
                <a:solidFill>
                  <a:schemeClr val="tx1"/>
                </a:solidFill>
              </a:rPr>
              <a:t>Results and export</a:t>
            </a:r>
            <a:endParaRPr lang="en-US" sz="1400" dirty="0"/>
          </a:p>
        </p:txBody>
      </p:sp>
      <p:sp>
        <p:nvSpPr>
          <p:cNvPr id="30" name="Text 22"/>
          <p:cNvSpPr txBox="1"/>
          <p:nvPr/>
        </p:nvSpPr>
        <p:spPr>
          <a:xfrm>
            <a:off x="1325880" y="5943600"/>
            <a:ext cx="2880360" cy="292608"/>
          </a:xfrm>
          <a:prstGeom prst="rect">
            <a:avLst/>
          </a:prstGeom>
          <a:noFill/>
          <a:ln/>
        </p:spPr>
        <p:txBody>
          <a:bodyPr wrap="square" lIns="0" tIns="0" rIns="0" bIns="0" rtlCol="0" anchor="t"/>
          <a:lstStyle/>
          <a:p>
            <a:pPr marL="0" indent="0">
              <a:buNone/>
            </a:pPr>
            <a:r>
              <a:rPr lang="en-US" sz="1100" dirty="0">
                <a:solidFill>
                  <a:schemeClr val="tx2"/>
                </a:solidFill>
              </a:rPr>
              <a:t>Plan CSV, report and audit report</a:t>
            </a:r>
            <a:endParaRPr lang="en-US" sz="1100" dirty="0"/>
          </a:p>
        </p:txBody>
      </p:sp>
      <p:sp>
        <p:nvSpPr>
          <p:cNvPr id="31" name="Inputs"/>
          <p:cNvSpPr/>
          <p:nvPr/>
        </p:nvSpPr>
        <p:spPr>
          <a:xfrm>
            <a:off x="4526280" y="2212848"/>
            <a:ext cx="2148840" cy="4187952"/>
          </a:xfrm>
          <a:prstGeom prst="roundRect">
            <a:avLst>
              <a:gd name="adj" fmla="val 4255"/>
            </a:avLst>
          </a:prstGeom>
          <a:solidFill>
            <a:srgbClr val="FFFFFF"/>
          </a:solidFill>
          <a:ln w="12700">
            <a:solidFill>
              <a:srgbClr val="0B1F45"/>
            </a:solidFill>
            <a:prstDash val="solid"/>
          </a:ln>
        </p:spPr>
      </p:sp>
      <p:sp>
        <p:nvSpPr>
          <p:cNvPr id="32" name="Shape 24"/>
          <p:cNvSpPr/>
          <p:nvPr/>
        </p:nvSpPr>
        <p:spPr>
          <a:xfrm>
            <a:off x="4526280" y="2212848"/>
            <a:ext cx="2148840" cy="457200"/>
          </a:xfrm>
          <a:prstGeom prst="roundRect">
            <a:avLst>
              <a:gd name="adj" fmla="val 20000"/>
            </a:avLst>
          </a:prstGeom>
          <a:solidFill>
            <a:srgbClr val="0B1F45"/>
          </a:solidFill>
          <a:ln w="12700">
            <a:solidFill>
              <a:srgbClr val="0B1F45"/>
            </a:solidFill>
            <a:prstDash val="solid"/>
          </a:ln>
        </p:spPr>
      </p:sp>
      <p:sp>
        <p:nvSpPr>
          <p:cNvPr id="33" name="Shape 25"/>
          <p:cNvSpPr/>
          <p:nvPr/>
        </p:nvSpPr>
        <p:spPr>
          <a:xfrm>
            <a:off x="4526280" y="2468880"/>
            <a:ext cx="2148840" cy="201168"/>
          </a:xfrm>
          <a:prstGeom prst="rect">
            <a:avLst/>
          </a:prstGeom>
          <a:solidFill>
            <a:srgbClr val="0B1F45"/>
          </a:solidFill>
          <a:ln w="12700">
            <a:solidFill>
              <a:srgbClr val="0B1F45"/>
            </a:solidFill>
            <a:prstDash val="solid"/>
          </a:ln>
        </p:spPr>
      </p:sp>
      <p:sp>
        <p:nvSpPr>
          <p:cNvPr id="34" name="Text 26"/>
          <p:cNvSpPr txBox="1"/>
          <p:nvPr/>
        </p:nvSpPr>
        <p:spPr>
          <a:xfrm>
            <a:off x="4690872" y="2212848"/>
            <a:ext cx="1874520" cy="457200"/>
          </a:xfrm>
          <a:prstGeom prst="rect">
            <a:avLst/>
          </a:prstGeom>
          <a:noFill/>
          <a:ln/>
        </p:spPr>
        <p:txBody>
          <a:bodyPr wrap="square" lIns="0" tIns="0" rIns="0" bIns="0" rtlCol="0" anchor="ctr"/>
          <a:lstStyle/>
          <a:p>
            <a:pPr marL="0" indent="0">
              <a:buNone/>
            </a:pPr>
            <a:r>
              <a:rPr lang="en-US" sz="1400" b="1" dirty="0">
                <a:solidFill>
                  <a:schemeClr val="bg1"/>
                </a:solidFill>
              </a:rPr>
              <a:t>Inputs</a:t>
            </a:r>
            <a:endParaRPr lang="en-US" sz="1400" dirty="0"/>
          </a:p>
        </p:txBody>
      </p:sp>
      <p:pic>
        <p:nvPicPr>
          <p:cNvPr id="35" name="Image 6" descr="Campus Cruise sidebar: school data upload and destination search with a map of the chosen venue"/>
          <p:cNvPicPr>
            <a:picLocks noChangeAspect="1"/>
          </p:cNvPicPr>
          <p:nvPr/>
        </p:nvPicPr>
        <p:blipFill>
          <a:blip r:embed="rId9"/>
          <a:stretch>
            <a:fillRect/>
          </a:stretch>
        </p:blipFill>
        <p:spPr>
          <a:xfrm>
            <a:off x="4892913" y="2743200"/>
            <a:ext cx="1415575" cy="3566160"/>
          </a:xfrm>
          <a:prstGeom prst="rect">
            <a:avLst/>
          </a:prstGeom>
        </p:spPr>
      </p:pic>
      <p:sp>
        <p:nvSpPr>
          <p:cNvPr id="36" name="Optimised route map"/>
          <p:cNvSpPr/>
          <p:nvPr/>
        </p:nvSpPr>
        <p:spPr>
          <a:xfrm>
            <a:off x="6903720" y="2212848"/>
            <a:ext cx="4782312" cy="4187952"/>
          </a:xfrm>
          <a:prstGeom prst="roundRect">
            <a:avLst>
              <a:gd name="adj" fmla="val 2183"/>
            </a:avLst>
          </a:prstGeom>
          <a:solidFill>
            <a:srgbClr val="FFFFFF"/>
          </a:solidFill>
          <a:ln w="12700">
            <a:solidFill>
              <a:srgbClr val="0B1F45"/>
            </a:solidFill>
            <a:prstDash val="solid"/>
          </a:ln>
        </p:spPr>
      </p:sp>
      <p:sp>
        <p:nvSpPr>
          <p:cNvPr id="37" name="Shape 28"/>
          <p:cNvSpPr/>
          <p:nvPr/>
        </p:nvSpPr>
        <p:spPr>
          <a:xfrm>
            <a:off x="6903720" y="2212848"/>
            <a:ext cx="4782312" cy="457200"/>
          </a:xfrm>
          <a:prstGeom prst="roundRect">
            <a:avLst>
              <a:gd name="adj" fmla="val 20000"/>
            </a:avLst>
          </a:prstGeom>
          <a:solidFill>
            <a:srgbClr val="0B1F45"/>
          </a:solidFill>
          <a:ln w="12700">
            <a:solidFill>
              <a:srgbClr val="0B1F45"/>
            </a:solidFill>
            <a:prstDash val="solid"/>
          </a:ln>
        </p:spPr>
      </p:sp>
      <p:sp>
        <p:nvSpPr>
          <p:cNvPr id="38" name="Shape 29"/>
          <p:cNvSpPr/>
          <p:nvPr/>
        </p:nvSpPr>
        <p:spPr>
          <a:xfrm>
            <a:off x="6903720" y="2468880"/>
            <a:ext cx="4782312" cy="201168"/>
          </a:xfrm>
          <a:prstGeom prst="rect">
            <a:avLst/>
          </a:prstGeom>
          <a:solidFill>
            <a:srgbClr val="0B1F45"/>
          </a:solidFill>
          <a:ln w="12700">
            <a:solidFill>
              <a:srgbClr val="0B1F45"/>
            </a:solidFill>
            <a:prstDash val="solid"/>
          </a:ln>
        </p:spPr>
      </p:sp>
      <p:sp>
        <p:nvSpPr>
          <p:cNvPr id="39" name="Text 30"/>
          <p:cNvSpPr txBox="1"/>
          <p:nvPr/>
        </p:nvSpPr>
        <p:spPr>
          <a:xfrm>
            <a:off x="7068312" y="2212848"/>
            <a:ext cx="4507992" cy="457200"/>
          </a:xfrm>
          <a:prstGeom prst="rect">
            <a:avLst/>
          </a:prstGeom>
          <a:noFill/>
          <a:ln/>
        </p:spPr>
        <p:txBody>
          <a:bodyPr wrap="square" lIns="0" tIns="0" rIns="0" bIns="0" rtlCol="0" anchor="ctr"/>
          <a:lstStyle/>
          <a:p>
            <a:pPr marL="0" indent="0">
              <a:buNone/>
            </a:pPr>
            <a:r>
              <a:rPr lang="en-US" sz="1400" b="1" dirty="0">
                <a:solidFill>
                  <a:schemeClr val="bg1"/>
                </a:solidFill>
              </a:rPr>
              <a:t>Optimised route map</a:t>
            </a:r>
            <a:endParaRPr lang="en-US" sz="1400" dirty="0"/>
          </a:p>
        </p:txBody>
      </p:sp>
      <p:pic>
        <p:nvPicPr>
          <p:cNvPr id="40" name="Image 7" descr="Campus Cruise route map: 25 buses from 60 schools to Principality Stadium"/>
          <p:cNvPicPr>
            <a:picLocks noChangeAspect="1"/>
          </p:cNvPicPr>
          <p:nvPr/>
        </p:nvPicPr>
        <p:blipFill>
          <a:blip r:embed="rId10"/>
          <a:stretch>
            <a:fillRect/>
          </a:stretch>
        </p:blipFill>
        <p:spPr>
          <a:xfrm>
            <a:off x="7008876" y="2743200"/>
            <a:ext cx="4572000" cy="3565886"/>
          </a:xfrm>
          <a:prstGeom prst="rect">
            <a:avLst/>
          </a:prstGeom>
        </p:spPr>
      </p:pic>
      <p:sp>
        <p:nvSpPr>
          <p:cNvPr id="41" name="Text 31"/>
          <p:cNvSpPr txBox="1"/>
          <p:nvPr/>
        </p:nvSpPr>
        <p:spPr>
          <a:xfrm>
            <a:off x="9326880" y="2212848"/>
            <a:ext cx="2212848" cy="457200"/>
          </a:xfrm>
          <a:prstGeom prst="rect">
            <a:avLst/>
          </a:prstGeom>
          <a:noFill/>
          <a:ln/>
        </p:spPr>
        <p:txBody>
          <a:bodyPr wrap="square" lIns="0" tIns="0" rIns="0" bIns="0" rtlCol="0" anchor="ctr"/>
          <a:lstStyle/>
          <a:p>
            <a:pPr marL="0" indent="0" algn="r">
              <a:buNone/>
            </a:pPr>
            <a:r>
              <a:rPr lang="en-US" sz="950" i="1" dirty="0">
                <a:solidFill>
                  <a:srgbClr val="B8C2D1"/>
                </a:solidFill>
              </a:rPr>
              <a:t>Real screenshots, 28 Oct 2026</a:t>
            </a:r>
            <a:endParaRPr lang="en-US" sz="950" dirty="0"/>
          </a:p>
        </p:txBody>
      </p:sp>
      <p:sp>
        <p:nvSpPr>
          <p:cNvPr id="42"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childTnLst>
                          </p:cTn>
                        </p:par>
                        <p:par>
                          <p:cTn id="8" fill="hold">
                            <p:stCondLst>
                              <p:cond delay="350"/>
                            </p:stCondLst>
                            <p:childTnLst>
                              <p:par>
                                <p:cTn id="9" presetID="10" presetClass="entr" presetSubtype="0"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350"/>
                                        <p:tgtEl>
                                          <p:spTgt spid="6"/>
                                        </p:tgtEl>
                                      </p:cBhvr>
                                    </p:animEffect>
                                  </p:childTnLst>
                                </p:cTn>
                              </p:par>
                              <p:par>
                                <p:cTn id="12" presetID="10" presetClass="entr" presetSubtype="0" fill="hold"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350"/>
                                        <p:tgtEl>
                                          <p:spTgt spid="32"/>
                                        </p:tgtEl>
                                      </p:cBhvr>
                                    </p:animEffect>
                                  </p:childTnLst>
                                </p:cTn>
                              </p:par>
                              <p:par>
                                <p:cTn id="15" presetID="10" presetClass="entr" presetSubtype="0" fill="hold" nodeType="with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50"/>
                                        <p:tgtEl>
                                          <p:spTgt spid="3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4"/>
                                        </p:tgtEl>
                                        <p:attrNameLst>
                                          <p:attrName>style.visibility</p:attrName>
                                        </p:attrNameLst>
                                      </p:cBhvr>
                                      <p:to>
                                        <p:strVal val="visible"/>
                                      </p:to>
                                    </p:set>
                                    <p:animEffect transition="in" filter="fade">
                                      <p:cBhvr>
                                        <p:cTn id="20" dur="350"/>
                                        <p:tgtEl>
                                          <p:spTgt spid="34"/>
                                        </p:tgtEl>
                                      </p:cBhvr>
                                    </p:animEffect>
                                  </p:childTnLst>
                                </p:cTn>
                              </p:par>
                              <p:par>
                                <p:cTn id="21" presetID="10" presetClass="entr" presetSubtype="0" fill="hold"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35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350"/>
                                        <p:tgtEl>
                                          <p:spTgt spid="3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35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5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350"/>
                                        <p:tgtEl>
                                          <p:spTgt spid="9"/>
                                        </p:tgtEl>
                                      </p:cBhvr>
                                    </p:animEffect>
                                  </p:childTnLst>
                                </p:cTn>
                              </p:par>
                              <p:par>
                                <p:cTn id="36" presetID="10" presetClass="entr" presetSubtype="0" fill="hold" nodeType="with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fade">
                                      <p:cBhvr>
                                        <p:cTn id="38" dur="350"/>
                                        <p:tgtEl>
                                          <p:spTgt spid="7"/>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350"/>
                                        <p:tgtEl>
                                          <p:spTgt spid="8"/>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350"/>
                                        <p:tgtEl>
                                          <p:spTgt spid="33"/>
                                        </p:tgtEl>
                                      </p:cBhvr>
                                    </p:animEffect>
                                  </p:childTnLst>
                                </p:cTn>
                              </p:par>
                              <p:par>
                                <p:cTn id="45" presetID="10"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350"/>
                                        <p:tgtEl>
                                          <p:spTgt spid="3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0"/>
                                        </p:tgtEl>
                                        <p:attrNameLst>
                                          <p:attrName>style.visibility</p:attrName>
                                        </p:attrNameLst>
                                      </p:cBhvr>
                                      <p:to>
                                        <p:strVal val="visible"/>
                                      </p:to>
                                    </p:set>
                                    <p:animEffect transition="in" filter="fade">
                                      <p:cBhvr>
                                        <p:cTn id="50" dur="350"/>
                                        <p:tgtEl>
                                          <p:spTgt spid="10"/>
                                        </p:tgtEl>
                                      </p:cBhvr>
                                    </p:animEffect>
                                  </p:childTnLst>
                                </p:cTn>
                              </p:par>
                              <p:par>
                                <p:cTn id="51" presetID="10" presetClass="entr" presetSubtype="0" fill="hold"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350"/>
                                        <p:tgtEl>
                                          <p:spTgt spid="35"/>
                                        </p:tgtEl>
                                      </p:cBhvr>
                                    </p:animEffect>
                                  </p:childTnLst>
                                </p:cTn>
                              </p:par>
                              <p:par>
                                <p:cTn id="54" presetID="10" presetClass="entr" presetSubtype="0" fill="hold"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350"/>
                                        <p:tgtEl>
                                          <p:spTgt spid="40"/>
                                        </p:tgtEl>
                                      </p:cBhvr>
                                    </p:animEffect>
                                  </p:childTnLst>
                                </p:cTn>
                              </p:par>
                            </p:childTnLst>
                          </p:cTn>
                        </p:par>
                        <p:par>
                          <p:cTn id="57" fill="hold">
                            <p:stCondLst>
                              <p:cond delay="700"/>
                            </p:stCondLst>
                            <p:childTnLst>
                              <p:par>
                                <p:cTn id="58" presetID="10" presetClass="entr" presetSubtype="0" fill="hold" nodeType="afterEffect">
                                  <p:stCondLst>
                                    <p:cond delay="0"/>
                                  </p:stCondLst>
                                  <p:childTnLst>
                                    <p:set>
                                      <p:cBhvr>
                                        <p:cTn id="59" dur="1" fill="hold">
                                          <p:stCondLst>
                                            <p:cond delay="0"/>
                                          </p:stCondLst>
                                        </p:cTn>
                                        <p:tgtEl>
                                          <p:spTgt spid="11"/>
                                        </p:tgtEl>
                                        <p:attrNameLst>
                                          <p:attrName>style.visibility</p:attrName>
                                        </p:attrNameLst>
                                      </p:cBhvr>
                                      <p:to>
                                        <p:strVal val="visible"/>
                                      </p:to>
                                    </p:set>
                                    <p:animEffect transition="in" filter="fade">
                                      <p:cBhvr>
                                        <p:cTn id="60" dur="350"/>
                                        <p:tgtEl>
                                          <p:spTgt spid="1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350"/>
                                        <p:tgtEl>
                                          <p:spTgt spid="14"/>
                                        </p:tgtEl>
                                      </p:cBhvr>
                                    </p:animEffect>
                                  </p:childTnLst>
                                </p:cTn>
                              </p:par>
                              <p:par>
                                <p:cTn id="64" presetID="10" presetClass="entr" presetSubtype="0" fill="hold" nodeType="withEffect">
                                  <p:stCondLst>
                                    <p:cond delay="0"/>
                                  </p:stCondLst>
                                  <p:childTnLst>
                                    <p:set>
                                      <p:cBhvr>
                                        <p:cTn id="65" dur="1" fill="hold">
                                          <p:stCondLst>
                                            <p:cond delay="0"/>
                                          </p:stCondLst>
                                        </p:cTn>
                                        <p:tgtEl>
                                          <p:spTgt spid="12"/>
                                        </p:tgtEl>
                                        <p:attrNameLst>
                                          <p:attrName>style.visibility</p:attrName>
                                        </p:attrNameLst>
                                      </p:cBhvr>
                                      <p:to>
                                        <p:strVal val="visible"/>
                                      </p:to>
                                    </p:set>
                                    <p:animEffect transition="in" filter="fade">
                                      <p:cBhvr>
                                        <p:cTn id="66" dur="350"/>
                                        <p:tgtEl>
                                          <p:spTgt spid="12"/>
                                        </p:tgtEl>
                                      </p:cBhvr>
                                    </p:animEffect>
                                  </p:childTnLst>
                                </p:cTn>
                              </p:par>
                              <p:par>
                                <p:cTn id="67" presetID="10" presetClass="entr" presetSubtype="0" fill="hold"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350"/>
                                        <p:tgtEl>
                                          <p:spTgt spid="1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350"/>
                                        <p:tgtEl>
                                          <p:spTgt spid="15"/>
                                        </p:tgtEl>
                                      </p:cBhvr>
                                    </p:animEffect>
                                  </p:childTnLst>
                                </p:cTn>
                              </p:par>
                            </p:childTnLst>
                          </p:cTn>
                        </p:par>
                        <p:par>
                          <p:cTn id="73" fill="hold">
                            <p:stCondLst>
                              <p:cond delay="1050"/>
                            </p:stCondLst>
                            <p:childTnLst>
                              <p:par>
                                <p:cTn id="74" presetID="10" presetClass="entr" presetSubtype="0" fill="hold"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350"/>
                                        <p:tgtEl>
                                          <p:spTgt spid="1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350"/>
                                        <p:tgtEl>
                                          <p:spTgt spid="19"/>
                                        </p:tgtEl>
                                      </p:cBhvr>
                                    </p:animEffect>
                                  </p:childTnLst>
                                </p:cTn>
                              </p:par>
                              <p:par>
                                <p:cTn id="80" presetID="10" presetClass="entr" presetSubtype="0" fill="hold" nodeType="with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350"/>
                                        <p:tgtEl>
                                          <p:spTgt spid="17"/>
                                        </p:tgtEl>
                                      </p:cBhvr>
                                    </p:animEffect>
                                  </p:childTnLst>
                                </p:cTn>
                              </p:par>
                              <p:par>
                                <p:cTn id="83" presetID="10" presetClass="entr" presetSubtype="0" fill="hold"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350"/>
                                        <p:tgtEl>
                                          <p:spTgt spid="1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350"/>
                                        <p:tgtEl>
                                          <p:spTgt spid="20"/>
                                        </p:tgtEl>
                                      </p:cBhvr>
                                    </p:animEffect>
                                  </p:childTnLst>
                                </p:cTn>
                              </p:par>
                            </p:childTnLst>
                          </p:cTn>
                        </p:par>
                        <p:par>
                          <p:cTn id="89" fill="hold">
                            <p:stCondLst>
                              <p:cond delay="1400"/>
                            </p:stCondLst>
                            <p:childTnLst>
                              <p:par>
                                <p:cTn id="90" presetID="10" presetClass="entr" presetSubtype="0" fill="hold" nodeType="after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350"/>
                                        <p:tgtEl>
                                          <p:spTgt spid="2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24"/>
                                        </p:tgtEl>
                                        <p:attrNameLst>
                                          <p:attrName>style.visibility</p:attrName>
                                        </p:attrNameLst>
                                      </p:cBhvr>
                                      <p:to>
                                        <p:strVal val="visible"/>
                                      </p:to>
                                    </p:set>
                                    <p:animEffect transition="in" filter="fade">
                                      <p:cBhvr>
                                        <p:cTn id="95" dur="350"/>
                                        <p:tgtEl>
                                          <p:spTgt spid="24"/>
                                        </p:tgtEl>
                                      </p:cBhvr>
                                    </p:animEffect>
                                  </p:childTnLst>
                                </p:cTn>
                              </p:par>
                              <p:par>
                                <p:cTn id="96" presetID="10" presetClass="entr" presetSubtype="0" fill="hold" nodeType="with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350"/>
                                        <p:tgtEl>
                                          <p:spTgt spid="22"/>
                                        </p:tgtEl>
                                      </p:cBhvr>
                                    </p:animEffect>
                                  </p:childTnLst>
                                </p:cTn>
                              </p:par>
                              <p:par>
                                <p:cTn id="99" presetID="10" presetClass="entr" presetSubtype="0" fill="hold" nodeType="withEffect">
                                  <p:stCondLst>
                                    <p:cond delay="0"/>
                                  </p:stCondLst>
                                  <p:childTnLst>
                                    <p:set>
                                      <p:cBhvr>
                                        <p:cTn id="100" dur="1" fill="hold">
                                          <p:stCondLst>
                                            <p:cond delay="0"/>
                                          </p:stCondLst>
                                        </p:cTn>
                                        <p:tgtEl>
                                          <p:spTgt spid="23"/>
                                        </p:tgtEl>
                                        <p:attrNameLst>
                                          <p:attrName>style.visibility</p:attrName>
                                        </p:attrNameLst>
                                      </p:cBhvr>
                                      <p:to>
                                        <p:strVal val="visible"/>
                                      </p:to>
                                    </p:set>
                                    <p:animEffect transition="in" filter="fade">
                                      <p:cBhvr>
                                        <p:cTn id="101" dur="350"/>
                                        <p:tgtEl>
                                          <p:spTgt spid="2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5"/>
                                        </p:tgtEl>
                                        <p:attrNameLst>
                                          <p:attrName>style.visibility</p:attrName>
                                        </p:attrNameLst>
                                      </p:cBhvr>
                                      <p:to>
                                        <p:strVal val="visible"/>
                                      </p:to>
                                    </p:set>
                                    <p:animEffect transition="in" filter="fade">
                                      <p:cBhvr>
                                        <p:cTn id="104" dur="350"/>
                                        <p:tgtEl>
                                          <p:spTgt spid="25"/>
                                        </p:tgtEl>
                                      </p:cBhvr>
                                    </p:animEffect>
                                  </p:childTnLst>
                                </p:cTn>
                              </p:par>
                            </p:childTnLst>
                          </p:cTn>
                        </p:par>
                        <p:par>
                          <p:cTn id="105" fill="hold">
                            <p:stCondLst>
                              <p:cond delay="1750"/>
                            </p:stCondLst>
                            <p:childTnLst>
                              <p:par>
                                <p:cTn id="106" presetID="10" presetClass="entr" presetSubtype="0" fill="hold" nodeType="afterEffect">
                                  <p:stCondLst>
                                    <p:cond delay="0"/>
                                  </p:stCondLst>
                                  <p:childTnLst>
                                    <p:set>
                                      <p:cBhvr>
                                        <p:cTn id="107" dur="1" fill="hold">
                                          <p:stCondLst>
                                            <p:cond delay="0"/>
                                          </p:stCondLst>
                                        </p:cTn>
                                        <p:tgtEl>
                                          <p:spTgt spid="26"/>
                                        </p:tgtEl>
                                        <p:attrNameLst>
                                          <p:attrName>style.visibility</p:attrName>
                                        </p:attrNameLst>
                                      </p:cBhvr>
                                      <p:to>
                                        <p:strVal val="visible"/>
                                      </p:to>
                                    </p:set>
                                    <p:animEffect transition="in" filter="fade">
                                      <p:cBhvr>
                                        <p:cTn id="108" dur="350"/>
                                        <p:tgtEl>
                                          <p:spTgt spid="26"/>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9"/>
                                        </p:tgtEl>
                                        <p:attrNameLst>
                                          <p:attrName>style.visibility</p:attrName>
                                        </p:attrNameLst>
                                      </p:cBhvr>
                                      <p:to>
                                        <p:strVal val="visible"/>
                                      </p:to>
                                    </p:set>
                                    <p:animEffect transition="in" filter="fade">
                                      <p:cBhvr>
                                        <p:cTn id="111" dur="350"/>
                                        <p:tgtEl>
                                          <p:spTgt spid="29"/>
                                        </p:tgtEl>
                                      </p:cBhvr>
                                    </p:animEffect>
                                  </p:childTnLst>
                                </p:cTn>
                              </p:par>
                              <p:par>
                                <p:cTn id="112" presetID="10" presetClass="entr" presetSubtype="0" fill="hold" nodeType="with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fade">
                                      <p:cBhvr>
                                        <p:cTn id="114" dur="350"/>
                                        <p:tgtEl>
                                          <p:spTgt spid="27"/>
                                        </p:tgtEl>
                                      </p:cBhvr>
                                    </p:animEffect>
                                  </p:childTnLst>
                                </p:cTn>
                              </p:par>
                              <p:par>
                                <p:cTn id="115" presetID="10" presetClass="entr" presetSubtype="0" fill="hold" nodeType="withEffect">
                                  <p:stCondLst>
                                    <p:cond delay="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350"/>
                                        <p:tgtEl>
                                          <p:spTgt spid="2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30"/>
                                        </p:tgtEl>
                                        <p:attrNameLst>
                                          <p:attrName>style.visibility</p:attrName>
                                        </p:attrNameLst>
                                      </p:cBhvr>
                                      <p:to>
                                        <p:strVal val="visible"/>
                                      </p:to>
                                    </p:set>
                                    <p:animEffect transition="in" filter="fade">
                                      <p:cBhvr>
                                        <p:cTn id="120" dur="3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4" grpId="0" animBg="1"/>
      <p:bldP spid="15" grpId="0" animBg="1"/>
      <p:bldP spid="19" grpId="0" animBg="1"/>
      <p:bldP spid="20" grpId="0" animBg="1"/>
      <p:bldP spid="24" grpId="0" animBg="1"/>
      <p:bldP spid="25" grpId="0" animBg="1"/>
      <p:bldP spid="29" grpId="0" animBg="1"/>
      <p:bldP spid="30" grpId="0" animBg="1"/>
      <p:bldP spid="34" grpId="0" animBg="1"/>
      <p:bldP spid="39" grpId="0" animBg="1"/>
      <p:bldP spid="4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oaches outside Principality Stadium, Cardiff (illustration from the team's reference slides)"/>
          <p:cNvPicPr>
            <a:picLocks noChangeAspect="1"/>
          </p:cNvPicPr>
          <p:nvPr/>
        </p:nvPicPr>
        <p:blipFill>
          <a:blip r:embed="rId3"/>
          <a:stretch>
            <a:fillRect/>
          </a:stretch>
        </p:blipFill>
        <p:spPr>
          <a:xfrm>
            <a:off x="8653357" y="0"/>
            <a:ext cx="3538338" cy="1874520"/>
          </a:xfrm>
          <a:prstGeom prst="rect">
            <a:avLst/>
          </a:prstGeom>
        </p:spPr>
      </p:pic>
      <p:sp>
        <p:nvSpPr>
          <p:cNvPr id="3" name="Text 0"/>
          <p:cNvSpPr>
            <a:spLocks noGrp="1"/>
          </p:cNvSpPr>
          <p:nvPr>
            <p:ph type="body" idx="100" hasCustomPrompt="1"/>
          </p:nvPr>
        </p:nvSpPr>
        <p:spPr>
          <a:xfrm>
            <a:off x="502920" y="292608"/>
            <a:ext cx="731520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GENERATIVE AI WITH HUMAN CONTROL</a:t>
            </a:r>
            <a:endParaRPr lang="en-US" sz="1300" dirty="0"/>
          </a:p>
        </p:txBody>
      </p:sp>
      <p:sp>
        <p:nvSpPr>
          <p:cNvPr id="4" name="Text 1"/>
          <p:cNvSpPr>
            <a:spLocks noGrp="1"/>
          </p:cNvSpPr>
          <p:nvPr>
            <p:ph type="title" idx="102" hasCustomPrompt="1"/>
          </p:nvPr>
        </p:nvSpPr>
        <p:spPr>
          <a:xfrm>
            <a:off x="502920" y="777240"/>
            <a:ext cx="7589520" cy="1051560"/>
          </a:xfrm>
          <a:prstGeom prst="rect">
            <a:avLst/>
          </a:prstGeom>
          <a:noFill/>
          <a:ln/>
        </p:spPr>
        <p:txBody>
          <a:bodyPr wrap="square" lIns="0" tIns="0" rIns="0" bIns="0" rtlCol="0" anchor="t"/>
          <a:lstStyle/>
          <a:p>
            <a:pPr marL="0" indent="0" algn="l">
              <a:buNone/>
            </a:pPr>
            <a:r>
              <a:rPr lang="en-US" sz="3400" b="1" dirty="0">
                <a:solidFill>
                  <a:srgbClr val="0B1F45"/>
                </a:solidFill>
              </a:rPr>
              <a:t>AI Assistant: </a:t>
            </a:r>
            <a:r>
              <a:rPr lang="en-US" sz="3400" b="1" dirty="0">
                <a:solidFill>
                  <a:srgbClr val="D7192F"/>
                </a:solidFill>
              </a:rPr>
              <a:t>You Approve</a:t>
            </a:r>
            <a:endParaRPr lang="en-US" sz="3400" dirty="0"/>
          </a:p>
        </p:txBody>
      </p:sp>
      <p:sp>
        <p:nvSpPr>
          <p:cNvPr id="5" name="Text 2"/>
          <p:cNvSpPr txBox="1"/>
          <p:nvPr/>
        </p:nvSpPr>
        <p:spPr>
          <a:xfrm>
            <a:off x="502920" y="1481328"/>
            <a:ext cx="7589520" cy="566928"/>
          </a:xfrm>
          <a:prstGeom prst="rect">
            <a:avLst/>
          </a:prstGeom>
          <a:noFill/>
          <a:ln/>
        </p:spPr>
        <p:txBody>
          <a:bodyPr wrap="square" lIns="0" tIns="0" rIns="0" bIns="0" rtlCol="0" anchor="t"/>
          <a:lstStyle/>
          <a:p>
            <a:pPr marL="0" indent="0">
              <a:buNone/>
            </a:pPr>
            <a:r>
              <a:rPr lang="en-US" sz="1500" dirty="0">
                <a:solidFill>
                  <a:schemeClr val="tx2"/>
                </a:solidFill>
              </a:rPr>
              <a:t>Organisers type what they want in plain English. The assistant cannot change anything on its own.</a:t>
            </a:r>
            <a:endParaRPr lang="en-US" sz="1500" dirty="0"/>
          </a:p>
        </p:txBody>
      </p:sp>
      <p:sp>
        <p:nvSpPr>
          <p:cNvPr id="6" name="You type a request"/>
          <p:cNvSpPr/>
          <p:nvPr/>
        </p:nvSpPr>
        <p:spPr>
          <a:xfrm>
            <a:off x="502920" y="2240280"/>
            <a:ext cx="6400800" cy="676656"/>
          </a:xfrm>
          <a:prstGeom prst="roundRect">
            <a:avLst>
              <a:gd name="adj" fmla="val 16216"/>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7" name="Step 1"/>
          <p:cNvSpPr/>
          <p:nvPr/>
        </p:nvSpPr>
        <p:spPr>
          <a:xfrm>
            <a:off x="658368" y="2359152"/>
            <a:ext cx="438912" cy="438912"/>
          </a:xfrm>
          <a:prstGeom prst="ellipse">
            <a:avLst/>
          </a:prstGeom>
          <a:solidFill>
            <a:srgbClr val="0B1F45"/>
          </a:solidFill>
          <a:ln w="12700">
            <a:solidFill>
              <a:srgbClr val="0B1F45"/>
            </a:solidFill>
            <a:prstDash val="solid"/>
          </a:ln>
        </p:spPr>
      </p:sp>
      <p:sp>
        <p:nvSpPr>
          <p:cNvPr id="8" name="Text 5"/>
          <p:cNvSpPr txBox="1"/>
          <p:nvPr/>
        </p:nvSpPr>
        <p:spPr>
          <a:xfrm>
            <a:off x="658368" y="2359152"/>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pic>
        <p:nvPicPr>
          <p:cNvPr id="9" name="Image 1" descr="You type a request"/>
          <p:cNvPicPr>
            <a:picLocks noChangeAspect="1"/>
          </p:cNvPicPr>
          <p:nvPr/>
        </p:nvPicPr>
        <p:blipFill>
          <a:blip r:embed="rId4"/>
          <a:stretch>
            <a:fillRect/>
          </a:stretch>
        </p:blipFill>
        <p:spPr>
          <a:xfrm>
            <a:off x="1261872" y="2414016"/>
            <a:ext cx="329184" cy="329184"/>
          </a:xfrm>
          <a:prstGeom prst="rect">
            <a:avLst/>
          </a:prstGeom>
        </p:spPr>
      </p:pic>
      <p:sp>
        <p:nvSpPr>
          <p:cNvPr id="10" name="Text 6"/>
          <p:cNvSpPr txBox="1"/>
          <p:nvPr/>
        </p:nvSpPr>
        <p:spPr>
          <a:xfrm>
            <a:off x="1783080" y="2295144"/>
            <a:ext cx="4937760" cy="292608"/>
          </a:xfrm>
          <a:prstGeom prst="rect">
            <a:avLst/>
          </a:prstGeom>
          <a:noFill/>
          <a:ln/>
        </p:spPr>
        <p:txBody>
          <a:bodyPr wrap="square" lIns="0" tIns="0" rIns="0" bIns="0" rtlCol="0" anchor="t"/>
          <a:lstStyle/>
          <a:p>
            <a:pPr marL="0" indent="0">
              <a:buNone/>
            </a:pPr>
            <a:r>
              <a:rPr lang="en-US" sz="1400" b="1" dirty="0">
                <a:solidFill>
                  <a:schemeClr val="tx1"/>
                </a:solidFill>
              </a:rPr>
              <a:t>You type a request</a:t>
            </a:r>
            <a:endParaRPr lang="en-US" sz="1400" dirty="0"/>
          </a:p>
        </p:txBody>
      </p:sp>
      <p:sp>
        <p:nvSpPr>
          <p:cNvPr id="11" name="Text 7"/>
          <p:cNvSpPr txBox="1"/>
          <p:nvPr/>
        </p:nvSpPr>
        <p:spPr>
          <a:xfrm>
            <a:off x="1783080" y="2587752"/>
            <a:ext cx="4937760" cy="274320"/>
          </a:xfrm>
          <a:prstGeom prst="rect">
            <a:avLst/>
          </a:prstGeom>
          <a:noFill/>
          <a:ln/>
        </p:spPr>
        <p:txBody>
          <a:bodyPr wrap="square" lIns="0" tIns="0" rIns="0" bIns="0" rtlCol="0" anchor="t"/>
          <a:lstStyle/>
          <a:p>
            <a:pPr marL="0" indent="0">
              <a:buNone/>
            </a:pPr>
            <a:r>
              <a:rPr lang="en-US" sz="1150" dirty="0">
                <a:solidFill>
                  <a:schemeClr val="tx2"/>
                </a:solidFill>
              </a:rPr>
              <a:t>"Minimise bus costs while keeping nearby schools together."</a:t>
            </a:r>
            <a:endParaRPr lang="en-US" sz="1150" dirty="0"/>
          </a:p>
        </p:txBody>
      </p:sp>
      <p:sp>
        <p:nvSpPr>
          <p:cNvPr id="12" name="GPT-4.1 mini proposes"/>
          <p:cNvSpPr/>
          <p:nvPr/>
        </p:nvSpPr>
        <p:spPr>
          <a:xfrm>
            <a:off x="502920" y="3017520"/>
            <a:ext cx="6400800" cy="676656"/>
          </a:xfrm>
          <a:prstGeom prst="roundRect">
            <a:avLst>
              <a:gd name="adj" fmla="val 16216"/>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13" name="Step 2"/>
          <p:cNvSpPr/>
          <p:nvPr/>
        </p:nvSpPr>
        <p:spPr>
          <a:xfrm>
            <a:off x="658368" y="3136392"/>
            <a:ext cx="438912" cy="438912"/>
          </a:xfrm>
          <a:prstGeom prst="ellipse">
            <a:avLst/>
          </a:prstGeom>
          <a:solidFill>
            <a:srgbClr val="0B1F45"/>
          </a:solidFill>
          <a:ln w="12700">
            <a:solidFill>
              <a:srgbClr val="0B1F45"/>
            </a:solidFill>
            <a:prstDash val="solid"/>
          </a:ln>
        </p:spPr>
      </p:sp>
      <p:sp>
        <p:nvSpPr>
          <p:cNvPr id="14" name="Text 10"/>
          <p:cNvSpPr txBox="1"/>
          <p:nvPr/>
        </p:nvSpPr>
        <p:spPr>
          <a:xfrm>
            <a:off x="658368" y="3136392"/>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pic>
        <p:nvPicPr>
          <p:cNvPr id="15" name="Image 2" descr="GPT-4.1 mini proposes"/>
          <p:cNvPicPr>
            <a:picLocks noChangeAspect="1"/>
          </p:cNvPicPr>
          <p:nvPr/>
        </p:nvPicPr>
        <p:blipFill>
          <a:blip r:embed="rId5"/>
          <a:stretch>
            <a:fillRect/>
          </a:stretch>
        </p:blipFill>
        <p:spPr>
          <a:xfrm>
            <a:off x="1261872" y="3191256"/>
            <a:ext cx="329184" cy="329184"/>
          </a:xfrm>
          <a:prstGeom prst="rect">
            <a:avLst/>
          </a:prstGeom>
        </p:spPr>
      </p:pic>
      <p:sp>
        <p:nvSpPr>
          <p:cNvPr id="16" name="Text 11"/>
          <p:cNvSpPr txBox="1"/>
          <p:nvPr/>
        </p:nvSpPr>
        <p:spPr>
          <a:xfrm>
            <a:off x="1783080" y="3072384"/>
            <a:ext cx="4937760" cy="292608"/>
          </a:xfrm>
          <a:prstGeom prst="rect">
            <a:avLst/>
          </a:prstGeom>
          <a:noFill/>
          <a:ln/>
        </p:spPr>
        <p:txBody>
          <a:bodyPr wrap="square" lIns="0" tIns="0" rIns="0" bIns="0" rtlCol="0" anchor="t"/>
          <a:lstStyle/>
          <a:p>
            <a:pPr marL="0" indent="0">
              <a:buNone/>
            </a:pPr>
            <a:r>
              <a:rPr lang="en-US" sz="1400" b="1" dirty="0">
                <a:solidFill>
                  <a:schemeClr val="tx1"/>
                </a:solidFill>
              </a:rPr>
              <a:t>GPT-4.1 mini proposes</a:t>
            </a:r>
            <a:endParaRPr lang="en-US" sz="1400" dirty="0"/>
          </a:p>
        </p:txBody>
      </p:sp>
      <p:sp>
        <p:nvSpPr>
          <p:cNvPr id="17" name="Text 12"/>
          <p:cNvSpPr txBox="1"/>
          <p:nvPr/>
        </p:nvSpPr>
        <p:spPr>
          <a:xfrm>
            <a:off x="1783080" y="3364992"/>
            <a:ext cx="4937760" cy="274320"/>
          </a:xfrm>
          <a:prstGeom prst="rect">
            <a:avLst/>
          </a:prstGeom>
          <a:noFill/>
          <a:ln/>
        </p:spPr>
        <p:txBody>
          <a:bodyPr wrap="square" lIns="0" tIns="0" rIns="0" bIns="0" rtlCol="0" anchor="t"/>
          <a:lstStyle/>
          <a:p>
            <a:pPr marL="0" indent="0">
              <a:buNone/>
            </a:pPr>
            <a:r>
              <a:rPr lang="en-US" sz="1150" dirty="0">
                <a:solidFill>
                  <a:schemeClr val="tx2"/>
                </a:solidFill>
              </a:rPr>
              <a:t>Structured JSON only: no tools, no direct changes</a:t>
            </a:r>
            <a:endParaRPr lang="en-US" sz="1150" dirty="0"/>
          </a:p>
        </p:txBody>
      </p:sp>
      <p:sp>
        <p:nvSpPr>
          <p:cNvPr id="18" name="Code checks the proposal"/>
          <p:cNvSpPr/>
          <p:nvPr/>
        </p:nvSpPr>
        <p:spPr>
          <a:xfrm>
            <a:off x="502920" y="3794760"/>
            <a:ext cx="6400800" cy="676656"/>
          </a:xfrm>
          <a:prstGeom prst="roundRect">
            <a:avLst>
              <a:gd name="adj" fmla="val 16216"/>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19" name="Step 3"/>
          <p:cNvSpPr/>
          <p:nvPr/>
        </p:nvSpPr>
        <p:spPr>
          <a:xfrm>
            <a:off x="658368" y="3913632"/>
            <a:ext cx="438912" cy="438912"/>
          </a:xfrm>
          <a:prstGeom prst="ellipse">
            <a:avLst/>
          </a:prstGeom>
          <a:solidFill>
            <a:srgbClr val="0B1F45"/>
          </a:solidFill>
          <a:ln w="12700">
            <a:solidFill>
              <a:srgbClr val="0B1F45"/>
            </a:solidFill>
            <a:prstDash val="solid"/>
          </a:ln>
        </p:spPr>
      </p:sp>
      <p:sp>
        <p:nvSpPr>
          <p:cNvPr id="20" name="Text 15"/>
          <p:cNvSpPr txBox="1"/>
          <p:nvPr/>
        </p:nvSpPr>
        <p:spPr>
          <a:xfrm>
            <a:off x="658368" y="3913632"/>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pic>
        <p:nvPicPr>
          <p:cNvPr id="21" name="Image 3" descr="Code checks the proposal"/>
          <p:cNvPicPr>
            <a:picLocks noChangeAspect="1"/>
          </p:cNvPicPr>
          <p:nvPr/>
        </p:nvPicPr>
        <p:blipFill>
          <a:blip r:embed="rId6"/>
          <a:stretch>
            <a:fillRect/>
          </a:stretch>
        </p:blipFill>
        <p:spPr>
          <a:xfrm>
            <a:off x="1261872" y="3968496"/>
            <a:ext cx="329184" cy="329184"/>
          </a:xfrm>
          <a:prstGeom prst="rect">
            <a:avLst/>
          </a:prstGeom>
        </p:spPr>
      </p:pic>
      <p:sp>
        <p:nvSpPr>
          <p:cNvPr id="22" name="Text 16"/>
          <p:cNvSpPr txBox="1"/>
          <p:nvPr/>
        </p:nvSpPr>
        <p:spPr>
          <a:xfrm>
            <a:off x="1783080" y="3849624"/>
            <a:ext cx="4937760" cy="292608"/>
          </a:xfrm>
          <a:prstGeom prst="rect">
            <a:avLst/>
          </a:prstGeom>
          <a:noFill/>
          <a:ln/>
        </p:spPr>
        <p:txBody>
          <a:bodyPr wrap="square" lIns="0" tIns="0" rIns="0" bIns="0" rtlCol="0" anchor="t"/>
          <a:lstStyle/>
          <a:p>
            <a:pPr marL="0" indent="0">
              <a:buNone/>
            </a:pPr>
            <a:r>
              <a:rPr lang="en-US" sz="1400" b="1" dirty="0">
                <a:solidFill>
                  <a:schemeClr val="tx1"/>
                </a:solidFill>
              </a:rPr>
              <a:t>Code checks the proposal</a:t>
            </a:r>
            <a:endParaRPr lang="en-US" sz="1400" dirty="0"/>
          </a:p>
        </p:txBody>
      </p:sp>
      <p:sp>
        <p:nvSpPr>
          <p:cNvPr id="23" name="Text 17"/>
          <p:cNvSpPr txBox="1"/>
          <p:nvPr/>
        </p:nvSpPr>
        <p:spPr>
          <a:xfrm>
            <a:off x="1783080" y="4142232"/>
            <a:ext cx="4937760" cy="274320"/>
          </a:xfrm>
          <a:prstGeom prst="rect">
            <a:avLst/>
          </a:prstGeom>
          <a:noFill/>
          <a:ln/>
        </p:spPr>
        <p:txBody>
          <a:bodyPr wrap="square" lIns="0" tIns="0" rIns="0" bIns="0" rtlCol="0" anchor="t"/>
          <a:lstStyle/>
          <a:p>
            <a:pPr marL="0" indent="0">
              <a:buNone/>
            </a:pPr>
            <a:r>
              <a:rPr lang="en-US" sz="1150" dirty="0">
                <a:solidFill>
                  <a:schemeClr val="tx2"/>
                </a:solidFill>
              </a:rPr>
              <a:t>Every school, number and rule against the data</a:t>
            </a:r>
            <a:endParaRPr lang="en-US" sz="1150" dirty="0"/>
          </a:p>
        </p:txBody>
      </p:sp>
      <p:sp>
        <p:nvSpPr>
          <p:cNvPr id="24" name="You approve or reject"/>
          <p:cNvSpPr/>
          <p:nvPr/>
        </p:nvSpPr>
        <p:spPr>
          <a:xfrm>
            <a:off x="502920" y="4572000"/>
            <a:ext cx="6400800" cy="676656"/>
          </a:xfrm>
          <a:prstGeom prst="roundRect">
            <a:avLst>
              <a:gd name="adj" fmla="val 16216"/>
            </a:avLst>
          </a:prstGeom>
          <a:solidFill>
            <a:srgbClr val="FDECEE"/>
          </a:solidFill>
          <a:ln w="9525">
            <a:solidFill>
              <a:srgbClr val="E6E9EF"/>
            </a:solidFill>
            <a:prstDash val="solid"/>
          </a:ln>
          <a:effectLst>
            <a:outerShdw blurRad="76200" dist="19050" dir="5400000" algn="bl" rotWithShape="0">
              <a:srgbClr val="0B1F45">
                <a:alpha val="8000"/>
              </a:srgbClr>
            </a:outerShdw>
          </a:effectLst>
        </p:spPr>
      </p:sp>
      <p:sp>
        <p:nvSpPr>
          <p:cNvPr id="25" name="Step 4"/>
          <p:cNvSpPr/>
          <p:nvPr/>
        </p:nvSpPr>
        <p:spPr>
          <a:xfrm>
            <a:off x="658368" y="4690872"/>
            <a:ext cx="438912" cy="438912"/>
          </a:xfrm>
          <a:prstGeom prst="ellipse">
            <a:avLst/>
          </a:prstGeom>
          <a:solidFill>
            <a:srgbClr val="D7192F"/>
          </a:solidFill>
          <a:ln w="12700">
            <a:solidFill>
              <a:srgbClr val="D7192F"/>
            </a:solidFill>
            <a:prstDash val="solid"/>
          </a:ln>
        </p:spPr>
      </p:sp>
      <p:sp>
        <p:nvSpPr>
          <p:cNvPr id="26" name="Text 20"/>
          <p:cNvSpPr txBox="1"/>
          <p:nvPr/>
        </p:nvSpPr>
        <p:spPr>
          <a:xfrm>
            <a:off x="658368" y="4690872"/>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pic>
        <p:nvPicPr>
          <p:cNvPr id="27" name="Image 4" descr="You approve or reject"/>
          <p:cNvPicPr>
            <a:picLocks noChangeAspect="1"/>
          </p:cNvPicPr>
          <p:nvPr/>
        </p:nvPicPr>
        <p:blipFill>
          <a:blip r:embed="rId7"/>
          <a:stretch>
            <a:fillRect/>
          </a:stretch>
        </p:blipFill>
        <p:spPr>
          <a:xfrm>
            <a:off x="1261872" y="4745736"/>
            <a:ext cx="329184" cy="329184"/>
          </a:xfrm>
          <a:prstGeom prst="rect">
            <a:avLst/>
          </a:prstGeom>
        </p:spPr>
      </p:pic>
      <p:sp>
        <p:nvSpPr>
          <p:cNvPr id="28" name="Text 21"/>
          <p:cNvSpPr txBox="1"/>
          <p:nvPr/>
        </p:nvSpPr>
        <p:spPr>
          <a:xfrm>
            <a:off x="1783080" y="4626864"/>
            <a:ext cx="4937760" cy="292608"/>
          </a:xfrm>
          <a:prstGeom prst="rect">
            <a:avLst/>
          </a:prstGeom>
          <a:noFill/>
          <a:ln/>
        </p:spPr>
        <p:txBody>
          <a:bodyPr wrap="square" lIns="0" tIns="0" rIns="0" bIns="0" rtlCol="0" anchor="t"/>
          <a:lstStyle/>
          <a:p>
            <a:pPr marL="0" indent="0">
              <a:buNone/>
            </a:pPr>
            <a:r>
              <a:rPr lang="en-US" sz="1400" b="1" dirty="0">
                <a:solidFill>
                  <a:schemeClr val="accent1"/>
                </a:solidFill>
              </a:rPr>
              <a:t>You approve or reject</a:t>
            </a:r>
            <a:endParaRPr lang="en-US" sz="1400" dirty="0"/>
          </a:p>
        </p:txBody>
      </p:sp>
      <p:sp>
        <p:nvSpPr>
          <p:cNvPr id="29" name="Text 22"/>
          <p:cNvSpPr txBox="1"/>
          <p:nvPr/>
        </p:nvSpPr>
        <p:spPr>
          <a:xfrm>
            <a:off x="1783080" y="4919472"/>
            <a:ext cx="4937760" cy="274320"/>
          </a:xfrm>
          <a:prstGeom prst="rect">
            <a:avLst/>
          </a:prstGeom>
          <a:noFill/>
          <a:ln/>
        </p:spPr>
        <p:txBody>
          <a:bodyPr wrap="square" lIns="0" tIns="0" rIns="0" bIns="0" rtlCol="0" anchor="t"/>
          <a:lstStyle/>
          <a:p>
            <a:pPr marL="0" indent="0">
              <a:buNone/>
            </a:pPr>
            <a:r>
              <a:rPr lang="en-US" sz="1150" dirty="0">
                <a:solidFill>
                  <a:schemeClr val="tx2"/>
                </a:solidFill>
              </a:rPr>
              <a:t>Nothing changes until you approve</a:t>
            </a:r>
            <a:endParaRPr lang="en-US" sz="1150" dirty="0"/>
          </a:p>
        </p:txBody>
      </p:sp>
      <p:sp>
        <p:nvSpPr>
          <p:cNvPr id="30" name="Optimiser and validator run"/>
          <p:cNvSpPr/>
          <p:nvPr/>
        </p:nvSpPr>
        <p:spPr>
          <a:xfrm>
            <a:off x="502920" y="5349240"/>
            <a:ext cx="6400800" cy="676656"/>
          </a:xfrm>
          <a:prstGeom prst="roundRect">
            <a:avLst>
              <a:gd name="adj" fmla="val 16216"/>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31" name="Step 5"/>
          <p:cNvSpPr/>
          <p:nvPr/>
        </p:nvSpPr>
        <p:spPr>
          <a:xfrm>
            <a:off x="658368" y="5468112"/>
            <a:ext cx="438912" cy="438912"/>
          </a:xfrm>
          <a:prstGeom prst="ellipse">
            <a:avLst/>
          </a:prstGeom>
          <a:solidFill>
            <a:srgbClr val="0B1F45"/>
          </a:solidFill>
          <a:ln w="12700">
            <a:solidFill>
              <a:srgbClr val="0B1F45"/>
            </a:solidFill>
            <a:prstDash val="solid"/>
          </a:ln>
        </p:spPr>
      </p:sp>
      <p:sp>
        <p:nvSpPr>
          <p:cNvPr id="32" name="Text 25"/>
          <p:cNvSpPr txBox="1"/>
          <p:nvPr/>
        </p:nvSpPr>
        <p:spPr>
          <a:xfrm>
            <a:off x="658368" y="5468112"/>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pic>
        <p:nvPicPr>
          <p:cNvPr id="33" name="Image 5" descr="Optimiser and validator run"/>
          <p:cNvPicPr>
            <a:picLocks noChangeAspect="1"/>
          </p:cNvPicPr>
          <p:nvPr/>
        </p:nvPicPr>
        <p:blipFill>
          <a:blip r:embed="rId8"/>
          <a:stretch>
            <a:fillRect/>
          </a:stretch>
        </p:blipFill>
        <p:spPr>
          <a:xfrm>
            <a:off x="1261872" y="5522976"/>
            <a:ext cx="329184" cy="329184"/>
          </a:xfrm>
          <a:prstGeom prst="rect">
            <a:avLst/>
          </a:prstGeom>
        </p:spPr>
      </p:pic>
      <p:sp>
        <p:nvSpPr>
          <p:cNvPr id="34" name="Text 26"/>
          <p:cNvSpPr txBox="1"/>
          <p:nvPr/>
        </p:nvSpPr>
        <p:spPr>
          <a:xfrm>
            <a:off x="1783080" y="5404104"/>
            <a:ext cx="4937760" cy="292608"/>
          </a:xfrm>
          <a:prstGeom prst="rect">
            <a:avLst/>
          </a:prstGeom>
          <a:noFill/>
          <a:ln/>
        </p:spPr>
        <p:txBody>
          <a:bodyPr wrap="square" lIns="0" tIns="0" rIns="0" bIns="0" rtlCol="0" anchor="t"/>
          <a:lstStyle/>
          <a:p>
            <a:pPr marL="0" indent="0">
              <a:buNone/>
            </a:pPr>
            <a:r>
              <a:rPr lang="en-US" sz="1400" b="1" dirty="0">
                <a:solidFill>
                  <a:schemeClr val="tx1"/>
                </a:solidFill>
              </a:rPr>
              <a:t>Optimiser and validator run</a:t>
            </a:r>
            <a:endParaRPr lang="en-US" sz="1400" dirty="0"/>
          </a:p>
        </p:txBody>
      </p:sp>
      <p:sp>
        <p:nvSpPr>
          <p:cNvPr id="35" name="Text 27"/>
          <p:cNvSpPr txBox="1"/>
          <p:nvPr/>
        </p:nvSpPr>
        <p:spPr>
          <a:xfrm>
            <a:off x="1783080" y="5696712"/>
            <a:ext cx="4937760" cy="274320"/>
          </a:xfrm>
          <a:prstGeom prst="rect">
            <a:avLst/>
          </a:prstGeom>
          <a:noFill/>
          <a:ln/>
        </p:spPr>
        <p:txBody>
          <a:bodyPr wrap="square" lIns="0" tIns="0" rIns="0" bIns="0" rtlCol="0" anchor="t"/>
          <a:lstStyle/>
          <a:p>
            <a:pPr marL="0" indent="0">
              <a:buNone/>
            </a:pPr>
            <a:r>
              <a:rPr lang="en-US" sz="1150" dirty="0">
                <a:solidFill>
                  <a:schemeClr val="tx2"/>
                </a:solidFill>
              </a:rPr>
              <a:t>The same OR-Tools models and checks as every plan</a:t>
            </a:r>
            <a:endParaRPr lang="en-US" sz="1150" dirty="0"/>
          </a:p>
        </p:txBody>
      </p:sp>
      <p:sp>
        <p:nvSpPr>
          <p:cNvPr id="36" name="Shape 28"/>
          <p:cNvSpPr/>
          <p:nvPr/>
        </p:nvSpPr>
        <p:spPr>
          <a:xfrm>
            <a:off x="8189105" y="2221992"/>
            <a:ext cx="2623022" cy="4151376"/>
          </a:xfrm>
          <a:prstGeom prst="rect">
            <a:avLst/>
          </a:prstGeom>
          <a:solidFill>
            <a:srgbClr val="D7DCE3"/>
          </a:solidFill>
          <a:ln w="12700">
            <a:solidFill>
              <a:srgbClr val="D7DCE3"/>
            </a:solidFill>
            <a:prstDash val="solid"/>
          </a:ln>
        </p:spPr>
      </p:sp>
      <p:pic>
        <p:nvPicPr>
          <p:cNvPr id="37" name="Image 6" descr="Campus Cruise assistant panel answering 'Minimise bus costs while keeping nearby schools together' with a proposal awaiting approval"/>
          <p:cNvPicPr>
            <a:picLocks noChangeAspect="1"/>
          </p:cNvPicPr>
          <p:nvPr/>
        </p:nvPicPr>
        <p:blipFill>
          <a:blip r:embed="rId9"/>
          <a:stretch>
            <a:fillRect/>
          </a:stretch>
        </p:blipFill>
        <p:spPr>
          <a:xfrm>
            <a:off x="8207393" y="2240280"/>
            <a:ext cx="2586446" cy="4114800"/>
          </a:xfrm>
          <a:prstGeom prst="rect">
            <a:avLst/>
          </a:prstGeom>
        </p:spPr>
      </p:pic>
      <p:sp>
        <p:nvSpPr>
          <p:cNvPr id="38" name="Text 29"/>
          <p:cNvSpPr txBox="1"/>
          <p:nvPr/>
        </p:nvSpPr>
        <p:spPr>
          <a:xfrm>
            <a:off x="8207393" y="6382512"/>
            <a:ext cx="2586446" cy="164592"/>
          </a:xfrm>
          <a:prstGeom prst="rect">
            <a:avLst/>
          </a:prstGeom>
          <a:noFill/>
          <a:ln/>
        </p:spPr>
        <p:txBody>
          <a:bodyPr wrap="square" lIns="0" tIns="0" rIns="0" bIns="0" rtlCol="0" anchor="t"/>
          <a:lstStyle/>
          <a:p>
            <a:pPr marL="0" indent="0" algn="ctr">
              <a:buNone/>
            </a:pPr>
            <a:r>
              <a:rPr lang="en-US" sz="900" i="1" dirty="0">
                <a:solidFill>
                  <a:schemeClr val="accent6"/>
                </a:solidFill>
              </a:rPr>
              <a:t>Real screenshot</a:t>
            </a:r>
            <a:endParaRPr lang="en-US" sz="900" dirty="0"/>
          </a:p>
        </p:txBody>
      </p:sp>
      <p:sp>
        <p:nvSpPr>
          <p:cNvPr id="39"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childTnLst>
                          </p:cTn>
                        </p:par>
                        <p:par>
                          <p:cTn id="8" fill="hold">
                            <p:stCondLst>
                              <p:cond delay="350"/>
                            </p:stCondLst>
                            <p:childTnLst>
                              <p:par>
                                <p:cTn id="9" presetID="10" presetClass="entr" presetSubtype="0" fill="hold" nodeType="after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350"/>
                                        <p:tgtEl>
                                          <p:spTgt spid="36"/>
                                        </p:tgtEl>
                                      </p:cBhvr>
                                    </p:animEffect>
                                  </p:childTnLst>
                                </p:cTn>
                              </p:par>
                              <p:par>
                                <p:cTn id="12" presetID="10" presetClass="entr" presetSubtype="0" fill="hold"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p:tgtEl>
                                          <p:spTgt spid="6"/>
                                        </p:tgtEl>
                                      </p:cBhvr>
                                    </p:animEffect>
                                  </p:childTnLst>
                                </p:cTn>
                              </p:par>
                              <p:par>
                                <p:cTn id="15" presetID="10" presetClass="entr" presetSubtype="0" fill="hold" nodeType="with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350"/>
                                        <p:tgtEl>
                                          <p:spTgt spid="3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50"/>
                                        <p:tgtEl>
                                          <p:spTgt spid="1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50"/>
                                        <p:tgtEl>
                                          <p:spTgt spid="8"/>
                                        </p:tgtEl>
                                      </p:cBhvr>
                                    </p:animEffect>
                                  </p:childTnLst>
                                </p:cTn>
                              </p:par>
                              <p:par>
                                <p:cTn id="24" presetID="10" presetClass="entr" presetSubtype="0" fill="hold"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350"/>
                                        <p:tgtEl>
                                          <p:spTgt spid="7"/>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35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50"/>
                                        <p:tgtEl>
                                          <p:spTgt spid="11"/>
                                        </p:tgtEl>
                                      </p:cBhvr>
                                    </p:animEffect>
                                  </p:childTnLst>
                                </p:cTn>
                              </p:par>
                            </p:childTnLst>
                          </p:cTn>
                        </p:par>
                        <p:par>
                          <p:cTn id="33" fill="hold">
                            <p:stCondLst>
                              <p:cond delay="700"/>
                            </p:stCondLst>
                            <p:childTnLst>
                              <p:par>
                                <p:cTn id="34" presetID="10" presetClass="entr" presetSubtype="0" fill="hold"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35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350"/>
                                        <p:tgtEl>
                                          <p:spTgt spid="16"/>
                                        </p:tgtEl>
                                      </p:cBhvr>
                                    </p:animEffect>
                                  </p:childTnLst>
                                </p:cTn>
                              </p:par>
                              <p:par>
                                <p:cTn id="40" presetID="10" presetClass="entr" presetSubtype="0" fill="hold"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350"/>
                                        <p:tgtEl>
                                          <p:spTgt spid="1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350"/>
                                        <p:tgtEl>
                                          <p:spTgt spid="14"/>
                                        </p:tgtEl>
                                      </p:cBhvr>
                                    </p:animEffect>
                                  </p:childTnLst>
                                </p:cTn>
                              </p:par>
                              <p:par>
                                <p:cTn id="46" presetID="10"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350"/>
                                        <p:tgtEl>
                                          <p:spTgt spid="1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350"/>
                                        <p:tgtEl>
                                          <p:spTgt spid="17"/>
                                        </p:tgtEl>
                                      </p:cBhvr>
                                    </p:animEffect>
                                  </p:childTnLst>
                                </p:cTn>
                              </p:par>
                            </p:childTnLst>
                          </p:cTn>
                        </p:par>
                        <p:par>
                          <p:cTn id="52" fill="hold">
                            <p:stCondLst>
                              <p:cond delay="1050"/>
                            </p:stCondLst>
                            <p:childTnLst>
                              <p:par>
                                <p:cTn id="53" presetID="10" presetClass="entr" presetSubtype="0" fill="hold"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350"/>
                                        <p:tgtEl>
                                          <p:spTgt spid="22"/>
                                        </p:tgtEl>
                                      </p:cBhvr>
                                    </p:animEffect>
                                  </p:childTnLst>
                                </p:cTn>
                              </p:par>
                              <p:par>
                                <p:cTn id="59" presetID="10" presetClass="entr" presetSubtype="0"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350"/>
                                        <p:tgtEl>
                                          <p:spTgt spid="1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350"/>
                                        <p:tgtEl>
                                          <p:spTgt spid="20"/>
                                        </p:tgtEl>
                                      </p:cBhvr>
                                    </p:animEffect>
                                  </p:childTnLst>
                                </p:cTn>
                              </p:par>
                              <p:par>
                                <p:cTn id="65" presetID="10" presetClass="entr" presetSubtype="0"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350"/>
                                        <p:tgtEl>
                                          <p:spTgt spid="21"/>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50"/>
                                        <p:tgtEl>
                                          <p:spTgt spid="23"/>
                                        </p:tgtEl>
                                      </p:cBhvr>
                                    </p:animEffect>
                                  </p:childTnLst>
                                </p:cTn>
                              </p:par>
                            </p:childTnLst>
                          </p:cTn>
                        </p:par>
                        <p:par>
                          <p:cTn id="71" fill="hold">
                            <p:stCondLst>
                              <p:cond delay="1400"/>
                            </p:stCondLst>
                            <p:childTnLst>
                              <p:par>
                                <p:cTn id="72" presetID="10" presetClass="entr" presetSubtype="0" fill="hold" nodeType="after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35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35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350"/>
                                        <p:tgtEl>
                                          <p:spTgt spid="2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350"/>
                                        <p:tgtEl>
                                          <p:spTgt spid="26"/>
                                        </p:tgtEl>
                                      </p:cBhvr>
                                    </p:animEffect>
                                  </p:childTnLst>
                                </p:cTn>
                              </p:par>
                              <p:par>
                                <p:cTn id="84" presetID="10" presetClass="entr" presetSubtype="0" fill="hold" nodeType="with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6" dur="350"/>
                                        <p:tgtEl>
                                          <p:spTgt spid="2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350"/>
                                        <p:tgtEl>
                                          <p:spTgt spid="29"/>
                                        </p:tgtEl>
                                      </p:cBhvr>
                                    </p:animEffect>
                                  </p:childTnLst>
                                </p:cTn>
                              </p:par>
                            </p:childTnLst>
                          </p:cTn>
                        </p:par>
                        <p:par>
                          <p:cTn id="90" fill="hold">
                            <p:stCondLst>
                              <p:cond delay="1750"/>
                            </p:stCondLst>
                            <p:childTnLst>
                              <p:par>
                                <p:cTn id="91" presetID="10" presetClass="entr" presetSubtype="0" fill="hold" nodeType="after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35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4"/>
                                        </p:tgtEl>
                                        <p:attrNameLst>
                                          <p:attrName>style.visibility</p:attrName>
                                        </p:attrNameLst>
                                      </p:cBhvr>
                                      <p:to>
                                        <p:strVal val="visible"/>
                                      </p:to>
                                    </p:set>
                                    <p:animEffect transition="in" filter="fade">
                                      <p:cBhvr>
                                        <p:cTn id="96" dur="350"/>
                                        <p:tgtEl>
                                          <p:spTgt spid="34"/>
                                        </p:tgtEl>
                                      </p:cBhvr>
                                    </p:animEffect>
                                  </p:childTnLst>
                                </p:cTn>
                              </p:par>
                              <p:par>
                                <p:cTn id="97" presetID="10" presetClass="entr" presetSubtype="0" fill="hold"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35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350"/>
                                        <p:tgtEl>
                                          <p:spTgt spid="32"/>
                                        </p:tgtEl>
                                      </p:cBhvr>
                                    </p:animEffect>
                                  </p:childTnLst>
                                </p:cTn>
                              </p:par>
                              <p:par>
                                <p:cTn id="103" presetID="10" presetClass="entr" presetSubtype="0" fill="hold" nodeType="withEffect">
                                  <p:stCondLst>
                                    <p:cond delay="0"/>
                                  </p:stCondLst>
                                  <p:childTnLst>
                                    <p:set>
                                      <p:cBhvr>
                                        <p:cTn id="104" dur="1" fill="hold">
                                          <p:stCondLst>
                                            <p:cond delay="0"/>
                                          </p:stCondLst>
                                        </p:cTn>
                                        <p:tgtEl>
                                          <p:spTgt spid="33"/>
                                        </p:tgtEl>
                                        <p:attrNameLst>
                                          <p:attrName>style.visibility</p:attrName>
                                        </p:attrNameLst>
                                      </p:cBhvr>
                                      <p:to>
                                        <p:strVal val="visible"/>
                                      </p:to>
                                    </p:set>
                                    <p:animEffect transition="in" filter="fade">
                                      <p:cBhvr>
                                        <p:cTn id="105" dur="350"/>
                                        <p:tgtEl>
                                          <p:spTgt spid="33"/>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8" dur="350"/>
                                        <p:tgtEl>
                                          <p:spTgt spid="35"/>
                                        </p:tgtEl>
                                      </p:cBhvr>
                                    </p:animEffect>
                                  </p:childTnLst>
                                </p:cTn>
                              </p:par>
                            </p:childTnLst>
                          </p:cTn>
                        </p:par>
                        <p:par>
                          <p:cTn id="109" fill="hold">
                            <p:stCondLst>
                              <p:cond delay="2100"/>
                            </p:stCondLst>
                            <p:childTnLst>
                              <p:par>
                                <p:cTn id="110" presetID="10" presetClass="entr" presetSubtype="0" fill="hold" grpId="0" nodeType="afterEffect">
                                  <p:stCondLst>
                                    <p:cond delay="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3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10" grpId="0" animBg="1"/>
      <p:bldP spid="11" grpId="0" animBg="1"/>
      <p:bldP spid="14" grpId="0" animBg="1"/>
      <p:bldP spid="16" grpId="0" animBg="1"/>
      <p:bldP spid="17" grpId="0" animBg="1"/>
      <p:bldP spid="20" grpId="0" animBg="1"/>
      <p:bldP spid="22" grpId="0" animBg="1"/>
      <p:bldP spid="23" grpId="0" animBg="1"/>
      <p:bldP spid="26" grpId="0" animBg="1"/>
      <p:bldP spid="28" grpId="0" animBg="1"/>
      <p:bldP spid="29" grpId="0" animBg="1"/>
      <p:bldP spid="32" grpId="0" animBg="1"/>
      <p:bldP spid="34" grpId="0" animBg="1"/>
      <p:bldP spid="35" grpId="0" animBg="1"/>
      <p:bldP spid="3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oaches outside Principality Stadium, Cardiff (illustration from the team's reference slides)"/>
          <p:cNvPicPr>
            <a:picLocks noChangeAspect="1"/>
          </p:cNvPicPr>
          <p:nvPr/>
        </p:nvPicPr>
        <p:blipFill>
          <a:blip r:embed="rId3"/>
          <a:stretch>
            <a:fillRect/>
          </a:stretch>
        </p:blipFill>
        <p:spPr>
          <a:xfrm>
            <a:off x="8908338" y="0"/>
            <a:ext cx="3283357" cy="1874520"/>
          </a:xfrm>
          <a:prstGeom prst="rect">
            <a:avLst/>
          </a:prstGeom>
        </p:spPr>
      </p:pic>
      <p:sp>
        <p:nvSpPr>
          <p:cNvPr id="3" name="Text 0"/>
          <p:cNvSpPr>
            <a:spLocks noGrp="1"/>
          </p:cNvSpPr>
          <p:nvPr>
            <p:ph type="body" idx="100" hasCustomPrompt="1"/>
          </p:nvPr>
        </p:nvSpPr>
        <p:spPr>
          <a:xfrm>
            <a:off x="502920" y="292608"/>
            <a:ext cx="731520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IMPACT AND BENEFICIARIES</a:t>
            </a:r>
            <a:endParaRPr lang="en-US" sz="1300" dirty="0"/>
          </a:p>
        </p:txBody>
      </p:sp>
      <p:sp>
        <p:nvSpPr>
          <p:cNvPr id="4" name="Text 1"/>
          <p:cNvSpPr>
            <a:spLocks noGrp="1"/>
          </p:cNvSpPr>
          <p:nvPr>
            <p:ph type="title" idx="102" hasCustomPrompt="1"/>
          </p:nvPr>
        </p:nvSpPr>
        <p:spPr>
          <a:xfrm>
            <a:off x="502920" y="777240"/>
            <a:ext cx="7589520" cy="1051560"/>
          </a:xfrm>
          <a:prstGeom prst="rect">
            <a:avLst/>
          </a:prstGeom>
          <a:noFill/>
          <a:ln/>
        </p:spPr>
        <p:txBody>
          <a:bodyPr wrap="square" lIns="0" tIns="0" rIns="0" bIns="0" rtlCol="0" anchor="t"/>
          <a:lstStyle/>
          <a:p>
            <a:pPr marL="0" indent="0" algn="l">
              <a:buNone/>
            </a:pPr>
            <a:r>
              <a:rPr lang="en-US" sz="3400" b="1" dirty="0">
                <a:solidFill>
                  <a:srgbClr val="0B1F45"/>
                </a:solidFill>
              </a:rPr>
              <a:t>Sector Impact: </a:t>
            </a:r>
            <a:r>
              <a:rPr lang="en-US" sz="3400" b="1" dirty="0">
                <a:solidFill>
                  <a:srgbClr val="D7192F"/>
                </a:solidFill>
              </a:rPr>
              <a:t>Who Benefits</a:t>
            </a:r>
            <a:endParaRPr lang="en-US" sz="3400" dirty="0"/>
          </a:p>
        </p:txBody>
      </p:sp>
      <p:sp>
        <p:nvSpPr>
          <p:cNvPr id="5" name="Text 2"/>
          <p:cNvSpPr txBox="1"/>
          <p:nvPr/>
        </p:nvSpPr>
        <p:spPr>
          <a:xfrm>
            <a:off x="502920" y="1481328"/>
            <a:ext cx="7589520" cy="566928"/>
          </a:xfrm>
          <a:prstGeom prst="rect">
            <a:avLst/>
          </a:prstGeom>
          <a:noFill/>
          <a:ln/>
        </p:spPr>
        <p:txBody>
          <a:bodyPr wrap="square" lIns="0" tIns="0" rIns="0" bIns="0" rtlCol="0" anchor="t"/>
          <a:lstStyle/>
          <a:p>
            <a:pPr marL="0" indent="0">
              <a:buNone/>
            </a:pPr>
            <a:r>
              <a:rPr lang="en-US" sz="1500" dirty="0">
                <a:solidFill>
                  <a:schemeClr val="tx2"/>
                </a:solidFill>
              </a:rPr>
              <a:t>Measured on the challenge data; the next step is to measure it at a real event.</a:t>
            </a:r>
            <a:endParaRPr lang="en-US" sz="1500" dirty="0"/>
          </a:p>
        </p:txBody>
      </p:sp>
      <p:sp>
        <p:nvSpPr>
          <p:cNvPr id="6" name="Event organisers"/>
          <p:cNvSpPr/>
          <p:nvPr/>
        </p:nvSpPr>
        <p:spPr>
          <a:xfrm>
            <a:off x="502920" y="2240280"/>
            <a:ext cx="2075688" cy="1554480"/>
          </a:xfrm>
          <a:prstGeom prst="roundRect">
            <a:avLst>
              <a:gd name="adj" fmla="val 7059"/>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7" name="Icon FaClipboardList"/>
          <p:cNvSpPr/>
          <p:nvPr/>
        </p:nvSpPr>
        <p:spPr>
          <a:xfrm>
            <a:off x="667512" y="2423160"/>
            <a:ext cx="640080" cy="640080"/>
          </a:xfrm>
          <a:prstGeom prst="ellipse">
            <a:avLst/>
          </a:prstGeom>
          <a:solidFill>
            <a:srgbClr val="FDECEE"/>
          </a:solidFill>
          <a:ln w="12700">
            <a:solidFill>
              <a:srgbClr val="FDECEE"/>
            </a:solidFill>
            <a:prstDash val="solid"/>
          </a:ln>
        </p:spPr>
      </p:sp>
      <p:pic>
        <p:nvPicPr>
          <p:cNvPr id="8" name="Image 1" descr="FaClipboardList"/>
          <p:cNvPicPr>
            <a:picLocks noChangeAspect="1"/>
          </p:cNvPicPr>
          <p:nvPr/>
        </p:nvPicPr>
        <p:blipFill>
          <a:blip r:embed="rId4"/>
          <a:stretch>
            <a:fillRect/>
          </a:stretch>
        </p:blipFill>
        <p:spPr>
          <a:xfrm>
            <a:off x="827532" y="2583180"/>
            <a:ext cx="320040" cy="320040"/>
          </a:xfrm>
          <a:prstGeom prst="rect">
            <a:avLst/>
          </a:prstGeom>
        </p:spPr>
      </p:pic>
      <p:sp>
        <p:nvSpPr>
          <p:cNvPr id="9" name="Text 5"/>
          <p:cNvSpPr txBox="1"/>
          <p:nvPr/>
        </p:nvSpPr>
        <p:spPr>
          <a:xfrm>
            <a:off x="667512" y="3200400"/>
            <a:ext cx="1828800" cy="256032"/>
          </a:xfrm>
          <a:prstGeom prst="rect">
            <a:avLst/>
          </a:prstGeom>
          <a:noFill/>
          <a:ln/>
        </p:spPr>
        <p:txBody>
          <a:bodyPr wrap="square" lIns="0" tIns="0" rIns="0" bIns="0" rtlCol="0" anchor="t"/>
          <a:lstStyle/>
          <a:p>
            <a:pPr marL="0" indent="0">
              <a:buNone/>
            </a:pPr>
            <a:r>
              <a:rPr lang="en-US" sz="1300" b="1" dirty="0">
                <a:solidFill>
                  <a:schemeClr val="tx1"/>
                </a:solidFill>
              </a:rPr>
              <a:t>Event organisers</a:t>
            </a:r>
            <a:endParaRPr lang="en-US" sz="1300" dirty="0"/>
          </a:p>
        </p:txBody>
      </p:sp>
      <p:sp>
        <p:nvSpPr>
          <p:cNvPr id="10" name="Text 6"/>
          <p:cNvSpPr txBox="1"/>
          <p:nvPr/>
        </p:nvSpPr>
        <p:spPr>
          <a:xfrm>
            <a:off x="667512" y="3456432"/>
            <a:ext cx="1828800" cy="256032"/>
          </a:xfrm>
          <a:prstGeom prst="rect">
            <a:avLst/>
          </a:prstGeom>
          <a:noFill/>
          <a:ln/>
        </p:spPr>
        <p:txBody>
          <a:bodyPr wrap="square" lIns="0" tIns="0" rIns="0" bIns="0" rtlCol="0" anchor="t"/>
          <a:lstStyle/>
          <a:p>
            <a:pPr marL="0" indent="0">
              <a:buNone/>
            </a:pPr>
            <a:r>
              <a:rPr lang="en-US" sz="1200" dirty="0">
                <a:solidFill>
                  <a:schemeClr val="tx2"/>
                </a:solidFill>
              </a:rPr>
              <a:t>A checked plan in seconds</a:t>
            </a:r>
            <a:endParaRPr lang="en-US" sz="1200" dirty="0"/>
          </a:p>
        </p:txBody>
      </p:sp>
      <p:sp>
        <p:nvSpPr>
          <p:cNvPr id="11" name="Schools and teachers"/>
          <p:cNvSpPr/>
          <p:nvPr/>
        </p:nvSpPr>
        <p:spPr>
          <a:xfrm>
            <a:off x="2715768" y="2240280"/>
            <a:ext cx="2075688" cy="1554480"/>
          </a:xfrm>
          <a:prstGeom prst="roundRect">
            <a:avLst>
              <a:gd name="adj" fmla="val 7059"/>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12" name="Icon FaSchool"/>
          <p:cNvSpPr/>
          <p:nvPr/>
        </p:nvSpPr>
        <p:spPr>
          <a:xfrm>
            <a:off x="2880360" y="2423160"/>
            <a:ext cx="640080" cy="640080"/>
          </a:xfrm>
          <a:prstGeom prst="ellipse">
            <a:avLst/>
          </a:prstGeom>
          <a:solidFill>
            <a:srgbClr val="EAF1FB"/>
          </a:solidFill>
          <a:ln w="12700">
            <a:solidFill>
              <a:srgbClr val="EAF1FB"/>
            </a:solidFill>
            <a:prstDash val="solid"/>
          </a:ln>
        </p:spPr>
      </p:sp>
      <p:pic>
        <p:nvPicPr>
          <p:cNvPr id="13" name="Image 2" descr="FaSchool"/>
          <p:cNvPicPr>
            <a:picLocks noChangeAspect="1"/>
          </p:cNvPicPr>
          <p:nvPr/>
        </p:nvPicPr>
        <p:blipFill>
          <a:blip r:embed="rId5"/>
          <a:stretch>
            <a:fillRect/>
          </a:stretch>
        </p:blipFill>
        <p:spPr>
          <a:xfrm>
            <a:off x="3040380" y="2583180"/>
            <a:ext cx="320040" cy="320040"/>
          </a:xfrm>
          <a:prstGeom prst="rect">
            <a:avLst/>
          </a:prstGeom>
        </p:spPr>
      </p:pic>
      <p:sp>
        <p:nvSpPr>
          <p:cNvPr id="14" name="Text 9"/>
          <p:cNvSpPr txBox="1"/>
          <p:nvPr/>
        </p:nvSpPr>
        <p:spPr>
          <a:xfrm>
            <a:off x="2880360" y="3200400"/>
            <a:ext cx="1828800" cy="256032"/>
          </a:xfrm>
          <a:prstGeom prst="rect">
            <a:avLst/>
          </a:prstGeom>
          <a:noFill/>
          <a:ln/>
        </p:spPr>
        <p:txBody>
          <a:bodyPr wrap="square" lIns="0" tIns="0" rIns="0" bIns="0" rtlCol="0" anchor="t"/>
          <a:lstStyle/>
          <a:p>
            <a:pPr marL="0" indent="0">
              <a:buNone/>
            </a:pPr>
            <a:r>
              <a:rPr lang="en-US" sz="1300" b="1" dirty="0">
                <a:solidFill>
                  <a:schemeClr val="tx1"/>
                </a:solidFill>
              </a:rPr>
              <a:t>Schools and teachers</a:t>
            </a:r>
            <a:endParaRPr lang="en-US" sz="1300" dirty="0"/>
          </a:p>
        </p:txBody>
      </p:sp>
      <p:sp>
        <p:nvSpPr>
          <p:cNvPr id="15" name="Text 10"/>
          <p:cNvSpPr txBox="1"/>
          <p:nvPr/>
        </p:nvSpPr>
        <p:spPr>
          <a:xfrm>
            <a:off x="2880360" y="3456432"/>
            <a:ext cx="1828800" cy="256032"/>
          </a:xfrm>
          <a:prstGeom prst="rect">
            <a:avLst/>
          </a:prstGeom>
          <a:noFill/>
          <a:ln/>
        </p:spPr>
        <p:txBody>
          <a:bodyPr wrap="square" lIns="0" tIns="0" rIns="0" bIns="0" rtlCol="0" anchor="t"/>
          <a:lstStyle/>
          <a:p>
            <a:pPr marL="0" indent="0">
              <a:buNone/>
            </a:pPr>
            <a:r>
              <a:rPr lang="en-US" sz="1200" dirty="0">
                <a:solidFill>
                  <a:schemeClr val="tx2"/>
                </a:solidFill>
              </a:rPr>
              <a:t>Lower, fair cost shares</a:t>
            </a:r>
            <a:endParaRPr lang="en-US" sz="1200" dirty="0"/>
          </a:p>
        </p:txBody>
      </p:sp>
      <p:sp>
        <p:nvSpPr>
          <p:cNvPr id="16" name="Pupils"/>
          <p:cNvSpPr/>
          <p:nvPr/>
        </p:nvSpPr>
        <p:spPr>
          <a:xfrm>
            <a:off x="4928616" y="2240280"/>
            <a:ext cx="2075688" cy="1554480"/>
          </a:xfrm>
          <a:prstGeom prst="roundRect">
            <a:avLst>
              <a:gd name="adj" fmla="val 7059"/>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17" name="Icon FaChild"/>
          <p:cNvSpPr/>
          <p:nvPr/>
        </p:nvSpPr>
        <p:spPr>
          <a:xfrm>
            <a:off x="5093208" y="2423160"/>
            <a:ext cx="640080" cy="640080"/>
          </a:xfrm>
          <a:prstGeom prst="ellipse">
            <a:avLst/>
          </a:prstGeom>
          <a:solidFill>
            <a:srgbClr val="EAF6EE"/>
          </a:solidFill>
          <a:ln w="12700">
            <a:solidFill>
              <a:srgbClr val="EAF6EE"/>
            </a:solidFill>
            <a:prstDash val="solid"/>
          </a:ln>
        </p:spPr>
      </p:sp>
      <p:pic>
        <p:nvPicPr>
          <p:cNvPr id="18" name="Image 3" descr="FaChild"/>
          <p:cNvPicPr>
            <a:picLocks noChangeAspect="1"/>
          </p:cNvPicPr>
          <p:nvPr/>
        </p:nvPicPr>
        <p:blipFill>
          <a:blip r:embed="rId6"/>
          <a:stretch>
            <a:fillRect/>
          </a:stretch>
        </p:blipFill>
        <p:spPr>
          <a:xfrm>
            <a:off x="5253228" y="2583180"/>
            <a:ext cx="320040" cy="320040"/>
          </a:xfrm>
          <a:prstGeom prst="rect">
            <a:avLst/>
          </a:prstGeom>
        </p:spPr>
      </p:pic>
      <p:sp>
        <p:nvSpPr>
          <p:cNvPr id="19" name="Text 13"/>
          <p:cNvSpPr txBox="1"/>
          <p:nvPr/>
        </p:nvSpPr>
        <p:spPr>
          <a:xfrm>
            <a:off x="5093208" y="3200400"/>
            <a:ext cx="1828800" cy="256032"/>
          </a:xfrm>
          <a:prstGeom prst="rect">
            <a:avLst/>
          </a:prstGeom>
          <a:noFill/>
          <a:ln/>
        </p:spPr>
        <p:txBody>
          <a:bodyPr wrap="square" lIns="0" tIns="0" rIns="0" bIns="0" rtlCol="0" anchor="t"/>
          <a:lstStyle/>
          <a:p>
            <a:pPr marL="0" indent="0">
              <a:buNone/>
            </a:pPr>
            <a:r>
              <a:rPr lang="en-US" sz="1300" b="1" dirty="0">
                <a:solidFill>
                  <a:schemeClr val="tx1"/>
                </a:solidFill>
              </a:rPr>
              <a:t>Pupils</a:t>
            </a:r>
            <a:endParaRPr lang="en-US" sz="1300" dirty="0"/>
          </a:p>
        </p:txBody>
      </p:sp>
      <p:sp>
        <p:nvSpPr>
          <p:cNvPr id="20" name="Text 14"/>
          <p:cNvSpPr txBox="1"/>
          <p:nvPr/>
        </p:nvSpPr>
        <p:spPr>
          <a:xfrm>
            <a:off x="5093208" y="3456432"/>
            <a:ext cx="1828800" cy="256032"/>
          </a:xfrm>
          <a:prstGeom prst="rect">
            <a:avLst/>
          </a:prstGeom>
          <a:noFill/>
          <a:ln/>
        </p:spPr>
        <p:txBody>
          <a:bodyPr wrap="square" lIns="0" tIns="0" rIns="0" bIns="0" rtlCol="0" anchor="t"/>
          <a:lstStyle/>
          <a:p>
            <a:pPr marL="0" indent="0">
              <a:buNone/>
            </a:pPr>
            <a:r>
              <a:rPr lang="en-US" sz="1200" dirty="0">
                <a:solidFill>
                  <a:schemeClr val="tx2"/>
                </a:solidFill>
              </a:rPr>
              <a:t>Lower cost to attend</a:t>
            </a:r>
            <a:endParaRPr lang="en-US" sz="1200" dirty="0"/>
          </a:p>
        </p:txBody>
      </p:sp>
      <p:sp>
        <p:nvSpPr>
          <p:cNvPr id="21" name="Coach operators"/>
          <p:cNvSpPr/>
          <p:nvPr/>
        </p:nvSpPr>
        <p:spPr>
          <a:xfrm>
            <a:off x="502920" y="3931920"/>
            <a:ext cx="2075688" cy="1554480"/>
          </a:xfrm>
          <a:prstGeom prst="roundRect">
            <a:avLst>
              <a:gd name="adj" fmla="val 7059"/>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22" name="Icon FaBus"/>
          <p:cNvSpPr/>
          <p:nvPr/>
        </p:nvSpPr>
        <p:spPr>
          <a:xfrm>
            <a:off x="667512" y="4114800"/>
            <a:ext cx="640080" cy="640080"/>
          </a:xfrm>
          <a:prstGeom prst="ellipse">
            <a:avLst/>
          </a:prstGeom>
          <a:solidFill>
            <a:srgbClr val="FEF4E6"/>
          </a:solidFill>
          <a:ln w="12700">
            <a:solidFill>
              <a:srgbClr val="FEF4E6"/>
            </a:solidFill>
            <a:prstDash val="solid"/>
          </a:ln>
        </p:spPr>
      </p:sp>
      <p:pic>
        <p:nvPicPr>
          <p:cNvPr id="23" name="Image 4" descr="FaBus"/>
          <p:cNvPicPr>
            <a:picLocks noChangeAspect="1"/>
          </p:cNvPicPr>
          <p:nvPr/>
        </p:nvPicPr>
        <p:blipFill>
          <a:blip r:embed="rId7"/>
          <a:stretch>
            <a:fillRect/>
          </a:stretch>
        </p:blipFill>
        <p:spPr>
          <a:xfrm>
            <a:off x="827532" y="4274820"/>
            <a:ext cx="320040" cy="320040"/>
          </a:xfrm>
          <a:prstGeom prst="rect">
            <a:avLst/>
          </a:prstGeom>
        </p:spPr>
      </p:pic>
      <p:sp>
        <p:nvSpPr>
          <p:cNvPr id="24" name="Text 17"/>
          <p:cNvSpPr txBox="1"/>
          <p:nvPr/>
        </p:nvSpPr>
        <p:spPr>
          <a:xfrm>
            <a:off x="667512" y="4892040"/>
            <a:ext cx="1828800" cy="256032"/>
          </a:xfrm>
          <a:prstGeom prst="rect">
            <a:avLst/>
          </a:prstGeom>
          <a:noFill/>
          <a:ln/>
        </p:spPr>
        <p:txBody>
          <a:bodyPr wrap="square" lIns="0" tIns="0" rIns="0" bIns="0" rtlCol="0" anchor="t"/>
          <a:lstStyle/>
          <a:p>
            <a:pPr marL="0" indent="0">
              <a:buNone/>
            </a:pPr>
            <a:r>
              <a:rPr lang="en-US" sz="1300" b="1" dirty="0">
                <a:solidFill>
                  <a:schemeClr val="tx1"/>
                </a:solidFill>
              </a:rPr>
              <a:t>Coach operators</a:t>
            </a:r>
            <a:endParaRPr lang="en-US" sz="1300" dirty="0"/>
          </a:p>
        </p:txBody>
      </p:sp>
      <p:sp>
        <p:nvSpPr>
          <p:cNvPr id="25" name="Text 18"/>
          <p:cNvSpPr txBox="1"/>
          <p:nvPr/>
        </p:nvSpPr>
        <p:spPr>
          <a:xfrm>
            <a:off x="667512" y="5148072"/>
            <a:ext cx="1828800" cy="256032"/>
          </a:xfrm>
          <a:prstGeom prst="rect">
            <a:avLst/>
          </a:prstGeom>
          <a:noFill/>
          <a:ln/>
        </p:spPr>
        <p:txBody>
          <a:bodyPr wrap="square" lIns="0" tIns="0" rIns="0" bIns="0" rtlCol="0" anchor="t"/>
          <a:lstStyle/>
          <a:p>
            <a:pPr marL="0" indent="0">
              <a:buNone/>
            </a:pPr>
            <a:r>
              <a:rPr lang="en-US" sz="1200" dirty="0">
                <a:solidFill>
                  <a:schemeClr val="tx2"/>
                </a:solidFill>
              </a:rPr>
              <a:t>A clear booking list</a:t>
            </a:r>
            <a:endParaRPr lang="en-US" sz="1200" dirty="0"/>
          </a:p>
        </p:txBody>
      </p:sp>
      <p:sp>
        <p:nvSpPr>
          <p:cNvPr id="26" name="Event venues"/>
          <p:cNvSpPr/>
          <p:nvPr/>
        </p:nvSpPr>
        <p:spPr>
          <a:xfrm>
            <a:off x="2715768" y="3931920"/>
            <a:ext cx="2075688" cy="1554480"/>
          </a:xfrm>
          <a:prstGeom prst="roundRect">
            <a:avLst>
              <a:gd name="adj" fmla="val 7059"/>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27" name="Icon FaLandmark"/>
          <p:cNvSpPr/>
          <p:nvPr/>
        </p:nvSpPr>
        <p:spPr>
          <a:xfrm>
            <a:off x="2880360" y="4114800"/>
            <a:ext cx="640080" cy="640080"/>
          </a:xfrm>
          <a:prstGeom prst="ellipse">
            <a:avLst/>
          </a:prstGeom>
          <a:solidFill>
            <a:srgbClr val="F2EDFB"/>
          </a:solidFill>
          <a:ln w="12700">
            <a:solidFill>
              <a:srgbClr val="F2EDFB"/>
            </a:solidFill>
            <a:prstDash val="solid"/>
          </a:ln>
        </p:spPr>
      </p:sp>
      <p:pic>
        <p:nvPicPr>
          <p:cNvPr id="28" name="Image 5" descr="FaLandmark"/>
          <p:cNvPicPr>
            <a:picLocks noChangeAspect="1"/>
          </p:cNvPicPr>
          <p:nvPr/>
        </p:nvPicPr>
        <p:blipFill>
          <a:blip r:embed="rId8"/>
          <a:stretch>
            <a:fillRect/>
          </a:stretch>
        </p:blipFill>
        <p:spPr>
          <a:xfrm>
            <a:off x="3040380" y="4274820"/>
            <a:ext cx="320040" cy="320040"/>
          </a:xfrm>
          <a:prstGeom prst="rect">
            <a:avLst/>
          </a:prstGeom>
        </p:spPr>
      </p:pic>
      <p:sp>
        <p:nvSpPr>
          <p:cNvPr id="29" name="Text 21"/>
          <p:cNvSpPr txBox="1"/>
          <p:nvPr/>
        </p:nvSpPr>
        <p:spPr>
          <a:xfrm>
            <a:off x="2880360" y="4892040"/>
            <a:ext cx="1828800" cy="256032"/>
          </a:xfrm>
          <a:prstGeom prst="rect">
            <a:avLst/>
          </a:prstGeom>
          <a:noFill/>
          <a:ln/>
        </p:spPr>
        <p:txBody>
          <a:bodyPr wrap="square" lIns="0" tIns="0" rIns="0" bIns="0" rtlCol="0" anchor="t"/>
          <a:lstStyle/>
          <a:p>
            <a:pPr marL="0" indent="0">
              <a:buNone/>
            </a:pPr>
            <a:r>
              <a:rPr lang="en-US" sz="1300" b="1" dirty="0">
                <a:solidFill>
                  <a:schemeClr val="tx1"/>
                </a:solidFill>
              </a:rPr>
              <a:t>Event venues</a:t>
            </a:r>
            <a:endParaRPr lang="en-US" sz="1300" dirty="0"/>
          </a:p>
        </p:txBody>
      </p:sp>
      <p:sp>
        <p:nvSpPr>
          <p:cNvPr id="30" name="Text 22"/>
          <p:cNvSpPr txBox="1"/>
          <p:nvPr/>
        </p:nvSpPr>
        <p:spPr>
          <a:xfrm>
            <a:off x="2880360" y="5148072"/>
            <a:ext cx="1828800" cy="256032"/>
          </a:xfrm>
          <a:prstGeom prst="rect">
            <a:avLst/>
          </a:prstGeom>
          <a:noFill/>
          <a:ln/>
        </p:spPr>
        <p:txBody>
          <a:bodyPr wrap="square" lIns="0" tIns="0" rIns="0" bIns="0" rtlCol="0" anchor="t"/>
          <a:lstStyle/>
          <a:p>
            <a:pPr marL="0" indent="0">
              <a:buNone/>
            </a:pPr>
            <a:r>
              <a:rPr lang="en-US" sz="1200" dirty="0">
                <a:solidFill>
                  <a:schemeClr val="tx2"/>
                </a:solidFill>
              </a:rPr>
              <a:t>Fewer coaches to park</a:t>
            </a:r>
            <a:endParaRPr lang="en-US" sz="1200" dirty="0"/>
          </a:p>
        </p:txBody>
      </p:sp>
      <p:sp>
        <p:nvSpPr>
          <p:cNvPr id="31" name="Local communities"/>
          <p:cNvSpPr/>
          <p:nvPr/>
        </p:nvSpPr>
        <p:spPr>
          <a:xfrm>
            <a:off x="4928616" y="3931920"/>
            <a:ext cx="2075688" cy="1554480"/>
          </a:xfrm>
          <a:prstGeom prst="roundRect">
            <a:avLst>
              <a:gd name="adj" fmla="val 7059"/>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32" name="Icon FaUsers"/>
          <p:cNvSpPr/>
          <p:nvPr/>
        </p:nvSpPr>
        <p:spPr>
          <a:xfrm>
            <a:off x="5093208" y="4114800"/>
            <a:ext cx="640080" cy="640080"/>
          </a:xfrm>
          <a:prstGeom prst="ellipse">
            <a:avLst/>
          </a:prstGeom>
          <a:solidFill>
            <a:srgbClr val="EAF1FB"/>
          </a:solidFill>
          <a:ln w="12700">
            <a:solidFill>
              <a:srgbClr val="EAF1FB"/>
            </a:solidFill>
            <a:prstDash val="solid"/>
          </a:ln>
        </p:spPr>
      </p:sp>
      <p:pic>
        <p:nvPicPr>
          <p:cNvPr id="33" name="Image 6" descr="FaUsers"/>
          <p:cNvPicPr>
            <a:picLocks noChangeAspect="1"/>
          </p:cNvPicPr>
          <p:nvPr/>
        </p:nvPicPr>
        <p:blipFill>
          <a:blip r:embed="rId9"/>
          <a:stretch>
            <a:fillRect/>
          </a:stretch>
        </p:blipFill>
        <p:spPr>
          <a:xfrm>
            <a:off x="5253228" y="4274820"/>
            <a:ext cx="320040" cy="320040"/>
          </a:xfrm>
          <a:prstGeom prst="rect">
            <a:avLst/>
          </a:prstGeom>
        </p:spPr>
      </p:pic>
      <p:sp>
        <p:nvSpPr>
          <p:cNvPr id="34" name="Text 25"/>
          <p:cNvSpPr txBox="1"/>
          <p:nvPr/>
        </p:nvSpPr>
        <p:spPr>
          <a:xfrm>
            <a:off x="5093208" y="4892040"/>
            <a:ext cx="1828800" cy="256032"/>
          </a:xfrm>
          <a:prstGeom prst="rect">
            <a:avLst/>
          </a:prstGeom>
          <a:noFill/>
          <a:ln/>
        </p:spPr>
        <p:txBody>
          <a:bodyPr wrap="square" lIns="0" tIns="0" rIns="0" bIns="0" rtlCol="0" anchor="t"/>
          <a:lstStyle/>
          <a:p>
            <a:pPr marL="0" indent="0">
              <a:buNone/>
            </a:pPr>
            <a:r>
              <a:rPr lang="en-US" sz="1300" b="1" dirty="0">
                <a:solidFill>
                  <a:schemeClr val="tx1"/>
                </a:solidFill>
              </a:rPr>
              <a:t>Local communities</a:t>
            </a:r>
            <a:endParaRPr lang="en-US" sz="1300" dirty="0"/>
          </a:p>
        </p:txBody>
      </p:sp>
      <p:sp>
        <p:nvSpPr>
          <p:cNvPr id="35" name="Text 26"/>
          <p:cNvSpPr txBox="1"/>
          <p:nvPr/>
        </p:nvSpPr>
        <p:spPr>
          <a:xfrm>
            <a:off x="5093208" y="5148072"/>
            <a:ext cx="1828800" cy="256032"/>
          </a:xfrm>
          <a:prstGeom prst="rect">
            <a:avLst/>
          </a:prstGeom>
          <a:noFill/>
          <a:ln/>
        </p:spPr>
        <p:txBody>
          <a:bodyPr wrap="square" lIns="0" tIns="0" rIns="0" bIns="0" rtlCol="0" anchor="t"/>
          <a:lstStyle/>
          <a:p>
            <a:pPr marL="0" indent="0">
              <a:buNone/>
            </a:pPr>
            <a:r>
              <a:rPr lang="en-US" sz="1200" dirty="0">
                <a:solidFill>
                  <a:schemeClr val="tx2"/>
                </a:solidFill>
              </a:rPr>
              <a:t>Less coach traffic</a:t>
            </a:r>
            <a:endParaRPr lang="en-US" sz="1200" dirty="0"/>
          </a:p>
        </p:txBody>
      </p:sp>
      <p:sp>
        <p:nvSpPr>
          <p:cNvPr id="36" name="Metric 1"/>
          <p:cNvSpPr/>
          <p:nvPr/>
        </p:nvSpPr>
        <p:spPr>
          <a:xfrm>
            <a:off x="7315200" y="2240280"/>
            <a:ext cx="4370832" cy="987552"/>
          </a:xfrm>
          <a:prstGeom prst="roundRect">
            <a:avLst>
              <a:gd name="adj" fmla="val 11111"/>
            </a:avLst>
          </a:prstGeom>
          <a:solidFill>
            <a:srgbClr val="FDECEE"/>
          </a:solidFill>
          <a:ln w="9525">
            <a:solidFill>
              <a:srgbClr val="FDECEE"/>
            </a:solidFill>
            <a:prstDash val="solid"/>
          </a:ln>
        </p:spPr>
      </p:sp>
      <p:sp>
        <p:nvSpPr>
          <p:cNvPr id="37" name="Text 28"/>
          <p:cNvSpPr txBox="1"/>
          <p:nvPr/>
        </p:nvSpPr>
        <p:spPr>
          <a:xfrm>
            <a:off x="7498080" y="2240280"/>
            <a:ext cx="1417320" cy="987552"/>
          </a:xfrm>
          <a:prstGeom prst="rect">
            <a:avLst/>
          </a:prstGeom>
          <a:noFill/>
          <a:ln/>
        </p:spPr>
        <p:txBody>
          <a:bodyPr wrap="square" lIns="0" tIns="0" rIns="0" bIns="0" rtlCol="0" anchor="ctr"/>
          <a:lstStyle/>
          <a:p>
            <a:pPr marL="0" indent="0">
              <a:buNone/>
            </a:pPr>
            <a:r>
              <a:rPr lang="en-US" sz="3000" b="1" dirty="0">
                <a:solidFill>
                  <a:srgbClr val="D7192F"/>
                </a:solidFill>
              </a:rPr>
              <a:t>−35</a:t>
            </a:r>
            <a:endParaRPr lang="en-US" sz="3000" dirty="0"/>
          </a:p>
        </p:txBody>
      </p:sp>
      <p:sp>
        <p:nvSpPr>
          <p:cNvPr id="38" name="Text 29"/>
          <p:cNvSpPr txBox="1"/>
          <p:nvPr/>
        </p:nvSpPr>
        <p:spPr>
          <a:xfrm>
            <a:off x="8961120" y="2240280"/>
            <a:ext cx="2606040" cy="987552"/>
          </a:xfrm>
          <a:prstGeom prst="rect">
            <a:avLst/>
          </a:prstGeom>
          <a:noFill/>
          <a:ln/>
        </p:spPr>
        <p:txBody>
          <a:bodyPr wrap="square" lIns="0" tIns="0" rIns="0" bIns="0" rtlCol="0" anchor="ctr"/>
          <a:lstStyle/>
          <a:p>
            <a:pPr marL="0" indent="0">
              <a:buNone/>
            </a:pPr>
            <a:r>
              <a:rPr lang="en-US" sz="1300" dirty="0">
                <a:solidFill>
                  <a:schemeClr val="tx1"/>
                </a:solidFill>
              </a:rPr>
              <a:t>buses to book and coordinate</a:t>
            </a:r>
            <a:endParaRPr lang="en-US" sz="1300" dirty="0"/>
          </a:p>
        </p:txBody>
      </p:sp>
      <p:sp>
        <p:nvSpPr>
          <p:cNvPr id="39" name="Metric 2"/>
          <p:cNvSpPr/>
          <p:nvPr/>
        </p:nvSpPr>
        <p:spPr>
          <a:xfrm>
            <a:off x="7315200" y="3337560"/>
            <a:ext cx="4370832" cy="987552"/>
          </a:xfrm>
          <a:prstGeom prst="roundRect">
            <a:avLst>
              <a:gd name="adj" fmla="val 11111"/>
            </a:avLst>
          </a:prstGeom>
          <a:solidFill>
            <a:srgbClr val="EAF1FB"/>
          </a:solidFill>
          <a:ln w="9525">
            <a:solidFill>
              <a:srgbClr val="EAF1FB"/>
            </a:solidFill>
            <a:prstDash val="solid"/>
          </a:ln>
        </p:spPr>
      </p:sp>
      <p:sp>
        <p:nvSpPr>
          <p:cNvPr id="40" name="Text 31"/>
          <p:cNvSpPr txBox="1"/>
          <p:nvPr/>
        </p:nvSpPr>
        <p:spPr>
          <a:xfrm>
            <a:off x="7498080" y="3337560"/>
            <a:ext cx="1417320" cy="987552"/>
          </a:xfrm>
          <a:prstGeom prst="rect">
            <a:avLst/>
          </a:prstGeom>
          <a:noFill/>
          <a:ln/>
        </p:spPr>
        <p:txBody>
          <a:bodyPr wrap="square" lIns="0" tIns="0" rIns="0" bIns="0" rtlCol="0" anchor="ctr"/>
          <a:lstStyle/>
          <a:p>
            <a:pPr marL="0" indent="0">
              <a:buNone/>
            </a:pPr>
            <a:r>
              <a:rPr lang="en-US" sz="3000" b="1" dirty="0">
                <a:solidFill>
                  <a:srgbClr val="1F5FBF"/>
                </a:solidFill>
              </a:rPr>
              <a:t>99.5%</a:t>
            </a:r>
            <a:endParaRPr lang="en-US" sz="3000" dirty="0"/>
          </a:p>
        </p:txBody>
      </p:sp>
      <p:sp>
        <p:nvSpPr>
          <p:cNvPr id="41" name="Text 32"/>
          <p:cNvSpPr txBox="1"/>
          <p:nvPr/>
        </p:nvSpPr>
        <p:spPr>
          <a:xfrm>
            <a:off x="8961120" y="3337560"/>
            <a:ext cx="2606040" cy="987552"/>
          </a:xfrm>
          <a:prstGeom prst="rect">
            <a:avLst/>
          </a:prstGeom>
          <a:noFill/>
          <a:ln/>
        </p:spPr>
        <p:txBody>
          <a:bodyPr wrap="square" lIns="0" tIns="0" rIns="0" bIns="0" rtlCol="0" anchor="ctr"/>
          <a:lstStyle/>
          <a:p>
            <a:pPr marL="0" indent="0">
              <a:buNone/>
            </a:pPr>
            <a:r>
              <a:rPr lang="en-US" sz="1300" dirty="0">
                <a:solidFill>
                  <a:schemeClr val="tx1"/>
                </a:solidFill>
              </a:rPr>
              <a:t>seats filled (was 68.0%)</a:t>
            </a:r>
            <a:endParaRPr lang="en-US" sz="1300" dirty="0"/>
          </a:p>
        </p:txBody>
      </p:sp>
      <p:sp>
        <p:nvSpPr>
          <p:cNvPr id="42" name="Metric 3"/>
          <p:cNvSpPr/>
          <p:nvPr/>
        </p:nvSpPr>
        <p:spPr>
          <a:xfrm>
            <a:off x="7315200" y="4434840"/>
            <a:ext cx="4370832" cy="987552"/>
          </a:xfrm>
          <a:prstGeom prst="roundRect">
            <a:avLst>
              <a:gd name="adj" fmla="val 11111"/>
            </a:avLst>
          </a:prstGeom>
          <a:solidFill>
            <a:srgbClr val="EAF6EE"/>
          </a:solidFill>
          <a:ln w="9525">
            <a:solidFill>
              <a:srgbClr val="EAF6EE"/>
            </a:solidFill>
            <a:prstDash val="solid"/>
          </a:ln>
        </p:spPr>
      </p:sp>
      <p:sp>
        <p:nvSpPr>
          <p:cNvPr id="43" name="Text 34"/>
          <p:cNvSpPr txBox="1"/>
          <p:nvPr/>
        </p:nvSpPr>
        <p:spPr>
          <a:xfrm>
            <a:off x="7498080" y="4434840"/>
            <a:ext cx="1417320" cy="987552"/>
          </a:xfrm>
          <a:prstGeom prst="rect">
            <a:avLst/>
          </a:prstGeom>
          <a:noFill/>
          <a:ln/>
        </p:spPr>
        <p:txBody>
          <a:bodyPr wrap="square" lIns="0" tIns="0" rIns="0" bIns="0" rtlCol="0" anchor="ctr"/>
          <a:lstStyle/>
          <a:p>
            <a:pPr marL="0" indent="0">
              <a:buNone/>
            </a:pPr>
            <a:r>
              <a:rPr lang="en-US" sz="3000" b="1" dirty="0">
                <a:solidFill>
                  <a:srgbClr val="2E9E4F"/>
                </a:solidFill>
              </a:rPr>
              <a:t>−38.8%</a:t>
            </a:r>
            <a:endParaRPr lang="en-US" sz="3000" dirty="0"/>
          </a:p>
        </p:txBody>
      </p:sp>
      <p:sp>
        <p:nvSpPr>
          <p:cNvPr id="44" name="Text 35"/>
          <p:cNvSpPr txBox="1"/>
          <p:nvPr/>
        </p:nvSpPr>
        <p:spPr>
          <a:xfrm>
            <a:off x="8961120" y="4434840"/>
            <a:ext cx="2606040" cy="987552"/>
          </a:xfrm>
          <a:prstGeom prst="rect">
            <a:avLst/>
          </a:prstGeom>
          <a:noFill/>
          <a:ln/>
        </p:spPr>
        <p:txBody>
          <a:bodyPr wrap="square" lIns="0" tIns="0" rIns="0" bIns="0" rtlCol="0" anchor="ctr"/>
          <a:lstStyle/>
          <a:p>
            <a:pPr marL="0" indent="0">
              <a:buNone/>
            </a:pPr>
            <a:r>
              <a:rPr lang="en-US" sz="1300" dirty="0">
                <a:solidFill>
                  <a:schemeClr val="tx1"/>
                </a:solidFill>
              </a:rPr>
              <a:t>bus-miles, 1,289 → 789 (straight line)</a:t>
            </a:r>
            <a:endParaRPr lang="en-US" sz="1300" dirty="0"/>
          </a:p>
        </p:txBody>
      </p:sp>
      <p:sp>
        <p:nvSpPr>
          <p:cNvPr id="45" name="Text 36"/>
          <p:cNvSpPr txBox="1"/>
          <p:nvPr/>
        </p:nvSpPr>
        <p:spPr>
          <a:xfrm>
            <a:off x="7315200" y="5577840"/>
            <a:ext cx="4370832" cy="320040"/>
          </a:xfrm>
          <a:prstGeom prst="rect">
            <a:avLst/>
          </a:prstGeom>
          <a:noFill/>
          <a:ln/>
        </p:spPr>
        <p:txBody>
          <a:bodyPr wrap="square" lIns="0" tIns="0" rIns="0" bIns="0" rtlCol="0" anchor="t"/>
          <a:lstStyle/>
          <a:p>
            <a:pPr marL="0" indent="0">
              <a:buNone/>
            </a:pPr>
            <a:r>
              <a:rPr lang="en-US" sz="1000" dirty="0">
                <a:solidFill>
                  <a:schemeClr val="tx2"/>
                </a:solidFill>
              </a:rPr>
              <a:t>Fixed-price plan; baseline = one bus per school. No fuel or emissions claim.</a:t>
            </a:r>
            <a:endParaRPr lang="en-US" sz="1000" dirty="0"/>
          </a:p>
        </p:txBody>
      </p:sp>
      <p:sp>
        <p:nvSpPr>
          <p:cNvPr id="46"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childTnLst>
                          </p:cTn>
                        </p:par>
                        <p:par>
                          <p:cTn id="8" fill="hold">
                            <p:stCondLst>
                              <p:cond delay="350"/>
                            </p:stCondLst>
                            <p:childTnLst>
                              <p:par>
                                <p:cTn id="9" presetID="10" presetClass="entr" presetSubtype="0"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350"/>
                                        <p:tgtEl>
                                          <p:spTgt spid="6"/>
                                        </p:tgtEl>
                                      </p:cBhvr>
                                    </p:animEffect>
                                  </p:childTnLst>
                                </p:cTn>
                              </p:par>
                              <p:par>
                                <p:cTn id="12" presetID="10" presetClass="entr" presetSubtype="0" fill="hold"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350"/>
                                        <p:tgtEl>
                                          <p:spTgt spid="11"/>
                                        </p:tgtEl>
                                      </p:cBhvr>
                                    </p:animEffect>
                                  </p:childTnLst>
                                </p:cTn>
                              </p:par>
                              <p:par>
                                <p:cTn id="15" presetID="10"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50"/>
                                        <p:tgtEl>
                                          <p:spTgt spid="16"/>
                                        </p:tgtEl>
                                      </p:cBhvr>
                                    </p:animEffect>
                                  </p:childTnLst>
                                </p:cTn>
                              </p:par>
                              <p:par>
                                <p:cTn id="18" presetID="10" presetClass="entr" presetSubtype="0" fill="hold"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35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35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350"/>
                                        <p:tgtEl>
                                          <p:spTgt spid="38"/>
                                        </p:tgtEl>
                                      </p:cBhvr>
                                    </p:animEffect>
                                  </p:childTnLst>
                                </p:cTn>
                              </p:par>
                              <p:par>
                                <p:cTn id="27" presetID="10" presetClass="entr" presetSubtype="0" fill="hold"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350"/>
                                        <p:tgtEl>
                                          <p:spTgt spid="7"/>
                                        </p:tgtEl>
                                      </p:cBhvr>
                                    </p:animEffect>
                                  </p:childTnLst>
                                </p:cTn>
                              </p:par>
                              <p:par>
                                <p:cTn id="30" presetID="10" presetClass="entr" presetSubtype="0" fill="hold"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350"/>
                                        <p:tgtEl>
                                          <p:spTgt spid="12"/>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50"/>
                                        <p:tgtEl>
                                          <p:spTgt spid="17"/>
                                        </p:tgtEl>
                                      </p:cBhvr>
                                    </p:animEffect>
                                  </p:childTnLst>
                                </p:cTn>
                              </p:par>
                              <p:par>
                                <p:cTn id="36" presetID="10" presetClass="entr" presetSubtype="0" fill="hold" nodeType="withEffect">
                                  <p:stCondLst>
                                    <p:cond delay="0"/>
                                  </p:stCondLst>
                                  <p:childTnLst>
                                    <p:set>
                                      <p:cBhvr>
                                        <p:cTn id="37" dur="1" fill="hold">
                                          <p:stCondLst>
                                            <p:cond delay="0"/>
                                          </p:stCondLst>
                                        </p:cTn>
                                        <p:tgtEl>
                                          <p:spTgt spid="8"/>
                                        </p:tgtEl>
                                        <p:attrNameLst>
                                          <p:attrName>style.visibility</p:attrName>
                                        </p:attrNameLst>
                                      </p:cBhvr>
                                      <p:to>
                                        <p:strVal val="visible"/>
                                      </p:to>
                                    </p:set>
                                    <p:animEffect transition="in" filter="fade">
                                      <p:cBhvr>
                                        <p:cTn id="38" dur="350"/>
                                        <p:tgtEl>
                                          <p:spTgt spid="8"/>
                                        </p:tgtEl>
                                      </p:cBhvr>
                                    </p:animEffect>
                                  </p:childTnLst>
                                </p:cTn>
                              </p:par>
                              <p:par>
                                <p:cTn id="39" presetID="10"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35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50"/>
                                        <p:tgtEl>
                                          <p:spTgt spid="18"/>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fade">
                                      <p:cBhvr>
                                        <p:cTn id="48" dur="350"/>
                                        <p:tgtEl>
                                          <p:spTgt spid="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350"/>
                                        <p:tgtEl>
                                          <p:spTgt spid="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350"/>
                                        <p:tgtEl>
                                          <p:spTgt spid="19"/>
                                        </p:tgtEl>
                                      </p:cBhvr>
                                    </p:animEffect>
                                  </p:childTnLst>
                                </p:cTn>
                              </p:par>
                              <p:par>
                                <p:cTn id="55" presetID="10" presetClass="entr" presetSubtype="0" fill="hold" nodeType="withEffect">
                                  <p:stCondLst>
                                    <p:cond delay="0"/>
                                  </p:stCondLst>
                                  <p:childTnLst>
                                    <p:set>
                                      <p:cBhvr>
                                        <p:cTn id="56" dur="1" fill="hold">
                                          <p:stCondLst>
                                            <p:cond delay="0"/>
                                          </p:stCondLst>
                                        </p:cTn>
                                        <p:tgtEl>
                                          <p:spTgt spid="39"/>
                                        </p:tgtEl>
                                        <p:attrNameLst>
                                          <p:attrName>style.visibility</p:attrName>
                                        </p:attrNameLst>
                                      </p:cBhvr>
                                      <p:to>
                                        <p:strVal val="visible"/>
                                      </p:to>
                                    </p:set>
                                    <p:animEffect transition="in" filter="fade">
                                      <p:cBhvr>
                                        <p:cTn id="57" dur="350"/>
                                        <p:tgtEl>
                                          <p:spTgt spid="3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350"/>
                                        <p:tgtEl>
                                          <p:spTgt spid="4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350"/>
                                        <p:tgtEl>
                                          <p:spTgt spid="4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0"/>
                                        </p:tgtEl>
                                        <p:attrNameLst>
                                          <p:attrName>style.visibility</p:attrName>
                                        </p:attrNameLst>
                                      </p:cBhvr>
                                      <p:to>
                                        <p:strVal val="visible"/>
                                      </p:to>
                                    </p:set>
                                    <p:animEffect transition="in" filter="fade">
                                      <p:cBhvr>
                                        <p:cTn id="66" dur="350"/>
                                        <p:tgtEl>
                                          <p:spTgt spid="1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350"/>
                                        <p:tgtEl>
                                          <p:spTgt spid="15"/>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350"/>
                                        <p:tgtEl>
                                          <p:spTgt spid="20"/>
                                        </p:tgtEl>
                                      </p:cBhvr>
                                    </p:animEffect>
                                  </p:childTnLst>
                                </p:cTn>
                              </p:par>
                            </p:childTnLst>
                          </p:cTn>
                        </p:par>
                        <p:par>
                          <p:cTn id="73" fill="hold">
                            <p:stCondLst>
                              <p:cond delay="1050"/>
                            </p:stCondLst>
                            <p:childTnLst>
                              <p:par>
                                <p:cTn id="74" presetID="10" presetClass="entr" presetSubtype="0" fill="hold"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350"/>
                                        <p:tgtEl>
                                          <p:spTgt spid="21"/>
                                        </p:tgtEl>
                                      </p:cBhvr>
                                    </p:animEffect>
                                  </p:childTnLst>
                                </p:cTn>
                              </p:par>
                              <p:par>
                                <p:cTn id="77" presetID="10" presetClass="entr" presetSubtype="0" fill="hold"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350"/>
                                        <p:tgtEl>
                                          <p:spTgt spid="26"/>
                                        </p:tgtEl>
                                      </p:cBhvr>
                                    </p:animEffect>
                                  </p:childTnLst>
                                </p:cTn>
                              </p:par>
                              <p:par>
                                <p:cTn id="80" presetID="10" presetClass="entr" presetSubtype="0" fill="hold"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fade">
                                      <p:cBhvr>
                                        <p:cTn id="82" dur="350"/>
                                        <p:tgtEl>
                                          <p:spTgt spid="31"/>
                                        </p:tgtEl>
                                      </p:cBhvr>
                                    </p:animEffect>
                                  </p:childTnLst>
                                </p:cTn>
                              </p:par>
                              <p:par>
                                <p:cTn id="83" presetID="10" presetClass="entr" presetSubtype="0" fill="hold" nodeType="withEffect">
                                  <p:stCondLst>
                                    <p:cond delay="0"/>
                                  </p:stCondLst>
                                  <p:childTnLst>
                                    <p:set>
                                      <p:cBhvr>
                                        <p:cTn id="84" dur="1" fill="hold">
                                          <p:stCondLst>
                                            <p:cond delay="0"/>
                                          </p:stCondLst>
                                        </p:cTn>
                                        <p:tgtEl>
                                          <p:spTgt spid="22"/>
                                        </p:tgtEl>
                                        <p:attrNameLst>
                                          <p:attrName>style.visibility</p:attrName>
                                        </p:attrNameLst>
                                      </p:cBhvr>
                                      <p:to>
                                        <p:strVal val="visible"/>
                                      </p:to>
                                    </p:set>
                                    <p:animEffect transition="in" filter="fade">
                                      <p:cBhvr>
                                        <p:cTn id="85" dur="350"/>
                                        <p:tgtEl>
                                          <p:spTgt spid="22"/>
                                        </p:tgtEl>
                                      </p:cBhvr>
                                    </p:animEffect>
                                  </p:childTnLst>
                                </p:cTn>
                              </p:par>
                              <p:par>
                                <p:cTn id="86" presetID="10" presetClass="entr" presetSubtype="0" fill="hold" nodeType="withEffect">
                                  <p:stCondLst>
                                    <p:cond delay="0"/>
                                  </p:stCondLst>
                                  <p:childTnLst>
                                    <p:set>
                                      <p:cBhvr>
                                        <p:cTn id="87" dur="1" fill="hold">
                                          <p:stCondLst>
                                            <p:cond delay="0"/>
                                          </p:stCondLst>
                                        </p:cTn>
                                        <p:tgtEl>
                                          <p:spTgt spid="27"/>
                                        </p:tgtEl>
                                        <p:attrNameLst>
                                          <p:attrName>style.visibility</p:attrName>
                                        </p:attrNameLst>
                                      </p:cBhvr>
                                      <p:to>
                                        <p:strVal val="visible"/>
                                      </p:to>
                                    </p:set>
                                    <p:animEffect transition="in" filter="fade">
                                      <p:cBhvr>
                                        <p:cTn id="88" dur="350"/>
                                        <p:tgtEl>
                                          <p:spTgt spid="27"/>
                                        </p:tgtEl>
                                      </p:cBhvr>
                                    </p:animEffect>
                                  </p:childTnLst>
                                </p:cTn>
                              </p:par>
                              <p:par>
                                <p:cTn id="89" presetID="10" presetClass="entr" presetSubtype="0" fill="hold" nodeType="with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fade">
                                      <p:cBhvr>
                                        <p:cTn id="91" dur="350"/>
                                        <p:tgtEl>
                                          <p:spTgt spid="32"/>
                                        </p:tgtEl>
                                      </p:cBhvr>
                                    </p:animEffect>
                                  </p:childTnLst>
                                </p:cTn>
                              </p:par>
                              <p:par>
                                <p:cTn id="92" presetID="10" presetClass="entr" presetSubtype="0" fill="hold" nodeType="with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350"/>
                                        <p:tgtEl>
                                          <p:spTgt spid="23"/>
                                        </p:tgtEl>
                                      </p:cBhvr>
                                    </p:animEffect>
                                  </p:childTnLst>
                                </p:cTn>
                              </p:par>
                              <p:par>
                                <p:cTn id="95" presetID="10" presetClass="entr" presetSubtype="0" fill="hold" nodeType="with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fade">
                                      <p:cBhvr>
                                        <p:cTn id="97" dur="350"/>
                                        <p:tgtEl>
                                          <p:spTgt spid="28"/>
                                        </p:tgtEl>
                                      </p:cBhvr>
                                    </p:animEffect>
                                  </p:childTnLst>
                                </p:cTn>
                              </p:par>
                              <p:par>
                                <p:cTn id="98" presetID="10" presetClass="entr" presetSubtype="0" fill="hold" nodeType="withEffect">
                                  <p:stCondLst>
                                    <p:cond delay="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350"/>
                                        <p:tgtEl>
                                          <p:spTgt spid="33"/>
                                        </p:tgtEl>
                                      </p:cBhvr>
                                    </p:animEffect>
                                  </p:childTnLst>
                                </p:cTn>
                              </p:par>
                              <p:par>
                                <p:cTn id="101" presetID="10" presetClass="entr" presetSubtype="0" fill="hold" nodeType="with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350"/>
                                        <p:tgtEl>
                                          <p:spTgt spid="4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350"/>
                                        <p:tgtEl>
                                          <p:spTgt spid="4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350"/>
                                        <p:tgtEl>
                                          <p:spTgt spid="44"/>
                                        </p:tgtEl>
                                      </p:cBhvr>
                                    </p:animEffect>
                                  </p:childTnLst>
                                </p:cTn>
                              </p:par>
                            </p:childTnLst>
                          </p:cTn>
                        </p:par>
                        <p:par>
                          <p:cTn id="110" fill="hold">
                            <p:stCondLst>
                              <p:cond delay="1400"/>
                            </p:stCondLst>
                            <p:childTnLst>
                              <p:par>
                                <p:cTn id="111" presetID="10" presetClass="entr" presetSubtype="0" fill="hold" grpId="0" nodeType="afterEffect">
                                  <p:stCondLst>
                                    <p:cond delay="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350"/>
                                        <p:tgtEl>
                                          <p:spTgt spid="24"/>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29"/>
                                        </p:tgtEl>
                                        <p:attrNameLst>
                                          <p:attrName>style.visibility</p:attrName>
                                        </p:attrNameLst>
                                      </p:cBhvr>
                                      <p:to>
                                        <p:strVal val="visible"/>
                                      </p:to>
                                    </p:set>
                                    <p:animEffect transition="in" filter="fade">
                                      <p:cBhvr>
                                        <p:cTn id="116" dur="350"/>
                                        <p:tgtEl>
                                          <p:spTgt spid="2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4"/>
                                        </p:tgtEl>
                                        <p:attrNameLst>
                                          <p:attrName>style.visibility</p:attrName>
                                        </p:attrNameLst>
                                      </p:cBhvr>
                                      <p:to>
                                        <p:strVal val="visible"/>
                                      </p:to>
                                    </p:set>
                                    <p:animEffect transition="in" filter="fade">
                                      <p:cBhvr>
                                        <p:cTn id="119" dur="350"/>
                                        <p:tgtEl>
                                          <p:spTgt spid="3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350"/>
                                        <p:tgtEl>
                                          <p:spTgt spid="25"/>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30"/>
                                        </p:tgtEl>
                                        <p:attrNameLst>
                                          <p:attrName>style.visibility</p:attrName>
                                        </p:attrNameLst>
                                      </p:cBhvr>
                                      <p:to>
                                        <p:strVal val="visible"/>
                                      </p:to>
                                    </p:set>
                                    <p:animEffect transition="in" filter="fade">
                                      <p:cBhvr>
                                        <p:cTn id="125" dur="350"/>
                                        <p:tgtEl>
                                          <p:spTgt spid="3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35"/>
                                        </p:tgtEl>
                                        <p:attrNameLst>
                                          <p:attrName>style.visibility</p:attrName>
                                        </p:attrNameLst>
                                      </p:cBhvr>
                                      <p:to>
                                        <p:strVal val="visible"/>
                                      </p:to>
                                    </p:set>
                                    <p:animEffect transition="in" filter="fade">
                                      <p:cBhvr>
                                        <p:cTn id="128" dur="350"/>
                                        <p:tgtEl>
                                          <p:spTgt spid="35"/>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5"/>
                                        </p:tgtEl>
                                        <p:attrNameLst>
                                          <p:attrName>style.visibility</p:attrName>
                                        </p:attrNameLst>
                                      </p:cBhvr>
                                      <p:to>
                                        <p:strVal val="visible"/>
                                      </p:to>
                                    </p:set>
                                    <p:animEffect transition="in" filter="fade">
                                      <p:cBhvr>
                                        <p:cTn id="131" dur="3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4" grpId="0" animBg="1"/>
      <p:bldP spid="15" grpId="0" animBg="1"/>
      <p:bldP spid="19" grpId="0" animBg="1"/>
      <p:bldP spid="20" grpId="0" animBg="1"/>
      <p:bldP spid="24" grpId="0" animBg="1"/>
      <p:bldP spid="25" grpId="0" animBg="1"/>
      <p:bldP spid="29" grpId="0" animBg="1"/>
      <p:bldP spid="30" grpId="0" animBg="1"/>
      <p:bldP spid="34" grpId="0" animBg="1"/>
      <p:bldP spid="35" grpId="0" animBg="1"/>
      <p:bldP spid="37" grpId="0" animBg="1"/>
      <p:bldP spid="38" grpId="0" animBg="1"/>
      <p:bldP spid="40" grpId="0" animBg="1"/>
      <p:bldP spid="41" grpId="0" animBg="1"/>
      <p:bldP spid="43" grpId="0" animBg="1"/>
      <p:bldP spid="44" grpId="0" animBg="1"/>
      <p:bldP spid="4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oaches outside Principality Stadium, Cardiff (illustration from the team's reference slides)"/>
          <p:cNvPicPr>
            <a:picLocks noChangeAspect="1"/>
          </p:cNvPicPr>
          <p:nvPr/>
        </p:nvPicPr>
        <p:blipFill>
          <a:blip r:embed="rId3"/>
          <a:stretch>
            <a:fillRect/>
          </a:stretch>
        </p:blipFill>
        <p:spPr>
          <a:xfrm>
            <a:off x="8653357" y="0"/>
            <a:ext cx="3538338" cy="1874520"/>
          </a:xfrm>
          <a:prstGeom prst="rect">
            <a:avLst/>
          </a:prstGeom>
        </p:spPr>
      </p:pic>
      <p:sp>
        <p:nvSpPr>
          <p:cNvPr id="3" name="Text 0"/>
          <p:cNvSpPr>
            <a:spLocks noGrp="1"/>
          </p:cNvSpPr>
          <p:nvPr>
            <p:ph type="body" idx="100" hasCustomPrompt="1"/>
          </p:nvPr>
        </p:nvSpPr>
        <p:spPr>
          <a:xfrm>
            <a:off x="502920" y="292608"/>
            <a:ext cx="7315200" cy="274320"/>
          </a:xfrm>
          <a:prstGeom prst="rect">
            <a:avLst/>
          </a:prstGeom>
          <a:noFill/>
          <a:ln/>
        </p:spPr>
        <p:txBody>
          <a:bodyPr wrap="square" lIns="0" tIns="0" rIns="0" bIns="0" rtlCol="0" anchor="t"/>
          <a:lstStyle/>
          <a:p>
            <a:pPr marL="0" indent="0">
              <a:buNone/>
            </a:pPr>
            <a:r>
              <a:rPr lang="en-US" sz="1300" b="1" kern="0" spc="100" dirty="0">
                <a:solidFill>
                  <a:schemeClr val="accent6"/>
                </a:solidFill>
              </a:rPr>
              <a:t>RESPONSIBLE AI</a:t>
            </a:r>
            <a:endParaRPr lang="en-US" sz="1300" dirty="0"/>
          </a:p>
        </p:txBody>
      </p:sp>
      <p:sp>
        <p:nvSpPr>
          <p:cNvPr id="4" name="Text 1"/>
          <p:cNvSpPr>
            <a:spLocks noGrp="1"/>
          </p:cNvSpPr>
          <p:nvPr>
            <p:ph type="title" idx="102" hasCustomPrompt="1"/>
          </p:nvPr>
        </p:nvSpPr>
        <p:spPr>
          <a:xfrm>
            <a:off x="502920" y="777240"/>
            <a:ext cx="7589520" cy="1051560"/>
          </a:xfrm>
          <a:prstGeom prst="rect">
            <a:avLst/>
          </a:prstGeom>
          <a:noFill/>
          <a:ln/>
        </p:spPr>
        <p:txBody>
          <a:bodyPr wrap="square" lIns="0" tIns="0" rIns="0" bIns="0" rtlCol="0" anchor="t"/>
          <a:lstStyle/>
          <a:p>
            <a:pPr marL="0" indent="0" algn="l">
              <a:buNone/>
            </a:pPr>
            <a:r>
              <a:rPr lang="en-US" sz="3400" b="1" dirty="0">
                <a:solidFill>
                  <a:srgbClr val="0B1F45"/>
                </a:solidFill>
              </a:rPr>
              <a:t>Responsible AI </a:t>
            </a:r>
            <a:r>
              <a:rPr lang="en-US" sz="3400" b="1" dirty="0">
                <a:solidFill>
                  <a:srgbClr val="D7192F"/>
                </a:solidFill>
              </a:rPr>
              <a:t>by Design</a:t>
            </a:r>
            <a:endParaRPr lang="en-US" sz="3400" dirty="0"/>
          </a:p>
        </p:txBody>
      </p:sp>
      <p:sp>
        <p:nvSpPr>
          <p:cNvPr id="5" name="Text 2"/>
          <p:cNvSpPr txBox="1"/>
          <p:nvPr/>
        </p:nvSpPr>
        <p:spPr>
          <a:xfrm>
            <a:off x="502920" y="1481328"/>
            <a:ext cx="7589520" cy="566928"/>
          </a:xfrm>
          <a:prstGeom prst="rect">
            <a:avLst/>
          </a:prstGeom>
          <a:noFill/>
          <a:ln/>
        </p:spPr>
        <p:txBody>
          <a:bodyPr wrap="square" lIns="0" tIns="0" rIns="0" bIns="0" rtlCol="0" anchor="t"/>
          <a:lstStyle/>
          <a:p>
            <a:pPr marL="0" indent="0">
              <a:buNone/>
            </a:pPr>
            <a:r>
              <a:rPr lang="en-US" sz="1500" dirty="0">
                <a:solidFill>
                  <a:schemeClr val="tx2"/>
                </a:solidFill>
              </a:rPr>
              <a:t>Decision support, not an autonomous system: people approve, code verifies.</a:t>
            </a:r>
            <a:endParaRPr lang="en-US" sz="1500" dirty="0"/>
          </a:p>
        </p:txBody>
      </p:sp>
      <p:sp>
        <p:nvSpPr>
          <p:cNvPr id="6" name="Transparency"/>
          <p:cNvSpPr/>
          <p:nvPr/>
        </p:nvSpPr>
        <p:spPr>
          <a:xfrm>
            <a:off x="502920" y="2240280"/>
            <a:ext cx="3611880" cy="1828800"/>
          </a:xfrm>
          <a:prstGeom prst="roundRect">
            <a:avLst>
              <a:gd name="adj" fmla="val 6000"/>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7" name="Icon FaEye"/>
          <p:cNvSpPr/>
          <p:nvPr/>
        </p:nvSpPr>
        <p:spPr>
          <a:xfrm>
            <a:off x="731520" y="2496312"/>
            <a:ext cx="731520" cy="731520"/>
          </a:xfrm>
          <a:prstGeom prst="ellipse">
            <a:avLst/>
          </a:prstGeom>
          <a:solidFill>
            <a:srgbClr val="EAF1FB"/>
          </a:solidFill>
          <a:ln w="12700">
            <a:solidFill>
              <a:srgbClr val="EAF1FB"/>
            </a:solidFill>
            <a:prstDash val="solid"/>
          </a:ln>
        </p:spPr>
      </p:sp>
      <p:pic>
        <p:nvPicPr>
          <p:cNvPr id="8" name="Image 1" descr="FaEye"/>
          <p:cNvPicPr>
            <a:picLocks noChangeAspect="1"/>
          </p:cNvPicPr>
          <p:nvPr/>
        </p:nvPicPr>
        <p:blipFill>
          <a:blip r:embed="rId4"/>
          <a:stretch>
            <a:fillRect/>
          </a:stretch>
        </p:blipFill>
        <p:spPr>
          <a:xfrm>
            <a:off x="914400" y="2679192"/>
            <a:ext cx="365760" cy="365760"/>
          </a:xfrm>
          <a:prstGeom prst="rect">
            <a:avLst/>
          </a:prstGeom>
        </p:spPr>
      </p:pic>
      <p:sp>
        <p:nvSpPr>
          <p:cNvPr id="9" name="Text 5"/>
          <p:cNvSpPr txBox="1"/>
          <p:nvPr/>
        </p:nvSpPr>
        <p:spPr>
          <a:xfrm>
            <a:off x="1645920" y="2496312"/>
            <a:ext cx="2331720" cy="329184"/>
          </a:xfrm>
          <a:prstGeom prst="rect">
            <a:avLst/>
          </a:prstGeom>
          <a:noFill/>
          <a:ln/>
        </p:spPr>
        <p:txBody>
          <a:bodyPr wrap="square" lIns="0" tIns="0" rIns="0" bIns="0" rtlCol="0" anchor="t"/>
          <a:lstStyle/>
          <a:p>
            <a:pPr marL="0" indent="0">
              <a:buNone/>
            </a:pPr>
            <a:r>
              <a:rPr lang="en-US" sz="1700" b="1" dirty="0">
                <a:solidFill>
                  <a:srgbClr val="1F5FBF"/>
                </a:solidFill>
              </a:rPr>
              <a:t>Transparency</a:t>
            </a:r>
            <a:endParaRPr lang="en-US" sz="1700" dirty="0"/>
          </a:p>
        </p:txBody>
      </p:sp>
      <p:sp>
        <p:nvSpPr>
          <p:cNvPr id="10" name="Text 6"/>
          <p:cNvSpPr txBox="1"/>
          <p:nvPr/>
        </p:nvSpPr>
        <p:spPr>
          <a:xfrm>
            <a:off x="1645920" y="2898648"/>
            <a:ext cx="2331720" cy="1051560"/>
          </a:xfrm>
          <a:prstGeom prst="rect">
            <a:avLst/>
          </a:prstGeom>
          <a:noFill/>
          <a:ln/>
        </p:spPr>
        <p:txBody>
          <a:bodyPr wrap="square" lIns="0" tIns="0" rIns="0" bIns="0" rtlCol="0" anchor="t"/>
          <a:lstStyle/>
          <a:p>
            <a:pPr marL="0" indent="0">
              <a:buNone/>
            </a:pPr>
            <a:r>
              <a:rPr lang="en-US" sz="1300" dirty="0">
                <a:solidFill>
                  <a:schemeClr val="tx1"/>
                </a:solidFill>
              </a:rPr>
              <a:t>Every plan labelled proven optimal or best found; estimates marked</a:t>
            </a:r>
            <a:endParaRPr lang="en-US" sz="1300" dirty="0"/>
          </a:p>
        </p:txBody>
      </p:sp>
      <p:sp>
        <p:nvSpPr>
          <p:cNvPr id="11" name="Privacy"/>
          <p:cNvSpPr/>
          <p:nvPr/>
        </p:nvSpPr>
        <p:spPr>
          <a:xfrm>
            <a:off x="4288536" y="2240280"/>
            <a:ext cx="3611880" cy="1828800"/>
          </a:xfrm>
          <a:prstGeom prst="roundRect">
            <a:avLst>
              <a:gd name="adj" fmla="val 6000"/>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12" name="Icon FaLock"/>
          <p:cNvSpPr/>
          <p:nvPr/>
        </p:nvSpPr>
        <p:spPr>
          <a:xfrm>
            <a:off x="4517136" y="2496312"/>
            <a:ext cx="731520" cy="731520"/>
          </a:xfrm>
          <a:prstGeom prst="ellipse">
            <a:avLst/>
          </a:prstGeom>
          <a:solidFill>
            <a:srgbClr val="EAF6EE"/>
          </a:solidFill>
          <a:ln w="12700">
            <a:solidFill>
              <a:srgbClr val="EAF6EE"/>
            </a:solidFill>
            <a:prstDash val="solid"/>
          </a:ln>
        </p:spPr>
      </p:sp>
      <p:pic>
        <p:nvPicPr>
          <p:cNvPr id="13" name="Image 2" descr="FaLock"/>
          <p:cNvPicPr>
            <a:picLocks noChangeAspect="1"/>
          </p:cNvPicPr>
          <p:nvPr/>
        </p:nvPicPr>
        <p:blipFill>
          <a:blip r:embed="rId5"/>
          <a:stretch>
            <a:fillRect/>
          </a:stretch>
        </p:blipFill>
        <p:spPr>
          <a:xfrm>
            <a:off x="4700016" y="2679192"/>
            <a:ext cx="365760" cy="365760"/>
          </a:xfrm>
          <a:prstGeom prst="rect">
            <a:avLst/>
          </a:prstGeom>
        </p:spPr>
      </p:pic>
      <p:sp>
        <p:nvSpPr>
          <p:cNvPr id="14" name="Text 9"/>
          <p:cNvSpPr txBox="1"/>
          <p:nvPr/>
        </p:nvSpPr>
        <p:spPr>
          <a:xfrm>
            <a:off x="5431536" y="2496312"/>
            <a:ext cx="2331720" cy="329184"/>
          </a:xfrm>
          <a:prstGeom prst="rect">
            <a:avLst/>
          </a:prstGeom>
          <a:noFill/>
          <a:ln/>
        </p:spPr>
        <p:txBody>
          <a:bodyPr wrap="square" lIns="0" tIns="0" rIns="0" bIns="0" rtlCol="0" anchor="t"/>
          <a:lstStyle/>
          <a:p>
            <a:pPr marL="0" indent="0">
              <a:buNone/>
            </a:pPr>
            <a:r>
              <a:rPr lang="en-US" sz="1700" b="1" dirty="0">
                <a:solidFill>
                  <a:srgbClr val="2E9E4F"/>
                </a:solidFill>
              </a:rPr>
              <a:t>Privacy</a:t>
            </a:r>
            <a:endParaRPr lang="en-US" sz="1700" dirty="0"/>
          </a:p>
        </p:txBody>
      </p:sp>
      <p:sp>
        <p:nvSpPr>
          <p:cNvPr id="15" name="Text 10"/>
          <p:cNvSpPr txBox="1"/>
          <p:nvPr/>
        </p:nvSpPr>
        <p:spPr>
          <a:xfrm>
            <a:off x="5431536" y="2898648"/>
            <a:ext cx="2331720" cy="1051560"/>
          </a:xfrm>
          <a:prstGeom prst="rect">
            <a:avLst/>
          </a:prstGeom>
          <a:noFill/>
          <a:ln/>
        </p:spPr>
        <p:txBody>
          <a:bodyPr wrap="square" lIns="0" tIns="0" rIns="0" bIns="0" rtlCol="0" anchor="t"/>
          <a:lstStyle/>
          <a:p>
            <a:pPr marL="0" indent="0">
              <a:buNone/>
            </a:pPr>
            <a:r>
              <a:rPr lang="en-US" sz="1300" dirty="0">
                <a:solidFill>
                  <a:schemeClr val="tx1"/>
                </a:solidFill>
              </a:rPr>
              <a:t>School-level head counts only, no pupil names; address search sends only the typed text</a:t>
            </a:r>
            <a:endParaRPr lang="en-US" sz="1300" dirty="0"/>
          </a:p>
        </p:txBody>
      </p:sp>
      <p:sp>
        <p:nvSpPr>
          <p:cNvPr id="16" name="Security"/>
          <p:cNvSpPr/>
          <p:nvPr/>
        </p:nvSpPr>
        <p:spPr>
          <a:xfrm>
            <a:off x="8074152" y="2240280"/>
            <a:ext cx="3611880" cy="1828800"/>
          </a:xfrm>
          <a:prstGeom prst="roundRect">
            <a:avLst>
              <a:gd name="adj" fmla="val 6000"/>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17" name="Icon FaShieldAlt"/>
          <p:cNvSpPr/>
          <p:nvPr/>
        </p:nvSpPr>
        <p:spPr>
          <a:xfrm>
            <a:off x="8302752" y="2496312"/>
            <a:ext cx="731520" cy="731520"/>
          </a:xfrm>
          <a:prstGeom prst="ellipse">
            <a:avLst/>
          </a:prstGeom>
          <a:solidFill>
            <a:srgbClr val="FDECEE"/>
          </a:solidFill>
          <a:ln w="12700">
            <a:solidFill>
              <a:srgbClr val="FDECEE"/>
            </a:solidFill>
            <a:prstDash val="solid"/>
          </a:ln>
        </p:spPr>
      </p:sp>
      <p:pic>
        <p:nvPicPr>
          <p:cNvPr id="18" name="Image 3" descr="FaShieldAlt"/>
          <p:cNvPicPr>
            <a:picLocks noChangeAspect="1"/>
          </p:cNvPicPr>
          <p:nvPr/>
        </p:nvPicPr>
        <p:blipFill>
          <a:blip r:embed="rId6"/>
          <a:stretch>
            <a:fillRect/>
          </a:stretch>
        </p:blipFill>
        <p:spPr>
          <a:xfrm>
            <a:off x="8485632" y="2679192"/>
            <a:ext cx="365760" cy="365760"/>
          </a:xfrm>
          <a:prstGeom prst="rect">
            <a:avLst/>
          </a:prstGeom>
        </p:spPr>
      </p:pic>
      <p:sp>
        <p:nvSpPr>
          <p:cNvPr id="19" name="Text 13"/>
          <p:cNvSpPr txBox="1"/>
          <p:nvPr/>
        </p:nvSpPr>
        <p:spPr>
          <a:xfrm>
            <a:off x="9217152" y="2496312"/>
            <a:ext cx="2331720" cy="329184"/>
          </a:xfrm>
          <a:prstGeom prst="rect">
            <a:avLst/>
          </a:prstGeom>
          <a:noFill/>
          <a:ln/>
        </p:spPr>
        <p:txBody>
          <a:bodyPr wrap="square" lIns="0" tIns="0" rIns="0" bIns="0" rtlCol="0" anchor="t"/>
          <a:lstStyle/>
          <a:p>
            <a:pPr marL="0" indent="0">
              <a:buNone/>
            </a:pPr>
            <a:r>
              <a:rPr lang="en-US" sz="1700" b="1" dirty="0">
                <a:solidFill>
                  <a:srgbClr val="D7192F"/>
                </a:solidFill>
              </a:rPr>
              <a:t>Security</a:t>
            </a:r>
            <a:endParaRPr lang="en-US" sz="1700" dirty="0"/>
          </a:p>
        </p:txBody>
      </p:sp>
      <p:sp>
        <p:nvSpPr>
          <p:cNvPr id="20" name="Text 14"/>
          <p:cNvSpPr txBox="1"/>
          <p:nvPr/>
        </p:nvSpPr>
        <p:spPr>
          <a:xfrm>
            <a:off x="9217152" y="2898648"/>
            <a:ext cx="2331720" cy="1051560"/>
          </a:xfrm>
          <a:prstGeom prst="rect">
            <a:avLst/>
          </a:prstGeom>
          <a:noFill/>
          <a:ln/>
        </p:spPr>
        <p:txBody>
          <a:bodyPr wrap="square" lIns="0" tIns="0" rIns="0" bIns="0" rtlCol="0" anchor="t"/>
          <a:lstStyle/>
          <a:p>
            <a:pPr marL="0" indent="0">
              <a:buNone/>
            </a:pPr>
            <a:r>
              <a:rPr lang="en-US" sz="1300" dirty="0">
                <a:solidFill>
                  <a:schemeClr val="tx1"/>
                </a:solidFill>
              </a:rPr>
              <a:t>API keys never shown or logged; the LLM has no tools</a:t>
            </a:r>
            <a:endParaRPr lang="en-US" sz="1300" dirty="0"/>
          </a:p>
        </p:txBody>
      </p:sp>
      <p:sp>
        <p:nvSpPr>
          <p:cNvPr id="21" name="Accountability"/>
          <p:cNvSpPr/>
          <p:nvPr/>
        </p:nvSpPr>
        <p:spPr>
          <a:xfrm>
            <a:off x="502920" y="4251960"/>
            <a:ext cx="3611880" cy="1828800"/>
          </a:xfrm>
          <a:prstGeom prst="roundRect">
            <a:avLst>
              <a:gd name="adj" fmla="val 6000"/>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22" name="Icon FaUserCheck"/>
          <p:cNvSpPr/>
          <p:nvPr/>
        </p:nvSpPr>
        <p:spPr>
          <a:xfrm>
            <a:off x="731520" y="4507992"/>
            <a:ext cx="731520" cy="731520"/>
          </a:xfrm>
          <a:prstGeom prst="ellipse">
            <a:avLst/>
          </a:prstGeom>
          <a:solidFill>
            <a:srgbClr val="FEF4E6"/>
          </a:solidFill>
          <a:ln w="12700">
            <a:solidFill>
              <a:srgbClr val="FEF4E6"/>
            </a:solidFill>
            <a:prstDash val="solid"/>
          </a:ln>
        </p:spPr>
      </p:sp>
      <p:pic>
        <p:nvPicPr>
          <p:cNvPr id="23" name="Image 4" descr="FaUserCheck"/>
          <p:cNvPicPr>
            <a:picLocks noChangeAspect="1"/>
          </p:cNvPicPr>
          <p:nvPr/>
        </p:nvPicPr>
        <p:blipFill>
          <a:blip r:embed="rId7"/>
          <a:stretch>
            <a:fillRect/>
          </a:stretch>
        </p:blipFill>
        <p:spPr>
          <a:xfrm>
            <a:off x="914400" y="4690872"/>
            <a:ext cx="365760" cy="365760"/>
          </a:xfrm>
          <a:prstGeom prst="rect">
            <a:avLst/>
          </a:prstGeom>
        </p:spPr>
      </p:pic>
      <p:sp>
        <p:nvSpPr>
          <p:cNvPr id="24" name="Text 17"/>
          <p:cNvSpPr txBox="1"/>
          <p:nvPr/>
        </p:nvSpPr>
        <p:spPr>
          <a:xfrm>
            <a:off x="1645920" y="4507992"/>
            <a:ext cx="2331720" cy="329184"/>
          </a:xfrm>
          <a:prstGeom prst="rect">
            <a:avLst/>
          </a:prstGeom>
          <a:noFill/>
          <a:ln/>
        </p:spPr>
        <p:txBody>
          <a:bodyPr wrap="square" lIns="0" tIns="0" rIns="0" bIns="0" rtlCol="0" anchor="t"/>
          <a:lstStyle/>
          <a:p>
            <a:pPr marL="0" indent="0">
              <a:buNone/>
            </a:pPr>
            <a:r>
              <a:rPr lang="en-US" sz="1700" b="1" dirty="0">
                <a:solidFill>
                  <a:srgbClr val="F29A1F"/>
                </a:solidFill>
              </a:rPr>
              <a:t>Accountability</a:t>
            </a:r>
            <a:endParaRPr lang="en-US" sz="1700" dirty="0"/>
          </a:p>
        </p:txBody>
      </p:sp>
      <p:sp>
        <p:nvSpPr>
          <p:cNvPr id="25" name="Text 18"/>
          <p:cNvSpPr txBox="1"/>
          <p:nvPr/>
        </p:nvSpPr>
        <p:spPr>
          <a:xfrm>
            <a:off x="1645920" y="4910328"/>
            <a:ext cx="2331720" cy="1051560"/>
          </a:xfrm>
          <a:prstGeom prst="rect">
            <a:avLst/>
          </a:prstGeom>
          <a:noFill/>
          <a:ln/>
        </p:spPr>
        <p:txBody>
          <a:bodyPr wrap="square" lIns="0" tIns="0" rIns="0" bIns="0" rtlCol="0" anchor="t"/>
          <a:lstStyle/>
          <a:p>
            <a:pPr marL="0" indent="0">
              <a:buNone/>
            </a:pPr>
            <a:r>
              <a:rPr lang="en-US" sz="1300" dirty="0">
                <a:solidFill>
                  <a:schemeClr val="tx1"/>
                </a:solidFill>
              </a:rPr>
              <a:t>Organiser approves every AI change; audit report of every run</a:t>
            </a:r>
            <a:endParaRPr lang="en-US" sz="1300" dirty="0"/>
          </a:p>
        </p:txBody>
      </p:sp>
      <p:sp>
        <p:nvSpPr>
          <p:cNvPr id="26" name="Safety and fairness"/>
          <p:cNvSpPr/>
          <p:nvPr/>
        </p:nvSpPr>
        <p:spPr>
          <a:xfrm>
            <a:off x="4288536" y="4251960"/>
            <a:ext cx="3611880" cy="1828800"/>
          </a:xfrm>
          <a:prstGeom prst="roundRect">
            <a:avLst>
              <a:gd name="adj" fmla="val 6000"/>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27" name="Icon FaBalanceScale"/>
          <p:cNvSpPr/>
          <p:nvPr/>
        </p:nvSpPr>
        <p:spPr>
          <a:xfrm>
            <a:off x="4517136" y="4507992"/>
            <a:ext cx="731520" cy="731520"/>
          </a:xfrm>
          <a:prstGeom prst="ellipse">
            <a:avLst/>
          </a:prstGeom>
          <a:solidFill>
            <a:srgbClr val="F2EDFB"/>
          </a:solidFill>
          <a:ln w="12700">
            <a:solidFill>
              <a:srgbClr val="F2EDFB"/>
            </a:solidFill>
            <a:prstDash val="solid"/>
          </a:ln>
        </p:spPr>
      </p:sp>
      <p:pic>
        <p:nvPicPr>
          <p:cNvPr id="28" name="Image 5" descr="FaBalanceScale"/>
          <p:cNvPicPr>
            <a:picLocks noChangeAspect="1"/>
          </p:cNvPicPr>
          <p:nvPr/>
        </p:nvPicPr>
        <p:blipFill>
          <a:blip r:embed="rId8"/>
          <a:stretch>
            <a:fillRect/>
          </a:stretch>
        </p:blipFill>
        <p:spPr>
          <a:xfrm>
            <a:off x="4700016" y="4690872"/>
            <a:ext cx="365760" cy="365760"/>
          </a:xfrm>
          <a:prstGeom prst="rect">
            <a:avLst/>
          </a:prstGeom>
        </p:spPr>
      </p:pic>
      <p:sp>
        <p:nvSpPr>
          <p:cNvPr id="29" name="Text 21"/>
          <p:cNvSpPr txBox="1"/>
          <p:nvPr/>
        </p:nvSpPr>
        <p:spPr>
          <a:xfrm>
            <a:off x="5431536" y="4507992"/>
            <a:ext cx="2331720" cy="329184"/>
          </a:xfrm>
          <a:prstGeom prst="rect">
            <a:avLst/>
          </a:prstGeom>
          <a:noFill/>
          <a:ln/>
        </p:spPr>
        <p:txBody>
          <a:bodyPr wrap="square" lIns="0" tIns="0" rIns="0" bIns="0" rtlCol="0" anchor="t"/>
          <a:lstStyle/>
          <a:p>
            <a:pPr marL="0" indent="0">
              <a:buNone/>
            </a:pPr>
            <a:r>
              <a:rPr lang="en-US" sz="1700" b="1" dirty="0">
                <a:solidFill>
                  <a:srgbClr val="6B3FB5"/>
                </a:solidFill>
              </a:rPr>
              <a:t>Safety and fairness</a:t>
            </a:r>
            <a:endParaRPr lang="en-US" sz="1700" dirty="0"/>
          </a:p>
        </p:txBody>
      </p:sp>
      <p:sp>
        <p:nvSpPr>
          <p:cNvPr id="30" name="Text 22"/>
          <p:cNvSpPr txBox="1"/>
          <p:nvPr/>
        </p:nvSpPr>
        <p:spPr>
          <a:xfrm>
            <a:off x="5431536" y="4910328"/>
            <a:ext cx="2331720" cy="1051560"/>
          </a:xfrm>
          <a:prstGeom prst="rect">
            <a:avLst/>
          </a:prstGeom>
          <a:noFill/>
          <a:ln/>
        </p:spPr>
        <p:txBody>
          <a:bodyPr wrap="square" lIns="0" tIns="0" rIns="0" bIns="0" rtlCol="0" anchor="t"/>
          <a:lstStyle/>
          <a:p>
            <a:pPr marL="0" indent="0">
              <a:buNone/>
            </a:pPr>
            <a:r>
              <a:rPr lang="en-US" sz="1300" dirty="0">
                <a:solidFill>
                  <a:schemeClr val="tx1"/>
                </a:solidFill>
              </a:rPr>
              <a:t>Rules re-checked by independent code; cost shared per attendee</a:t>
            </a:r>
            <a:endParaRPr lang="en-US" sz="1300" dirty="0"/>
          </a:p>
        </p:txBody>
      </p:sp>
      <p:sp>
        <p:nvSpPr>
          <p:cNvPr id="31" name="Honest limits"/>
          <p:cNvSpPr/>
          <p:nvPr/>
        </p:nvSpPr>
        <p:spPr>
          <a:xfrm>
            <a:off x="8074152" y="4251960"/>
            <a:ext cx="3611880" cy="1828800"/>
          </a:xfrm>
          <a:prstGeom prst="roundRect">
            <a:avLst>
              <a:gd name="adj" fmla="val 6000"/>
            </a:avLst>
          </a:prstGeom>
          <a:solidFill>
            <a:srgbClr val="FFFFFF"/>
          </a:solidFill>
          <a:ln w="9525">
            <a:solidFill>
              <a:srgbClr val="E6E9EF"/>
            </a:solidFill>
            <a:prstDash val="solid"/>
          </a:ln>
          <a:effectLst>
            <a:outerShdw blurRad="76200" dist="19050" dir="5400000" algn="bl" rotWithShape="0">
              <a:srgbClr val="0B1F45">
                <a:alpha val="8000"/>
              </a:srgbClr>
            </a:outerShdw>
          </a:effectLst>
        </p:spPr>
      </p:sp>
      <p:sp>
        <p:nvSpPr>
          <p:cNvPr id="32" name="Icon FaExclamationTriangle"/>
          <p:cNvSpPr/>
          <p:nvPr/>
        </p:nvSpPr>
        <p:spPr>
          <a:xfrm>
            <a:off x="8302752" y="4507992"/>
            <a:ext cx="731520" cy="731520"/>
          </a:xfrm>
          <a:prstGeom prst="ellipse">
            <a:avLst/>
          </a:prstGeom>
          <a:solidFill>
            <a:srgbClr val="FDECEE"/>
          </a:solidFill>
          <a:ln w="12700">
            <a:solidFill>
              <a:srgbClr val="FDECEE"/>
            </a:solidFill>
            <a:prstDash val="solid"/>
          </a:ln>
        </p:spPr>
      </p:sp>
      <p:pic>
        <p:nvPicPr>
          <p:cNvPr id="33" name="Image 6" descr="FaExclamationTriangle"/>
          <p:cNvPicPr>
            <a:picLocks noChangeAspect="1"/>
          </p:cNvPicPr>
          <p:nvPr/>
        </p:nvPicPr>
        <p:blipFill>
          <a:blip r:embed="rId9"/>
          <a:stretch>
            <a:fillRect/>
          </a:stretch>
        </p:blipFill>
        <p:spPr>
          <a:xfrm>
            <a:off x="8485632" y="4690872"/>
            <a:ext cx="365760" cy="365760"/>
          </a:xfrm>
          <a:prstGeom prst="rect">
            <a:avLst/>
          </a:prstGeom>
        </p:spPr>
      </p:pic>
      <p:sp>
        <p:nvSpPr>
          <p:cNvPr id="34" name="Text 25"/>
          <p:cNvSpPr txBox="1"/>
          <p:nvPr/>
        </p:nvSpPr>
        <p:spPr>
          <a:xfrm>
            <a:off x="9217152" y="4507992"/>
            <a:ext cx="2331720" cy="329184"/>
          </a:xfrm>
          <a:prstGeom prst="rect">
            <a:avLst/>
          </a:prstGeom>
          <a:noFill/>
          <a:ln/>
        </p:spPr>
        <p:txBody>
          <a:bodyPr wrap="square" lIns="0" tIns="0" rIns="0" bIns="0" rtlCol="0" anchor="t"/>
          <a:lstStyle/>
          <a:p>
            <a:pPr marL="0" indent="0">
              <a:buNone/>
            </a:pPr>
            <a:r>
              <a:rPr lang="en-US" sz="1700" b="1" dirty="0">
                <a:solidFill>
                  <a:srgbClr val="D7192F"/>
                </a:solidFill>
              </a:rPr>
              <a:t>Honest limits</a:t>
            </a:r>
            <a:endParaRPr lang="en-US" sz="1700" dirty="0"/>
          </a:p>
        </p:txBody>
      </p:sp>
      <p:sp>
        <p:nvSpPr>
          <p:cNvPr id="35" name="Text 26"/>
          <p:cNvSpPr txBox="1"/>
          <p:nvPr/>
        </p:nvSpPr>
        <p:spPr>
          <a:xfrm>
            <a:off x="9217152" y="4910328"/>
            <a:ext cx="2331720" cy="1051560"/>
          </a:xfrm>
          <a:prstGeom prst="rect">
            <a:avLst/>
          </a:prstGeom>
          <a:noFill/>
          <a:ln/>
        </p:spPr>
        <p:txBody>
          <a:bodyPr wrap="square" lIns="0" tIns="0" rIns="0" bIns="0" rtlCol="0" anchor="t"/>
          <a:lstStyle/>
          <a:p>
            <a:pPr marL="0" indent="0">
              <a:buNone/>
            </a:pPr>
            <a:r>
              <a:rPr lang="en-US" sz="1300" dirty="0">
                <a:solidFill>
                  <a:schemeClr val="tx1"/>
                </a:solidFill>
              </a:rPr>
              <a:t>No live traffic or boarding time; not yet tested at a real event</a:t>
            </a:r>
            <a:endParaRPr lang="en-US" sz="1300" dirty="0"/>
          </a:p>
        </p:txBody>
      </p:sp>
      <p:sp>
        <p:nvSpPr>
          <p:cNvPr id="36" name="Slide Number Placeholder 0"/>
          <p:cNvSpPr>
            <a:spLocks noGrp="1"/>
          </p:cNvSpPr>
          <p:nvPr>
            <p:ph type="sldNum" sz="quarter" idx="4294967295"/>
          </p:nvPr>
        </p:nvSpPr>
        <p:spPr>
          <a:xfrm>
            <a:off x="11228832" y="6510528"/>
            <a:ext cx="457200" cy="219456"/>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childTnLst>
                          </p:cTn>
                        </p:par>
                        <p:par>
                          <p:cTn id="8" fill="hold">
                            <p:stCondLst>
                              <p:cond delay="350"/>
                            </p:stCondLst>
                            <p:childTnLst>
                              <p:par>
                                <p:cTn id="9" presetID="10" presetClass="entr" presetSubtype="0"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350"/>
                                        <p:tgtEl>
                                          <p:spTgt spid="6"/>
                                        </p:tgtEl>
                                      </p:cBhvr>
                                    </p:animEffect>
                                  </p:childTnLst>
                                </p:cTn>
                              </p:par>
                              <p:par>
                                <p:cTn id="12" presetID="10" presetClass="entr" presetSubtype="0" fill="hold"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350"/>
                                        <p:tgtEl>
                                          <p:spTgt spid="11"/>
                                        </p:tgtEl>
                                      </p:cBhvr>
                                    </p:animEffect>
                                  </p:childTnLst>
                                </p:cTn>
                              </p:par>
                              <p:par>
                                <p:cTn id="15" presetID="10"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50"/>
                                        <p:tgtEl>
                                          <p:spTgt spid="16"/>
                                        </p:tgtEl>
                                      </p:cBhvr>
                                    </p:animEffect>
                                  </p:childTnLst>
                                </p:cTn>
                              </p:par>
                              <p:par>
                                <p:cTn id="18" presetID="10"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5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350"/>
                                        <p:tgtEl>
                                          <p:spTgt spid="9"/>
                                        </p:tgtEl>
                                      </p:cBhvr>
                                    </p:animEffect>
                                  </p:childTnLst>
                                </p:cTn>
                              </p:par>
                              <p:par>
                                <p:cTn id="24" presetID="10" presetClass="entr" presetSubtype="0" fill="hold"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350"/>
                                        <p:tgtEl>
                                          <p:spTgt spid="1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nodeType="with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350"/>
                                        <p:tgtEl>
                                          <p:spTgt spid="1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350"/>
                                        <p:tgtEl>
                                          <p:spTgt spid="19"/>
                                        </p:tgtEl>
                                      </p:cBhvr>
                                    </p:animEffect>
                                  </p:childTnLst>
                                </p:cTn>
                              </p:par>
                              <p:par>
                                <p:cTn id="36" presetID="10" presetClass="entr" presetSubtype="0" fill="hold" nodeType="withEffect">
                                  <p:stCondLst>
                                    <p:cond delay="0"/>
                                  </p:stCondLst>
                                  <p:childTnLst>
                                    <p:set>
                                      <p:cBhvr>
                                        <p:cTn id="37" dur="1" fill="hold">
                                          <p:stCondLst>
                                            <p:cond delay="0"/>
                                          </p:stCondLst>
                                        </p:cTn>
                                        <p:tgtEl>
                                          <p:spTgt spid="8"/>
                                        </p:tgtEl>
                                        <p:attrNameLst>
                                          <p:attrName>style.visibility</p:attrName>
                                        </p:attrNameLst>
                                      </p:cBhvr>
                                      <p:to>
                                        <p:strVal val="visible"/>
                                      </p:to>
                                    </p:set>
                                    <p:animEffect transition="in" filter="fade">
                                      <p:cBhvr>
                                        <p:cTn id="38" dur="350"/>
                                        <p:tgtEl>
                                          <p:spTgt spid="8"/>
                                        </p:tgtEl>
                                      </p:cBhvr>
                                    </p:animEffect>
                                  </p:childTnLst>
                                </p:cTn>
                              </p:par>
                              <p:par>
                                <p:cTn id="39" presetID="10"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35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5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350"/>
                                        <p:tgtEl>
                                          <p:spTgt spid="1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35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350"/>
                                        <p:tgtEl>
                                          <p:spTgt spid="20"/>
                                        </p:tgtEl>
                                      </p:cBhvr>
                                    </p:animEffect>
                                  </p:childTnLst>
                                </p:cTn>
                              </p:par>
                            </p:childTnLst>
                          </p:cTn>
                        </p:par>
                        <p:par>
                          <p:cTn id="54" fill="hold">
                            <p:stCondLst>
                              <p:cond delay="700"/>
                            </p:stCondLst>
                            <p:childTnLst>
                              <p:par>
                                <p:cTn id="55" presetID="10" presetClass="entr" presetSubtype="0" fill="hold" nodeType="after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350"/>
                                        <p:tgtEl>
                                          <p:spTgt spid="21"/>
                                        </p:tgtEl>
                                      </p:cBhvr>
                                    </p:animEffect>
                                  </p:childTnLst>
                                </p:cTn>
                              </p:par>
                              <p:par>
                                <p:cTn id="58" presetID="10" presetClass="entr" presetSubtype="0" fill="hold"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350"/>
                                        <p:tgtEl>
                                          <p:spTgt spid="26"/>
                                        </p:tgtEl>
                                      </p:cBhvr>
                                    </p:animEffect>
                                  </p:childTnLst>
                                </p:cTn>
                              </p:par>
                              <p:par>
                                <p:cTn id="61" presetID="10" presetClass="entr" presetSubtype="0"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350"/>
                                        <p:tgtEl>
                                          <p:spTgt spid="31"/>
                                        </p:tgtEl>
                                      </p:cBhvr>
                                    </p:animEffect>
                                  </p:childTnLst>
                                </p:cTn>
                              </p:par>
                              <p:par>
                                <p:cTn id="64" presetID="10"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35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35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35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350"/>
                                        <p:tgtEl>
                                          <p:spTgt spid="3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350"/>
                                        <p:tgtEl>
                                          <p:spTgt spid="34"/>
                                        </p:tgtEl>
                                      </p:cBhvr>
                                    </p:animEffect>
                                  </p:childTnLst>
                                </p:cTn>
                              </p:par>
                              <p:par>
                                <p:cTn id="82" presetID="10" presetClass="entr" presetSubtype="0" fill="hold"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350"/>
                                        <p:tgtEl>
                                          <p:spTgt spid="23"/>
                                        </p:tgtEl>
                                      </p:cBhvr>
                                    </p:animEffect>
                                  </p:childTnLst>
                                </p:cTn>
                              </p:par>
                              <p:par>
                                <p:cTn id="85" presetID="10" presetClass="entr" presetSubtype="0" fill="hold"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350"/>
                                        <p:tgtEl>
                                          <p:spTgt spid="28"/>
                                        </p:tgtEl>
                                      </p:cBhvr>
                                    </p:animEffect>
                                  </p:childTnLst>
                                </p:cTn>
                              </p:par>
                              <p:par>
                                <p:cTn id="88" presetID="10" presetClass="entr" presetSubtype="0" fill="hold" nodeType="withEffect">
                                  <p:stCondLst>
                                    <p:cond delay="0"/>
                                  </p:stCondLst>
                                  <p:childTnLst>
                                    <p:set>
                                      <p:cBhvr>
                                        <p:cTn id="89" dur="1" fill="hold">
                                          <p:stCondLst>
                                            <p:cond delay="0"/>
                                          </p:stCondLst>
                                        </p:cTn>
                                        <p:tgtEl>
                                          <p:spTgt spid="33"/>
                                        </p:tgtEl>
                                        <p:attrNameLst>
                                          <p:attrName>style.visibility</p:attrName>
                                        </p:attrNameLst>
                                      </p:cBhvr>
                                      <p:to>
                                        <p:strVal val="visible"/>
                                      </p:to>
                                    </p:set>
                                    <p:animEffect transition="in" filter="fade">
                                      <p:cBhvr>
                                        <p:cTn id="90" dur="350"/>
                                        <p:tgtEl>
                                          <p:spTgt spid="3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350"/>
                                        <p:tgtEl>
                                          <p:spTgt spid="25"/>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35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4" grpId="0" animBg="1"/>
      <p:bldP spid="15" grpId="0" animBg="1"/>
      <p:bldP spid="19" grpId="0" animBg="1"/>
      <p:bldP spid="20" grpId="0" animBg="1"/>
      <p:bldP spid="24" grpId="0" animBg="1"/>
      <p:bldP spid="25" grpId="0" animBg="1"/>
      <p:bldP spid="29" grpId="0" animBg="1"/>
      <p:bldP spid="30" grpId="0" animBg="1"/>
      <p:bldP spid="34" grpId="0" animBg="1"/>
      <p:bldP spid="3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lIns="0" tIns="0" rIns="0" bIns="0" rtlCol="0" anchor="t"/>
          <a:lstStyle/>
          <a:p>
            <a:pPr marL="0" indent="0">
              <a:buNone/>
            </a:pPr>
            <a:r>
              <a:rPr lang="en-US" sz="1300" b="1" kern="0" spc="100" dirty="0">
                <a:solidFill>
                  <a:srgbClr val="B8C2D1"/>
                </a:solidFill>
              </a:rPr>
              <a:t>CONCLUSION</a:t>
            </a:r>
            <a:endParaRPr lang="en-US" sz="1300" dirty="0"/>
          </a:p>
        </p:txBody>
      </p:sp>
      <p:sp>
        <p:nvSpPr>
          <p:cNvPr id="3" name="Shape 1"/>
          <p:cNvSpPr/>
          <p:nvPr/>
        </p:nvSpPr>
        <p:spPr>
          <a:xfrm>
            <a:off x="548640" y="749808"/>
            <a:ext cx="502920" cy="64008"/>
          </a:xfrm>
          <a:prstGeom prst="rect">
            <a:avLst/>
          </a:prstGeom>
          <a:solidFill>
            <a:srgbClr val="D7192F"/>
          </a:solidFill>
          <a:ln w="12700">
            <a:solidFill>
              <a:srgbClr val="D7192F"/>
            </a:solidFill>
            <a:prstDash val="solid"/>
          </a:ln>
        </p:spPr>
      </p:sp>
      <p:sp>
        <p:nvSpPr>
          <p:cNvPr id="4" name="Text 2"/>
          <p:cNvSpPr txBox="1"/>
          <p:nvPr/>
        </p:nvSpPr>
        <p:spPr>
          <a:xfrm>
            <a:off x="548640" y="914400"/>
            <a:ext cx="6583680" cy="1234440"/>
          </a:xfrm>
          <a:prstGeom prst="rect">
            <a:avLst/>
          </a:prstGeom>
          <a:noFill/>
          <a:ln/>
        </p:spPr>
        <p:txBody>
          <a:bodyPr wrap="square" lIns="0" tIns="0" rIns="0" bIns="0" rtlCol="0" anchor="t"/>
          <a:lstStyle/>
          <a:p>
            <a:pPr marL="0" indent="0">
              <a:buNone/>
            </a:pPr>
            <a:r>
              <a:rPr lang="en-US" sz="3600" b="1" dirty="0">
                <a:solidFill>
                  <a:srgbClr val="FFFFFF"/>
                </a:solidFill>
              </a:rPr>
              <a:t>Fewer buses, lower cost,
</a:t>
            </a:r>
            <a:r>
              <a:rPr lang="en-US" sz="3600" b="1" dirty="0">
                <a:solidFill>
                  <a:srgbClr val="FF5A6A"/>
                </a:solidFill>
              </a:rPr>
              <a:t>plans people can trust</a:t>
            </a:r>
            <a:endParaRPr lang="en-US" sz="3600" dirty="0"/>
          </a:p>
        </p:txBody>
      </p:sp>
      <p:pic>
        <p:nvPicPr>
          <p:cNvPr id="5" name="Image 0" descr="Coaches outside Principality Stadium (illustration from the team's reference slides)"/>
          <p:cNvPicPr>
            <a:picLocks noChangeAspect="1"/>
          </p:cNvPicPr>
          <p:nvPr/>
        </p:nvPicPr>
        <p:blipFill>
          <a:blip r:embed="rId3"/>
          <a:stretch>
            <a:fillRect/>
          </a:stretch>
        </p:blipFill>
        <p:spPr>
          <a:xfrm>
            <a:off x="8455457" y="411480"/>
            <a:ext cx="3233318" cy="2377440"/>
          </a:xfrm>
          <a:prstGeom prst="rect">
            <a:avLst/>
          </a:prstGeom>
        </p:spPr>
      </p:pic>
      <p:sp>
        <p:nvSpPr>
          <p:cNvPr id="6" name="Problem"/>
          <p:cNvSpPr/>
          <p:nvPr/>
        </p:nvSpPr>
        <p:spPr>
          <a:xfrm>
            <a:off x="548640" y="3063240"/>
            <a:ext cx="2633472" cy="1691640"/>
          </a:xfrm>
          <a:prstGeom prst="roundRect">
            <a:avLst>
              <a:gd name="adj" fmla="val 6486"/>
            </a:avLst>
          </a:prstGeom>
          <a:solidFill>
            <a:srgbClr val="15305F"/>
          </a:solidFill>
          <a:ln w="9525">
            <a:solidFill>
              <a:srgbClr val="15305F"/>
            </a:solidFill>
            <a:prstDash val="solid"/>
          </a:ln>
        </p:spPr>
      </p:sp>
      <p:pic>
        <p:nvPicPr>
          <p:cNvPr id="7" name="Image 1" descr="Problem"/>
          <p:cNvPicPr>
            <a:picLocks noChangeAspect="1"/>
          </p:cNvPicPr>
          <p:nvPr/>
        </p:nvPicPr>
        <p:blipFill>
          <a:blip r:embed="rId4"/>
          <a:stretch>
            <a:fillRect/>
          </a:stretch>
        </p:blipFill>
        <p:spPr>
          <a:xfrm>
            <a:off x="731520" y="3218688"/>
            <a:ext cx="365760" cy="365760"/>
          </a:xfrm>
          <a:prstGeom prst="rect">
            <a:avLst/>
          </a:prstGeom>
        </p:spPr>
      </p:pic>
      <p:sp>
        <p:nvSpPr>
          <p:cNvPr id="8" name="Text 4"/>
          <p:cNvSpPr txBox="1"/>
          <p:nvPr/>
        </p:nvSpPr>
        <p:spPr>
          <a:xfrm>
            <a:off x="1207008" y="3200400"/>
            <a:ext cx="1828800" cy="402336"/>
          </a:xfrm>
          <a:prstGeom prst="rect">
            <a:avLst/>
          </a:prstGeom>
          <a:noFill/>
          <a:ln/>
        </p:spPr>
        <p:txBody>
          <a:bodyPr wrap="square" lIns="0" tIns="0" rIns="0" bIns="0" rtlCol="0" anchor="ctr"/>
          <a:lstStyle/>
          <a:p>
            <a:pPr marL="0" indent="0">
              <a:buNone/>
            </a:pPr>
            <a:r>
              <a:rPr lang="en-US" sz="1600" b="1" dirty="0">
                <a:solidFill>
                  <a:schemeClr val="bg1"/>
                </a:solidFill>
              </a:rPr>
              <a:t>Problem</a:t>
            </a:r>
            <a:endParaRPr lang="en-US" sz="1600" dirty="0"/>
          </a:p>
        </p:txBody>
      </p:sp>
      <p:sp>
        <p:nvSpPr>
          <p:cNvPr id="9" name="Text 5"/>
          <p:cNvSpPr txBox="1"/>
          <p:nvPr/>
        </p:nvSpPr>
        <p:spPr>
          <a:xfrm>
            <a:off x="731520" y="3749040"/>
            <a:ext cx="2286000" cy="914400"/>
          </a:xfrm>
          <a:prstGeom prst="rect">
            <a:avLst/>
          </a:prstGeom>
          <a:noFill/>
          <a:ln/>
        </p:spPr>
        <p:txBody>
          <a:bodyPr wrap="square" lIns="0" tIns="0" rIns="0" bIns="0" rtlCol="0" anchor="t"/>
          <a:lstStyle/>
          <a:p>
            <a:pPr marL="0" indent="0">
              <a:buNone/>
            </a:pPr>
            <a:r>
              <a:rPr lang="en-US" sz="1300" dirty="0">
                <a:solidFill>
                  <a:srgbClr val="DDE3EC"/>
                </a:solidFill>
              </a:rPr>
              <a:t>Schools booking alone waste seats and money</a:t>
            </a:r>
            <a:endParaRPr lang="en-US" sz="1300" dirty="0"/>
          </a:p>
        </p:txBody>
      </p:sp>
      <p:sp>
        <p:nvSpPr>
          <p:cNvPr id="10" name="Result"/>
          <p:cNvSpPr/>
          <p:nvPr/>
        </p:nvSpPr>
        <p:spPr>
          <a:xfrm>
            <a:off x="3346704" y="3063240"/>
            <a:ext cx="2633472" cy="1691640"/>
          </a:xfrm>
          <a:prstGeom prst="roundRect">
            <a:avLst>
              <a:gd name="adj" fmla="val 6486"/>
            </a:avLst>
          </a:prstGeom>
          <a:solidFill>
            <a:srgbClr val="15305F"/>
          </a:solidFill>
          <a:ln w="9525">
            <a:solidFill>
              <a:srgbClr val="15305F"/>
            </a:solidFill>
            <a:prstDash val="solid"/>
          </a:ln>
        </p:spPr>
      </p:sp>
      <p:pic>
        <p:nvPicPr>
          <p:cNvPr id="11" name="Image 2" descr="Result"/>
          <p:cNvPicPr>
            <a:picLocks noChangeAspect="1"/>
          </p:cNvPicPr>
          <p:nvPr/>
        </p:nvPicPr>
        <p:blipFill>
          <a:blip r:embed="rId5"/>
          <a:stretch>
            <a:fillRect/>
          </a:stretch>
        </p:blipFill>
        <p:spPr>
          <a:xfrm>
            <a:off x="3529584" y="3218688"/>
            <a:ext cx="365760" cy="365760"/>
          </a:xfrm>
          <a:prstGeom prst="rect">
            <a:avLst/>
          </a:prstGeom>
        </p:spPr>
      </p:pic>
      <p:sp>
        <p:nvSpPr>
          <p:cNvPr id="12" name="Text 7"/>
          <p:cNvSpPr txBox="1"/>
          <p:nvPr/>
        </p:nvSpPr>
        <p:spPr>
          <a:xfrm>
            <a:off x="4005072" y="3200400"/>
            <a:ext cx="1828800" cy="402336"/>
          </a:xfrm>
          <a:prstGeom prst="rect">
            <a:avLst/>
          </a:prstGeom>
          <a:noFill/>
          <a:ln/>
        </p:spPr>
        <p:txBody>
          <a:bodyPr wrap="square" lIns="0" tIns="0" rIns="0" bIns="0" rtlCol="0" anchor="ctr"/>
          <a:lstStyle/>
          <a:p>
            <a:pPr marL="0" indent="0">
              <a:buNone/>
            </a:pPr>
            <a:r>
              <a:rPr lang="en-US" sz="1600" b="1" dirty="0">
                <a:solidFill>
                  <a:schemeClr val="bg1"/>
                </a:solidFill>
              </a:rPr>
              <a:t>Result</a:t>
            </a:r>
            <a:endParaRPr lang="en-US" sz="1600" dirty="0"/>
          </a:p>
        </p:txBody>
      </p:sp>
      <p:sp>
        <p:nvSpPr>
          <p:cNvPr id="13" name="Text 8"/>
          <p:cNvSpPr txBox="1"/>
          <p:nvPr/>
        </p:nvSpPr>
        <p:spPr>
          <a:xfrm>
            <a:off x="3529584" y="3749040"/>
            <a:ext cx="2286000" cy="914400"/>
          </a:xfrm>
          <a:prstGeom prst="rect">
            <a:avLst/>
          </a:prstGeom>
          <a:noFill/>
          <a:ln/>
        </p:spPr>
        <p:txBody>
          <a:bodyPr wrap="square" lIns="0" tIns="0" rIns="0" bIns="0" rtlCol="0" anchor="t"/>
          <a:lstStyle/>
          <a:p>
            <a:pPr marL="0" indent="0">
              <a:buNone/>
            </a:pPr>
            <a:r>
              <a:rPr lang="en-US" sz="1300" dirty="0">
                <a:solidFill>
                  <a:srgbClr val="DDE3EC"/>
                </a:solidFill>
              </a:rPr>
              <a:t>43.7% cheaper, 60 → 25 buses, proven optimal</a:t>
            </a:r>
            <a:endParaRPr lang="en-US" sz="1300" dirty="0"/>
          </a:p>
        </p:txBody>
      </p:sp>
      <p:sp>
        <p:nvSpPr>
          <p:cNvPr id="14" name="Contribution"/>
          <p:cNvSpPr/>
          <p:nvPr/>
        </p:nvSpPr>
        <p:spPr>
          <a:xfrm>
            <a:off x="6144768" y="3063240"/>
            <a:ext cx="2633472" cy="1691640"/>
          </a:xfrm>
          <a:prstGeom prst="roundRect">
            <a:avLst>
              <a:gd name="adj" fmla="val 6486"/>
            </a:avLst>
          </a:prstGeom>
          <a:solidFill>
            <a:srgbClr val="15305F"/>
          </a:solidFill>
          <a:ln w="9525">
            <a:solidFill>
              <a:srgbClr val="15305F"/>
            </a:solidFill>
            <a:prstDash val="solid"/>
          </a:ln>
        </p:spPr>
      </p:sp>
      <p:pic>
        <p:nvPicPr>
          <p:cNvPr id="15" name="Image 3" descr="Contribution"/>
          <p:cNvPicPr>
            <a:picLocks noChangeAspect="1"/>
          </p:cNvPicPr>
          <p:nvPr/>
        </p:nvPicPr>
        <p:blipFill>
          <a:blip r:embed="rId6"/>
          <a:stretch>
            <a:fillRect/>
          </a:stretch>
        </p:blipFill>
        <p:spPr>
          <a:xfrm>
            <a:off x="6327648" y="3218688"/>
            <a:ext cx="365760" cy="365760"/>
          </a:xfrm>
          <a:prstGeom prst="rect">
            <a:avLst/>
          </a:prstGeom>
        </p:spPr>
      </p:pic>
      <p:sp>
        <p:nvSpPr>
          <p:cNvPr id="16" name="Text 10"/>
          <p:cNvSpPr txBox="1"/>
          <p:nvPr/>
        </p:nvSpPr>
        <p:spPr>
          <a:xfrm>
            <a:off x="6803136" y="3200400"/>
            <a:ext cx="1828800" cy="402336"/>
          </a:xfrm>
          <a:prstGeom prst="rect">
            <a:avLst/>
          </a:prstGeom>
          <a:noFill/>
          <a:ln/>
        </p:spPr>
        <p:txBody>
          <a:bodyPr wrap="square" lIns="0" tIns="0" rIns="0" bIns="0" rtlCol="0" anchor="ctr"/>
          <a:lstStyle/>
          <a:p>
            <a:pPr marL="0" indent="0">
              <a:buNone/>
            </a:pPr>
            <a:r>
              <a:rPr lang="en-US" sz="1600" b="1" dirty="0">
                <a:solidFill>
                  <a:schemeClr val="bg1"/>
                </a:solidFill>
              </a:rPr>
              <a:t>Contribution</a:t>
            </a:r>
            <a:endParaRPr lang="en-US" sz="1600" dirty="0"/>
          </a:p>
        </p:txBody>
      </p:sp>
      <p:sp>
        <p:nvSpPr>
          <p:cNvPr id="17" name="Text 11"/>
          <p:cNvSpPr txBox="1"/>
          <p:nvPr/>
        </p:nvSpPr>
        <p:spPr>
          <a:xfrm>
            <a:off x="6327648" y="3749040"/>
            <a:ext cx="2286000" cy="914400"/>
          </a:xfrm>
          <a:prstGeom prst="rect">
            <a:avLst/>
          </a:prstGeom>
          <a:noFill/>
          <a:ln/>
        </p:spPr>
        <p:txBody>
          <a:bodyPr wrap="square" lIns="0" tIns="0" rIns="0" bIns="0" rtlCol="0" anchor="t"/>
          <a:lstStyle/>
          <a:p>
            <a:pPr marL="0" indent="0">
              <a:buNone/>
            </a:pPr>
            <a:r>
              <a:rPr lang="en-US" sz="1300" dirty="0">
                <a:solidFill>
                  <a:srgbClr val="DDE3EC"/>
                </a:solidFill>
              </a:rPr>
              <a:t>Exact + routing optimisation, independent checks, any schools and venue</a:t>
            </a:r>
            <a:endParaRPr lang="en-US" sz="1300" dirty="0"/>
          </a:p>
        </p:txBody>
      </p:sp>
      <p:sp>
        <p:nvSpPr>
          <p:cNvPr id="18" name="Next step"/>
          <p:cNvSpPr/>
          <p:nvPr/>
        </p:nvSpPr>
        <p:spPr>
          <a:xfrm>
            <a:off x="8942832" y="3063240"/>
            <a:ext cx="2633472" cy="1691640"/>
          </a:xfrm>
          <a:prstGeom prst="roundRect">
            <a:avLst>
              <a:gd name="adj" fmla="val 6486"/>
            </a:avLst>
          </a:prstGeom>
          <a:solidFill>
            <a:srgbClr val="15305F"/>
          </a:solidFill>
          <a:ln w="9525">
            <a:solidFill>
              <a:srgbClr val="15305F"/>
            </a:solidFill>
            <a:prstDash val="solid"/>
          </a:ln>
        </p:spPr>
      </p:sp>
      <p:pic>
        <p:nvPicPr>
          <p:cNvPr id="19" name="Image 4" descr="Next step"/>
          <p:cNvPicPr>
            <a:picLocks noChangeAspect="1"/>
          </p:cNvPicPr>
          <p:nvPr/>
        </p:nvPicPr>
        <p:blipFill>
          <a:blip r:embed="rId7"/>
          <a:stretch>
            <a:fillRect/>
          </a:stretch>
        </p:blipFill>
        <p:spPr>
          <a:xfrm>
            <a:off x="9125712" y="3218688"/>
            <a:ext cx="365760" cy="365760"/>
          </a:xfrm>
          <a:prstGeom prst="rect">
            <a:avLst/>
          </a:prstGeom>
        </p:spPr>
      </p:pic>
      <p:sp>
        <p:nvSpPr>
          <p:cNvPr id="20" name="Text 13"/>
          <p:cNvSpPr txBox="1"/>
          <p:nvPr/>
        </p:nvSpPr>
        <p:spPr>
          <a:xfrm>
            <a:off x="9601200" y="3200400"/>
            <a:ext cx="1828800" cy="402336"/>
          </a:xfrm>
          <a:prstGeom prst="rect">
            <a:avLst/>
          </a:prstGeom>
          <a:noFill/>
          <a:ln/>
        </p:spPr>
        <p:txBody>
          <a:bodyPr wrap="square" lIns="0" tIns="0" rIns="0" bIns="0" rtlCol="0" anchor="ctr"/>
          <a:lstStyle/>
          <a:p>
            <a:pPr marL="0" indent="0">
              <a:buNone/>
            </a:pPr>
            <a:r>
              <a:rPr lang="en-US" sz="1600" b="1" dirty="0">
                <a:solidFill>
                  <a:schemeClr val="bg1"/>
                </a:solidFill>
              </a:rPr>
              <a:t>Next step</a:t>
            </a:r>
            <a:endParaRPr lang="en-US" sz="1600" dirty="0"/>
          </a:p>
        </p:txBody>
      </p:sp>
      <p:sp>
        <p:nvSpPr>
          <p:cNvPr id="21" name="Text 14"/>
          <p:cNvSpPr txBox="1"/>
          <p:nvPr/>
        </p:nvSpPr>
        <p:spPr>
          <a:xfrm>
            <a:off x="9125712" y="3749040"/>
            <a:ext cx="2286000" cy="914400"/>
          </a:xfrm>
          <a:prstGeom prst="rect">
            <a:avLst/>
          </a:prstGeom>
          <a:noFill/>
          <a:ln/>
        </p:spPr>
        <p:txBody>
          <a:bodyPr wrap="square" lIns="0" tIns="0" rIns="0" bIns="0" rtlCol="0" anchor="t"/>
          <a:lstStyle/>
          <a:p>
            <a:pPr marL="0" indent="0">
              <a:buNone/>
            </a:pPr>
            <a:r>
              <a:rPr lang="en-US" sz="1300" dirty="0">
                <a:solidFill>
                  <a:srgbClr val="DDE3EC"/>
                </a:solidFill>
              </a:rPr>
              <a:t>Pilot with a Welsh organiser; collect feedback</a:t>
            </a:r>
            <a:endParaRPr lang="en-US" sz="1300" dirty="0"/>
          </a:p>
        </p:txBody>
      </p:sp>
      <p:sp>
        <p:nvSpPr>
          <p:cNvPr id="22" name="Text 15"/>
          <p:cNvSpPr txBox="1"/>
          <p:nvPr/>
        </p:nvSpPr>
        <p:spPr>
          <a:xfrm>
            <a:off x="548640" y="5257800"/>
            <a:ext cx="11064240" cy="640080"/>
          </a:xfrm>
          <a:prstGeom prst="rect">
            <a:avLst/>
          </a:prstGeom>
          <a:noFill/>
          <a:ln/>
        </p:spPr>
        <p:txBody>
          <a:bodyPr wrap="square" lIns="0" tIns="0" rIns="0" bIns="0" rtlCol="0" anchor="t"/>
          <a:lstStyle/>
          <a:p>
            <a:pPr marL="0" indent="0">
              <a:buNone/>
            </a:pPr>
            <a:r>
              <a:rPr lang="en-US" sz="3200" b="1" dirty="0">
                <a:solidFill>
                  <a:srgbClr val="FF5A6A"/>
                </a:solidFill>
              </a:rPr>
              <a:t>Thank you. Questions?</a:t>
            </a:r>
            <a:endParaRPr lang="en-US" sz="32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5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35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50"/>
                                        <p:tgtEl>
                                          <p:spTgt spid="4"/>
                                        </p:tgtEl>
                                      </p:cBhvr>
                                    </p:animEffect>
                                  </p:childTnLst>
                                </p:cTn>
                              </p:par>
                            </p:childTnLst>
                          </p:cTn>
                        </p:par>
                        <p:par>
                          <p:cTn id="14" fill="hold">
                            <p:stCondLst>
                              <p:cond delay="350"/>
                            </p:stCondLst>
                            <p:childTnLst>
                              <p:par>
                                <p:cTn id="15" presetID="10" presetClass="entr" presetSubtype="0" fill="hold"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50"/>
                                        <p:tgtEl>
                                          <p:spTgt spid="6"/>
                                        </p:tgtEl>
                                      </p:cBhvr>
                                    </p:animEffect>
                                  </p:childTnLst>
                                </p:cTn>
                              </p:par>
                              <p:par>
                                <p:cTn id="18" presetID="10" presetClass="entr" presetSubtype="0" fill="hold"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50"/>
                                        <p:tgtEl>
                                          <p:spTgt spid="10"/>
                                        </p:tgtEl>
                                      </p:cBhvr>
                                    </p:animEffect>
                                  </p:childTnLst>
                                </p:cTn>
                              </p:par>
                              <p:par>
                                <p:cTn id="21" presetID="10"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350"/>
                                        <p:tgtEl>
                                          <p:spTgt spid="14"/>
                                        </p:tgtEl>
                                      </p:cBhvr>
                                    </p:animEffect>
                                  </p:childTnLst>
                                </p:cTn>
                              </p:par>
                              <p:par>
                                <p:cTn id="24" presetID="10" presetClass="entr" presetSubtype="0" fill="hold"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350"/>
                                        <p:tgtEl>
                                          <p:spTgt spid="1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5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3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5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350"/>
                                        <p:tgtEl>
                                          <p:spTgt spid="20"/>
                                        </p:tgtEl>
                                      </p:cBhvr>
                                    </p:animEffect>
                                  </p:childTnLst>
                                </p:cTn>
                              </p:par>
                              <p:par>
                                <p:cTn id="39" presetID="10"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350"/>
                                        <p:tgtEl>
                                          <p:spTgt spid="7"/>
                                        </p:tgtEl>
                                      </p:cBhvr>
                                    </p:animEffect>
                                  </p:childTnLst>
                                </p:cTn>
                              </p:par>
                              <p:par>
                                <p:cTn id="42" presetID="10" presetClass="entr" presetSubtype="0" fill="hold"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350"/>
                                        <p:tgtEl>
                                          <p:spTgt spid="11"/>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5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350"/>
                                        <p:tgtEl>
                                          <p:spTgt spid="19"/>
                                        </p:tgtEl>
                                      </p:cBhvr>
                                    </p:animEffect>
                                  </p:childTnLst>
                                </p:cTn>
                              </p:par>
                            </p:childTnLst>
                          </p:cTn>
                        </p:par>
                        <p:par>
                          <p:cTn id="51" fill="hold">
                            <p:stCondLst>
                              <p:cond delay="700"/>
                            </p:stCondLst>
                            <p:childTnLst>
                              <p:par>
                                <p:cTn id="52" presetID="10"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350"/>
                                        <p:tgtEl>
                                          <p:spTgt spid="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350"/>
                                        <p:tgtEl>
                                          <p:spTgt spid="1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350"/>
                                        <p:tgtEl>
                                          <p:spTgt spid="1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350"/>
                                        <p:tgtEl>
                                          <p:spTgt spid="21"/>
                                        </p:tgtEl>
                                      </p:cBhvr>
                                    </p:animEffect>
                                  </p:childTnLst>
                                </p:cTn>
                              </p:par>
                            </p:childTnLst>
                          </p:cTn>
                        </p:par>
                        <p:par>
                          <p:cTn id="64" fill="hold">
                            <p:stCondLst>
                              <p:cond delay="1050"/>
                            </p:stCondLst>
                            <p:childTnLst>
                              <p:par>
                                <p:cTn id="65" presetID="10" presetClass="entr" presetSubtype="0"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3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2" grpId="0" animBg="1"/>
      <p:bldP spid="13" grpId="0" animBg="1"/>
      <p:bldP spid="16" grpId="0" animBg="1"/>
      <p:bldP spid="17" grpId="0" animBg="1"/>
      <p:bldP spid="20" grpId="0" animBg="1"/>
      <p:bldP spid="21" grpId="0" animBg="1"/>
      <p:bldP spid="22" grpId="0" animBg="1"/>
    </p:bldLst>
  </p:timing>
</p:sld>
</file>

<file path=ppt/theme/theme1.xml><?xml version="1.0" encoding="utf-8"?>
<a:theme xmlns:a="http://schemas.openxmlformats.org/drawingml/2006/main" name="Campus Cruise">
  <a:themeElements>
    <a:clrScheme name="Campus Cruise">
      <a:dk1>
        <a:srgbClr val="0B1F45"/>
      </a:dk1>
      <a:lt1>
        <a:srgbClr val="FFFFFF"/>
      </a:lt1>
      <a:dk2>
        <a:srgbClr val="334155"/>
      </a:dk2>
      <a:lt2>
        <a:srgbClr val="F5F7FA"/>
      </a:lt2>
      <a:accent1>
        <a:srgbClr val="D7192F"/>
      </a:accent1>
      <a:accent2>
        <a:srgbClr val="1F5FBF"/>
      </a:accent2>
      <a:accent3>
        <a:srgbClr val="2E9E4F"/>
      </a:accent3>
      <a:accent4>
        <a:srgbClr val="F29A1F"/>
      </a:accent4>
      <a:accent5>
        <a:srgbClr val="6B3FB5"/>
      </a:accent5>
      <a:accent6>
        <a:srgbClr val="64748B"/>
      </a:accent6>
      <a:hlink>
        <a:srgbClr val="1F5FBF"/>
      </a:hlink>
      <a:folHlink>
        <a:srgbClr val="6B3FB5"/>
      </a:folHlink>
    </a:clrScheme>
    <a:fontScheme name="Campus Cruis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2350</Words>
  <Application>Microsoft Office PowerPoint</Application>
  <PresentationFormat>Widescreen</PresentationFormat>
  <Paragraphs>250</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Campus Cruise</vt:lpstr>
      <vt:lpstr>PowerPoint Presentation</vt:lpstr>
      <vt:lpstr>The Challenge of
School Transport Planning</vt:lpstr>
      <vt:lpstr>Campus Cruise</vt:lpstr>
      <vt:lpstr>Optimisation Models
and AI Approach</vt:lpstr>
      <vt:lpstr>Significant Improvements in
Transport Efficiency</vt:lpstr>
      <vt:lpstr>Campus Cruise in Action</vt:lpstr>
      <vt:lpstr>AI Assistant: You Approve</vt:lpstr>
      <vt:lpstr>Sector Impact: Who Benefits</vt:lpstr>
      <vt:lpstr>Responsible AI by Design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 Cruise - AI-Powered School Transport Optimisation</dc:title>
  <dc:subject>PptxGenJS Presentation</dc:subject>
  <dc:creator>Dhanush Kalapati, Samyaka Nadavala, Sathwika Orugonda</dc:creator>
  <cp:lastModifiedBy>DHANUSH KALAPATI</cp:lastModifiedBy>
  <cp:revision>1</cp:revision>
  <dcterms:created xsi:type="dcterms:W3CDTF">2026-10-28T01:22:21Z</dcterms:created>
  <dcterms:modified xsi:type="dcterms:W3CDTF">2026-10-28T02:15:21Z</dcterms:modified>
</cp:coreProperties>
</file>