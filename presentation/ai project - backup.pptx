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f4bb212-7445-a88b-7060-9cfa5e02dedb}">
          <p14:sldIdLst>
            <p14:sldId id="256"/>
          </p14:sldIdLst>
        </p14:section>
        <p14:section name="Problem and solution" id="{1cb15ee4-d25f-4b91-2014-d2c1d9982368}">
          <p14:sldIdLst>
            <p14:sldId id="257"/>
            <p14:sldId id="258"/>
          </p14:sldIdLst>
        </p14:section>
        <p14:section name="Approach and results" id="{03a11bb0-b398-1c0a-25a0-7d8173cfe6cf}">
          <p14:sldIdLst>
            <p14:sldId id="259"/>
            <p14:sldId id="260"/>
          </p14:sldIdLst>
        </p14:section>
        <p14:section name="Demo" id="{fb995d2c-bdae-9da4-eb2e-2448e72efd79}">
          <p14:sldIdLst>
            <p14:sldId id="261"/>
            <p14:sldId id="262"/>
          </p14:sldIdLst>
        </p14:section>
        <p14:section name="Impact and responsibility" id="{4091a99d-466e-fe3c-d97b-5517e27eaec7}">
          <p14:sldIdLst>
            <p14:sldId id="263"/>
            <p14:sldId id="264"/>
          </p14:sldIdLst>
        </p14:section>
        <p14:section name="Close" id="{b387e103-a86e-1868-36e8-8d999fe876c5}">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0B1F45"/>
                </a:solidFill>
                <a:latin typeface="+mn-lt"/>
              </a:defRPr>
            </a:pPr>
            <a:r>
              <a:rPr sz="1200" b="1" i="0" u="none" strike="noStrike">
                <a:solidFill>
                  <a:srgbClr val="0B1F45"/>
                </a:solidFill>
                <a:latin typeface="+mn-lt"/>
              </a:rPr>
              <a:t>Total cost (cost units)</a:t>
            </a:r>
          </a:p>
        </c:rich>
      </c:tx>
      <c:layout/>
      <c:overlay val="0"/>
    </c:title>
    <c:autoTitleDeleted val="0"/>
    <c:plotArea>
      <c:layout/>
      <c:barChart>
        <c:barDir val="col"/>
        <c:grouping val="clustered"/>
        <c:varyColors val="0"/>
        <c:ser>
          <c:idx val="0"/>
          <c:order val="0"/>
          <c:tx>
            <c:strRef>
              <c:f>Sheet1!$B$1</c:f>
              <c:strCache>
                <c:ptCount val="1"/>
                <c:pt idx="0">
                  <c:v>Total cost</c:v>
                </c:pt>
              </c:strCache>
            </c:strRef>
          </c:tx>
          <c:spPr>
            <a:solidFill>
              <a:srgbClr val="D7192F"/>
            </a:solidFill>
            <a:effectLst/>
          </c:spPr>
          <c:invertIfNegative val="0"/>
          <c:dLbls>
            <c:numFmt formatCode="#,##0" sourceLinked="0"/>
            <c:txPr>
              <a:bodyPr/>
              <a:lstStyle/>
              <a:p>
                <a:pPr>
                  <a:defRPr b="1" i="0" strike="noStrike" sz="1200" u="none">
                    <a:solidFill>
                      <a:srgbClr val="0B1F45"/>
                    </a:solidFill>
                    <a:latin typeface="+mn-lt"/>
                  </a:defRPr>
                </a:pPr>
              </a:p>
            </c:txPr>
            <c:showLegendKey val="0"/>
            <c:showVal val="1"/>
            <c:showCatName val="0"/>
            <c:showSerName val="0"/>
            <c:showPercent val="0"/>
            <c:showBubbleSize val="0"/>
            <c:showLeaderLines val="0"/>
          </c:dLbls>
          <c:dPt>
            <c:idx val="0"/>
            <c:invertIfNegative val="0"/>
            <c:bubble3D val="0"/>
            <c:spPr>
              <a:solidFill>
                <a:srgbClr val="D7192F"/>
              </a:solidFill>
              <a:effectLst/>
            </c:spPr>
          </c:dPt>
          <c:dPt>
            <c:idx val="1"/>
            <c:invertIfNegative val="0"/>
            <c:bubble3D val="0"/>
            <c:spPr>
              <a:solidFill>
                <a:srgbClr val="0B1F45"/>
              </a:solidFill>
              <a:effectLst/>
            </c:spPr>
          </c:dPt>
          <c:cat>
            <c:multiLvlStrRef>
              <c:f>Sheet1!$A$2:$A$3</c:f>
              <c:multiLvlStrCache>
                <c:ptCount val="2"/>
                <c:lvl>
                  <c:pt idx="0">
                    <c:v>Booked separately</c:v>
                  </c:pt>
                  <c:pt idx="1">
                    <c:v>Campus Cruise</c:v>
                  </c:pt>
                </c:lvl>
              </c:multiLvlStrCache>
            </c:multiLvlStrRef>
          </c:cat>
          <c:val>
            <c:numRef>
              <c:f>Sheet1!$B$2:$B$3</c:f>
              <c:numCache>
                <c:formatCode>General</c:formatCode>
                <c:ptCount val="2"/>
                <c:pt idx="0">
                  <c:v>3330</c:v>
                </c:pt>
                <c:pt idx="1">
                  <c:v>1875</c:v>
                </c:pt>
              </c:numCache>
            </c:numRef>
          </c:val>
        </c:ser>
        <c:dLbls>
          <c:numFmt formatCode="#,##0" sourceLinked="0"/>
          <c:txPr>
            <a:bodyPr/>
            <a:lstStyle/>
            <a:p>
              <a:pPr>
                <a:defRPr b="1" i="0" strike="noStrike" sz="1200" u="none">
                  <a:solidFill>
                    <a:srgbClr val="0B1F45"/>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42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0B1F45"/>
                </a:solidFill>
                <a:latin typeface="+mn-lt"/>
              </a:defRPr>
            </a:pPr>
            <a:r>
              <a:rPr sz="1200" b="1" i="0" u="none" strike="noStrike">
                <a:solidFill>
                  <a:srgbClr val="0B1F45"/>
                </a:solidFill>
                <a:latin typeface="+mn-lt"/>
              </a:rPr>
              <a:t>Number of buses</a:t>
            </a:r>
          </a:p>
        </c:rich>
      </c:tx>
      <c:layout/>
      <c:overlay val="0"/>
    </c:title>
    <c:autoTitleDeleted val="0"/>
    <c:plotArea>
      <c:layout/>
      <c:barChart>
        <c:barDir val="col"/>
        <c:grouping val="clustered"/>
        <c:varyColors val="0"/>
        <c:ser>
          <c:idx val="0"/>
          <c:order val="0"/>
          <c:tx>
            <c:strRef>
              <c:f>Sheet1!$B$1</c:f>
              <c:strCache>
                <c:ptCount val="1"/>
                <c:pt idx="0">
                  <c:v>Buses</c:v>
                </c:pt>
              </c:strCache>
            </c:strRef>
          </c:tx>
          <c:spPr>
            <a:solidFill>
              <a:srgbClr val="D7192F"/>
            </a:solidFill>
            <a:effectLst/>
          </c:spPr>
          <c:invertIfNegative val="0"/>
          <c:dLbls>
            <c:numFmt formatCode="0" sourceLinked="0"/>
            <c:txPr>
              <a:bodyPr/>
              <a:lstStyle/>
              <a:p>
                <a:pPr>
                  <a:defRPr b="1" i="0" strike="noStrike" sz="1200" u="none">
                    <a:solidFill>
                      <a:srgbClr val="0B1F45"/>
                    </a:solidFill>
                    <a:latin typeface="+mn-lt"/>
                  </a:defRPr>
                </a:pPr>
              </a:p>
            </c:txPr>
            <c:showLegendKey val="0"/>
            <c:showVal val="1"/>
            <c:showCatName val="0"/>
            <c:showSerName val="0"/>
            <c:showPercent val="0"/>
            <c:showBubbleSize val="0"/>
            <c:showLeaderLines val="0"/>
          </c:dLbls>
          <c:dPt>
            <c:idx val="0"/>
            <c:invertIfNegative val="0"/>
            <c:bubble3D val="0"/>
            <c:spPr>
              <a:solidFill>
                <a:srgbClr val="D7192F"/>
              </a:solidFill>
              <a:effectLst/>
            </c:spPr>
          </c:dPt>
          <c:dPt>
            <c:idx val="1"/>
            <c:invertIfNegative val="0"/>
            <c:bubble3D val="0"/>
            <c:spPr>
              <a:solidFill>
                <a:srgbClr val="0B1F45"/>
              </a:solidFill>
              <a:effectLst/>
            </c:spPr>
          </c:dPt>
          <c:cat>
            <c:multiLvlStrRef>
              <c:f>Sheet1!$A$2:$A$3</c:f>
              <c:multiLvlStrCache>
                <c:ptCount val="2"/>
                <c:lvl>
                  <c:pt idx="0">
                    <c:v>Booked separately</c:v>
                  </c:pt>
                  <c:pt idx="1">
                    <c:v>Campus Cruise</c:v>
                  </c:pt>
                </c:lvl>
              </c:multiLvlStrCache>
            </c:multiLvlStrRef>
          </c:cat>
          <c:val>
            <c:numRef>
              <c:f>Sheet1!$B$2:$B$3</c:f>
              <c:numCache>
                <c:formatCode>General</c:formatCode>
                <c:ptCount val="2"/>
                <c:pt idx="0">
                  <c:v>60</c:v>
                </c:pt>
                <c:pt idx="1">
                  <c:v>25</c:v>
                </c:pt>
              </c:numCache>
            </c:numRef>
          </c:val>
        </c:ser>
        <c:dLbls>
          <c:numFmt formatCode="0" sourceLinked="0"/>
          <c:txPr>
            <a:bodyPr/>
            <a:lstStyle/>
            <a:p>
              <a:pPr>
                <a:defRPr b="1" i="0" strike="noStrike" sz="1200" u="none">
                  <a:solidFill>
                    <a:srgbClr val="0B1F45"/>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max val="7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0:00-0:20 (20 s)
SAY:
We're Dhanush Kalapati, Samyaka Nadavala and Sathwika Orugonda from Cardiff University. This is Campus Cruise: it decides which schools should share a bus to an event, so getting pupils there costs less, and it proves every plan keeps the rules.
KEY MESSAGE: Campus Cruise plans shared school buses to an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0:20-0:55 (35 s)
SAY:
Sixty schools are sending 1,244 people to the same stadium. If every school books its own bus, that's 60 buses, and only 68.0% of the seats are filled. Sharing is obviously cheaper, but schools differ in size and location, buses come in three sizes, and there are far too many groupings to check by hand. And each school's group must stay together on one bus, because one adult supervises it.
KEY MESSAGE: Booking separately wastes seats and money; sharing is too complex to plan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0:55-1:25 (30 s)
SAY:
Campus Cruise works in five steps. Load the schools: the bundled data, or upload any school CSV, and search any venue by address. Pick how buses are priced. OR-Tools decides which schools share each bus and the pickup order. Then separate code re-checks every rule and recalculates every cost; a plan that fails is never shown. Finally the plan goes to a dashboard and map, and can be downloaded for booking.
KEY MESSAGE: Every plan is optimised, then independently checked, before anyone sees it, for any schools and any 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1:25-2:10 (45 s)
SAY:
The challenge prices buses three ways. With a fixed price per bus, location doesn't matter, so it's a packing problem: OR-Tools' CP-SAT solver finds the cheapest plan and proves nothing cheaper exists. When price depends on miles or driving time, pickup order matters, so we use vehicle-routing search. It finds very good plans, but we never call them optimal. The rules are hard in every model. This is optimisation, not a trained model, so it works for any schools and any venue without retraining. Generative AI is a separate assistant, and the machine-learning model is an experimental offline fallback.
KEY MESSAGE: Exact optimisation where it can be proven; honest 'best found' labels where it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2:10-2:45 (35 s)
SAY:
With a fixed price per bus, the plan costs 1,875 instead of 3,330: 43.7% less, with 25 buses instead of 60, and 99.5% of seats filled. That is provably the cheapest. Bus-miles drop 38.8%. The other two models save 28.6% and 17.7%; those are the best plans found in five minutes. These are cost units, not pounds.
KEY MESSAGE: 43.7% cheaper and 35 fewer buses, proven optimal for fixed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2:45-4:05 (80 s, live)
SAY:
[Switch to the app at http://localhost:8501]
1. (15 s) Sidebar: Fixed price per bus, Run optimiser. Point at 'Proven optimal', 25 buses, 1,875 vs 3,330.
2. (20 s) Routes tab: Find a school, CF15, turn on Road paths. 'Bus 04 picks up four schools and is completely full, 50 of 50. The line is the real road route from OSRM.' Read the note: estimates exclude live traffic and boarding time.
3. (25 s) Destination: type 'Wembley Stadium', Find and use. 'Any venue: the coordinates fill in, the map moves, and every cost and route now goes there.' Run again, show routes ending at Wembley. Then Reset to Principality Stadium.
4. (20 s) School data: 'Organisers can upload their own schools as a CSV; a bad row is rejected with its row number, never silently dropped.'
If the demo fails: stay on this slide and talk through the screenshots.
KEY MESSAGE: It's a working app for any schools and any venue, with honest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4:05-4:40 (35 s)
SAY:
Organisers can also just type: 'Minimise bus costs while keeping nearby schools together.' GPT-4.1 mini turns that into a proposal, but it can't change anything. Code checks it against the data and shows it: nothing has changed yet. Only when I approve does the optimiser run. And it's honest: 'nearby' isn't a hard rule, it's how the fixed model breaks ties, and it says so.
KEY MESSAGE: Generative AI makes the tool easy to use, but people and the optimiser stay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4:40-5:15 (35 s)
SAY:
Who gains? Organisers get a checked plan in seconds. Schools and pupils pay less to attend. Coach operators get a clear booking list, and venues have fewer coaches to park. On the challenge data that's 35 fewer buses, 99.5% of seats filled, and about 39% fewer bus-miles, straight-line, with no emissions claim. And because it takes any schools and any venue, it isn't tied to one stadium.
KEY MESSAGE: Measurable savings on the data, and a clear plan to prove them in the real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5:15-5:50 (35 s)
SAY:
Campus Cruise is decision support, not an autonomous system. Every plan says whether it's proven or just the best found. It uses school-level head counts only, no names, and the address search sends only the typed text. API keys are never shown, and the language model has no tools. The organiser approves every AI change, every run is in an audit report, and independent code re-checks every rule. And we are honest about limits: no live traffic or boarding time, and it has not yet run at a real event.
KEY MESSAGE: Responsible by design: people approve, code verifies.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5:50-6:10 (20 s)
SAY:
Campus Cruise finds which schools should share a bus: 43.7% cheaper on the challenge data, 25 buses instead of 60, proven optimal and independently checked, and it now works for any schools and any venue. Next, we'd like to pilot it with a Welsh event organiser.. Thank you, we're happy to take questions.
KEY MESSAGE: Campus Cruise: fewer buses, lower cost, and plans organisers can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C_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C_DARK">
    <p:bg>
      <p:bgPr>
        <a:solidFill>
          <a:srgbClr val="0B1F45"/>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C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02920" y="292608"/>
            <a:ext cx="7315200" cy="274320"/>
          </a:xfrm>
          <a:prstGeom prst="rect">
            <a:avLst/>
          </a:prstGeom>
          <a:noFill/>
          <a:ln/>
        </p:spPr>
        <p:txBody>
          <a:bodyPr wrap="square" rtlCol="0"/>
          <a:lstStyle>
            <a:lvl1pPr indent="0" marL="0">
              <a:buNone/>
              <a:defRPr lang="en-US" sz="1300" b="1" spc="100" kern="0" dirty="0">
                <a:solidFill>
                  <a:schemeClr val="accent6"/>
                </a:solidFill>
              </a:defRPr>
            </a:lvl1pPr>
          </a:lstStyle>
          <a:p>
            <a:pPr indent="0" marL="0">
              <a:buNone/>
            </a:pPr>
            <a:endParaRPr lang="en-US" sz="1300" dirty="0"/>
          </a:p>
        </p:txBody>
      </p:sp>
      <p:sp>
        <p:nvSpPr>
          <p:cNvPr id="3" name="Shape 0"/>
          <p:cNvSpPr/>
          <p:nvPr/>
        </p:nvSpPr>
        <p:spPr>
          <a:xfrm>
            <a:off x="502920" y="621792"/>
            <a:ext cx="502920" cy="64008"/>
          </a:xfrm>
          <a:prstGeom prst="rect">
            <a:avLst/>
          </a:prstGeom>
          <a:solidFill>
            <a:schemeClr val="accent1"/>
          </a:solidFill>
          <a:ln w="12700">
            <a:solidFill>
              <a:schemeClr val="accent1"/>
            </a:solidFill>
            <a:prstDash val="solid"/>
          </a:ln>
        </p:spPr>
      </p:sp>
      <p:sp>
        <p:nvSpPr>
          <p:cNvPr id="4" name="Text 1"/>
          <p:cNvSpPr/>
          <p:nvPr>
            <p:ph idx="102" type="title" hasCustomPrompt="1"/>
          </p:nvPr>
        </p:nvSpPr>
        <p:spPr>
          <a:xfrm>
            <a:off x="502920" y="777240"/>
            <a:ext cx="7589520" cy="10515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5" name="Text 1"/>
          <p:cNvSpPr/>
          <p:nvPr/>
        </p:nvSpPr>
        <p:spPr>
          <a:xfrm>
            <a:off x="502920" y="6510528"/>
            <a:ext cx="7315200" cy="219456"/>
          </a:xfrm>
          <a:prstGeom prst="rect">
            <a:avLst/>
          </a:prstGeom>
          <a:noFill/>
          <a:ln/>
        </p:spPr>
        <p:txBody>
          <a:bodyPr wrap="square" lIns="0" tIns="0" rIns="0" bIns="0" rtlCol="0" anchor="ctr"/>
          <a:lstStyle/>
          <a:p>
            <a:pPr indent="0" marL="0">
              <a:buNone/>
            </a:pPr>
            <a:r>
              <a:rPr lang="en-US" sz="900" dirty="0">
                <a:solidFill>
                  <a:schemeClr val="accent6"/>
                </a:solidFill>
              </a:rPr>
              <a:t>Campus Cruise · AI Pollination Student Competition 2026 · Cardiff University</a:t>
            </a:r>
            <a:endParaRPr lang="en-US" sz="900" dirty="0"/>
          </a:p>
        </p:txBody>
      </p:sp>
      <p:sp>
        <p:nvSpPr>
          <p:cNvPr id="25" name="Slide Number Placeholder 0"/>
          <p:cNvSpPr>
            <a:spLocks noGrp="1"/>
          </p:cNvSpPr>
          <p:nvPr>
            <p:ph type="sldNum" sz="quarter" idx="4294967295"/>
          </p:nvPr>
        </p:nvSpPr>
        <p:spPr>
          <a:xfrm>
            <a:off x="11228832" y="651052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28832" y="651052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slideLayout" Target="../slideLayouts/slideLayout4.xml"/><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slideLayout" Target="../slideLayouts/slideLayout4.xml"/><Relationship Id="rId2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6" Type="http://schemas.openxmlformats.org/officeDocument/2006/relationships/chart" Target="/ppt/charts/chart1.xml"/><Relationship Id="rId7" Type="http://schemas.openxmlformats.org/officeDocument/2006/relationships/chart" Target="/ppt/charts/chart2.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8" Type="http://schemas.openxmlformats.org/officeDocument/2006/relationships/slideLayout" Target="../slideLayouts/slideLayout4.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4.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4.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chool pupils boarding coaches outside Principality Stadium, Cardiff (illustration from the team's reference slides)">    </p:cNvPr>
          <p:cNvPicPr>
            <a:picLocks noChangeAspect="1"/>
          </p:cNvPicPr>
          <p:nvPr/>
        </p:nvPicPr>
        <p:blipFill>
          <a:blip r:embed="rId1"/>
          <a:stretch>
            <a:fillRect/>
          </a:stretch>
        </p:blipFill>
        <p:spPr>
          <a:xfrm>
            <a:off x="5882335" y="0"/>
            <a:ext cx="6309360" cy="5257800"/>
          </a:xfrm>
          <a:prstGeom prst="rect">
            <a:avLst/>
          </a:prstGeom>
        </p:spPr>
      </p:pic>
      <p:sp>
        <p:nvSpPr>
          <p:cNvPr id="3" name="Text 0"/>
          <p:cNvSpPr txBox="1"/>
          <p:nvPr/>
        </p:nvSpPr>
        <p:spPr>
          <a:xfrm>
            <a:off x="548640" y="1417320"/>
            <a:ext cx="5669280" cy="274320"/>
          </a:xfrm>
          <a:prstGeom prst="rect">
            <a:avLst/>
          </a:prstGeom>
          <a:noFill/>
          <a:ln/>
        </p:spPr>
        <p:txBody>
          <a:bodyPr wrap="square" lIns="0" tIns="0" rIns="0" bIns="0" rtlCol="0" anchor="t"/>
          <a:lstStyle/>
          <a:p>
            <a:pPr indent="0" marL="0">
              <a:buNone/>
            </a:pPr>
            <a:r>
              <a:rPr lang="en-US" sz="1300" b="1" spc="100" kern="0" dirty="0">
                <a:solidFill>
                  <a:schemeClr val="accent6"/>
                </a:solidFill>
              </a:rPr>
              <a:t>AI POLLINATION STUDENT COMPETITION 2026</a:t>
            </a:r>
            <a:endParaRPr lang="en-US" sz="1300" dirty="0"/>
          </a:p>
        </p:txBody>
      </p:sp>
      <p:sp>
        <p:nvSpPr>
          <p:cNvPr id="4" name="Shape 1"/>
          <p:cNvSpPr/>
          <p:nvPr/>
        </p:nvSpPr>
        <p:spPr>
          <a:xfrm>
            <a:off x="548640" y="1755648"/>
            <a:ext cx="502920" cy="64008"/>
          </a:xfrm>
          <a:prstGeom prst="rect">
            <a:avLst/>
          </a:prstGeom>
          <a:solidFill>
            <a:srgbClr val="D7192F"/>
          </a:solidFill>
          <a:ln w="12700">
            <a:solidFill>
              <a:srgbClr val="D7192F"/>
            </a:solidFill>
            <a:prstDash val="solid"/>
          </a:ln>
        </p:spPr>
      </p:sp>
      <p:sp>
        <p:nvSpPr>
          <p:cNvPr id="5" name="Text 2"/>
          <p:cNvSpPr txBox="1"/>
          <p:nvPr/>
        </p:nvSpPr>
        <p:spPr>
          <a:xfrm>
            <a:off x="548640" y="1965960"/>
            <a:ext cx="5669280" cy="914400"/>
          </a:xfrm>
          <a:prstGeom prst="rect">
            <a:avLst/>
          </a:prstGeom>
          <a:noFill/>
          <a:ln/>
        </p:spPr>
        <p:txBody>
          <a:bodyPr wrap="square" lIns="0" tIns="0" rIns="0" bIns="0" rtlCol="0" anchor="t"/>
          <a:lstStyle/>
          <a:p>
            <a:pPr indent="0" marL="0">
              <a:buNone/>
            </a:pPr>
            <a:r>
              <a:rPr lang="en-US" sz="5200" b="1" dirty="0">
                <a:solidFill>
                  <a:srgbClr val="0B1F45"/>
                </a:solidFill>
              </a:rPr>
              <a:t>Campus </a:t>
            </a:r>
            <a:pPr indent="0" marL="0">
              <a:buNone/>
            </a:pPr>
            <a:r>
              <a:rPr lang="en-US" sz="5200" b="1" dirty="0">
                <a:solidFill>
                  <a:srgbClr val="D7192F"/>
                </a:solidFill>
              </a:rPr>
              <a:t>Cruise</a:t>
            </a:r>
            <a:endParaRPr lang="en-US" sz="5200" dirty="0"/>
          </a:p>
        </p:txBody>
      </p:sp>
      <p:sp>
        <p:nvSpPr>
          <p:cNvPr id="6" name="Text 3"/>
          <p:cNvSpPr txBox="1"/>
          <p:nvPr/>
        </p:nvSpPr>
        <p:spPr>
          <a:xfrm>
            <a:off x="548640" y="3017520"/>
            <a:ext cx="5486400" cy="777240"/>
          </a:xfrm>
          <a:prstGeom prst="rect">
            <a:avLst/>
          </a:prstGeom>
          <a:noFill/>
          <a:ln/>
        </p:spPr>
        <p:txBody>
          <a:bodyPr wrap="square" lIns="0" tIns="0" rIns="0" bIns="0" rtlCol="0" anchor="t"/>
          <a:lstStyle/>
          <a:p>
            <a:pPr indent="0" marL="0">
              <a:buNone/>
            </a:pPr>
            <a:r>
              <a:rPr lang="en-US" sz="2100" b="1" dirty="0">
                <a:solidFill>
                  <a:schemeClr val="tx1"/>
                </a:solidFill>
              </a:rPr>
              <a:t>AI-powered school transport optimisation for events in Wales</a:t>
            </a:r>
            <a:endParaRPr lang="en-US" sz="2100" dirty="0"/>
          </a:p>
        </p:txBody>
      </p:sp>
      <p:sp>
        <p:nvSpPr>
          <p:cNvPr id="7" name="Team"/>
          <p:cNvSpPr/>
          <p:nvPr/>
        </p:nvSpPr>
        <p:spPr>
          <a:xfrm>
            <a:off x="548640" y="5440680"/>
            <a:ext cx="11091672" cy="960120"/>
          </a:xfrm>
          <a:prstGeom prst="roundRect">
            <a:avLst>
              <a:gd name="adj" fmla="val 11429"/>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8" name="Icon FaUsers"/>
          <p:cNvSpPr/>
          <p:nvPr/>
        </p:nvSpPr>
        <p:spPr>
          <a:xfrm>
            <a:off x="749808" y="5596128"/>
            <a:ext cx="658368" cy="658368"/>
          </a:xfrm>
          <a:prstGeom prst="ellipse">
            <a:avLst/>
          </a:prstGeom>
          <a:solidFill>
            <a:srgbClr val="EAF1FB"/>
          </a:solidFill>
          <a:ln w="12700">
            <a:solidFill>
              <a:srgbClr val="EAF1FB"/>
            </a:solidFill>
            <a:prstDash val="solid"/>
          </a:ln>
        </p:spPr>
      </p:sp>
      <p:pic>
        <p:nvPicPr>
          <p:cNvPr id="9" name="Image 1" descr="FaUsers">    </p:cNvPr>
          <p:cNvPicPr>
            <a:picLocks noChangeAspect="1"/>
          </p:cNvPicPr>
          <p:nvPr/>
        </p:nvPicPr>
        <p:blipFill>
          <a:blip r:embed="rId2"/>
          <a:stretch>
            <a:fillRect/>
          </a:stretch>
        </p:blipFill>
        <p:spPr>
          <a:xfrm>
            <a:off x="914400" y="5760720"/>
            <a:ext cx="329184" cy="329184"/>
          </a:xfrm>
          <a:prstGeom prst="rect">
            <a:avLst/>
          </a:prstGeom>
        </p:spPr>
      </p:pic>
      <p:sp>
        <p:nvSpPr>
          <p:cNvPr id="10" name="Text 6"/>
          <p:cNvSpPr txBox="1"/>
          <p:nvPr/>
        </p:nvSpPr>
        <p:spPr>
          <a:xfrm>
            <a:off x="1600200" y="5596128"/>
            <a:ext cx="9875520" cy="347472"/>
          </a:xfrm>
          <a:prstGeom prst="rect">
            <a:avLst/>
          </a:prstGeom>
          <a:noFill/>
          <a:ln/>
        </p:spPr>
        <p:txBody>
          <a:bodyPr wrap="square" lIns="0" tIns="0" rIns="0" bIns="0" rtlCol="0" anchor="t"/>
          <a:lstStyle/>
          <a:p>
            <a:pPr indent="0" marL="0">
              <a:buNone/>
            </a:pPr>
            <a:r>
              <a:rPr lang="en-US" sz="1800" b="1" dirty="0">
                <a:solidFill>
                  <a:schemeClr val="tx1"/>
                </a:solidFill>
              </a:rPr>
              <a:t>Dhanush Kalapati · Samyaka Nadavala · Sathwika Orugonda</a:t>
            </a:r>
            <a:endParaRPr lang="en-US" sz="1800" dirty="0"/>
          </a:p>
        </p:txBody>
      </p:sp>
      <p:sp>
        <p:nvSpPr>
          <p:cNvPr id="11" name="Text 7"/>
          <p:cNvSpPr txBox="1"/>
          <p:nvPr/>
        </p:nvSpPr>
        <p:spPr>
          <a:xfrm>
            <a:off x="1600200" y="5961888"/>
            <a:ext cx="9875520" cy="274320"/>
          </a:xfrm>
          <a:prstGeom prst="rect">
            <a:avLst/>
          </a:prstGeom>
          <a:noFill/>
          <a:ln/>
        </p:spPr>
        <p:txBody>
          <a:bodyPr wrap="square" lIns="0" tIns="0" rIns="0" bIns="0" rtlCol="0" anchor="t"/>
          <a:lstStyle/>
          <a:p>
            <a:pPr indent="0" marL="0">
              <a:buNone/>
            </a:pPr>
            <a:r>
              <a:rPr lang="en-US" sz="1300" dirty="0">
                <a:solidFill>
                  <a:srgbClr val="64748B"/>
                </a:solidFill>
              </a:rPr>
              <a:t>Cardiff University</a:t>
            </a:r>
            <a:pPr indent="0" marL="0">
              <a:buNone/>
            </a:pPr>
            <a:r>
              <a:rPr lang="en-US" sz="1300" b="1" dirty="0">
                <a:solidFill>
                  <a:srgbClr val="D7192F"/>
                </a:solidFill>
              </a:rPr>
              <a:t>   ·   Technical Challenge 2: Travel Organizer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upils boarding coaches outside Principality Stadium (illustration from the team's reference slides)">    </p:cNvPr>
          <p:cNvPicPr>
            <a:picLocks noChangeAspect="1"/>
          </p:cNvPicPr>
          <p:nvPr/>
        </p:nvPicPr>
        <p:blipFill>
          <a:blip r:embed="rId1"/>
          <a:stretch>
            <a:fillRect/>
          </a:stretch>
        </p:blipFill>
        <p:spPr>
          <a:xfrm>
            <a:off x="7363663" y="0"/>
            <a:ext cx="4828032" cy="4023360"/>
          </a:xfrm>
          <a:prstGeom prst="rect">
            <a:avLst/>
          </a:prstGeom>
        </p:spPr>
      </p:pic>
      <p:sp>
        <p:nvSpPr>
          <p:cNvPr id="3" name="Text 0"/>
          <p:cNvSpPr/>
          <p:nvPr>
            <p:ph idx="100" type="body" hasCustomPrompt="1"/>
          </p:nvPr>
        </p:nvSpPr>
        <p:spPr>
          <a:xfrm>
            <a:off x="502920" y="292608"/>
            <a:ext cx="7315200" cy="274320"/>
          </a:xfrm>
          <a:prstGeom prst="rect">
            <a:avLst/>
          </a:prstGeom>
          <a:noFill/>
          <a:ln/>
        </p:spPr>
        <p:txBody>
          <a:bodyPr wrap="square" lIns="0" tIns="0" rIns="0" bIns="0" rtlCol="0" anchor="t"/>
          <a:lstStyle/>
          <a:p>
            <a:pPr indent="0" marL="0">
              <a:buNone/>
            </a:pPr>
            <a:r>
              <a:rPr lang="en-US" sz="1300" b="1" spc="100" kern="0" dirty="0">
                <a:solidFill>
                  <a:schemeClr val="accent6"/>
                </a:solidFill>
              </a:rPr>
              <a:t>PROBLEM STATEMENT</a:t>
            </a:r>
            <a:endParaRPr lang="en-US" sz="1300" dirty="0"/>
          </a:p>
        </p:txBody>
      </p:sp>
      <p:sp>
        <p:nvSpPr>
          <p:cNvPr id="4" name="Text 1"/>
          <p:cNvSpPr/>
          <p:nvPr>
            <p:ph idx="102" type="title" hasCustomPrompt="1"/>
          </p:nvPr>
        </p:nvSpPr>
        <p:spPr>
          <a:xfrm>
            <a:off x="502920" y="777240"/>
            <a:ext cx="7589520" cy="1051560"/>
          </a:xfrm>
          <a:prstGeom prst="rect">
            <a:avLst/>
          </a:prstGeom>
          <a:noFill/>
          <a:ln/>
        </p:spPr>
        <p:txBody>
          <a:bodyPr wrap="square" lIns="0" tIns="0" rIns="0" bIns="0" rtlCol="0" anchor="t"/>
          <a:lstStyle/>
          <a:p>
            <a:pPr algn="l" indent="0" marL="0">
              <a:buNone/>
            </a:pPr>
            <a:r>
              <a:rPr lang="en-US" sz="3400" b="1" dirty="0">
                <a:solidFill>
                  <a:srgbClr val="0B1F45"/>
                </a:solidFill>
              </a:rPr>
              <a:t>The Challenge of
</a:t>
            </a:r>
            <a:pPr algn="l" indent="0" marL="0">
              <a:buNone/>
            </a:pPr>
            <a:r>
              <a:rPr lang="en-US" sz="3400" b="1" dirty="0">
                <a:solidFill>
                  <a:srgbClr val="D7192F"/>
                </a:solidFill>
              </a:rPr>
              <a:t>School Transport Planning</a:t>
            </a:r>
            <a:endParaRPr lang="en-US" sz="3400" dirty="0"/>
          </a:p>
        </p:txBody>
      </p:sp>
      <p:sp>
        <p:nvSpPr>
          <p:cNvPr id="5" name="Text 2"/>
          <p:cNvSpPr txBox="1"/>
          <p:nvPr/>
        </p:nvSpPr>
        <p:spPr>
          <a:xfrm>
            <a:off x="502920" y="1874520"/>
            <a:ext cx="6583680" cy="566928"/>
          </a:xfrm>
          <a:prstGeom prst="rect">
            <a:avLst/>
          </a:prstGeom>
          <a:noFill/>
          <a:ln/>
        </p:spPr>
        <p:txBody>
          <a:bodyPr wrap="square" lIns="0" tIns="0" rIns="0" bIns="0" rtlCol="0" anchor="t"/>
          <a:lstStyle/>
          <a:p>
            <a:pPr indent="0" marL="0">
              <a:buNone/>
            </a:pPr>
            <a:r>
              <a:rPr lang="en-US" sz="1500" dirty="0">
                <a:solidFill>
                  <a:schemeClr val="tx2"/>
                </a:solidFill>
              </a:rPr>
              <a:t>60 schools are sending 1,244 people to one event. Getting them there efficiently is a hard planning problem.</a:t>
            </a:r>
            <a:endParaRPr lang="en-US" sz="1500" dirty="0"/>
          </a:p>
        </p:txBody>
      </p:sp>
      <p:sp>
        <p:nvSpPr>
          <p:cNvPr id="6" name="High transport costs"/>
          <p:cNvSpPr/>
          <p:nvPr/>
        </p:nvSpPr>
        <p:spPr>
          <a:xfrm>
            <a:off x="502920" y="2560320"/>
            <a:ext cx="3429000" cy="1353312"/>
          </a:xfrm>
          <a:prstGeom prst="roundRect">
            <a:avLst>
              <a:gd name="adj" fmla="val 8108"/>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7" name="Empty seats"/>
          <p:cNvSpPr/>
          <p:nvPr/>
        </p:nvSpPr>
        <p:spPr>
          <a:xfrm>
            <a:off x="4114800" y="2560320"/>
            <a:ext cx="3429000" cy="1353312"/>
          </a:xfrm>
          <a:prstGeom prst="roundRect">
            <a:avLst>
              <a:gd name="adj" fmla="val 8108"/>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8" name="Groups stay together"/>
          <p:cNvSpPr/>
          <p:nvPr/>
        </p:nvSpPr>
        <p:spPr>
          <a:xfrm>
            <a:off x="502920" y="4041648"/>
            <a:ext cx="3429000" cy="1353312"/>
          </a:xfrm>
          <a:prstGeom prst="roundRect">
            <a:avLst>
              <a:gd name="adj" fmla="val 8108"/>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9" name="Too many choices"/>
          <p:cNvSpPr/>
          <p:nvPr/>
        </p:nvSpPr>
        <p:spPr>
          <a:xfrm>
            <a:off x="4114800" y="4041648"/>
            <a:ext cx="3429000" cy="1353312"/>
          </a:xfrm>
          <a:prstGeom prst="roundRect">
            <a:avLst>
              <a:gd name="adj" fmla="val 8108"/>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10" name="Icon FaCoins"/>
          <p:cNvSpPr/>
          <p:nvPr/>
        </p:nvSpPr>
        <p:spPr>
          <a:xfrm>
            <a:off x="667512" y="2761488"/>
            <a:ext cx="713232" cy="713232"/>
          </a:xfrm>
          <a:prstGeom prst="ellipse">
            <a:avLst/>
          </a:prstGeom>
          <a:solidFill>
            <a:srgbClr val="FDECEE"/>
          </a:solidFill>
          <a:ln w="12700">
            <a:solidFill>
              <a:srgbClr val="FDECEE"/>
            </a:solidFill>
            <a:prstDash val="solid"/>
          </a:ln>
        </p:spPr>
      </p:sp>
      <p:pic>
        <p:nvPicPr>
          <p:cNvPr id="11" name="Image 1" descr="FaCoins">    </p:cNvPr>
          <p:cNvPicPr>
            <a:picLocks noChangeAspect="1"/>
          </p:cNvPicPr>
          <p:nvPr/>
        </p:nvPicPr>
        <p:blipFill>
          <a:blip r:embed="rId2"/>
          <a:stretch>
            <a:fillRect/>
          </a:stretch>
        </p:blipFill>
        <p:spPr>
          <a:xfrm>
            <a:off x="845820" y="2939796"/>
            <a:ext cx="356616" cy="356616"/>
          </a:xfrm>
          <a:prstGeom prst="rect">
            <a:avLst/>
          </a:prstGeom>
        </p:spPr>
      </p:pic>
      <p:sp>
        <p:nvSpPr>
          <p:cNvPr id="12" name="Text 8"/>
          <p:cNvSpPr txBox="1"/>
          <p:nvPr/>
        </p:nvSpPr>
        <p:spPr>
          <a:xfrm>
            <a:off x="1527048" y="2715768"/>
            <a:ext cx="2286000" cy="292608"/>
          </a:xfrm>
          <a:prstGeom prst="rect">
            <a:avLst/>
          </a:prstGeom>
          <a:noFill/>
          <a:ln/>
        </p:spPr>
        <p:txBody>
          <a:bodyPr wrap="square" lIns="0" tIns="0" rIns="0" bIns="0" rtlCol="0" anchor="t"/>
          <a:lstStyle/>
          <a:p>
            <a:pPr indent="0" marL="0">
              <a:buNone/>
            </a:pPr>
            <a:r>
              <a:rPr lang="en-US" sz="1500" b="1" dirty="0">
                <a:solidFill>
                  <a:schemeClr val="tx1"/>
                </a:solidFill>
              </a:rPr>
              <a:t>High transport costs</a:t>
            </a:r>
            <a:endParaRPr lang="en-US" sz="1500" dirty="0"/>
          </a:p>
        </p:txBody>
      </p:sp>
      <p:sp>
        <p:nvSpPr>
          <p:cNvPr id="13" name="Shape 9"/>
          <p:cNvSpPr/>
          <p:nvPr/>
        </p:nvSpPr>
        <p:spPr>
          <a:xfrm>
            <a:off x="1527048" y="3044952"/>
            <a:ext cx="320040" cy="36576"/>
          </a:xfrm>
          <a:prstGeom prst="rect">
            <a:avLst/>
          </a:prstGeom>
          <a:solidFill>
            <a:srgbClr val="D7192F"/>
          </a:solidFill>
          <a:ln w="12700">
            <a:solidFill>
              <a:srgbClr val="D7192F"/>
            </a:solidFill>
            <a:prstDash val="solid"/>
          </a:ln>
        </p:spPr>
      </p:sp>
      <p:sp>
        <p:nvSpPr>
          <p:cNvPr id="14" name="Text 10"/>
          <p:cNvSpPr txBox="1"/>
          <p:nvPr/>
        </p:nvSpPr>
        <p:spPr>
          <a:xfrm>
            <a:off x="1527048" y="3154680"/>
            <a:ext cx="2286000" cy="713232"/>
          </a:xfrm>
          <a:prstGeom prst="rect">
            <a:avLst/>
          </a:prstGeom>
          <a:noFill/>
          <a:ln/>
        </p:spPr>
        <p:txBody>
          <a:bodyPr wrap="square" lIns="0" tIns="0" rIns="0" bIns="0" rtlCol="0" anchor="t"/>
          <a:lstStyle/>
          <a:p>
            <a:pPr indent="0" marL="0">
              <a:buNone/>
            </a:pPr>
            <a:r>
              <a:rPr lang="en-US" sz="1150" dirty="0">
                <a:solidFill>
                  <a:schemeClr val="tx2"/>
                </a:solidFill>
              </a:rPr>
              <a:t>Every school booking its own bus means 60 buses and 3,330 cost units.</a:t>
            </a:r>
            <a:endParaRPr lang="en-US" sz="1150" dirty="0"/>
          </a:p>
        </p:txBody>
      </p:sp>
      <p:sp>
        <p:nvSpPr>
          <p:cNvPr id="15" name="Icon FaBus"/>
          <p:cNvSpPr/>
          <p:nvPr/>
        </p:nvSpPr>
        <p:spPr>
          <a:xfrm>
            <a:off x="4279392" y="2761488"/>
            <a:ext cx="713232" cy="713232"/>
          </a:xfrm>
          <a:prstGeom prst="ellipse">
            <a:avLst/>
          </a:prstGeom>
          <a:solidFill>
            <a:srgbClr val="EAF1FB"/>
          </a:solidFill>
          <a:ln w="12700">
            <a:solidFill>
              <a:srgbClr val="EAF1FB"/>
            </a:solidFill>
            <a:prstDash val="solid"/>
          </a:ln>
        </p:spPr>
      </p:sp>
      <p:pic>
        <p:nvPicPr>
          <p:cNvPr id="16" name="Image 2" descr="FaBus">    </p:cNvPr>
          <p:cNvPicPr>
            <a:picLocks noChangeAspect="1"/>
          </p:cNvPicPr>
          <p:nvPr/>
        </p:nvPicPr>
        <p:blipFill>
          <a:blip r:embed="rId3"/>
          <a:stretch>
            <a:fillRect/>
          </a:stretch>
        </p:blipFill>
        <p:spPr>
          <a:xfrm>
            <a:off x="4457700" y="2939796"/>
            <a:ext cx="356616" cy="356616"/>
          </a:xfrm>
          <a:prstGeom prst="rect">
            <a:avLst/>
          </a:prstGeom>
        </p:spPr>
      </p:pic>
      <p:sp>
        <p:nvSpPr>
          <p:cNvPr id="17" name="Text 12"/>
          <p:cNvSpPr txBox="1"/>
          <p:nvPr/>
        </p:nvSpPr>
        <p:spPr>
          <a:xfrm>
            <a:off x="5138928" y="2715768"/>
            <a:ext cx="2286000" cy="292608"/>
          </a:xfrm>
          <a:prstGeom prst="rect">
            <a:avLst/>
          </a:prstGeom>
          <a:noFill/>
          <a:ln/>
        </p:spPr>
        <p:txBody>
          <a:bodyPr wrap="square" lIns="0" tIns="0" rIns="0" bIns="0" rtlCol="0" anchor="t"/>
          <a:lstStyle/>
          <a:p>
            <a:pPr indent="0" marL="0">
              <a:buNone/>
            </a:pPr>
            <a:r>
              <a:rPr lang="en-US" sz="1500" b="1" dirty="0">
                <a:solidFill>
                  <a:schemeClr val="tx1"/>
                </a:solidFill>
              </a:rPr>
              <a:t>Empty seats</a:t>
            </a:r>
            <a:endParaRPr lang="en-US" sz="1500" dirty="0"/>
          </a:p>
        </p:txBody>
      </p:sp>
      <p:sp>
        <p:nvSpPr>
          <p:cNvPr id="18" name="Shape 13"/>
          <p:cNvSpPr/>
          <p:nvPr/>
        </p:nvSpPr>
        <p:spPr>
          <a:xfrm>
            <a:off x="5138928" y="3044952"/>
            <a:ext cx="320040" cy="36576"/>
          </a:xfrm>
          <a:prstGeom prst="rect">
            <a:avLst/>
          </a:prstGeom>
          <a:solidFill>
            <a:srgbClr val="D7192F"/>
          </a:solidFill>
          <a:ln w="12700">
            <a:solidFill>
              <a:srgbClr val="D7192F"/>
            </a:solidFill>
            <a:prstDash val="solid"/>
          </a:ln>
        </p:spPr>
      </p:sp>
      <p:sp>
        <p:nvSpPr>
          <p:cNvPr id="19" name="Text 14"/>
          <p:cNvSpPr txBox="1"/>
          <p:nvPr/>
        </p:nvSpPr>
        <p:spPr>
          <a:xfrm>
            <a:off x="5138928" y="3154680"/>
            <a:ext cx="2286000" cy="713232"/>
          </a:xfrm>
          <a:prstGeom prst="rect">
            <a:avLst/>
          </a:prstGeom>
          <a:noFill/>
          <a:ln/>
        </p:spPr>
        <p:txBody>
          <a:bodyPr wrap="square" lIns="0" tIns="0" rIns="0" bIns="0" rtlCol="0" anchor="t"/>
          <a:lstStyle/>
          <a:p>
            <a:pPr indent="0" marL="0">
              <a:buNone/>
            </a:pPr>
            <a:r>
              <a:rPr lang="en-US" sz="1150" dirty="0">
                <a:solidFill>
                  <a:schemeClr val="tx2"/>
                </a:solidFill>
              </a:rPr>
              <a:t>Booked separately, only 68.0% of seats are filled; the rest are paid for and empty.</a:t>
            </a:r>
            <a:endParaRPr lang="en-US" sz="1150" dirty="0"/>
          </a:p>
        </p:txBody>
      </p:sp>
      <p:sp>
        <p:nvSpPr>
          <p:cNvPr id="20" name="Icon FaUsers"/>
          <p:cNvSpPr/>
          <p:nvPr/>
        </p:nvSpPr>
        <p:spPr>
          <a:xfrm>
            <a:off x="667512" y="4242816"/>
            <a:ext cx="713232" cy="713232"/>
          </a:xfrm>
          <a:prstGeom prst="ellipse">
            <a:avLst/>
          </a:prstGeom>
          <a:solidFill>
            <a:srgbClr val="EAF1FB"/>
          </a:solidFill>
          <a:ln w="12700">
            <a:solidFill>
              <a:srgbClr val="EAF1FB"/>
            </a:solidFill>
            <a:prstDash val="solid"/>
          </a:ln>
        </p:spPr>
      </p:sp>
      <p:pic>
        <p:nvPicPr>
          <p:cNvPr id="21" name="Image 3" descr="FaUsers">    </p:cNvPr>
          <p:cNvPicPr>
            <a:picLocks noChangeAspect="1"/>
          </p:cNvPicPr>
          <p:nvPr/>
        </p:nvPicPr>
        <p:blipFill>
          <a:blip r:embed="rId4"/>
          <a:stretch>
            <a:fillRect/>
          </a:stretch>
        </p:blipFill>
        <p:spPr>
          <a:xfrm>
            <a:off x="845820" y="4421124"/>
            <a:ext cx="356616" cy="356616"/>
          </a:xfrm>
          <a:prstGeom prst="rect">
            <a:avLst/>
          </a:prstGeom>
        </p:spPr>
      </p:pic>
      <p:sp>
        <p:nvSpPr>
          <p:cNvPr id="22" name="Text 16"/>
          <p:cNvSpPr txBox="1"/>
          <p:nvPr/>
        </p:nvSpPr>
        <p:spPr>
          <a:xfrm>
            <a:off x="1527048" y="4197096"/>
            <a:ext cx="2286000" cy="292608"/>
          </a:xfrm>
          <a:prstGeom prst="rect">
            <a:avLst/>
          </a:prstGeom>
          <a:noFill/>
          <a:ln/>
        </p:spPr>
        <p:txBody>
          <a:bodyPr wrap="square" lIns="0" tIns="0" rIns="0" bIns="0" rtlCol="0" anchor="t"/>
          <a:lstStyle/>
          <a:p>
            <a:pPr indent="0" marL="0">
              <a:buNone/>
            </a:pPr>
            <a:r>
              <a:rPr lang="en-US" sz="1500" b="1" dirty="0">
                <a:solidFill>
                  <a:schemeClr val="tx1"/>
                </a:solidFill>
              </a:rPr>
              <a:t>Groups stay together</a:t>
            </a:r>
            <a:endParaRPr lang="en-US" sz="1500" dirty="0"/>
          </a:p>
        </p:txBody>
      </p:sp>
      <p:sp>
        <p:nvSpPr>
          <p:cNvPr id="23" name="Shape 17"/>
          <p:cNvSpPr/>
          <p:nvPr/>
        </p:nvSpPr>
        <p:spPr>
          <a:xfrm>
            <a:off x="1527048" y="4526280"/>
            <a:ext cx="320040" cy="36576"/>
          </a:xfrm>
          <a:prstGeom prst="rect">
            <a:avLst/>
          </a:prstGeom>
          <a:solidFill>
            <a:srgbClr val="D7192F"/>
          </a:solidFill>
          <a:ln w="12700">
            <a:solidFill>
              <a:srgbClr val="D7192F"/>
            </a:solidFill>
            <a:prstDash val="solid"/>
          </a:ln>
        </p:spPr>
      </p:sp>
      <p:sp>
        <p:nvSpPr>
          <p:cNvPr id="24" name="Text 18"/>
          <p:cNvSpPr txBox="1"/>
          <p:nvPr/>
        </p:nvSpPr>
        <p:spPr>
          <a:xfrm>
            <a:off x="1527048" y="4636008"/>
            <a:ext cx="2286000" cy="713232"/>
          </a:xfrm>
          <a:prstGeom prst="rect">
            <a:avLst/>
          </a:prstGeom>
          <a:noFill/>
          <a:ln/>
        </p:spPr>
        <p:txBody>
          <a:bodyPr wrap="square" lIns="0" tIns="0" rIns="0" bIns="0" rtlCol="0" anchor="t"/>
          <a:lstStyle/>
          <a:p>
            <a:pPr indent="0" marL="0">
              <a:buNone/>
            </a:pPr>
            <a:r>
              <a:rPr lang="en-US" sz="1150" dirty="0">
                <a:solidFill>
                  <a:schemeClr val="tx2"/>
                </a:solidFill>
              </a:rPr>
              <a:t>Each school's group is supervised by its own adult, so it can never be split across buses.</a:t>
            </a:r>
            <a:endParaRPr lang="en-US" sz="1150" dirty="0"/>
          </a:p>
        </p:txBody>
      </p:sp>
      <p:sp>
        <p:nvSpPr>
          <p:cNvPr id="25" name="Icon FaRoute"/>
          <p:cNvSpPr/>
          <p:nvPr/>
        </p:nvSpPr>
        <p:spPr>
          <a:xfrm>
            <a:off x="4279392" y="4242816"/>
            <a:ext cx="713232" cy="713232"/>
          </a:xfrm>
          <a:prstGeom prst="ellipse">
            <a:avLst/>
          </a:prstGeom>
          <a:solidFill>
            <a:srgbClr val="FDECEE"/>
          </a:solidFill>
          <a:ln w="12700">
            <a:solidFill>
              <a:srgbClr val="FDECEE"/>
            </a:solidFill>
            <a:prstDash val="solid"/>
          </a:ln>
        </p:spPr>
      </p:sp>
      <p:pic>
        <p:nvPicPr>
          <p:cNvPr id="26" name="Image 4" descr="FaRoute">    </p:cNvPr>
          <p:cNvPicPr>
            <a:picLocks noChangeAspect="1"/>
          </p:cNvPicPr>
          <p:nvPr/>
        </p:nvPicPr>
        <p:blipFill>
          <a:blip r:embed="rId5"/>
          <a:stretch>
            <a:fillRect/>
          </a:stretch>
        </p:blipFill>
        <p:spPr>
          <a:xfrm>
            <a:off x="4457700" y="4421124"/>
            <a:ext cx="356616" cy="356616"/>
          </a:xfrm>
          <a:prstGeom prst="rect">
            <a:avLst/>
          </a:prstGeom>
        </p:spPr>
      </p:pic>
      <p:sp>
        <p:nvSpPr>
          <p:cNvPr id="27" name="Text 20"/>
          <p:cNvSpPr txBox="1"/>
          <p:nvPr/>
        </p:nvSpPr>
        <p:spPr>
          <a:xfrm>
            <a:off x="5138928" y="4197096"/>
            <a:ext cx="2286000" cy="292608"/>
          </a:xfrm>
          <a:prstGeom prst="rect">
            <a:avLst/>
          </a:prstGeom>
          <a:noFill/>
          <a:ln/>
        </p:spPr>
        <p:txBody>
          <a:bodyPr wrap="square" lIns="0" tIns="0" rIns="0" bIns="0" rtlCol="0" anchor="t"/>
          <a:lstStyle/>
          <a:p>
            <a:pPr indent="0" marL="0">
              <a:buNone/>
            </a:pPr>
            <a:r>
              <a:rPr lang="en-US" sz="1500" b="1" dirty="0">
                <a:solidFill>
                  <a:schemeClr val="tx1"/>
                </a:solidFill>
              </a:rPr>
              <a:t>Too many choices</a:t>
            </a:r>
            <a:endParaRPr lang="en-US" sz="1500" dirty="0"/>
          </a:p>
        </p:txBody>
      </p:sp>
      <p:sp>
        <p:nvSpPr>
          <p:cNvPr id="28" name="Shape 21"/>
          <p:cNvSpPr/>
          <p:nvPr/>
        </p:nvSpPr>
        <p:spPr>
          <a:xfrm>
            <a:off x="5138928" y="4526280"/>
            <a:ext cx="320040" cy="36576"/>
          </a:xfrm>
          <a:prstGeom prst="rect">
            <a:avLst/>
          </a:prstGeom>
          <a:solidFill>
            <a:srgbClr val="D7192F"/>
          </a:solidFill>
          <a:ln w="12700">
            <a:solidFill>
              <a:srgbClr val="D7192F"/>
            </a:solidFill>
            <a:prstDash val="solid"/>
          </a:ln>
        </p:spPr>
      </p:sp>
      <p:sp>
        <p:nvSpPr>
          <p:cNvPr id="29" name="Text 22"/>
          <p:cNvSpPr txBox="1"/>
          <p:nvPr/>
        </p:nvSpPr>
        <p:spPr>
          <a:xfrm>
            <a:off x="5138928" y="4636008"/>
            <a:ext cx="2286000" cy="713232"/>
          </a:xfrm>
          <a:prstGeom prst="rect">
            <a:avLst/>
          </a:prstGeom>
          <a:noFill/>
          <a:ln/>
        </p:spPr>
        <p:txBody>
          <a:bodyPr wrap="square" lIns="0" tIns="0" rIns="0" bIns="0" rtlCol="0" anchor="t"/>
          <a:lstStyle/>
          <a:p>
            <a:pPr indent="0" marL="0">
              <a:buNone/>
            </a:pPr>
            <a:r>
              <a:rPr lang="en-US" sz="1150" dirty="0">
                <a:solidFill>
                  <a:schemeClr val="tx2"/>
                </a:solidFill>
              </a:rPr>
              <a:t>Sizes, locations, 15/35/50-seat buses and prices: far too many groupings to check by hand.</a:t>
            </a:r>
            <a:endParaRPr lang="en-US" sz="1150" dirty="0"/>
          </a:p>
        </p:txBody>
      </p:sp>
      <p:sp>
        <p:nvSpPr>
          <p:cNvPr id="30" name="Flow"/>
          <p:cNvSpPr/>
          <p:nvPr/>
        </p:nvSpPr>
        <p:spPr>
          <a:xfrm>
            <a:off x="8001000" y="4224528"/>
            <a:ext cx="3685032" cy="1508760"/>
          </a:xfrm>
          <a:prstGeom prst="roundRect">
            <a:avLst>
              <a:gd name="adj" fmla="val 7273"/>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pic>
        <p:nvPicPr>
          <p:cNvPr id="31" name="Image 5" descr="School">    </p:cNvPr>
          <p:cNvPicPr>
            <a:picLocks noChangeAspect="1"/>
          </p:cNvPicPr>
          <p:nvPr/>
        </p:nvPicPr>
        <p:blipFill>
          <a:blip r:embed="rId6"/>
          <a:stretch>
            <a:fillRect/>
          </a:stretch>
        </p:blipFill>
        <p:spPr>
          <a:xfrm>
            <a:off x="8183880" y="4389120"/>
            <a:ext cx="329184" cy="329184"/>
          </a:xfrm>
          <a:prstGeom prst="rect">
            <a:avLst/>
          </a:prstGeom>
        </p:spPr>
      </p:pic>
      <p:pic>
        <p:nvPicPr>
          <p:cNvPr id="32" name="Image 6" descr="Pupils">    </p:cNvPr>
          <p:cNvPicPr>
            <a:picLocks noChangeAspect="1"/>
          </p:cNvPicPr>
          <p:nvPr/>
        </p:nvPicPr>
        <p:blipFill>
          <a:blip r:embed="rId7"/>
          <a:stretch>
            <a:fillRect/>
          </a:stretch>
        </p:blipFill>
        <p:spPr>
          <a:xfrm>
            <a:off x="8595360" y="4389120"/>
            <a:ext cx="329184" cy="329184"/>
          </a:xfrm>
          <a:prstGeom prst="rect">
            <a:avLst/>
          </a:prstGeom>
        </p:spPr>
      </p:pic>
      <p:pic>
        <p:nvPicPr>
          <p:cNvPr id="33" name="Image 7" descr="School">    </p:cNvPr>
          <p:cNvPicPr>
            <a:picLocks noChangeAspect="1"/>
          </p:cNvPicPr>
          <p:nvPr/>
        </p:nvPicPr>
        <p:blipFill>
          <a:blip r:embed="rId8"/>
          <a:stretch>
            <a:fillRect/>
          </a:stretch>
        </p:blipFill>
        <p:spPr>
          <a:xfrm>
            <a:off x="8183880" y="4818888"/>
            <a:ext cx="329184" cy="329184"/>
          </a:xfrm>
          <a:prstGeom prst="rect">
            <a:avLst/>
          </a:prstGeom>
        </p:spPr>
      </p:pic>
      <p:pic>
        <p:nvPicPr>
          <p:cNvPr id="34" name="Image 8" descr="Pupils">    </p:cNvPr>
          <p:cNvPicPr>
            <a:picLocks noChangeAspect="1"/>
          </p:cNvPicPr>
          <p:nvPr/>
        </p:nvPicPr>
        <p:blipFill>
          <a:blip r:embed="rId9"/>
          <a:stretch>
            <a:fillRect/>
          </a:stretch>
        </p:blipFill>
        <p:spPr>
          <a:xfrm>
            <a:off x="8595360" y="4818888"/>
            <a:ext cx="329184" cy="329184"/>
          </a:xfrm>
          <a:prstGeom prst="rect">
            <a:avLst/>
          </a:prstGeom>
        </p:spPr>
      </p:pic>
      <p:pic>
        <p:nvPicPr>
          <p:cNvPr id="35" name="Image 9" descr="School">    </p:cNvPr>
          <p:cNvPicPr>
            <a:picLocks noChangeAspect="1"/>
          </p:cNvPicPr>
          <p:nvPr/>
        </p:nvPicPr>
        <p:blipFill>
          <a:blip r:embed="rId10"/>
          <a:stretch>
            <a:fillRect/>
          </a:stretch>
        </p:blipFill>
        <p:spPr>
          <a:xfrm>
            <a:off x="8183880" y="5248656"/>
            <a:ext cx="329184" cy="329184"/>
          </a:xfrm>
          <a:prstGeom prst="rect">
            <a:avLst/>
          </a:prstGeom>
        </p:spPr>
      </p:pic>
      <p:pic>
        <p:nvPicPr>
          <p:cNvPr id="36" name="Image 10" descr="Pupils">    </p:cNvPr>
          <p:cNvPicPr>
            <a:picLocks noChangeAspect="1"/>
          </p:cNvPicPr>
          <p:nvPr/>
        </p:nvPicPr>
        <p:blipFill>
          <a:blip r:embed="rId11"/>
          <a:stretch>
            <a:fillRect/>
          </a:stretch>
        </p:blipFill>
        <p:spPr>
          <a:xfrm>
            <a:off x="8595360" y="5248656"/>
            <a:ext cx="329184" cy="329184"/>
          </a:xfrm>
          <a:prstGeom prst="rect">
            <a:avLst/>
          </a:prstGeom>
        </p:spPr>
      </p:pic>
      <p:sp>
        <p:nvSpPr>
          <p:cNvPr id="37" name="Text 24"/>
          <p:cNvSpPr txBox="1"/>
          <p:nvPr/>
        </p:nvSpPr>
        <p:spPr>
          <a:xfrm>
            <a:off x="9006840" y="4617720"/>
            <a:ext cx="365760" cy="548640"/>
          </a:xfrm>
          <a:prstGeom prst="rect">
            <a:avLst/>
          </a:prstGeom>
          <a:noFill/>
          <a:ln/>
        </p:spPr>
        <p:txBody>
          <a:bodyPr wrap="square" lIns="0" tIns="0" rIns="0" bIns="0" rtlCol="0" anchor="ctr"/>
          <a:lstStyle/>
          <a:p>
            <a:pPr algn="ctr" indent="0" marL="0">
              <a:buNone/>
            </a:pPr>
            <a:r>
              <a:rPr lang="en-US" sz="3000" b="1" dirty="0">
                <a:solidFill>
                  <a:schemeClr val="accent6"/>
                </a:solidFill>
              </a:rPr>
              <a:t>›</a:t>
            </a:r>
            <a:endParaRPr lang="en-US" sz="3000" dirty="0"/>
          </a:p>
        </p:txBody>
      </p:sp>
      <p:pic>
        <p:nvPicPr>
          <p:cNvPr id="38" name="Image 11" descr="Shared bus">    </p:cNvPr>
          <p:cNvPicPr>
            <a:picLocks noChangeAspect="1"/>
          </p:cNvPicPr>
          <p:nvPr/>
        </p:nvPicPr>
        <p:blipFill>
          <a:blip r:embed="rId12"/>
          <a:stretch>
            <a:fillRect/>
          </a:stretch>
        </p:blipFill>
        <p:spPr>
          <a:xfrm>
            <a:off x="9418320" y="4572000"/>
            <a:ext cx="640080" cy="640080"/>
          </a:xfrm>
          <a:prstGeom prst="rect">
            <a:avLst/>
          </a:prstGeom>
        </p:spPr>
      </p:pic>
      <p:sp>
        <p:nvSpPr>
          <p:cNvPr id="39" name="Text 25"/>
          <p:cNvSpPr txBox="1"/>
          <p:nvPr/>
        </p:nvSpPr>
        <p:spPr>
          <a:xfrm>
            <a:off x="10104120" y="4617720"/>
            <a:ext cx="365760" cy="548640"/>
          </a:xfrm>
          <a:prstGeom prst="rect">
            <a:avLst/>
          </a:prstGeom>
          <a:noFill/>
          <a:ln/>
        </p:spPr>
        <p:txBody>
          <a:bodyPr wrap="square" lIns="0" tIns="0" rIns="0" bIns="0" rtlCol="0" anchor="ctr"/>
          <a:lstStyle/>
          <a:p>
            <a:pPr algn="ctr" indent="0" marL="0">
              <a:buNone/>
            </a:pPr>
            <a:r>
              <a:rPr lang="en-US" sz="3000" b="1" dirty="0">
                <a:solidFill>
                  <a:schemeClr val="accent1"/>
                </a:solidFill>
              </a:rPr>
              <a:t>›</a:t>
            </a:r>
            <a:endParaRPr lang="en-US" sz="3000" dirty="0"/>
          </a:p>
        </p:txBody>
      </p:sp>
      <p:pic>
        <p:nvPicPr>
          <p:cNvPr id="40" name="Image 12" descr="Event venue">    </p:cNvPr>
          <p:cNvPicPr>
            <a:picLocks noChangeAspect="1"/>
          </p:cNvPicPr>
          <p:nvPr/>
        </p:nvPicPr>
        <p:blipFill>
          <a:blip r:embed="rId13"/>
          <a:stretch>
            <a:fillRect/>
          </a:stretch>
        </p:blipFill>
        <p:spPr>
          <a:xfrm>
            <a:off x="10652760" y="4443984"/>
            <a:ext cx="548640" cy="548640"/>
          </a:xfrm>
          <a:prstGeom prst="rect">
            <a:avLst/>
          </a:prstGeom>
        </p:spPr>
      </p:pic>
      <p:sp>
        <p:nvSpPr>
          <p:cNvPr id="41" name="Text 26"/>
          <p:cNvSpPr txBox="1"/>
          <p:nvPr/>
        </p:nvSpPr>
        <p:spPr>
          <a:xfrm>
            <a:off x="10378440" y="5074920"/>
            <a:ext cx="1143000" cy="274320"/>
          </a:xfrm>
          <a:prstGeom prst="rect">
            <a:avLst/>
          </a:prstGeom>
          <a:noFill/>
          <a:ln/>
        </p:spPr>
        <p:txBody>
          <a:bodyPr wrap="square" lIns="0" tIns="0" rIns="0" bIns="0" rtlCol="0" anchor="t"/>
          <a:lstStyle/>
          <a:p>
            <a:pPr algn="ctr" indent="0" marL="0">
              <a:buNone/>
            </a:pPr>
            <a:r>
              <a:rPr lang="en-US" sz="1100" b="1" dirty="0">
                <a:solidFill>
                  <a:schemeClr val="tx1"/>
                </a:solidFill>
              </a:rPr>
              <a:t>Event venue</a:t>
            </a:r>
            <a:endParaRPr lang="en-US" sz="1100" dirty="0"/>
          </a:p>
        </p:txBody>
      </p:sp>
      <p:sp>
        <p:nvSpPr>
          <p:cNvPr id="42" name="Problem question"/>
          <p:cNvSpPr/>
          <p:nvPr/>
        </p:nvSpPr>
        <p:spPr>
          <a:xfrm>
            <a:off x="502920" y="5669280"/>
            <a:ext cx="7315200" cy="713232"/>
          </a:xfrm>
          <a:prstGeom prst="roundRect">
            <a:avLst>
              <a:gd name="adj" fmla="val 15385"/>
            </a:avLst>
          </a:prstGeom>
          <a:solidFill>
            <a:srgbClr val="FDECEE"/>
          </a:solidFill>
          <a:ln w="9525">
            <a:solidFill>
              <a:srgbClr val="FDECEE"/>
            </a:solidFill>
            <a:prstDash val="solid"/>
          </a:ln>
        </p:spPr>
      </p:sp>
      <p:sp>
        <p:nvSpPr>
          <p:cNvPr id="43" name="Question mark"/>
          <p:cNvSpPr/>
          <p:nvPr/>
        </p:nvSpPr>
        <p:spPr>
          <a:xfrm>
            <a:off x="685800" y="5751576"/>
            <a:ext cx="548640" cy="548640"/>
          </a:xfrm>
          <a:prstGeom prst="ellipse">
            <a:avLst/>
          </a:prstGeom>
          <a:solidFill>
            <a:srgbClr val="D7192F"/>
          </a:solidFill>
          <a:ln w="12700">
            <a:solidFill>
              <a:srgbClr val="D7192F"/>
            </a:solidFill>
            <a:prstDash val="solid"/>
          </a:ln>
        </p:spPr>
      </p:sp>
      <p:pic>
        <p:nvPicPr>
          <p:cNvPr id="44" name="Image 13" descr="Question">    </p:cNvPr>
          <p:cNvPicPr>
            <a:picLocks noChangeAspect="1"/>
          </p:cNvPicPr>
          <p:nvPr/>
        </p:nvPicPr>
        <p:blipFill>
          <a:blip r:embed="rId14"/>
          <a:stretch>
            <a:fillRect/>
          </a:stretch>
        </p:blipFill>
        <p:spPr>
          <a:xfrm>
            <a:off x="822960" y="5888736"/>
            <a:ext cx="274320" cy="274320"/>
          </a:xfrm>
          <a:prstGeom prst="rect">
            <a:avLst/>
          </a:prstGeom>
        </p:spPr>
      </p:pic>
      <p:sp>
        <p:nvSpPr>
          <p:cNvPr id="45" name="Text 29"/>
          <p:cNvSpPr txBox="1"/>
          <p:nvPr/>
        </p:nvSpPr>
        <p:spPr>
          <a:xfrm>
            <a:off x="1417320" y="5669280"/>
            <a:ext cx="6263640" cy="713232"/>
          </a:xfrm>
          <a:prstGeom prst="rect">
            <a:avLst/>
          </a:prstGeom>
          <a:noFill/>
          <a:ln/>
        </p:spPr>
        <p:txBody>
          <a:bodyPr wrap="square" lIns="0" tIns="0" rIns="0" bIns="0" rtlCol="0" anchor="ctr"/>
          <a:lstStyle/>
          <a:p>
            <a:pPr indent="0" marL="0">
              <a:buNone/>
            </a:pPr>
            <a:r>
              <a:rPr lang="en-US" sz="1350" b="1" dirty="0">
                <a:solidFill>
                  <a:srgbClr val="0B1F45"/>
                </a:solidFill>
              </a:rPr>
              <a:t>The problem we are solving: </a:t>
            </a:r>
            <a:pPr indent="0" marL="0">
              <a:buNone/>
            </a:pPr>
            <a:r>
              <a:rPr lang="en-US" sz="1350" dirty="0">
                <a:solidFill>
                  <a:schemeClr val="tx1"/>
                </a:solidFill>
              </a:rPr>
              <a:t>how can schools share buses, never split a group or overfill a bus, and pay as little as possible?</a:t>
            </a:r>
            <a:endParaRPr lang="en-US" sz="1350" dirty="0"/>
          </a:p>
        </p:txBody>
      </p:sp>
      <p:sp>
        <p:nvSpPr>
          <p:cNvPr id="25" name="Slide Number Placeholder 0"/>
          <p:cNvSpPr>
            <a:spLocks noGrp="1"/>
          </p:cNvSpPr>
          <p:nvPr>
            <p:ph type="sldNum" sz="quarter" idx="4294967295"/>
          </p:nvPr>
        </p:nvSpPr>
        <p:spPr>
          <a:xfrm>
            <a:off x="11228832" y="651052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oaches outside Principality Stadium, Cardiff (illustration from the team's reference slides)">    </p:cNvPr>
          <p:cNvPicPr>
            <a:picLocks noChangeAspect="1"/>
          </p:cNvPicPr>
          <p:nvPr/>
        </p:nvPicPr>
        <p:blipFill>
          <a:blip r:embed="rId1"/>
          <a:stretch>
            <a:fillRect/>
          </a:stretch>
        </p:blipFill>
        <p:spPr>
          <a:xfrm>
            <a:off x="8674138" y="0"/>
            <a:ext cx="3517557" cy="1828800"/>
          </a:xfrm>
          <a:prstGeom prst="rect">
            <a:avLst/>
          </a:prstGeom>
        </p:spPr>
      </p:pic>
      <p:sp>
        <p:nvSpPr>
          <p:cNvPr id="3" name="Text 0"/>
          <p:cNvSpPr/>
          <p:nvPr>
            <p:ph idx="100" type="body" hasCustomPrompt="1"/>
          </p:nvPr>
        </p:nvSpPr>
        <p:spPr>
          <a:xfrm>
            <a:off x="502920" y="292608"/>
            <a:ext cx="7315200" cy="274320"/>
          </a:xfrm>
          <a:prstGeom prst="rect">
            <a:avLst/>
          </a:prstGeom>
          <a:noFill/>
          <a:ln/>
        </p:spPr>
        <p:txBody>
          <a:bodyPr wrap="square" lIns="0" tIns="0" rIns="0" bIns="0" rtlCol="0" anchor="t"/>
          <a:lstStyle/>
          <a:p>
            <a:pPr indent="0" marL="0">
              <a:buNone/>
            </a:pPr>
            <a:r>
              <a:rPr lang="en-US" sz="1300" b="1" spc="100" kern="0" dirty="0">
                <a:solidFill>
                  <a:schemeClr val="accent6"/>
                </a:solidFill>
              </a:rPr>
              <a:t>PROPOSED SOLUTION</a:t>
            </a:r>
            <a:endParaRPr lang="en-US" sz="1300" dirty="0"/>
          </a:p>
        </p:txBody>
      </p:sp>
      <p:sp>
        <p:nvSpPr>
          <p:cNvPr id="4" name="Text 1"/>
          <p:cNvSpPr/>
          <p:nvPr>
            <p:ph idx="102" type="title" hasCustomPrompt="1"/>
          </p:nvPr>
        </p:nvSpPr>
        <p:spPr>
          <a:xfrm>
            <a:off x="502920" y="777240"/>
            <a:ext cx="7589520" cy="1051560"/>
          </a:xfrm>
          <a:prstGeom prst="rect">
            <a:avLst/>
          </a:prstGeom>
          <a:noFill/>
          <a:ln/>
        </p:spPr>
        <p:txBody>
          <a:bodyPr wrap="square" lIns="0" tIns="0" rIns="0" bIns="0" rtlCol="0" anchor="t"/>
          <a:lstStyle/>
          <a:p>
            <a:pPr algn="l" indent="0" marL="0">
              <a:buNone/>
            </a:pPr>
            <a:r>
              <a:rPr lang="en-US" sz="3400" b="1" dirty="0">
                <a:solidFill>
                  <a:srgbClr val="0B1F45"/>
                </a:solidFill>
              </a:rPr>
              <a:t>Campus </a:t>
            </a:r>
            <a:pPr algn="l" indent="0" marL="0">
              <a:buNone/>
            </a:pPr>
            <a:r>
              <a:rPr lang="en-US" sz="3400" b="1" dirty="0">
                <a:solidFill>
                  <a:srgbClr val="D7192F"/>
                </a:solidFill>
              </a:rPr>
              <a:t>Cruise</a:t>
            </a:r>
            <a:endParaRPr lang="en-US" sz="3400" dirty="0"/>
          </a:p>
        </p:txBody>
      </p:sp>
      <p:sp>
        <p:nvSpPr>
          <p:cNvPr id="5" name="Text 2"/>
          <p:cNvSpPr txBox="1"/>
          <p:nvPr/>
        </p:nvSpPr>
        <p:spPr>
          <a:xfrm>
            <a:off x="502920" y="1481328"/>
            <a:ext cx="7589520" cy="566928"/>
          </a:xfrm>
          <a:prstGeom prst="rect">
            <a:avLst/>
          </a:prstGeom>
          <a:noFill/>
          <a:ln/>
        </p:spPr>
        <p:txBody>
          <a:bodyPr wrap="square" lIns="0" tIns="0" rIns="0" bIns="0" rtlCol="0" anchor="t"/>
          <a:lstStyle/>
          <a:p>
            <a:pPr indent="0" marL="0">
              <a:buNone/>
            </a:pPr>
            <a:r>
              <a:rPr lang="en-US" sz="1500" dirty="0">
                <a:solidFill>
                  <a:schemeClr val="tx2"/>
                </a:solidFill>
              </a:rPr>
              <a:t>Plans shared school buses to any event: picks which schools share each bus and the pickup order, then checks every rule before anyone sees the plan.</a:t>
            </a:r>
            <a:endParaRPr lang="en-US" sz="1500" dirty="0"/>
          </a:p>
        </p:txBody>
      </p:sp>
      <p:sp>
        <p:nvSpPr>
          <p:cNvPr id="6" name="Step Input data"/>
          <p:cNvSpPr/>
          <p:nvPr/>
        </p:nvSpPr>
        <p:spPr>
          <a:xfrm>
            <a:off x="502920" y="2286000"/>
            <a:ext cx="2103120" cy="3154680"/>
          </a:xfrm>
          <a:prstGeom prst="roundRect">
            <a:avLst>
              <a:gd name="adj" fmla="val 5217"/>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7" name="Shape 4"/>
          <p:cNvSpPr/>
          <p:nvPr/>
        </p:nvSpPr>
        <p:spPr>
          <a:xfrm>
            <a:off x="502920" y="2286000"/>
            <a:ext cx="2103120" cy="749808"/>
          </a:xfrm>
          <a:prstGeom prst="roundRect">
            <a:avLst>
              <a:gd name="adj" fmla="val 14634"/>
            </a:avLst>
          </a:prstGeom>
          <a:solidFill>
            <a:srgbClr val="EAF1FB"/>
          </a:solidFill>
          <a:ln w="12700">
            <a:solidFill>
              <a:srgbClr val="EAF1FB"/>
            </a:solidFill>
            <a:prstDash val="solid"/>
          </a:ln>
        </p:spPr>
      </p:sp>
      <p:sp>
        <p:nvSpPr>
          <p:cNvPr id="8" name="Step 1"/>
          <p:cNvSpPr/>
          <p:nvPr/>
        </p:nvSpPr>
        <p:spPr>
          <a:xfrm>
            <a:off x="630936" y="2432304"/>
            <a:ext cx="457200" cy="457200"/>
          </a:xfrm>
          <a:prstGeom prst="ellipse">
            <a:avLst/>
          </a:prstGeom>
          <a:solidFill>
            <a:srgbClr val="0B1F45"/>
          </a:solidFill>
          <a:ln w="12700">
            <a:solidFill>
              <a:srgbClr val="0B1F45"/>
            </a:solidFill>
            <a:prstDash val="solid"/>
          </a:ln>
        </p:spPr>
      </p:sp>
      <p:sp>
        <p:nvSpPr>
          <p:cNvPr id="9" name="Text 6"/>
          <p:cNvSpPr txBox="1"/>
          <p:nvPr/>
        </p:nvSpPr>
        <p:spPr>
          <a:xfrm>
            <a:off x="630936" y="2432304"/>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10" name="Text 7"/>
          <p:cNvSpPr txBox="1"/>
          <p:nvPr/>
        </p:nvSpPr>
        <p:spPr>
          <a:xfrm>
            <a:off x="1179576" y="2395728"/>
            <a:ext cx="1371600" cy="292608"/>
          </a:xfrm>
          <a:prstGeom prst="rect">
            <a:avLst/>
          </a:prstGeom>
          <a:noFill/>
          <a:ln/>
        </p:spPr>
        <p:txBody>
          <a:bodyPr wrap="square" lIns="0" tIns="0" rIns="0" bIns="0" rtlCol="0" anchor="t"/>
          <a:lstStyle/>
          <a:p>
            <a:pPr indent="0" marL="0">
              <a:buNone/>
            </a:pPr>
            <a:r>
              <a:rPr lang="en-US" sz="1500" b="1" dirty="0">
                <a:solidFill>
                  <a:schemeClr val="tx1"/>
                </a:solidFill>
              </a:rPr>
              <a:t>Input data</a:t>
            </a:r>
            <a:endParaRPr lang="en-US" sz="1500" dirty="0"/>
          </a:p>
        </p:txBody>
      </p:sp>
      <p:sp>
        <p:nvSpPr>
          <p:cNvPr id="11" name="Text 8"/>
          <p:cNvSpPr txBox="1"/>
          <p:nvPr/>
        </p:nvSpPr>
        <p:spPr>
          <a:xfrm>
            <a:off x="1179576" y="2688336"/>
            <a:ext cx="1371600" cy="274320"/>
          </a:xfrm>
          <a:prstGeom prst="rect">
            <a:avLst/>
          </a:prstGeom>
          <a:noFill/>
          <a:ln/>
        </p:spPr>
        <p:txBody>
          <a:bodyPr wrap="square" lIns="0" tIns="0" rIns="0" bIns="0" rtlCol="0" anchor="t"/>
          <a:lstStyle/>
          <a:p>
            <a:pPr indent="0" marL="0">
              <a:buNone/>
            </a:pPr>
            <a:r>
              <a:rPr lang="en-US" sz="1050" dirty="0">
                <a:solidFill>
                  <a:schemeClr val="tx2"/>
                </a:solidFill>
              </a:rPr>
              <a:t>Schools and venue</a:t>
            </a:r>
            <a:endParaRPr lang="en-US" sz="1050" dirty="0"/>
          </a:p>
        </p:txBody>
      </p:sp>
      <p:sp>
        <p:nvSpPr>
          <p:cNvPr id="12" name="Text 9"/>
          <p:cNvSpPr txBox="1"/>
          <p:nvPr/>
        </p:nvSpPr>
        <p:spPr>
          <a:xfrm>
            <a:off x="2587752" y="3657600"/>
            <a:ext cx="178308" cy="45720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13" name="Step Optimise"/>
          <p:cNvSpPr/>
          <p:nvPr/>
        </p:nvSpPr>
        <p:spPr>
          <a:xfrm>
            <a:off x="2747772" y="2286000"/>
            <a:ext cx="2103120" cy="3154680"/>
          </a:xfrm>
          <a:prstGeom prst="roundRect">
            <a:avLst>
              <a:gd name="adj" fmla="val 5217"/>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14" name="Shape 11"/>
          <p:cNvSpPr/>
          <p:nvPr/>
        </p:nvSpPr>
        <p:spPr>
          <a:xfrm>
            <a:off x="2747772" y="2286000"/>
            <a:ext cx="2103120" cy="749808"/>
          </a:xfrm>
          <a:prstGeom prst="roundRect">
            <a:avLst>
              <a:gd name="adj" fmla="val 14634"/>
            </a:avLst>
          </a:prstGeom>
          <a:solidFill>
            <a:srgbClr val="FDECEE"/>
          </a:solidFill>
          <a:ln w="12700">
            <a:solidFill>
              <a:srgbClr val="FDECEE"/>
            </a:solidFill>
            <a:prstDash val="solid"/>
          </a:ln>
        </p:spPr>
      </p:sp>
      <p:sp>
        <p:nvSpPr>
          <p:cNvPr id="15" name="Step 2"/>
          <p:cNvSpPr/>
          <p:nvPr/>
        </p:nvSpPr>
        <p:spPr>
          <a:xfrm>
            <a:off x="2875788" y="2432304"/>
            <a:ext cx="457200" cy="457200"/>
          </a:xfrm>
          <a:prstGeom prst="ellipse">
            <a:avLst/>
          </a:prstGeom>
          <a:solidFill>
            <a:srgbClr val="D7192F"/>
          </a:solidFill>
          <a:ln w="12700">
            <a:solidFill>
              <a:srgbClr val="D7192F"/>
            </a:solidFill>
            <a:prstDash val="solid"/>
          </a:ln>
        </p:spPr>
      </p:sp>
      <p:sp>
        <p:nvSpPr>
          <p:cNvPr id="16" name="Text 13"/>
          <p:cNvSpPr txBox="1"/>
          <p:nvPr/>
        </p:nvSpPr>
        <p:spPr>
          <a:xfrm>
            <a:off x="2875788" y="2432304"/>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7" name="Text 14"/>
          <p:cNvSpPr txBox="1"/>
          <p:nvPr/>
        </p:nvSpPr>
        <p:spPr>
          <a:xfrm>
            <a:off x="3424428" y="2395728"/>
            <a:ext cx="1371600" cy="292608"/>
          </a:xfrm>
          <a:prstGeom prst="rect">
            <a:avLst/>
          </a:prstGeom>
          <a:noFill/>
          <a:ln/>
        </p:spPr>
        <p:txBody>
          <a:bodyPr wrap="square" lIns="0" tIns="0" rIns="0" bIns="0" rtlCol="0" anchor="t"/>
          <a:lstStyle/>
          <a:p>
            <a:pPr indent="0" marL="0">
              <a:buNone/>
            </a:pPr>
            <a:r>
              <a:rPr lang="en-US" sz="1500" b="1" dirty="0">
                <a:solidFill>
                  <a:schemeClr val="accent1"/>
                </a:solidFill>
              </a:rPr>
              <a:t>Optimise</a:t>
            </a:r>
            <a:endParaRPr lang="en-US" sz="1500" dirty="0"/>
          </a:p>
        </p:txBody>
      </p:sp>
      <p:sp>
        <p:nvSpPr>
          <p:cNvPr id="18" name="Text 15"/>
          <p:cNvSpPr txBox="1"/>
          <p:nvPr/>
        </p:nvSpPr>
        <p:spPr>
          <a:xfrm>
            <a:off x="3424428" y="2688336"/>
            <a:ext cx="1371600" cy="274320"/>
          </a:xfrm>
          <a:prstGeom prst="rect">
            <a:avLst/>
          </a:prstGeom>
          <a:noFill/>
          <a:ln/>
        </p:spPr>
        <p:txBody>
          <a:bodyPr wrap="square" lIns="0" tIns="0" rIns="0" bIns="0" rtlCol="0" anchor="t"/>
          <a:lstStyle/>
          <a:p>
            <a:pPr indent="0" marL="0">
              <a:buNone/>
            </a:pPr>
            <a:r>
              <a:rPr lang="en-US" sz="1050" dirty="0">
                <a:solidFill>
                  <a:schemeClr val="tx2"/>
                </a:solidFill>
              </a:rPr>
              <a:t>Choose the cost model</a:t>
            </a:r>
            <a:endParaRPr lang="en-US" sz="1050" dirty="0"/>
          </a:p>
        </p:txBody>
      </p:sp>
      <p:sp>
        <p:nvSpPr>
          <p:cNvPr id="19" name="Text 16"/>
          <p:cNvSpPr txBox="1"/>
          <p:nvPr/>
        </p:nvSpPr>
        <p:spPr>
          <a:xfrm>
            <a:off x="4832604" y="3657600"/>
            <a:ext cx="178308" cy="45720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20" name="Step Validate"/>
          <p:cNvSpPr/>
          <p:nvPr/>
        </p:nvSpPr>
        <p:spPr>
          <a:xfrm>
            <a:off x="4992624" y="2286000"/>
            <a:ext cx="2103120" cy="3154680"/>
          </a:xfrm>
          <a:prstGeom prst="roundRect">
            <a:avLst>
              <a:gd name="adj" fmla="val 5217"/>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21" name="Shape 18"/>
          <p:cNvSpPr/>
          <p:nvPr/>
        </p:nvSpPr>
        <p:spPr>
          <a:xfrm>
            <a:off x="4992624" y="2286000"/>
            <a:ext cx="2103120" cy="749808"/>
          </a:xfrm>
          <a:prstGeom prst="roundRect">
            <a:avLst>
              <a:gd name="adj" fmla="val 14634"/>
            </a:avLst>
          </a:prstGeom>
          <a:solidFill>
            <a:srgbClr val="EAF6EE"/>
          </a:solidFill>
          <a:ln w="12700">
            <a:solidFill>
              <a:srgbClr val="EAF6EE"/>
            </a:solidFill>
            <a:prstDash val="solid"/>
          </a:ln>
        </p:spPr>
      </p:sp>
      <p:sp>
        <p:nvSpPr>
          <p:cNvPr id="22" name="Step 3"/>
          <p:cNvSpPr/>
          <p:nvPr/>
        </p:nvSpPr>
        <p:spPr>
          <a:xfrm>
            <a:off x="5120640" y="2432304"/>
            <a:ext cx="457200" cy="457200"/>
          </a:xfrm>
          <a:prstGeom prst="ellipse">
            <a:avLst/>
          </a:prstGeom>
          <a:solidFill>
            <a:srgbClr val="0B1F45"/>
          </a:solidFill>
          <a:ln w="12700">
            <a:solidFill>
              <a:srgbClr val="0B1F45"/>
            </a:solidFill>
            <a:prstDash val="solid"/>
          </a:ln>
        </p:spPr>
      </p:sp>
      <p:sp>
        <p:nvSpPr>
          <p:cNvPr id="23" name="Text 20"/>
          <p:cNvSpPr txBox="1"/>
          <p:nvPr/>
        </p:nvSpPr>
        <p:spPr>
          <a:xfrm>
            <a:off x="5120640" y="2432304"/>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24" name="Text 21"/>
          <p:cNvSpPr txBox="1"/>
          <p:nvPr/>
        </p:nvSpPr>
        <p:spPr>
          <a:xfrm>
            <a:off x="5669280" y="2395728"/>
            <a:ext cx="1371600" cy="292608"/>
          </a:xfrm>
          <a:prstGeom prst="rect">
            <a:avLst/>
          </a:prstGeom>
          <a:noFill/>
          <a:ln/>
        </p:spPr>
        <p:txBody>
          <a:bodyPr wrap="square" lIns="0" tIns="0" rIns="0" bIns="0" rtlCol="0" anchor="t"/>
          <a:lstStyle/>
          <a:p>
            <a:pPr indent="0" marL="0">
              <a:buNone/>
            </a:pPr>
            <a:r>
              <a:rPr lang="en-US" sz="1500" b="1" dirty="0">
                <a:solidFill>
                  <a:schemeClr val="tx1"/>
                </a:solidFill>
              </a:rPr>
              <a:t>Validate</a:t>
            </a:r>
            <a:endParaRPr lang="en-US" sz="1500" dirty="0"/>
          </a:p>
        </p:txBody>
      </p:sp>
      <p:sp>
        <p:nvSpPr>
          <p:cNvPr id="25" name="Text 22"/>
          <p:cNvSpPr txBox="1"/>
          <p:nvPr/>
        </p:nvSpPr>
        <p:spPr>
          <a:xfrm>
            <a:off x="5669280" y="2688336"/>
            <a:ext cx="1371600" cy="274320"/>
          </a:xfrm>
          <a:prstGeom prst="rect">
            <a:avLst/>
          </a:prstGeom>
          <a:noFill/>
          <a:ln/>
        </p:spPr>
        <p:txBody>
          <a:bodyPr wrap="square" lIns="0" tIns="0" rIns="0" bIns="0" rtlCol="0" anchor="t"/>
          <a:lstStyle/>
          <a:p>
            <a:pPr indent="0" marL="0">
              <a:buNone/>
            </a:pPr>
            <a:r>
              <a:rPr lang="en-US" sz="1050" dirty="0">
                <a:solidFill>
                  <a:schemeClr val="tx2"/>
                </a:solidFill>
              </a:rPr>
              <a:t>Independent re-check</a:t>
            </a:r>
            <a:endParaRPr lang="en-US" sz="1050" dirty="0"/>
          </a:p>
        </p:txBody>
      </p:sp>
      <p:sp>
        <p:nvSpPr>
          <p:cNvPr id="26" name="Text 23"/>
          <p:cNvSpPr txBox="1"/>
          <p:nvPr/>
        </p:nvSpPr>
        <p:spPr>
          <a:xfrm>
            <a:off x="7077456" y="3657600"/>
            <a:ext cx="178308" cy="45720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27" name="Step Visualise"/>
          <p:cNvSpPr/>
          <p:nvPr/>
        </p:nvSpPr>
        <p:spPr>
          <a:xfrm>
            <a:off x="7237476" y="2286000"/>
            <a:ext cx="2103120" cy="3154680"/>
          </a:xfrm>
          <a:prstGeom prst="roundRect">
            <a:avLst>
              <a:gd name="adj" fmla="val 5217"/>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28" name="Shape 25"/>
          <p:cNvSpPr/>
          <p:nvPr/>
        </p:nvSpPr>
        <p:spPr>
          <a:xfrm>
            <a:off x="7237476" y="2286000"/>
            <a:ext cx="2103120" cy="749808"/>
          </a:xfrm>
          <a:prstGeom prst="roundRect">
            <a:avLst>
              <a:gd name="adj" fmla="val 14634"/>
            </a:avLst>
          </a:prstGeom>
          <a:solidFill>
            <a:srgbClr val="FDECEE"/>
          </a:solidFill>
          <a:ln w="12700">
            <a:solidFill>
              <a:srgbClr val="FDECEE"/>
            </a:solidFill>
            <a:prstDash val="solid"/>
          </a:ln>
        </p:spPr>
      </p:sp>
      <p:sp>
        <p:nvSpPr>
          <p:cNvPr id="29" name="Step 4"/>
          <p:cNvSpPr/>
          <p:nvPr/>
        </p:nvSpPr>
        <p:spPr>
          <a:xfrm>
            <a:off x="7365492" y="2432304"/>
            <a:ext cx="457200" cy="457200"/>
          </a:xfrm>
          <a:prstGeom prst="ellipse">
            <a:avLst/>
          </a:prstGeom>
          <a:solidFill>
            <a:srgbClr val="D7192F"/>
          </a:solidFill>
          <a:ln w="12700">
            <a:solidFill>
              <a:srgbClr val="D7192F"/>
            </a:solidFill>
            <a:prstDash val="solid"/>
          </a:ln>
        </p:spPr>
      </p:sp>
      <p:sp>
        <p:nvSpPr>
          <p:cNvPr id="30" name="Text 27"/>
          <p:cNvSpPr txBox="1"/>
          <p:nvPr/>
        </p:nvSpPr>
        <p:spPr>
          <a:xfrm>
            <a:off x="7365492" y="2432304"/>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31" name="Text 28"/>
          <p:cNvSpPr txBox="1"/>
          <p:nvPr/>
        </p:nvSpPr>
        <p:spPr>
          <a:xfrm>
            <a:off x="7914132" y="2395728"/>
            <a:ext cx="1371600" cy="292608"/>
          </a:xfrm>
          <a:prstGeom prst="rect">
            <a:avLst/>
          </a:prstGeom>
          <a:noFill/>
          <a:ln/>
        </p:spPr>
        <p:txBody>
          <a:bodyPr wrap="square" lIns="0" tIns="0" rIns="0" bIns="0" rtlCol="0" anchor="t"/>
          <a:lstStyle/>
          <a:p>
            <a:pPr indent="0" marL="0">
              <a:buNone/>
            </a:pPr>
            <a:r>
              <a:rPr lang="en-US" sz="1500" b="1" dirty="0">
                <a:solidFill>
                  <a:schemeClr val="accent1"/>
                </a:solidFill>
              </a:rPr>
              <a:t>Visualise</a:t>
            </a:r>
            <a:endParaRPr lang="en-US" sz="1500" dirty="0"/>
          </a:p>
        </p:txBody>
      </p:sp>
      <p:sp>
        <p:nvSpPr>
          <p:cNvPr id="32" name="Text 29"/>
          <p:cNvSpPr txBox="1"/>
          <p:nvPr/>
        </p:nvSpPr>
        <p:spPr>
          <a:xfrm>
            <a:off x="7914132" y="2688336"/>
            <a:ext cx="1371600" cy="274320"/>
          </a:xfrm>
          <a:prstGeom prst="rect">
            <a:avLst/>
          </a:prstGeom>
          <a:noFill/>
          <a:ln/>
        </p:spPr>
        <p:txBody>
          <a:bodyPr wrap="square" lIns="0" tIns="0" rIns="0" bIns="0" rtlCol="0" anchor="t"/>
          <a:lstStyle/>
          <a:p>
            <a:pPr indent="0" marL="0">
              <a:buNone/>
            </a:pPr>
            <a:r>
              <a:rPr lang="en-US" sz="1050" dirty="0">
                <a:solidFill>
                  <a:schemeClr val="tx2"/>
                </a:solidFill>
              </a:rPr>
              <a:t>Dashboard and map</a:t>
            </a:r>
            <a:endParaRPr lang="en-US" sz="1050" dirty="0"/>
          </a:p>
        </p:txBody>
      </p:sp>
      <p:sp>
        <p:nvSpPr>
          <p:cNvPr id="33" name="Text 30"/>
          <p:cNvSpPr txBox="1"/>
          <p:nvPr/>
        </p:nvSpPr>
        <p:spPr>
          <a:xfrm>
            <a:off x="9322308" y="3657600"/>
            <a:ext cx="178308" cy="45720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34" name="Step Export"/>
          <p:cNvSpPr/>
          <p:nvPr/>
        </p:nvSpPr>
        <p:spPr>
          <a:xfrm>
            <a:off x="9482328" y="2286000"/>
            <a:ext cx="2103120" cy="3154680"/>
          </a:xfrm>
          <a:prstGeom prst="roundRect">
            <a:avLst>
              <a:gd name="adj" fmla="val 5217"/>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35" name="Shape 32"/>
          <p:cNvSpPr/>
          <p:nvPr/>
        </p:nvSpPr>
        <p:spPr>
          <a:xfrm>
            <a:off x="9482328" y="2286000"/>
            <a:ext cx="2103120" cy="749808"/>
          </a:xfrm>
          <a:prstGeom prst="roundRect">
            <a:avLst>
              <a:gd name="adj" fmla="val 14634"/>
            </a:avLst>
          </a:prstGeom>
          <a:solidFill>
            <a:srgbClr val="EAF1FB"/>
          </a:solidFill>
          <a:ln w="12700">
            <a:solidFill>
              <a:srgbClr val="EAF1FB"/>
            </a:solidFill>
            <a:prstDash val="solid"/>
          </a:ln>
        </p:spPr>
      </p:sp>
      <p:sp>
        <p:nvSpPr>
          <p:cNvPr id="36" name="Step 5"/>
          <p:cNvSpPr/>
          <p:nvPr/>
        </p:nvSpPr>
        <p:spPr>
          <a:xfrm>
            <a:off x="9610344" y="2432304"/>
            <a:ext cx="457200" cy="457200"/>
          </a:xfrm>
          <a:prstGeom prst="ellipse">
            <a:avLst/>
          </a:prstGeom>
          <a:solidFill>
            <a:srgbClr val="0B1F45"/>
          </a:solidFill>
          <a:ln w="12700">
            <a:solidFill>
              <a:srgbClr val="0B1F45"/>
            </a:solidFill>
            <a:prstDash val="solid"/>
          </a:ln>
        </p:spPr>
      </p:sp>
      <p:sp>
        <p:nvSpPr>
          <p:cNvPr id="37" name="Text 34"/>
          <p:cNvSpPr txBox="1"/>
          <p:nvPr/>
        </p:nvSpPr>
        <p:spPr>
          <a:xfrm>
            <a:off x="9610344" y="2432304"/>
            <a:ext cx="457200" cy="45720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38" name="Text 35"/>
          <p:cNvSpPr txBox="1"/>
          <p:nvPr/>
        </p:nvSpPr>
        <p:spPr>
          <a:xfrm>
            <a:off x="10158984" y="2395728"/>
            <a:ext cx="1371600" cy="292608"/>
          </a:xfrm>
          <a:prstGeom prst="rect">
            <a:avLst/>
          </a:prstGeom>
          <a:noFill/>
          <a:ln/>
        </p:spPr>
        <p:txBody>
          <a:bodyPr wrap="square" lIns="0" tIns="0" rIns="0" bIns="0" rtlCol="0" anchor="t"/>
          <a:lstStyle/>
          <a:p>
            <a:pPr indent="0" marL="0">
              <a:buNone/>
            </a:pPr>
            <a:r>
              <a:rPr lang="en-US" sz="1500" b="1" dirty="0">
                <a:solidFill>
                  <a:schemeClr val="tx1"/>
                </a:solidFill>
              </a:rPr>
              <a:t>Export</a:t>
            </a:r>
            <a:endParaRPr lang="en-US" sz="1500" dirty="0"/>
          </a:p>
        </p:txBody>
      </p:sp>
      <p:sp>
        <p:nvSpPr>
          <p:cNvPr id="39" name="Text 36"/>
          <p:cNvSpPr txBox="1"/>
          <p:nvPr/>
        </p:nvSpPr>
        <p:spPr>
          <a:xfrm>
            <a:off x="10158984" y="2688336"/>
            <a:ext cx="1371600" cy="274320"/>
          </a:xfrm>
          <a:prstGeom prst="rect">
            <a:avLst/>
          </a:prstGeom>
          <a:noFill/>
          <a:ln/>
        </p:spPr>
        <p:txBody>
          <a:bodyPr wrap="square" lIns="0" tIns="0" rIns="0" bIns="0" rtlCol="0" anchor="t"/>
          <a:lstStyle/>
          <a:p>
            <a:pPr indent="0" marL="0">
              <a:buNone/>
            </a:pPr>
            <a:r>
              <a:rPr lang="en-US" sz="1050" dirty="0">
                <a:solidFill>
                  <a:schemeClr val="tx2"/>
                </a:solidFill>
              </a:rPr>
              <a:t>Share and book</a:t>
            </a:r>
            <a:endParaRPr lang="en-US" sz="1050" dirty="0"/>
          </a:p>
        </p:txBody>
      </p:sp>
      <p:pic>
        <p:nvPicPr>
          <p:cNvPr id="40" name="Image 1" descr="School CSV upload, checked row by row">    </p:cNvPr>
          <p:cNvPicPr>
            <a:picLocks noChangeAspect="1"/>
          </p:cNvPicPr>
          <p:nvPr/>
        </p:nvPicPr>
        <p:blipFill>
          <a:blip r:embed="rId2"/>
          <a:stretch>
            <a:fillRect/>
          </a:stretch>
        </p:blipFill>
        <p:spPr>
          <a:xfrm>
            <a:off x="667512" y="3236976"/>
            <a:ext cx="292608" cy="292608"/>
          </a:xfrm>
          <a:prstGeom prst="rect">
            <a:avLst/>
          </a:prstGeom>
        </p:spPr>
      </p:pic>
      <p:sp>
        <p:nvSpPr>
          <p:cNvPr id="41" name="Text 37"/>
          <p:cNvSpPr txBox="1"/>
          <p:nvPr/>
        </p:nvSpPr>
        <p:spPr>
          <a:xfrm>
            <a:off x="1069848" y="3200400"/>
            <a:ext cx="1444752" cy="457200"/>
          </a:xfrm>
          <a:prstGeom prst="rect">
            <a:avLst/>
          </a:prstGeom>
          <a:noFill/>
          <a:ln/>
        </p:spPr>
        <p:txBody>
          <a:bodyPr wrap="square" lIns="0" tIns="0" rIns="0" bIns="0" rtlCol="0" anchor="ctr"/>
          <a:lstStyle/>
          <a:p>
            <a:pPr indent="0" marL="0">
              <a:buNone/>
            </a:pPr>
            <a:r>
              <a:rPr lang="en-US" sz="1050" dirty="0">
                <a:solidFill>
                  <a:schemeClr val="tx1"/>
                </a:solidFill>
              </a:rPr>
              <a:t>School CSV upload, checked row by row</a:t>
            </a:r>
            <a:endParaRPr lang="en-US" sz="1050" dirty="0"/>
          </a:p>
        </p:txBody>
      </p:sp>
      <p:pic>
        <p:nvPicPr>
          <p:cNvPr id="42" name="Image 2" descr="Attendees per school">    </p:cNvPr>
          <p:cNvPicPr>
            <a:picLocks noChangeAspect="1"/>
          </p:cNvPicPr>
          <p:nvPr/>
        </p:nvPicPr>
        <p:blipFill>
          <a:blip r:embed="rId3"/>
          <a:stretch>
            <a:fillRect/>
          </a:stretch>
        </p:blipFill>
        <p:spPr>
          <a:xfrm>
            <a:off x="667512" y="3785616"/>
            <a:ext cx="292608" cy="292608"/>
          </a:xfrm>
          <a:prstGeom prst="rect">
            <a:avLst/>
          </a:prstGeom>
        </p:spPr>
      </p:pic>
      <p:sp>
        <p:nvSpPr>
          <p:cNvPr id="43" name="Text 38"/>
          <p:cNvSpPr txBox="1"/>
          <p:nvPr/>
        </p:nvSpPr>
        <p:spPr>
          <a:xfrm>
            <a:off x="1069848" y="3749040"/>
            <a:ext cx="1444752" cy="457200"/>
          </a:xfrm>
          <a:prstGeom prst="rect">
            <a:avLst/>
          </a:prstGeom>
          <a:noFill/>
          <a:ln/>
        </p:spPr>
        <p:txBody>
          <a:bodyPr wrap="square" lIns="0" tIns="0" rIns="0" bIns="0" rtlCol="0" anchor="ctr"/>
          <a:lstStyle/>
          <a:p>
            <a:pPr indent="0" marL="0">
              <a:buNone/>
            </a:pPr>
            <a:r>
              <a:rPr lang="en-US" sz="1050" dirty="0">
                <a:solidFill>
                  <a:schemeClr val="tx1"/>
                </a:solidFill>
              </a:rPr>
              <a:t>Attendees per school</a:t>
            </a:r>
            <a:endParaRPr lang="en-US" sz="1050" dirty="0"/>
          </a:p>
        </p:txBody>
      </p:sp>
      <p:pic>
        <p:nvPicPr>
          <p:cNvPr id="44" name="Image 3" descr="Bus sizes and prices">    </p:cNvPr>
          <p:cNvPicPr>
            <a:picLocks noChangeAspect="1"/>
          </p:cNvPicPr>
          <p:nvPr/>
        </p:nvPicPr>
        <p:blipFill>
          <a:blip r:embed="rId4"/>
          <a:stretch>
            <a:fillRect/>
          </a:stretch>
        </p:blipFill>
        <p:spPr>
          <a:xfrm>
            <a:off x="667512" y="4334256"/>
            <a:ext cx="292608" cy="292608"/>
          </a:xfrm>
          <a:prstGeom prst="rect">
            <a:avLst/>
          </a:prstGeom>
        </p:spPr>
      </p:pic>
      <p:sp>
        <p:nvSpPr>
          <p:cNvPr id="45" name="Text 39"/>
          <p:cNvSpPr txBox="1"/>
          <p:nvPr/>
        </p:nvSpPr>
        <p:spPr>
          <a:xfrm>
            <a:off x="1069848" y="4297680"/>
            <a:ext cx="1444752" cy="457200"/>
          </a:xfrm>
          <a:prstGeom prst="rect">
            <a:avLst/>
          </a:prstGeom>
          <a:noFill/>
          <a:ln/>
        </p:spPr>
        <p:txBody>
          <a:bodyPr wrap="square" lIns="0" tIns="0" rIns="0" bIns="0" rtlCol="0" anchor="ctr"/>
          <a:lstStyle/>
          <a:p>
            <a:pPr indent="0" marL="0">
              <a:buNone/>
            </a:pPr>
            <a:r>
              <a:rPr lang="en-US" sz="1050" dirty="0">
                <a:solidFill>
                  <a:schemeClr val="tx1"/>
                </a:solidFill>
              </a:rPr>
              <a:t>Bus sizes and prices</a:t>
            </a:r>
            <a:endParaRPr lang="en-US" sz="1050" dirty="0"/>
          </a:p>
        </p:txBody>
      </p:sp>
      <p:pic>
        <p:nvPicPr>
          <p:cNvPr id="46" name="Image 4" descr="Venue: search any address">    </p:cNvPr>
          <p:cNvPicPr>
            <a:picLocks noChangeAspect="1"/>
          </p:cNvPicPr>
          <p:nvPr/>
        </p:nvPicPr>
        <p:blipFill>
          <a:blip r:embed="rId5"/>
          <a:stretch>
            <a:fillRect/>
          </a:stretch>
        </p:blipFill>
        <p:spPr>
          <a:xfrm>
            <a:off x="667512" y="4882896"/>
            <a:ext cx="292608" cy="292608"/>
          </a:xfrm>
          <a:prstGeom prst="rect">
            <a:avLst/>
          </a:prstGeom>
        </p:spPr>
      </p:pic>
      <p:sp>
        <p:nvSpPr>
          <p:cNvPr id="47" name="Text 40"/>
          <p:cNvSpPr txBox="1"/>
          <p:nvPr/>
        </p:nvSpPr>
        <p:spPr>
          <a:xfrm>
            <a:off x="1069848" y="4846320"/>
            <a:ext cx="1444752" cy="457200"/>
          </a:xfrm>
          <a:prstGeom prst="rect">
            <a:avLst/>
          </a:prstGeom>
          <a:noFill/>
          <a:ln/>
        </p:spPr>
        <p:txBody>
          <a:bodyPr wrap="square" lIns="0" tIns="0" rIns="0" bIns="0" rtlCol="0" anchor="ctr"/>
          <a:lstStyle/>
          <a:p>
            <a:pPr indent="0" marL="0">
              <a:buNone/>
            </a:pPr>
            <a:r>
              <a:rPr lang="en-US" sz="1050" dirty="0">
                <a:solidFill>
                  <a:schemeClr val="tx1"/>
                </a:solidFill>
              </a:rPr>
              <a:t>Venue: search any address</a:t>
            </a:r>
            <a:endParaRPr lang="en-US" sz="1050" dirty="0"/>
          </a:p>
        </p:txBody>
      </p:sp>
      <p:sp>
        <p:nvSpPr>
          <p:cNvPr id="48" name="Fixed price per bus"/>
          <p:cNvSpPr/>
          <p:nvPr/>
        </p:nvSpPr>
        <p:spPr>
          <a:xfrm>
            <a:off x="2875788" y="3200400"/>
            <a:ext cx="1847088" cy="603504"/>
          </a:xfrm>
          <a:prstGeom prst="roundRect">
            <a:avLst>
              <a:gd name="adj" fmla="val 18182"/>
            </a:avLst>
          </a:prstGeom>
          <a:solidFill>
            <a:srgbClr val="FDECEE"/>
          </a:solidFill>
          <a:ln w="9525">
            <a:solidFill>
              <a:srgbClr val="FDECEE"/>
            </a:solidFill>
            <a:prstDash val="solid"/>
          </a:ln>
        </p:spPr>
      </p:sp>
      <p:pic>
        <p:nvPicPr>
          <p:cNvPr id="49" name="Image 5" descr="Fixed price per bus">    </p:cNvPr>
          <p:cNvPicPr>
            <a:picLocks noChangeAspect="1"/>
          </p:cNvPicPr>
          <p:nvPr/>
        </p:nvPicPr>
        <p:blipFill>
          <a:blip r:embed="rId6"/>
          <a:stretch>
            <a:fillRect/>
          </a:stretch>
        </p:blipFill>
        <p:spPr>
          <a:xfrm>
            <a:off x="2985516" y="3355848"/>
            <a:ext cx="292608" cy="292608"/>
          </a:xfrm>
          <a:prstGeom prst="rect">
            <a:avLst/>
          </a:prstGeom>
        </p:spPr>
      </p:pic>
      <p:sp>
        <p:nvSpPr>
          <p:cNvPr id="50" name="Text 42"/>
          <p:cNvSpPr txBox="1"/>
          <p:nvPr/>
        </p:nvSpPr>
        <p:spPr>
          <a:xfrm>
            <a:off x="3369564" y="3200400"/>
            <a:ext cx="1280160" cy="603504"/>
          </a:xfrm>
          <a:prstGeom prst="rect">
            <a:avLst/>
          </a:prstGeom>
          <a:noFill/>
          <a:ln/>
        </p:spPr>
        <p:txBody>
          <a:bodyPr wrap="square" lIns="0" tIns="0" rIns="0" bIns="0" rtlCol="0" anchor="ctr"/>
          <a:lstStyle/>
          <a:p>
            <a:pPr indent="0" marL="0">
              <a:buNone/>
            </a:pPr>
            <a:r>
              <a:rPr lang="en-US" sz="1100" b="1" dirty="0">
                <a:solidFill>
                  <a:srgbClr val="D7192F"/>
                </a:solidFill>
              </a:rPr>
              <a:t>Fixed price per bus</a:t>
            </a:r>
            <a:endParaRPr lang="en-US" sz="1100" dirty="0"/>
          </a:p>
        </p:txBody>
      </p:sp>
      <p:sp>
        <p:nvSpPr>
          <p:cNvPr id="51" name="Price per mile"/>
          <p:cNvSpPr/>
          <p:nvPr/>
        </p:nvSpPr>
        <p:spPr>
          <a:xfrm>
            <a:off x="2875788" y="3913632"/>
            <a:ext cx="1847088" cy="603504"/>
          </a:xfrm>
          <a:prstGeom prst="roundRect">
            <a:avLst>
              <a:gd name="adj" fmla="val 18182"/>
            </a:avLst>
          </a:prstGeom>
          <a:solidFill>
            <a:srgbClr val="EAF1FB"/>
          </a:solidFill>
          <a:ln w="9525">
            <a:solidFill>
              <a:srgbClr val="EAF1FB"/>
            </a:solidFill>
            <a:prstDash val="solid"/>
          </a:ln>
        </p:spPr>
      </p:sp>
      <p:pic>
        <p:nvPicPr>
          <p:cNvPr id="52" name="Image 6" descr="Price per mile">    </p:cNvPr>
          <p:cNvPicPr>
            <a:picLocks noChangeAspect="1"/>
          </p:cNvPicPr>
          <p:nvPr/>
        </p:nvPicPr>
        <p:blipFill>
          <a:blip r:embed="rId7"/>
          <a:stretch>
            <a:fillRect/>
          </a:stretch>
        </p:blipFill>
        <p:spPr>
          <a:xfrm>
            <a:off x="2985516" y="4069080"/>
            <a:ext cx="292608" cy="292608"/>
          </a:xfrm>
          <a:prstGeom prst="rect">
            <a:avLst/>
          </a:prstGeom>
        </p:spPr>
      </p:pic>
      <p:sp>
        <p:nvSpPr>
          <p:cNvPr id="53" name="Text 44"/>
          <p:cNvSpPr txBox="1"/>
          <p:nvPr/>
        </p:nvSpPr>
        <p:spPr>
          <a:xfrm>
            <a:off x="3369564" y="3913632"/>
            <a:ext cx="1280160" cy="603504"/>
          </a:xfrm>
          <a:prstGeom prst="rect">
            <a:avLst/>
          </a:prstGeom>
          <a:noFill/>
          <a:ln/>
        </p:spPr>
        <p:txBody>
          <a:bodyPr wrap="square" lIns="0" tIns="0" rIns="0" bIns="0" rtlCol="0" anchor="ctr"/>
          <a:lstStyle/>
          <a:p>
            <a:pPr indent="0" marL="0">
              <a:buNone/>
            </a:pPr>
            <a:r>
              <a:rPr lang="en-US" sz="1100" b="1" dirty="0">
                <a:solidFill>
                  <a:srgbClr val="1F5FBF"/>
                </a:solidFill>
              </a:rPr>
              <a:t>Price per mile</a:t>
            </a:r>
            <a:endParaRPr lang="en-US" sz="1100" dirty="0"/>
          </a:p>
        </p:txBody>
      </p:sp>
      <p:sp>
        <p:nvSpPr>
          <p:cNvPr id="54" name="Price per driving hour"/>
          <p:cNvSpPr/>
          <p:nvPr/>
        </p:nvSpPr>
        <p:spPr>
          <a:xfrm>
            <a:off x="2875788" y="4626864"/>
            <a:ext cx="1847088" cy="603504"/>
          </a:xfrm>
          <a:prstGeom prst="roundRect">
            <a:avLst>
              <a:gd name="adj" fmla="val 18182"/>
            </a:avLst>
          </a:prstGeom>
          <a:solidFill>
            <a:srgbClr val="FDECEE"/>
          </a:solidFill>
          <a:ln w="9525">
            <a:solidFill>
              <a:srgbClr val="FDECEE"/>
            </a:solidFill>
            <a:prstDash val="solid"/>
          </a:ln>
        </p:spPr>
      </p:sp>
      <p:pic>
        <p:nvPicPr>
          <p:cNvPr id="55" name="Image 7" descr="Price per driving hour">    </p:cNvPr>
          <p:cNvPicPr>
            <a:picLocks noChangeAspect="1"/>
          </p:cNvPicPr>
          <p:nvPr/>
        </p:nvPicPr>
        <p:blipFill>
          <a:blip r:embed="rId8"/>
          <a:stretch>
            <a:fillRect/>
          </a:stretch>
        </p:blipFill>
        <p:spPr>
          <a:xfrm>
            <a:off x="2985516" y="4782312"/>
            <a:ext cx="292608" cy="292608"/>
          </a:xfrm>
          <a:prstGeom prst="rect">
            <a:avLst/>
          </a:prstGeom>
        </p:spPr>
      </p:pic>
      <p:sp>
        <p:nvSpPr>
          <p:cNvPr id="56" name="Text 46"/>
          <p:cNvSpPr txBox="1"/>
          <p:nvPr/>
        </p:nvSpPr>
        <p:spPr>
          <a:xfrm>
            <a:off x="3369564" y="4626864"/>
            <a:ext cx="1280160" cy="603504"/>
          </a:xfrm>
          <a:prstGeom prst="rect">
            <a:avLst/>
          </a:prstGeom>
          <a:noFill/>
          <a:ln/>
        </p:spPr>
        <p:txBody>
          <a:bodyPr wrap="square" lIns="0" tIns="0" rIns="0" bIns="0" rtlCol="0" anchor="ctr"/>
          <a:lstStyle/>
          <a:p>
            <a:pPr indent="0" marL="0">
              <a:buNone/>
            </a:pPr>
            <a:r>
              <a:rPr lang="en-US" sz="1100" b="1" dirty="0">
                <a:solidFill>
                  <a:srgbClr val="D7192F"/>
                </a:solidFill>
              </a:rPr>
              <a:t>Price per driving hour</a:t>
            </a:r>
            <a:endParaRPr lang="en-US" sz="1100" dirty="0"/>
          </a:p>
        </p:txBody>
      </p:sp>
      <p:pic>
        <p:nvPicPr>
          <p:cNvPr id="57" name="Image 8" descr="Check">    </p:cNvPr>
          <p:cNvPicPr>
            <a:picLocks noChangeAspect="1"/>
          </p:cNvPicPr>
          <p:nvPr/>
        </p:nvPicPr>
        <p:blipFill>
          <a:blip r:embed="rId9"/>
          <a:stretch>
            <a:fillRect/>
          </a:stretch>
        </p:blipFill>
        <p:spPr>
          <a:xfrm>
            <a:off x="5157216" y="3236976"/>
            <a:ext cx="256032" cy="256032"/>
          </a:xfrm>
          <a:prstGeom prst="rect">
            <a:avLst/>
          </a:prstGeom>
        </p:spPr>
      </p:pic>
      <p:sp>
        <p:nvSpPr>
          <p:cNvPr id="58" name="Text 47"/>
          <p:cNvSpPr txBox="1"/>
          <p:nvPr/>
        </p:nvSpPr>
        <p:spPr>
          <a:xfrm>
            <a:off x="5504688" y="3182112"/>
            <a:ext cx="1499616" cy="365760"/>
          </a:xfrm>
          <a:prstGeom prst="rect">
            <a:avLst/>
          </a:prstGeom>
          <a:noFill/>
          <a:ln/>
        </p:spPr>
        <p:txBody>
          <a:bodyPr wrap="square" lIns="0" tIns="0" rIns="0" bIns="0" rtlCol="0" anchor="ctr"/>
          <a:lstStyle/>
          <a:p>
            <a:pPr indent="0" marL="0">
              <a:buNone/>
            </a:pPr>
            <a:r>
              <a:rPr lang="en-US" sz="1050" dirty="0">
                <a:solidFill>
                  <a:schemeClr val="tx1"/>
                </a:solidFill>
              </a:rPr>
              <a:t>Every school allocated</a:t>
            </a:r>
            <a:endParaRPr lang="en-US" sz="1050" dirty="0"/>
          </a:p>
        </p:txBody>
      </p:sp>
      <p:pic>
        <p:nvPicPr>
          <p:cNvPr id="59" name="Image 9" descr="Check">    </p:cNvPr>
          <p:cNvPicPr>
            <a:picLocks noChangeAspect="1"/>
          </p:cNvPicPr>
          <p:nvPr/>
        </p:nvPicPr>
        <p:blipFill>
          <a:blip r:embed="rId10"/>
          <a:stretch>
            <a:fillRect/>
          </a:stretch>
        </p:blipFill>
        <p:spPr>
          <a:xfrm>
            <a:off x="5157216" y="3675888"/>
            <a:ext cx="256032" cy="256032"/>
          </a:xfrm>
          <a:prstGeom prst="rect">
            <a:avLst/>
          </a:prstGeom>
        </p:spPr>
      </p:pic>
      <p:sp>
        <p:nvSpPr>
          <p:cNvPr id="60" name="Text 48"/>
          <p:cNvSpPr txBox="1"/>
          <p:nvPr/>
        </p:nvSpPr>
        <p:spPr>
          <a:xfrm>
            <a:off x="5504688" y="3621024"/>
            <a:ext cx="1499616" cy="365760"/>
          </a:xfrm>
          <a:prstGeom prst="rect">
            <a:avLst/>
          </a:prstGeom>
          <a:noFill/>
          <a:ln/>
        </p:spPr>
        <p:txBody>
          <a:bodyPr wrap="square" lIns="0" tIns="0" rIns="0" bIns="0" rtlCol="0" anchor="ctr"/>
          <a:lstStyle/>
          <a:p>
            <a:pPr indent="0" marL="0">
              <a:buNone/>
            </a:pPr>
            <a:r>
              <a:rPr lang="en-US" sz="1050" dirty="0">
                <a:solidFill>
                  <a:schemeClr val="tx1"/>
                </a:solidFill>
              </a:rPr>
              <a:t>No school split</a:t>
            </a:r>
            <a:endParaRPr lang="en-US" sz="1050" dirty="0"/>
          </a:p>
        </p:txBody>
      </p:sp>
      <p:pic>
        <p:nvPicPr>
          <p:cNvPr id="61" name="Image 10" descr="Check">    </p:cNvPr>
          <p:cNvPicPr>
            <a:picLocks noChangeAspect="1"/>
          </p:cNvPicPr>
          <p:nvPr/>
        </p:nvPicPr>
        <p:blipFill>
          <a:blip r:embed="rId11"/>
          <a:stretch>
            <a:fillRect/>
          </a:stretch>
        </p:blipFill>
        <p:spPr>
          <a:xfrm>
            <a:off x="5157216" y="4114800"/>
            <a:ext cx="256032" cy="256032"/>
          </a:xfrm>
          <a:prstGeom prst="rect">
            <a:avLst/>
          </a:prstGeom>
        </p:spPr>
      </p:pic>
      <p:sp>
        <p:nvSpPr>
          <p:cNvPr id="62" name="Text 49"/>
          <p:cNvSpPr txBox="1"/>
          <p:nvPr/>
        </p:nvSpPr>
        <p:spPr>
          <a:xfrm>
            <a:off x="5504688" y="4059936"/>
            <a:ext cx="1499616" cy="365760"/>
          </a:xfrm>
          <a:prstGeom prst="rect">
            <a:avLst/>
          </a:prstGeom>
          <a:noFill/>
          <a:ln/>
        </p:spPr>
        <p:txBody>
          <a:bodyPr wrap="square" lIns="0" tIns="0" rIns="0" bIns="0" rtlCol="0" anchor="ctr"/>
          <a:lstStyle/>
          <a:p>
            <a:pPr indent="0" marL="0">
              <a:buNone/>
            </a:pPr>
            <a:r>
              <a:rPr lang="en-US" sz="1050" dirty="0">
                <a:solidFill>
                  <a:schemeClr val="tx1"/>
                </a:solidFill>
              </a:rPr>
              <a:t>No bus over capacity</a:t>
            </a:r>
            <a:endParaRPr lang="en-US" sz="1050" dirty="0"/>
          </a:p>
        </p:txBody>
      </p:sp>
      <p:pic>
        <p:nvPicPr>
          <p:cNvPr id="63" name="Image 11" descr="Check">    </p:cNvPr>
          <p:cNvPicPr>
            <a:picLocks noChangeAspect="1"/>
          </p:cNvPicPr>
          <p:nvPr/>
        </p:nvPicPr>
        <p:blipFill>
          <a:blip r:embed="rId12"/>
          <a:stretch>
            <a:fillRect/>
          </a:stretch>
        </p:blipFill>
        <p:spPr>
          <a:xfrm>
            <a:off x="5157216" y="4553712"/>
            <a:ext cx="256032" cy="256032"/>
          </a:xfrm>
          <a:prstGeom prst="rect">
            <a:avLst/>
          </a:prstGeom>
        </p:spPr>
      </p:pic>
      <p:sp>
        <p:nvSpPr>
          <p:cNvPr id="64" name="Text 50"/>
          <p:cNvSpPr txBox="1"/>
          <p:nvPr/>
        </p:nvSpPr>
        <p:spPr>
          <a:xfrm>
            <a:off x="5504688" y="4498848"/>
            <a:ext cx="1499616" cy="365760"/>
          </a:xfrm>
          <a:prstGeom prst="rect">
            <a:avLst/>
          </a:prstGeom>
          <a:noFill/>
          <a:ln/>
        </p:spPr>
        <p:txBody>
          <a:bodyPr wrap="square" lIns="0" tIns="0" rIns="0" bIns="0" rtlCol="0" anchor="ctr"/>
          <a:lstStyle/>
          <a:p>
            <a:pPr indent="0" marL="0">
              <a:buNone/>
            </a:pPr>
            <a:r>
              <a:rPr lang="en-US" sz="1050" dirty="0">
                <a:solidFill>
                  <a:schemeClr val="tx1"/>
                </a:solidFill>
              </a:rPr>
              <a:t>Every attendee seated</a:t>
            </a:r>
            <a:endParaRPr lang="en-US" sz="1050" dirty="0"/>
          </a:p>
        </p:txBody>
      </p:sp>
      <p:pic>
        <p:nvPicPr>
          <p:cNvPr id="65" name="Image 12" descr="Check">    </p:cNvPr>
          <p:cNvPicPr>
            <a:picLocks noChangeAspect="1"/>
          </p:cNvPicPr>
          <p:nvPr/>
        </p:nvPicPr>
        <p:blipFill>
          <a:blip r:embed="rId13"/>
          <a:stretch>
            <a:fillRect/>
          </a:stretch>
        </p:blipFill>
        <p:spPr>
          <a:xfrm>
            <a:off x="5157216" y="4992624"/>
            <a:ext cx="256032" cy="256032"/>
          </a:xfrm>
          <a:prstGeom prst="rect">
            <a:avLst/>
          </a:prstGeom>
        </p:spPr>
      </p:pic>
      <p:sp>
        <p:nvSpPr>
          <p:cNvPr id="66" name="Text 51"/>
          <p:cNvSpPr txBox="1"/>
          <p:nvPr/>
        </p:nvSpPr>
        <p:spPr>
          <a:xfrm>
            <a:off x="5504688" y="4937760"/>
            <a:ext cx="1499616" cy="365760"/>
          </a:xfrm>
          <a:prstGeom prst="rect">
            <a:avLst/>
          </a:prstGeom>
          <a:noFill/>
          <a:ln/>
        </p:spPr>
        <p:txBody>
          <a:bodyPr wrap="square" lIns="0" tIns="0" rIns="0" bIns="0" rtlCol="0" anchor="ctr"/>
          <a:lstStyle/>
          <a:p>
            <a:pPr indent="0" marL="0">
              <a:buNone/>
            </a:pPr>
            <a:r>
              <a:rPr lang="en-US" sz="1050" dirty="0">
                <a:solidFill>
                  <a:schemeClr val="tx1"/>
                </a:solidFill>
              </a:rPr>
              <a:t>Costs recalculated</a:t>
            </a:r>
            <a:endParaRPr lang="en-US" sz="1050" dirty="0"/>
          </a:p>
        </p:txBody>
      </p:sp>
      <p:sp>
        <p:nvSpPr>
          <p:cNvPr id="67" name="Shape 52"/>
          <p:cNvSpPr/>
          <p:nvPr/>
        </p:nvSpPr>
        <p:spPr>
          <a:xfrm>
            <a:off x="7347204" y="3163824"/>
            <a:ext cx="1883664" cy="1477194"/>
          </a:xfrm>
          <a:prstGeom prst="rect">
            <a:avLst/>
          </a:prstGeom>
          <a:solidFill>
            <a:srgbClr val="D7DCE3"/>
          </a:solidFill>
          <a:ln w="12700">
            <a:solidFill>
              <a:srgbClr val="D7DCE3"/>
            </a:solidFill>
            <a:prstDash val="solid"/>
          </a:ln>
        </p:spPr>
      </p:sp>
      <p:pic>
        <p:nvPicPr>
          <p:cNvPr id="68" name="Image 13" descr="Campus Cruise route map: 25 buses from 60 schools to Principality Stadium">    </p:cNvPr>
          <p:cNvPicPr>
            <a:picLocks noChangeAspect="1"/>
          </p:cNvPicPr>
          <p:nvPr/>
        </p:nvPicPr>
        <p:blipFill>
          <a:blip r:embed="rId14"/>
          <a:stretch>
            <a:fillRect/>
          </a:stretch>
        </p:blipFill>
        <p:spPr>
          <a:xfrm>
            <a:off x="7365492" y="3182112"/>
            <a:ext cx="1847088" cy="1440618"/>
          </a:xfrm>
          <a:prstGeom prst="rect">
            <a:avLst/>
          </a:prstGeom>
        </p:spPr>
      </p:pic>
      <p:sp>
        <p:nvSpPr>
          <p:cNvPr id="69" name="Text 53"/>
          <p:cNvSpPr txBox="1"/>
          <p:nvPr/>
        </p:nvSpPr>
        <p:spPr>
          <a:xfrm>
            <a:off x="7365492" y="4677594"/>
            <a:ext cx="1847088" cy="457200"/>
          </a:xfrm>
          <a:prstGeom prst="rect">
            <a:avLst/>
          </a:prstGeom>
          <a:noFill/>
          <a:ln/>
        </p:spPr>
        <p:txBody>
          <a:bodyPr wrap="square" lIns="0" tIns="0" rIns="0" bIns="0" rtlCol="0" anchor="t"/>
          <a:lstStyle/>
          <a:p>
            <a:pPr indent="0" marL="0">
              <a:buNone/>
            </a:pPr>
            <a:r>
              <a:rPr lang="en-US" sz="1000" dirty="0">
                <a:solidFill>
                  <a:schemeClr val="tx2"/>
                </a:solidFill>
              </a:rPr>
              <a:t>25 buses, one colour each; star = venue</a:t>
            </a:r>
            <a:endParaRPr lang="en-US" sz="1000" dirty="0"/>
          </a:p>
        </p:txBody>
      </p:sp>
      <p:pic>
        <p:nvPicPr>
          <p:cNvPr id="70" name="Image 14" descr="Plan CSV: bus, pickup order, cost share">    </p:cNvPr>
          <p:cNvPicPr>
            <a:picLocks noChangeAspect="1"/>
          </p:cNvPicPr>
          <p:nvPr/>
        </p:nvPicPr>
        <p:blipFill>
          <a:blip r:embed="rId15"/>
          <a:stretch>
            <a:fillRect/>
          </a:stretch>
        </p:blipFill>
        <p:spPr>
          <a:xfrm>
            <a:off x="9646920" y="3236976"/>
            <a:ext cx="292608" cy="292608"/>
          </a:xfrm>
          <a:prstGeom prst="rect">
            <a:avLst/>
          </a:prstGeom>
        </p:spPr>
      </p:pic>
      <p:sp>
        <p:nvSpPr>
          <p:cNvPr id="71" name="Text 54"/>
          <p:cNvSpPr txBox="1"/>
          <p:nvPr/>
        </p:nvSpPr>
        <p:spPr>
          <a:xfrm>
            <a:off x="10049256" y="3200400"/>
            <a:ext cx="1444752" cy="457200"/>
          </a:xfrm>
          <a:prstGeom prst="rect">
            <a:avLst/>
          </a:prstGeom>
          <a:noFill/>
          <a:ln/>
        </p:spPr>
        <p:txBody>
          <a:bodyPr wrap="square" lIns="0" tIns="0" rIns="0" bIns="0" rtlCol="0" anchor="ctr"/>
          <a:lstStyle/>
          <a:p>
            <a:pPr indent="0" marL="0">
              <a:buNone/>
            </a:pPr>
            <a:r>
              <a:rPr lang="en-US" sz="1050" dirty="0">
                <a:solidFill>
                  <a:schemeClr val="tx1"/>
                </a:solidFill>
              </a:rPr>
              <a:t>Plan CSV: bus, pickup order, cost share</a:t>
            </a:r>
            <a:endParaRPr lang="en-US" sz="1050" dirty="0"/>
          </a:p>
        </p:txBody>
      </p:sp>
      <p:pic>
        <p:nvPicPr>
          <p:cNvPr id="72" name="Image 15" descr="Report and audit report">    </p:cNvPr>
          <p:cNvPicPr>
            <a:picLocks noChangeAspect="1"/>
          </p:cNvPicPr>
          <p:nvPr/>
        </p:nvPicPr>
        <p:blipFill>
          <a:blip r:embed="rId16"/>
          <a:stretch>
            <a:fillRect/>
          </a:stretch>
        </p:blipFill>
        <p:spPr>
          <a:xfrm>
            <a:off x="9646920" y="3785616"/>
            <a:ext cx="292608" cy="292608"/>
          </a:xfrm>
          <a:prstGeom prst="rect">
            <a:avLst/>
          </a:prstGeom>
        </p:spPr>
      </p:pic>
      <p:sp>
        <p:nvSpPr>
          <p:cNvPr id="73" name="Text 55"/>
          <p:cNvSpPr txBox="1"/>
          <p:nvPr/>
        </p:nvSpPr>
        <p:spPr>
          <a:xfrm>
            <a:off x="10049256" y="3749040"/>
            <a:ext cx="1444752" cy="457200"/>
          </a:xfrm>
          <a:prstGeom prst="rect">
            <a:avLst/>
          </a:prstGeom>
          <a:noFill/>
          <a:ln/>
        </p:spPr>
        <p:txBody>
          <a:bodyPr wrap="square" lIns="0" tIns="0" rIns="0" bIns="0" rtlCol="0" anchor="ctr"/>
          <a:lstStyle/>
          <a:p>
            <a:pPr indent="0" marL="0">
              <a:buNone/>
            </a:pPr>
            <a:r>
              <a:rPr lang="en-US" sz="1050" dirty="0">
                <a:solidFill>
                  <a:schemeClr val="tx1"/>
                </a:solidFill>
              </a:rPr>
              <a:t>Report and audit report</a:t>
            </a:r>
            <a:endParaRPr lang="en-US" sz="1050" dirty="0"/>
          </a:p>
        </p:txBody>
      </p:sp>
      <p:pic>
        <p:nvPicPr>
          <p:cNvPr id="74" name="Image 16" descr="Clear pickup order per bus">    </p:cNvPr>
          <p:cNvPicPr>
            <a:picLocks noChangeAspect="1"/>
          </p:cNvPicPr>
          <p:nvPr/>
        </p:nvPicPr>
        <p:blipFill>
          <a:blip r:embed="rId17"/>
          <a:stretch>
            <a:fillRect/>
          </a:stretch>
        </p:blipFill>
        <p:spPr>
          <a:xfrm>
            <a:off x="9646920" y="4334256"/>
            <a:ext cx="292608" cy="292608"/>
          </a:xfrm>
          <a:prstGeom prst="rect">
            <a:avLst/>
          </a:prstGeom>
        </p:spPr>
      </p:pic>
      <p:sp>
        <p:nvSpPr>
          <p:cNvPr id="75" name="Text 56"/>
          <p:cNvSpPr txBox="1"/>
          <p:nvPr/>
        </p:nvSpPr>
        <p:spPr>
          <a:xfrm>
            <a:off x="10049256" y="4297680"/>
            <a:ext cx="1444752" cy="457200"/>
          </a:xfrm>
          <a:prstGeom prst="rect">
            <a:avLst/>
          </a:prstGeom>
          <a:noFill/>
          <a:ln/>
        </p:spPr>
        <p:txBody>
          <a:bodyPr wrap="square" lIns="0" tIns="0" rIns="0" bIns="0" rtlCol="0" anchor="ctr"/>
          <a:lstStyle/>
          <a:p>
            <a:pPr indent="0" marL="0">
              <a:buNone/>
            </a:pPr>
            <a:r>
              <a:rPr lang="en-US" sz="1050" dirty="0">
                <a:solidFill>
                  <a:schemeClr val="tx1"/>
                </a:solidFill>
              </a:rPr>
              <a:t>Clear pickup order per bus</a:t>
            </a:r>
            <a:endParaRPr lang="en-US" sz="1050" dirty="0"/>
          </a:p>
        </p:txBody>
      </p:sp>
      <p:pic>
        <p:nvPicPr>
          <p:cNvPr id="76" name="Image 17" descr="Ready for booking">    </p:cNvPr>
          <p:cNvPicPr>
            <a:picLocks noChangeAspect="1"/>
          </p:cNvPicPr>
          <p:nvPr/>
        </p:nvPicPr>
        <p:blipFill>
          <a:blip r:embed="rId18"/>
          <a:stretch>
            <a:fillRect/>
          </a:stretch>
        </p:blipFill>
        <p:spPr>
          <a:xfrm>
            <a:off x="9646920" y="4882896"/>
            <a:ext cx="292608" cy="292608"/>
          </a:xfrm>
          <a:prstGeom prst="rect">
            <a:avLst/>
          </a:prstGeom>
        </p:spPr>
      </p:pic>
      <p:sp>
        <p:nvSpPr>
          <p:cNvPr id="77" name="Text 57"/>
          <p:cNvSpPr txBox="1"/>
          <p:nvPr/>
        </p:nvSpPr>
        <p:spPr>
          <a:xfrm>
            <a:off x="10049256" y="4846320"/>
            <a:ext cx="1444752" cy="457200"/>
          </a:xfrm>
          <a:prstGeom prst="rect">
            <a:avLst/>
          </a:prstGeom>
          <a:noFill/>
          <a:ln/>
        </p:spPr>
        <p:txBody>
          <a:bodyPr wrap="square" lIns="0" tIns="0" rIns="0" bIns="0" rtlCol="0" anchor="ctr"/>
          <a:lstStyle/>
          <a:p>
            <a:pPr indent="0" marL="0">
              <a:buNone/>
            </a:pPr>
            <a:r>
              <a:rPr lang="en-US" sz="1050" dirty="0">
                <a:solidFill>
                  <a:schemeClr val="tx1"/>
                </a:solidFill>
              </a:rPr>
              <a:t>Ready for booking</a:t>
            </a:r>
            <a:endParaRPr lang="en-US" sz="1050" dirty="0"/>
          </a:p>
        </p:txBody>
      </p:sp>
      <p:sp>
        <p:nvSpPr>
          <p:cNvPr id="78" name="Goal and benefits"/>
          <p:cNvSpPr/>
          <p:nvPr/>
        </p:nvSpPr>
        <p:spPr>
          <a:xfrm>
            <a:off x="502920" y="5623560"/>
            <a:ext cx="11183112" cy="777240"/>
          </a:xfrm>
          <a:prstGeom prst="roundRect">
            <a:avLst>
              <a:gd name="adj" fmla="val 14118"/>
            </a:avLst>
          </a:prstGeom>
          <a:solidFill>
            <a:srgbClr val="FDECEE"/>
          </a:solidFill>
          <a:ln w="9525">
            <a:solidFill>
              <a:srgbClr val="FDECEE"/>
            </a:solidFill>
            <a:prstDash val="solid"/>
          </a:ln>
        </p:spPr>
      </p:sp>
      <p:pic>
        <p:nvPicPr>
          <p:cNvPr id="79" name="Image 18" descr="Goal">    </p:cNvPr>
          <p:cNvPicPr>
            <a:picLocks noChangeAspect="1"/>
          </p:cNvPicPr>
          <p:nvPr/>
        </p:nvPicPr>
        <p:blipFill>
          <a:blip r:embed="rId19"/>
          <a:stretch>
            <a:fillRect/>
          </a:stretch>
        </p:blipFill>
        <p:spPr>
          <a:xfrm>
            <a:off x="731520" y="5760720"/>
            <a:ext cx="502920" cy="502920"/>
          </a:xfrm>
          <a:prstGeom prst="rect">
            <a:avLst/>
          </a:prstGeom>
        </p:spPr>
      </p:pic>
      <p:sp>
        <p:nvSpPr>
          <p:cNvPr id="80" name="Text 59"/>
          <p:cNvSpPr txBox="1"/>
          <p:nvPr/>
        </p:nvSpPr>
        <p:spPr>
          <a:xfrm>
            <a:off x="1371600" y="5623560"/>
            <a:ext cx="4389120" cy="777240"/>
          </a:xfrm>
          <a:prstGeom prst="rect">
            <a:avLst/>
          </a:prstGeom>
          <a:noFill/>
          <a:ln/>
        </p:spPr>
        <p:txBody>
          <a:bodyPr wrap="square" lIns="0" tIns="0" rIns="0" bIns="0" rtlCol="0" anchor="ctr"/>
          <a:lstStyle/>
          <a:p>
            <a:pPr indent="0" marL="0">
              <a:buNone/>
            </a:pPr>
            <a:r>
              <a:rPr lang="en-US" sz="1300" b="1" dirty="0">
                <a:solidFill>
                  <a:srgbClr val="D7192F"/>
                </a:solidFill>
              </a:rPr>
              <a:t>Our goal: </a:t>
            </a:r>
            <a:pPr indent="0" marL="0">
              <a:buNone/>
            </a:pPr>
            <a:r>
              <a:rPr lang="en-US" sz="1300" dirty="0">
                <a:solidFill>
                  <a:schemeClr val="tx1"/>
                </a:solidFill>
              </a:rPr>
              <a:t>the cheapest plan that keeps every rule, for any schools and any venue.</a:t>
            </a:r>
            <a:endParaRPr lang="en-US" sz="1300" dirty="0"/>
          </a:p>
        </p:txBody>
      </p:sp>
      <p:pic>
        <p:nvPicPr>
          <p:cNvPr id="81" name="Image 19" descr="Lower cost">    </p:cNvPr>
          <p:cNvPicPr>
            <a:picLocks noChangeAspect="1"/>
          </p:cNvPicPr>
          <p:nvPr/>
        </p:nvPicPr>
        <p:blipFill>
          <a:blip r:embed="rId20"/>
          <a:stretch>
            <a:fillRect/>
          </a:stretch>
        </p:blipFill>
        <p:spPr>
          <a:xfrm>
            <a:off x="5989320" y="5833872"/>
            <a:ext cx="347472" cy="347472"/>
          </a:xfrm>
          <a:prstGeom prst="rect">
            <a:avLst/>
          </a:prstGeom>
        </p:spPr>
      </p:pic>
      <p:sp>
        <p:nvSpPr>
          <p:cNvPr id="82" name="Text 60"/>
          <p:cNvSpPr txBox="1"/>
          <p:nvPr/>
        </p:nvSpPr>
        <p:spPr>
          <a:xfrm>
            <a:off x="6409944" y="5623560"/>
            <a:ext cx="960120" cy="777240"/>
          </a:xfrm>
          <a:prstGeom prst="rect">
            <a:avLst/>
          </a:prstGeom>
          <a:noFill/>
          <a:ln/>
        </p:spPr>
        <p:txBody>
          <a:bodyPr wrap="square" lIns="0" tIns="0" rIns="0" bIns="0" rtlCol="0" anchor="ctr"/>
          <a:lstStyle/>
          <a:p>
            <a:pPr indent="0" marL="0">
              <a:buNone/>
            </a:pPr>
            <a:r>
              <a:rPr lang="en-US" sz="1150" b="1" dirty="0">
                <a:solidFill>
                  <a:schemeClr val="tx1"/>
                </a:solidFill>
              </a:rPr>
              <a:t>Lower cost</a:t>
            </a:r>
            <a:endParaRPr lang="en-US" sz="1150" dirty="0"/>
          </a:p>
        </p:txBody>
      </p:sp>
      <p:pic>
        <p:nvPicPr>
          <p:cNvPr id="83" name="Image 20" descr="Fuller buses">    </p:cNvPr>
          <p:cNvPicPr>
            <a:picLocks noChangeAspect="1"/>
          </p:cNvPicPr>
          <p:nvPr/>
        </p:nvPicPr>
        <p:blipFill>
          <a:blip r:embed="rId21"/>
          <a:stretch>
            <a:fillRect/>
          </a:stretch>
        </p:blipFill>
        <p:spPr>
          <a:xfrm>
            <a:off x="7406640" y="5833872"/>
            <a:ext cx="347472" cy="347472"/>
          </a:xfrm>
          <a:prstGeom prst="rect">
            <a:avLst/>
          </a:prstGeom>
        </p:spPr>
      </p:pic>
      <p:sp>
        <p:nvSpPr>
          <p:cNvPr id="84" name="Text 61"/>
          <p:cNvSpPr txBox="1"/>
          <p:nvPr/>
        </p:nvSpPr>
        <p:spPr>
          <a:xfrm>
            <a:off x="7827264" y="5623560"/>
            <a:ext cx="960120" cy="777240"/>
          </a:xfrm>
          <a:prstGeom prst="rect">
            <a:avLst/>
          </a:prstGeom>
          <a:noFill/>
          <a:ln/>
        </p:spPr>
        <p:txBody>
          <a:bodyPr wrap="square" lIns="0" tIns="0" rIns="0" bIns="0" rtlCol="0" anchor="ctr"/>
          <a:lstStyle/>
          <a:p>
            <a:pPr indent="0" marL="0">
              <a:buNone/>
            </a:pPr>
            <a:r>
              <a:rPr lang="en-US" sz="1150" b="1" dirty="0">
                <a:solidFill>
                  <a:schemeClr val="tx1"/>
                </a:solidFill>
              </a:rPr>
              <a:t>Fuller buses</a:t>
            </a:r>
            <a:endParaRPr lang="en-US" sz="1150" dirty="0"/>
          </a:p>
        </p:txBody>
      </p:sp>
      <p:pic>
        <p:nvPicPr>
          <p:cNvPr id="85" name="Image 21" descr="Fewer miles">    </p:cNvPr>
          <p:cNvPicPr>
            <a:picLocks noChangeAspect="1"/>
          </p:cNvPicPr>
          <p:nvPr/>
        </p:nvPicPr>
        <p:blipFill>
          <a:blip r:embed="rId22"/>
          <a:stretch>
            <a:fillRect/>
          </a:stretch>
        </p:blipFill>
        <p:spPr>
          <a:xfrm>
            <a:off x="8823960" y="5833872"/>
            <a:ext cx="347472" cy="347472"/>
          </a:xfrm>
          <a:prstGeom prst="rect">
            <a:avLst/>
          </a:prstGeom>
        </p:spPr>
      </p:pic>
      <p:sp>
        <p:nvSpPr>
          <p:cNvPr id="86" name="Text 62"/>
          <p:cNvSpPr txBox="1"/>
          <p:nvPr/>
        </p:nvSpPr>
        <p:spPr>
          <a:xfrm>
            <a:off x="9244584" y="5623560"/>
            <a:ext cx="960120" cy="777240"/>
          </a:xfrm>
          <a:prstGeom prst="rect">
            <a:avLst/>
          </a:prstGeom>
          <a:noFill/>
          <a:ln/>
        </p:spPr>
        <p:txBody>
          <a:bodyPr wrap="square" lIns="0" tIns="0" rIns="0" bIns="0" rtlCol="0" anchor="ctr"/>
          <a:lstStyle/>
          <a:p>
            <a:pPr indent="0" marL="0">
              <a:buNone/>
            </a:pPr>
            <a:r>
              <a:rPr lang="en-US" sz="1150" b="1" dirty="0">
                <a:solidFill>
                  <a:schemeClr val="tx1"/>
                </a:solidFill>
              </a:rPr>
              <a:t>Fewer miles</a:t>
            </a:r>
            <a:endParaRPr lang="en-US" sz="1150" dirty="0"/>
          </a:p>
        </p:txBody>
      </p:sp>
      <p:pic>
        <p:nvPicPr>
          <p:cNvPr id="87" name="Image 22" descr="Plan in seconds">    </p:cNvPr>
          <p:cNvPicPr>
            <a:picLocks noChangeAspect="1"/>
          </p:cNvPicPr>
          <p:nvPr/>
        </p:nvPicPr>
        <p:blipFill>
          <a:blip r:embed="rId23"/>
          <a:stretch>
            <a:fillRect/>
          </a:stretch>
        </p:blipFill>
        <p:spPr>
          <a:xfrm>
            <a:off x="10241280" y="5833872"/>
            <a:ext cx="347472" cy="347472"/>
          </a:xfrm>
          <a:prstGeom prst="rect">
            <a:avLst/>
          </a:prstGeom>
        </p:spPr>
      </p:pic>
      <p:sp>
        <p:nvSpPr>
          <p:cNvPr id="88" name="Text 63"/>
          <p:cNvSpPr txBox="1"/>
          <p:nvPr/>
        </p:nvSpPr>
        <p:spPr>
          <a:xfrm>
            <a:off x="10661904" y="5623560"/>
            <a:ext cx="960120" cy="777240"/>
          </a:xfrm>
          <a:prstGeom prst="rect">
            <a:avLst/>
          </a:prstGeom>
          <a:noFill/>
          <a:ln/>
        </p:spPr>
        <p:txBody>
          <a:bodyPr wrap="square" lIns="0" tIns="0" rIns="0" bIns="0" rtlCol="0" anchor="ctr"/>
          <a:lstStyle/>
          <a:p>
            <a:pPr indent="0" marL="0">
              <a:buNone/>
            </a:pPr>
            <a:r>
              <a:rPr lang="en-US" sz="1150" b="1" dirty="0">
                <a:solidFill>
                  <a:schemeClr val="tx1"/>
                </a:solidFill>
              </a:rPr>
              <a:t>Plan in seconds</a:t>
            </a:r>
            <a:endParaRPr lang="en-US" sz="1150" dirty="0"/>
          </a:p>
        </p:txBody>
      </p:sp>
      <p:sp>
        <p:nvSpPr>
          <p:cNvPr id="25" name="Slide Number Placeholder 0"/>
          <p:cNvSpPr>
            <a:spLocks noGrp="1"/>
          </p:cNvSpPr>
          <p:nvPr>
            <p:ph type="sldNum" sz="quarter" idx="4294967295"/>
          </p:nvPr>
        </p:nvSpPr>
        <p:spPr>
          <a:xfrm>
            <a:off x="11228832" y="651052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Coaches outside Principality Stadium, Cardiff (illustration from the team's reference slides)">    </p:cNvPr>
          <p:cNvPicPr>
            <a:picLocks noChangeAspect="1"/>
          </p:cNvPicPr>
          <p:nvPr/>
        </p:nvPicPr>
        <p:blipFill>
          <a:blip r:embed="rId1"/>
          <a:stretch>
            <a:fillRect/>
          </a:stretch>
        </p:blipFill>
        <p:spPr>
          <a:xfrm>
            <a:off x="8653357" y="0"/>
            <a:ext cx="3538338" cy="1874520"/>
          </a:xfrm>
          <a:prstGeom prst="rect">
            <a:avLst/>
          </a:prstGeom>
        </p:spPr>
      </p:pic>
      <p:sp>
        <p:nvSpPr>
          <p:cNvPr id="3" name="Text 0"/>
          <p:cNvSpPr/>
          <p:nvPr>
            <p:ph idx="100" type="body" hasCustomPrompt="1"/>
          </p:nvPr>
        </p:nvSpPr>
        <p:spPr>
          <a:xfrm>
            <a:off x="502920" y="292608"/>
            <a:ext cx="7315200" cy="274320"/>
          </a:xfrm>
          <a:prstGeom prst="rect">
            <a:avLst/>
          </a:prstGeom>
          <a:noFill/>
          <a:ln/>
        </p:spPr>
        <p:txBody>
          <a:bodyPr wrap="square" lIns="0" tIns="0" rIns="0" bIns="0" rtlCol="0" anchor="t"/>
          <a:lstStyle/>
          <a:p>
            <a:pPr indent="0" marL="0">
              <a:buNone/>
            </a:pPr>
            <a:r>
              <a:rPr lang="en-US" sz="1300" b="1" spc="100" kern="0" dirty="0">
                <a:solidFill>
                  <a:schemeClr val="accent6"/>
                </a:solidFill>
              </a:rPr>
              <a:t>ALGORITHMS AND AI APPROACH</a:t>
            </a:r>
            <a:endParaRPr lang="en-US" sz="1300" dirty="0"/>
          </a:p>
        </p:txBody>
      </p:sp>
      <p:sp>
        <p:nvSpPr>
          <p:cNvPr id="4" name="Text 1"/>
          <p:cNvSpPr/>
          <p:nvPr>
            <p:ph idx="102" type="title" hasCustomPrompt="1"/>
          </p:nvPr>
        </p:nvSpPr>
        <p:spPr>
          <a:xfrm>
            <a:off x="502920" y="777240"/>
            <a:ext cx="7589520" cy="1051560"/>
          </a:xfrm>
          <a:prstGeom prst="rect">
            <a:avLst/>
          </a:prstGeom>
          <a:noFill/>
          <a:ln/>
        </p:spPr>
        <p:txBody>
          <a:bodyPr wrap="square" lIns="0" tIns="0" rIns="0" bIns="0" rtlCol="0" anchor="t"/>
          <a:lstStyle/>
          <a:p>
            <a:pPr algn="l" indent="0" marL="0">
              <a:buNone/>
            </a:pPr>
            <a:r>
              <a:rPr lang="en-US" sz="3400" b="1" dirty="0">
                <a:solidFill>
                  <a:srgbClr val="0B1F45"/>
                </a:solidFill>
              </a:rPr>
              <a:t>Optimisation Models
</a:t>
            </a:r>
            <a:pPr algn="l" indent="0" marL="0">
              <a:buNone/>
            </a:pPr>
            <a:r>
              <a:rPr lang="en-US" sz="3400" b="1" dirty="0">
                <a:solidFill>
                  <a:srgbClr val="D7192F"/>
                </a:solidFill>
              </a:rPr>
              <a:t>and AI Approach</a:t>
            </a:r>
            <a:endParaRPr lang="en-US" sz="3400" dirty="0"/>
          </a:p>
        </p:txBody>
      </p:sp>
      <p:sp>
        <p:nvSpPr>
          <p:cNvPr id="5" name="Text 2"/>
          <p:cNvSpPr txBox="1"/>
          <p:nvPr/>
        </p:nvSpPr>
        <p:spPr>
          <a:xfrm>
            <a:off x="502920" y="1874520"/>
            <a:ext cx="7315200" cy="566928"/>
          </a:xfrm>
          <a:prstGeom prst="rect">
            <a:avLst/>
          </a:prstGeom>
          <a:noFill/>
          <a:ln/>
        </p:spPr>
        <p:txBody>
          <a:bodyPr wrap="square" lIns="0" tIns="0" rIns="0" bIns="0" rtlCol="0" anchor="t"/>
          <a:lstStyle/>
          <a:p>
            <a:pPr indent="0" marL="0">
              <a:buNone/>
            </a:pPr>
            <a:r>
              <a:rPr lang="en-US" sz="1500" dirty="0">
                <a:solidFill>
                  <a:schemeClr val="tx2"/>
                </a:solidFill>
              </a:rPr>
              <a:t>One general engine, three pricing rules: no retraining for new schools or venues.</a:t>
            </a:r>
            <a:endParaRPr lang="en-US" sz="1500" dirty="0"/>
          </a:p>
        </p:txBody>
      </p:sp>
      <p:sp>
        <p:nvSpPr>
          <p:cNvPr id="6" name="Fixed Cost Model"/>
          <p:cNvSpPr/>
          <p:nvPr/>
        </p:nvSpPr>
        <p:spPr>
          <a:xfrm>
            <a:off x="502920" y="2487168"/>
            <a:ext cx="3611880" cy="3794760"/>
          </a:xfrm>
          <a:prstGeom prst="roundRect">
            <a:avLst>
              <a:gd name="adj" fmla="val 3038"/>
            </a:avLst>
          </a:prstGeom>
          <a:solidFill>
            <a:srgbClr val="FDECEE"/>
          </a:solidFill>
          <a:ln w="9525">
            <a:solidFill>
              <a:srgbClr val="FDECEE"/>
            </a:solidFill>
            <a:prstDash val="solid"/>
          </a:ln>
        </p:spPr>
      </p:sp>
      <p:sp>
        <p:nvSpPr>
          <p:cNvPr id="7" name="Step 1"/>
          <p:cNvSpPr/>
          <p:nvPr/>
        </p:nvSpPr>
        <p:spPr>
          <a:xfrm>
            <a:off x="685800" y="2670048"/>
            <a:ext cx="530352" cy="530352"/>
          </a:xfrm>
          <a:prstGeom prst="ellipse">
            <a:avLst/>
          </a:prstGeom>
          <a:solidFill>
            <a:srgbClr val="D7192F"/>
          </a:solidFill>
          <a:ln w="12700">
            <a:solidFill>
              <a:srgbClr val="D7192F"/>
            </a:solidFill>
            <a:prstDash val="solid"/>
          </a:ln>
        </p:spPr>
      </p:sp>
      <p:sp>
        <p:nvSpPr>
          <p:cNvPr id="8" name="Text 5"/>
          <p:cNvSpPr txBox="1"/>
          <p:nvPr/>
        </p:nvSpPr>
        <p:spPr>
          <a:xfrm>
            <a:off x="685800" y="2670048"/>
            <a:ext cx="530352" cy="530352"/>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9" name="Text 6"/>
          <p:cNvSpPr txBox="1"/>
          <p:nvPr/>
        </p:nvSpPr>
        <p:spPr>
          <a:xfrm>
            <a:off x="1344168" y="2642616"/>
            <a:ext cx="2103120" cy="329184"/>
          </a:xfrm>
          <a:prstGeom prst="rect">
            <a:avLst/>
          </a:prstGeom>
          <a:noFill/>
          <a:ln/>
        </p:spPr>
        <p:txBody>
          <a:bodyPr wrap="square" lIns="0" tIns="0" rIns="0" bIns="0" rtlCol="0" anchor="t"/>
          <a:lstStyle/>
          <a:p>
            <a:pPr indent="0" marL="0">
              <a:buNone/>
            </a:pPr>
            <a:r>
              <a:rPr lang="en-US" sz="1600" b="1" dirty="0">
                <a:solidFill>
                  <a:schemeClr val="tx1"/>
                </a:solidFill>
              </a:rPr>
              <a:t>Fixed Cost Model</a:t>
            </a:r>
            <a:endParaRPr lang="en-US" sz="1600" dirty="0"/>
          </a:p>
        </p:txBody>
      </p:sp>
      <p:sp>
        <p:nvSpPr>
          <p:cNvPr id="10" name="Text 7"/>
          <p:cNvSpPr txBox="1"/>
          <p:nvPr/>
        </p:nvSpPr>
        <p:spPr>
          <a:xfrm>
            <a:off x="1344168" y="2971800"/>
            <a:ext cx="2103120" cy="274320"/>
          </a:xfrm>
          <a:prstGeom prst="rect">
            <a:avLst/>
          </a:prstGeom>
          <a:noFill/>
          <a:ln/>
        </p:spPr>
        <p:txBody>
          <a:bodyPr wrap="square" lIns="0" tIns="0" rIns="0" bIns="0" rtlCol="0" anchor="t"/>
          <a:lstStyle/>
          <a:p>
            <a:pPr indent="0" marL="0">
              <a:buNone/>
            </a:pPr>
            <a:r>
              <a:rPr lang="en-US" sz="1050" b="1" dirty="0">
                <a:solidFill>
                  <a:srgbClr val="D7192F"/>
                </a:solidFill>
              </a:rPr>
              <a:t>Minimise total bus rental price</a:t>
            </a:r>
            <a:endParaRPr lang="en-US" sz="1050" dirty="0"/>
          </a:p>
        </p:txBody>
      </p:sp>
      <p:pic>
        <p:nvPicPr>
          <p:cNvPr id="11" name="Image 1" descr="FaCoins">    </p:cNvPr>
          <p:cNvPicPr>
            <a:picLocks noChangeAspect="1"/>
          </p:cNvPicPr>
          <p:nvPr/>
        </p:nvPicPr>
        <p:blipFill>
          <a:blip r:embed="rId2"/>
          <a:stretch>
            <a:fillRect/>
          </a:stretch>
        </p:blipFill>
        <p:spPr>
          <a:xfrm>
            <a:off x="3493008" y="2688336"/>
            <a:ext cx="438912" cy="438912"/>
          </a:xfrm>
          <a:prstGeom prst="rect">
            <a:avLst/>
          </a:prstGeom>
        </p:spPr>
      </p:pic>
      <p:sp>
        <p:nvSpPr>
          <p:cNvPr id="12" name="Shape 8"/>
          <p:cNvSpPr/>
          <p:nvPr/>
        </p:nvSpPr>
        <p:spPr>
          <a:xfrm>
            <a:off x="685800" y="3383280"/>
            <a:ext cx="3246120" cy="0"/>
          </a:xfrm>
          <a:prstGeom prst="line">
            <a:avLst/>
          </a:prstGeom>
          <a:noFill/>
          <a:ln w="9525">
            <a:solidFill>
              <a:srgbClr val="D9DEE6"/>
            </a:solidFill>
            <a:prstDash val="solid"/>
          </a:ln>
        </p:spPr>
      </p:sp>
      <p:sp>
        <p:nvSpPr>
          <p:cNvPr id="13" name="Text 9"/>
          <p:cNvSpPr txBox="1"/>
          <p:nvPr/>
        </p:nvSpPr>
        <p:spPr>
          <a:xfrm>
            <a:off x="685800" y="3511296"/>
            <a:ext cx="3291840" cy="1645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OR-Tools CP-SAT constraint solver</a:t>
            </a:r>
            <a:endParaRPr lang="en-US" sz="1300" dirty="0"/>
          </a:p>
          <a:p>
            <a:pPr marL="177800" indent="-177800">
              <a:spcAft>
                <a:spcPts val="600"/>
              </a:spcAft>
              <a:buSzPct val="100000"/>
              <a:buChar char="•"/>
            </a:pPr>
            <a:r>
              <a:rPr lang="en-US" sz="1300" dirty="0">
                <a:solidFill>
                  <a:schemeClr val="tx1"/>
                </a:solidFill>
              </a:rPr>
              <a:t>Exact bin packing: chooses bus sizes and groups</a:t>
            </a:r>
            <a:endParaRPr lang="en-US" sz="1300" dirty="0"/>
          </a:p>
          <a:p>
            <a:pPr marL="177800" indent="-177800">
              <a:spcAft>
                <a:spcPts val="600"/>
              </a:spcAft>
              <a:buSzPct val="100000"/>
              <a:buChar char="•"/>
            </a:pPr>
            <a:r>
              <a:rPr lang="en-US" sz="1300" dirty="0">
                <a:solidFill>
                  <a:schemeClr val="tx1"/>
                </a:solidFill>
              </a:rPr>
              <a:t>Location does not change the price</a:t>
            </a:r>
            <a:endParaRPr lang="en-US" sz="1300" dirty="0"/>
          </a:p>
          <a:p>
            <a:pPr marL="177800" indent="-177800">
              <a:spcAft>
                <a:spcPts val="600"/>
              </a:spcAft>
              <a:buSzPct val="100000"/>
              <a:buChar char="•"/>
            </a:pPr>
            <a:r>
              <a:rPr lang="en-US" sz="1300" dirty="0">
                <a:solidFill>
                  <a:schemeClr val="tx1"/>
                </a:solidFill>
              </a:rPr>
              <a:t>Can prove no cheaper plan exists</a:t>
            </a:r>
            <a:endParaRPr lang="en-US" sz="1300" dirty="0"/>
          </a:p>
        </p:txBody>
      </p:sp>
      <p:sp>
        <p:nvSpPr>
          <p:cNvPr id="14" name="Fixed Cost Model result"/>
          <p:cNvSpPr/>
          <p:nvPr/>
        </p:nvSpPr>
        <p:spPr>
          <a:xfrm>
            <a:off x="685800" y="5276088"/>
            <a:ext cx="3246120" cy="822960"/>
          </a:xfrm>
          <a:prstGeom prst="roundRect">
            <a:avLst>
              <a:gd name="adj" fmla="val 13333"/>
            </a:avLst>
          </a:prstGeom>
          <a:solidFill>
            <a:srgbClr val="FFFFFF"/>
          </a:solidFill>
          <a:ln w="9525">
            <a:solidFill>
              <a:srgbClr val="E6E9EF"/>
            </a:solidFill>
            <a:prstDash val="solid"/>
          </a:ln>
        </p:spPr>
      </p:sp>
      <p:sp>
        <p:nvSpPr>
          <p:cNvPr id="15" name="Text 11"/>
          <p:cNvSpPr txBox="1"/>
          <p:nvPr/>
        </p:nvSpPr>
        <p:spPr>
          <a:xfrm>
            <a:off x="850392" y="5312664"/>
            <a:ext cx="1417320" cy="502920"/>
          </a:xfrm>
          <a:prstGeom prst="rect">
            <a:avLst/>
          </a:prstGeom>
          <a:noFill/>
          <a:ln/>
        </p:spPr>
        <p:txBody>
          <a:bodyPr wrap="square" lIns="0" tIns="0" rIns="0" bIns="0" rtlCol="0" anchor="ctr"/>
          <a:lstStyle/>
          <a:p>
            <a:pPr indent="0" marL="0">
              <a:buNone/>
            </a:pPr>
            <a:r>
              <a:rPr lang="en-US" sz="2600" b="1" dirty="0">
                <a:solidFill>
                  <a:srgbClr val="D7192F"/>
                </a:solidFill>
              </a:rPr>
              <a:t>1,875</a:t>
            </a:r>
            <a:endParaRPr lang="en-US" sz="2600" dirty="0"/>
          </a:p>
        </p:txBody>
      </p:sp>
      <p:sp>
        <p:nvSpPr>
          <p:cNvPr id="16" name="Text 12"/>
          <p:cNvSpPr txBox="1"/>
          <p:nvPr/>
        </p:nvSpPr>
        <p:spPr>
          <a:xfrm>
            <a:off x="2286000" y="5330952"/>
            <a:ext cx="1554480" cy="457200"/>
          </a:xfrm>
          <a:prstGeom prst="rect">
            <a:avLst/>
          </a:prstGeom>
          <a:noFill/>
          <a:ln/>
        </p:spPr>
        <p:txBody>
          <a:bodyPr wrap="square" lIns="0" tIns="0" rIns="0" bIns="0" rtlCol="0" anchor="ctr"/>
          <a:lstStyle/>
          <a:p>
            <a:pPr indent="0" marL="0">
              <a:buNone/>
            </a:pPr>
            <a:r>
              <a:rPr lang="en-US" sz="1100" b="1" dirty="0">
                <a:solidFill>
                  <a:schemeClr val="tx1"/>
                </a:solidFill>
              </a:rPr>
              <a:t>Proven optimal</a:t>
            </a:r>
            <a:endParaRPr lang="en-US" sz="1100" dirty="0"/>
          </a:p>
        </p:txBody>
      </p:sp>
      <p:sp>
        <p:nvSpPr>
          <p:cNvPr id="17" name="Text 13"/>
          <p:cNvSpPr txBox="1"/>
          <p:nvPr/>
        </p:nvSpPr>
        <p:spPr>
          <a:xfrm>
            <a:off x="850392" y="5788152"/>
            <a:ext cx="2971800" cy="256032"/>
          </a:xfrm>
          <a:prstGeom prst="rect">
            <a:avLst/>
          </a:prstGeom>
          <a:noFill/>
          <a:ln/>
        </p:spPr>
        <p:txBody>
          <a:bodyPr wrap="square" lIns="0" tIns="0" rIns="0" bIns="0" rtlCol="0" anchor="t"/>
          <a:lstStyle/>
          <a:p>
            <a:pPr indent="0" marL="0">
              <a:buNone/>
            </a:pPr>
            <a:r>
              <a:rPr lang="en-US" sz="1000" dirty="0">
                <a:solidFill>
                  <a:schemeClr val="tx2"/>
                </a:solidFill>
              </a:rPr>
              <a:t>vs 3,330 booked separately</a:t>
            </a:r>
            <a:endParaRPr lang="en-US" sz="1000" dirty="0"/>
          </a:p>
        </p:txBody>
      </p:sp>
      <p:sp>
        <p:nvSpPr>
          <p:cNvPr id="18" name="Distance Model"/>
          <p:cNvSpPr/>
          <p:nvPr/>
        </p:nvSpPr>
        <p:spPr>
          <a:xfrm>
            <a:off x="4288536" y="2487168"/>
            <a:ext cx="3611880" cy="3794760"/>
          </a:xfrm>
          <a:prstGeom prst="roundRect">
            <a:avLst>
              <a:gd name="adj" fmla="val 3038"/>
            </a:avLst>
          </a:prstGeom>
          <a:solidFill>
            <a:srgbClr val="EAF1FB"/>
          </a:solidFill>
          <a:ln w="9525">
            <a:solidFill>
              <a:srgbClr val="EAF1FB"/>
            </a:solidFill>
            <a:prstDash val="solid"/>
          </a:ln>
        </p:spPr>
      </p:sp>
      <p:sp>
        <p:nvSpPr>
          <p:cNvPr id="19" name="Step 2"/>
          <p:cNvSpPr/>
          <p:nvPr/>
        </p:nvSpPr>
        <p:spPr>
          <a:xfrm>
            <a:off x="4471416" y="2670048"/>
            <a:ext cx="530352" cy="530352"/>
          </a:xfrm>
          <a:prstGeom prst="ellipse">
            <a:avLst/>
          </a:prstGeom>
          <a:solidFill>
            <a:srgbClr val="1F5FBF"/>
          </a:solidFill>
          <a:ln w="12700">
            <a:solidFill>
              <a:srgbClr val="1F5FBF"/>
            </a:solidFill>
            <a:prstDash val="solid"/>
          </a:ln>
        </p:spPr>
      </p:sp>
      <p:sp>
        <p:nvSpPr>
          <p:cNvPr id="20" name="Text 16"/>
          <p:cNvSpPr txBox="1"/>
          <p:nvPr/>
        </p:nvSpPr>
        <p:spPr>
          <a:xfrm>
            <a:off x="4471416" y="2670048"/>
            <a:ext cx="530352" cy="530352"/>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21" name="Text 17"/>
          <p:cNvSpPr txBox="1"/>
          <p:nvPr/>
        </p:nvSpPr>
        <p:spPr>
          <a:xfrm>
            <a:off x="5129784" y="2642616"/>
            <a:ext cx="2103120" cy="329184"/>
          </a:xfrm>
          <a:prstGeom prst="rect">
            <a:avLst/>
          </a:prstGeom>
          <a:noFill/>
          <a:ln/>
        </p:spPr>
        <p:txBody>
          <a:bodyPr wrap="square" lIns="0" tIns="0" rIns="0" bIns="0" rtlCol="0" anchor="t"/>
          <a:lstStyle/>
          <a:p>
            <a:pPr indent="0" marL="0">
              <a:buNone/>
            </a:pPr>
            <a:r>
              <a:rPr lang="en-US" sz="1600" b="1" dirty="0">
                <a:solidFill>
                  <a:schemeClr val="tx1"/>
                </a:solidFill>
              </a:rPr>
              <a:t>Distance Model</a:t>
            </a:r>
            <a:endParaRPr lang="en-US" sz="1600" dirty="0"/>
          </a:p>
        </p:txBody>
      </p:sp>
      <p:sp>
        <p:nvSpPr>
          <p:cNvPr id="22" name="Text 18"/>
          <p:cNvSpPr txBox="1"/>
          <p:nvPr/>
        </p:nvSpPr>
        <p:spPr>
          <a:xfrm>
            <a:off x="5129784" y="2971800"/>
            <a:ext cx="2103120" cy="274320"/>
          </a:xfrm>
          <a:prstGeom prst="rect">
            <a:avLst/>
          </a:prstGeom>
          <a:noFill/>
          <a:ln/>
        </p:spPr>
        <p:txBody>
          <a:bodyPr wrap="square" lIns="0" tIns="0" rIns="0" bIns="0" rtlCol="0" anchor="t"/>
          <a:lstStyle/>
          <a:p>
            <a:pPr indent="0" marL="0">
              <a:buNone/>
            </a:pPr>
            <a:r>
              <a:rPr lang="en-US" sz="1050" b="1" dirty="0">
                <a:solidFill>
                  <a:srgbClr val="1F5FBF"/>
                </a:solidFill>
              </a:rPr>
              <a:t>Minimise rate × miles</a:t>
            </a:r>
            <a:endParaRPr lang="en-US" sz="1050" dirty="0"/>
          </a:p>
        </p:txBody>
      </p:sp>
      <p:pic>
        <p:nvPicPr>
          <p:cNvPr id="23" name="Image 2" descr="FaRoute">    </p:cNvPr>
          <p:cNvPicPr>
            <a:picLocks noChangeAspect="1"/>
          </p:cNvPicPr>
          <p:nvPr/>
        </p:nvPicPr>
        <p:blipFill>
          <a:blip r:embed="rId3"/>
          <a:stretch>
            <a:fillRect/>
          </a:stretch>
        </p:blipFill>
        <p:spPr>
          <a:xfrm>
            <a:off x="7278624" y="2688336"/>
            <a:ext cx="438912" cy="438912"/>
          </a:xfrm>
          <a:prstGeom prst="rect">
            <a:avLst/>
          </a:prstGeom>
        </p:spPr>
      </p:pic>
      <p:sp>
        <p:nvSpPr>
          <p:cNvPr id="24" name="Shape 19"/>
          <p:cNvSpPr/>
          <p:nvPr/>
        </p:nvSpPr>
        <p:spPr>
          <a:xfrm>
            <a:off x="4471416" y="3383280"/>
            <a:ext cx="3246120" cy="0"/>
          </a:xfrm>
          <a:prstGeom prst="line">
            <a:avLst/>
          </a:prstGeom>
          <a:noFill/>
          <a:ln w="9525">
            <a:solidFill>
              <a:srgbClr val="D9DEE6"/>
            </a:solidFill>
            <a:prstDash val="solid"/>
          </a:ln>
        </p:spPr>
      </p:sp>
      <p:sp>
        <p:nvSpPr>
          <p:cNvPr id="25" name="Text 20"/>
          <p:cNvSpPr txBox="1"/>
          <p:nvPr/>
        </p:nvSpPr>
        <p:spPr>
          <a:xfrm>
            <a:off x="4471416" y="3511296"/>
            <a:ext cx="3291840" cy="1645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OR-Tools vehicle routing</a:t>
            </a:r>
            <a:endParaRPr lang="en-US" sz="1300" dirty="0"/>
          </a:p>
          <a:p>
            <a:pPr marL="177800" indent="-177800">
              <a:spcAft>
                <a:spcPts val="600"/>
              </a:spcAft>
              <a:buSzPct val="100000"/>
              <a:buChar char="•"/>
            </a:pPr>
            <a:r>
              <a:rPr lang="en-US" sz="1300" dirty="0">
                <a:solidFill>
                  <a:schemeClr val="tx1"/>
                </a:solidFill>
              </a:rPr>
              <a:t>Cheapest-arc start + guided local search</a:t>
            </a:r>
            <a:endParaRPr lang="en-US" sz="1300" dirty="0"/>
          </a:p>
          <a:p>
            <a:pPr marL="177800" indent="-177800">
              <a:spcAft>
                <a:spcPts val="600"/>
              </a:spcAft>
              <a:buSzPct val="100000"/>
              <a:buChar char="•"/>
            </a:pPr>
            <a:r>
              <a:rPr lang="en-US" sz="1300" dirty="0">
                <a:solidFill>
                  <a:schemeClr val="tx1"/>
                </a:solidFill>
              </a:rPr>
              <a:t>Orders the pickups on each bus</a:t>
            </a:r>
            <a:endParaRPr lang="en-US" sz="1300" dirty="0"/>
          </a:p>
          <a:p>
            <a:pPr marL="177800" indent="-177800">
              <a:spcAft>
                <a:spcPts val="600"/>
              </a:spcAft>
              <a:buSzPct val="100000"/>
              <a:buChar char="•"/>
            </a:pPr>
            <a:r>
              <a:rPr lang="en-US" sz="1300" dirty="0">
                <a:solidFill>
                  <a:schemeClr val="tx1"/>
                </a:solidFill>
              </a:rPr>
              <a:t>Miles are straight-line (haversine)</a:t>
            </a:r>
            <a:endParaRPr lang="en-US" sz="1300" dirty="0"/>
          </a:p>
        </p:txBody>
      </p:sp>
      <p:sp>
        <p:nvSpPr>
          <p:cNvPr id="26" name="Distance Model result"/>
          <p:cNvSpPr/>
          <p:nvPr/>
        </p:nvSpPr>
        <p:spPr>
          <a:xfrm>
            <a:off x="4471416" y="5276088"/>
            <a:ext cx="3246120" cy="822960"/>
          </a:xfrm>
          <a:prstGeom prst="roundRect">
            <a:avLst>
              <a:gd name="adj" fmla="val 13333"/>
            </a:avLst>
          </a:prstGeom>
          <a:solidFill>
            <a:srgbClr val="FFFFFF"/>
          </a:solidFill>
          <a:ln w="9525">
            <a:solidFill>
              <a:srgbClr val="E6E9EF"/>
            </a:solidFill>
            <a:prstDash val="solid"/>
          </a:ln>
        </p:spPr>
      </p:sp>
      <p:sp>
        <p:nvSpPr>
          <p:cNvPr id="27" name="Text 22"/>
          <p:cNvSpPr txBox="1"/>
          <p:nvPr/>
        </p:nvSpPr>
        <p:spPr>
          <a:xfrm>
            <a:off x="4636008" y="5312664"/>
            <a:ext cx="1417320" cy="502920"/>
          </a:xfrm>
          <a:prstGeom prst="rect">
            <a:avLst/>
          </a:prstGeom>
          <a:noFill/>
          <a:ln/>
        </p:spPr>
        <p:txBody>
          <a:bodyPr wrap="square" lIns="0" tIns="0" rIns="0" bIns="0" rtlCol="0" anchor="ctr"/>
          <a:lstStyle/>
          <a:p>
            <a:pPr indent="0" marL="0">
              <a:buNone/>
            </a:pPr>
            <a:r>
              <a:rPr lang="en-US" sz="2600" b="1" dirty="0">
                <a:solidFill>
                  <a:srgbClr val="1F5FBF"/>
                </a:solidFill>
              </a:rPr>
              <a:t>2,787</a:t>
            </a:r>
            <a:endParaRPr lang="en-US" sz="2600" dirty="0"/>
          </a:p>
        </p:txBody>
      </p:sp>
      <p:sp>
        <p:nvSpPr>
          <p:cNvPr id="28" name="Text 23"/>
          <p:cNvSpPr txBox="1"/>
          <p:nvPr/>
        </p:nvSpPr>
        <p:spPr>
          <a:xfrm>
            <a:off x="6071616" y="5330952"/>
            <a:ext cx="1554480" cy="457200"/>
          </a:xfrm>
          <a:prstGeom prst="rect">
            <a:avLst/>
          </a:prstGeom>
          <a:noFill/>
          <a:ln/>
        </p:spPr>
        <p:txBody>
          <a:bodyPr wrap="square" lIns="0" tIns="0" rIns="0" bIns="0" rtlCol="0" anchor="ctr"/>
          <a:lstStyle/>
          <a:p>
            <a:pPr indent="0" marL="0">
              <a:buNone/>
            </a:pPr>
            <a:r>
              <a:rPr lang="en-US" sz="1100" b="1" dirty="0">
                <a:solidFill>
                  <a:schemeClr val="tx1"/>
                </a:solidFill>
              </a:rPr>
              <a:t>Best found in 300 s</a:t>
            </a:r>
            <a:endParaRPr lang="en-US" sz="1100" dirty="0"/>
          </a:p>
        </p:txBody>
      </p:sp>
      <p:sp>
        <p:nvSpPr>
          <p:cNvPr id="29" name="Text 24"/>
          <p:cNvSpPr txBox="1"/>
          <p:nvPr/>
        </p:nvSpPr>
        <p:spPr>
          <a:xfrm>
            <a:off x="4636008" y="5788152"/>
            <a:ext cx="2971800" cy="256032"/>
          </a:xfrm>
          <a:prstGeom prst="rect">
            <a:avLst/>
          </a:prstGeom>
          <a:noFill/>
          <a:ln/>
        </p:spPr>
        <p:txBody>
          <a:bodyPr wrap="square" lIns="0" tIns="0" rIns="0" bIns="0" rtlCol="0" anchor="t"/>
          <a:lstStyle/>
          <a:p>
            <a:pPr indent="0" marL="0">
              <a:buNone/>
            </a:pPr>
            <a:r>
              <a:rPr lang="en-US" sz="1000" dirty="0">
                <a:solidFill>
                  <a:schemeClr val="tx2"/>
                </a:solidFill>
              </a:rPr>
              <a:t>vs 3,904 booked separately</a:t>
            </a:r>
            <a:endParaRPr lang="en-US" sz="1000" dirty="0"/>
          </a:p>
        </p:txBody>
      </p:sp>
      <p:sp>
        <p:nvSpPr>
          <p:cNvPr id="30" name="Travel-time Model"/>
          <p:cNvSpPr/>
          <p:nvPr/>
        </p:nvSpPr>
        <p:spPr>
          <a:xfrm>
            <a:off x="8074152" y="2487168"/>
            <a:ext cx="3611880" cy="3794760"/>
          </a:xfrm>
          <a:prstGeom prst="roundRect">
            <a:avLst>
              <a:gd name="adj" fmla="val 3038"/>
            </a:avLst>
          </a:prstGeom>
          <a:solidFill>
            <a:srgbClr val="EAF6EE"/>
          </a:solidFill>
          <a:ln w="9525">
            <a:solidFill>
              <a:srgbClr val="EAF6EE"/>
            </a:solidFill>
            <a:prstDash val="solid"/>
          </a:ln>
        </p:spPr>
      </p:sp>
      <p:sp>
        <p:nvSpPr>
          <p:cNvPr id="31" name="Step 3"/>
          <p:cNvSpPr/>
          <p:nvPr/>
        </p:nvSpPr>
        <p:spPr>
          <a:xfrm>
            <a:off x="8257032" y="2670048"/>
            <a:ext cx="530352" cy="530352"/>
          </a:xfrm>
          <a:prstGeom prst="ellipse">
            <a:avLst/>
          </a:prstGeom>
          <a:solidFill>
            <a:srgbClr val="2E9E4F"/>
          </a:solidFill>
          <a:ln w="12700">
            <a:solidFill>
              <a:srgbClr val="2E9E4F"/>
            </a:solidFill>
            <a:prstDash val="solid"/>
          </a:ln>
        </p:spPr>
      </p:sp>
      <p:sp>
        <p:nvSpPr>
          <p:cNvPr id="32" name="Text 27"/>
          <p:cNvSpPr txBox="1"/>
          <p:nvPr/>
        </p:nvSpPr>
        <p:spPr>
          <a:xfrm>
            <a:off x="8257032" y="2670048"/>
            <a:ext cx="530352" cy="530352"/>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33" name="Text 28"/>
          <p:cNvSpPr txBox="1"/>
          <p:nvPr/>
        </p:nvSpPr>
        <p:spPr>
          <a:xfrm>
            <a:off x="8915400" y="2642616"/>
            <a:ext cx="2103120" cy="329184"/>
          </a:xfrm>
          <a:prstGeom prst="rect">
            <a:avLst/>
          </a:prstGeom>
          <a:noFill/>
          <a:ln/>
        </p:spPr>
        <p:txBody>
          <a:bodyPr wrap="square" lIns="0" tIns="0" rIns="0" bIns="0" rtlCol="0" anchor="t"/>
          <a:lstStyle/>
          <a:p>
            <a:pPr indent="0" marL="0">
              <a:buNone/>
            </a:pPr>
            <a:r>
              <a:rPr lang="en-US" sz="1600" b="1" dirty="0">
                <a:solidFill>
                  <a:schemeClr val="tx1"/>
                </a:solidFill>
              </a:rPr>
              <a:t>Travel-time Model</a:t>
            </a:r>
            <a:endParaRPr lang="en-US" sz="1600" dirty="0"/>
          </a:p>
        </p:txBody>
      </p:sp>
      <p:sp>
        <p:nvSpPr>
          <p:cNvPr id="34" name="Text 29"/>
          <p:cNvSpPr txBox="1"/>
          <p:nvPr/>
        </p:nvSpPr>
        <p:spPr>
          <a:xfrm>
            <a:off x="8915400" y="2971800"/>
            <a:ext cx="2103120" cy="274320"/>
          </a:xfrm>
          <a:prstGeom prst="rect">
            <a:avLst/>
          </a:prstGeom>
          <a:noFill/>
          <a:ln/>
        </p:spPr>
        <p:txBody>
          <a:bodyPr wrap="square" lIns="0" tIns="0" rIns="0" bIns="0" rtlCol="0" anchor="t"/>
          <a:lstStyle/>
          <a:p>
            <a:pPr indent="0" marL="0">
              <a:buNone/>
            </a:pPr>
            <a:r>
              <a:rPr lang="en-US" sz="1050" b="1" dirty="0">
                <a:solidFill>
                  <a:srgbClr val="2E9E4F"/>
                </a:solidFill>
              </a:rPr>
              <a:t>Minimise rate × driving hours</a:t>
            </a:r>
            <a:endParaRPr lang="en-US" sz="1050" dirty="0"/>
          </a:p>
        </p:txBody>
      </p:sp>
      <p:pic>
        <p:nvPicPr>
          <p:cNvPr id="35" name="Image 3" descr="FaClock">    </p:cNvPr>
          <p:cNvPicPr>
            <a:picLocks noChangeAspect="1"/>
          </p:cNvPicPr>
          <p:nvPr/>
        </p:nvPicPr>
        <p:blipFill>
          <a:blip r:embed="rId4"/>
          <a:stretch>
            <a:fillRect/>
          </a:stretch>
        </p:blipFill>
        <p:spPr>
          <a:xfrm>
            <a:off x="11064240" y="2688336"/>
            <a:ext cx="438912" cy="438912"/>
          </a:xfrm>
          <a:prstGeom prst="rect">
            <a:avLst/>
          </a:prstGeom>
        </p:spPr>
      </p:pic>
      <p:sp>
        <p:nvSpPr>
          <p:cNvPr id="36" name="Shape 30"/>
          <p:cNvSpPr/>
          <p:nvPr/>
        </p:nvSpPr>
        <p:spPr>
          <a:xfrm>
            <a:off x="8257032" y="3383280"/>
            <a:ext cx="3246120" cy="0"/>
          </a:xfrm>
          <a:prstGeom prst="line">
            <a:avLst/>
          </a:prstGeom>
          <a:noFill/>
          <a:ln w="9525">
            <a:solidFill>
              <a:srgbClr val="D9DEE6"/>
            </a:solidFill>
            <a:prstDash val="solid"/>
          </a:ln>
        </p:spPr>
      </p:sp>
      <p:sp>
        <p:nvSpPr>
          <p:cNvPr id="37" name="Text 31"/>
          <p:cNvSpPr txBox="1"/>
          <p:nvPr/>
        </p:nvSpPr>
        <p:spPr>
          <a:xfrm>
            <a:off x="8257032" y="3511296"/>
            <a:ext cx="3291840" cy="1645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Same routing search</a:t>
            </a:r>
            <a:endParaRPr lang="en-US" sz="1300" dirty="0"/>
          </a:p>
          <a:p>
            <a:pPr marL="177800" indent="-177800">
              <a:spcAft>
                <a:spcPts val="600"/>
              </a:spcAft>
              <a:buSzPct val="100000"/>
              <a:buChar char="•"/>
            </a:pPr>
            <a:r>
              <a:rPr lang="en-US" sz="1300" dirty="0">
                <a:solidFill>
                  <a:schemeClr val="tx1"/>
                </a:solidFill>
              </a:rPr>
              <a:t>OSRM road driving times, cached</a:t>
            </a:r>
            <a:endParaRPr lang="en-US" sz="1300" dirty="0"/>
          </a:p>
          <a:p>
            <a:pPr marL="177800" indent="-177800">
              <a:spcAft>
                <a:spcPts val="600"/>
              </a:spcAft>
              <a:buSzPct val="100000"/>
              <a:buChar char="•"/>
            </a:pPr>
            <a:r>
              <a:rPr lang="en-US" sz="1300" dirty="0">
                <a:solidFill>
                  <a:schemeClr val="tx1"/>
                </a:solidFill>
              </a:rPr>
              <a:t>If OSRM is unavailable: labelled estimate</a:t>
            </a:r>
            <a:endParaRPr lang="en-US" sz="1300" dirty="0"/>
          </a:p>
          <a:p>
            <a:pPr marL="177800" indent="-177800">
              <a:spcAft>
                <a:spcPts val="600"/>
              </a:spcAft>
              <a:buSzPct val="100000"/>
              <a:buChar char="•"/>
            </a:pPr>
            <a:r>
              <a:rPr lang="en-US" sz="1300" dirty="0">
                <a:solidFill>
                  <a:schemeClr val="tx1"/>
                </a:solidFill>
              </a:rPr>
              <a:t>No live traffic or boarding time</a:t>
            </a:r>
            <a:endParaRPr lang="en-US" sz="1300" dirty="0"/>
          </a:p>
        </p:txBody>
      </p:sp>
      <p:sp>
        <p:nvSpPr>
          <p:cNvPr id="38" name="Travel-time Model result"/>
          <p:cNvSpPr/>
          <p:nvPr/>
        </p:nvSpPr>
        <p:spPr>
          <a:xfrm>
            <a:off x="8257032" y="5276088"/>
            <a:ext cx="3246120" cy="822960"/>
          </a:xfrm>
          <a:prstGeom prst="roundRect">
            <a:avLst>
              <a:gd name="adj" fmla="val 13333"/>
            </a:avLst>
          </a:prstGeom>
          <a:solidFill>
            <a:srgbClr val="FFFFFF"/>
          </a:solidFill>
          <a:ln w="9525">
            <a:solidFill>
              <a:srgbClr val="E6E9EF"/>
            </a:solidFill>
            <a:prstDash val="solid"/>
          </a:ln>
        </p:spPr>
      </p:sp>
      <p:sp>
        <p:nvSpPr>
          <p:cNvPr id="39" name="Text 33"/>
          <p:cNvSpPr txBox="1"/>
          <p:nvPr/>
        </p:nvSpPr>
        <p:spPr>
          <a:xfrm>
            <a:off x="8421624" y="5312664"/>
            <a:ext cx="1417320" cy="502920"/>
          </a:xfrm>
          <a:prstGeom prst="rect">
            <a:avLst/>
          </a:prstGeom>
          <a:noFill/>
          <a:ln/>
        </p:spPr>
        <p:txBody>
          <a:bodyPr wrap="square" lIns="0" tIns="0" rIns="0" bIns="0" rtlCol="0" anchor="ctr"/>
          <a:lstStyle/>
          <a:p>
            <a:pPr indent="0" marL="0">
              <a:buNone/>
            </a:pPr>
            <a:r>
              <a:rPr lang="en-US" sz="2600" b="1" dirty="0">
                <a:solidFill>
                  <a:srgbClr val="2E9E4F"/>
                </a:solidFill>
              </a:rPr>
              <a:t>6,763</a:t>
            </a:r>
            <a:endParaRPr lang="en-US" sz="2600" dirty="0"/>
          </a:p>
        </p:txBody>
      </p:sp>
      <p:sp>
        <p:nvSpPr>
          <p:cNvPr id="40" name="Text 34"/>
          <p:cNvSpPr txBox="1"/>
          <p:nvPr/>
        </p:nvSpPr>
        <p:spPr>
          <a:xfrm>
            <a:off x="9857232" y="5330952"/>
            <a:ext cx="1554480" cy="457200"/>
          </a:xfrm>
          <a:prstGeom prst="rect">
            <a:avLst/>
          </a:prstGeom>
          <a:noFill/>
          <a:ln/>
        </p:spPr>
        <p:txBody>
          <a:bodyPr wrap="square" lIns="0" tIns="0" rIns="0" bIns="0" rtlCol="0" anchor="ctr"/>
          <a:lstStyle/>
          <a:p>
            <a:pPr indent="0" marL="0">
              <a:buNone/>
            </a:pPr>
            <a:r>
              <a:rPr lang="en-US" sz="1100" b="1" dirty="0">
                <a:solidFill>
                  <a:schemeClr val="tx1"/>
                </a:solidFill>
              </a:rPr>
              <a:t>Best found in 300 s</a:t>
            </a:r>
            <a:endParaRPr lang="en-US" sz="1100" dirty="0"/>
          </a:p>
        </p:txBody>
      </p:sp>
      <p:sp>
        <p:nvSpPr>
          <p:cNvPr id="41" name="Text 35"/>
          <p:cNvSpPr txBox="1"/>
          <p:nvPr/>
        </p:nvSpPr>
        <p:spPr>
          <a:xfrm>
            <a:off x="8421624" y="5788152"/>
            <a:ext cx="2971800" cy="256032"/>
          </a:xfrm>
          <a:prstGeom prst="rect">
            <a:avLst/>
          </a:prstGeom>
          <a:noFill/>
          <a:ln/>
        </p:spPr>
        <p:txBody>
          <a:bodyPr wrap="square" lIns="0" tIns="0" rIns="0" bIns="0" rtlCol="0" anchor="t"/>
          <a:lstStyle/>
          <a:p>
            <a:pPr indent="0" marL="0">
              <a:buNone/>
            </a:pPr>
            <a:r>
              <a:rPr lang="en-US" sz="1000" dirty="0">
                <a:solidFill>
                  <a:schemeClr val="tx2"/>
                </a:solidFill>
              </a:rPr>
              <a:t>vs 8,220 booked separately</a:t>
            </a:r>
            <a:endParaRPr lang="en-US" sz="1000" dirty="0"/>
          </a:p>
        </p:txBody>
      </p:sp>
      <p:sp>
        <p:nvSpPr>
          <p:cNvPr id="25" name="Slide Number Placeholder 0"/>
          <p:cNvSpPr>
            <a:spLocks noGrp="1"/>
          </p:cNvSpPr>
          <p:nvPr>
            <p:ph type="sldNum" sz="quarter" idx="4294967295"/>
          </p:nvPr>
        </p:nvSpPr>
        <p:spPr>
          <a:xfrm>
            <a:off x="11228832" y="651052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oaches outside Principality Stadium, Cardiff (illustration from the team's reference slides)">    </p:cNvPr>
          <p:cNvPicPr>
            <a:picLocks noChangeAspect="1"/>
          </p:cNvPicPr>
          <p:nvPr/>
        </p:nvPicPr>
        <p:blipFill>
          <a:blip r:embed="rId1"/>
          <a:stretch>
            <a:fillRect/>
          </a:stretch>
        </p:blipFill>
        <p:spPr>
          <a:xfrm>
            <a:off x="8908338" y="0"/>
            <a:ext cx="3283357" cy="1874520"/>
          </a:xfrm>
          <a:prstGeom prst="rect">
            <a:avLst/>
          </a:prstGeom>
        </p:spPr>
      </p:pic>
      <p:sp>
        <p:nvSpPr>
          <p:cNvPr id="3" name="Text 0"/>
          <p:cNvSpPr/>
          <p:nvPr>
            <p:ph idx="100" type="body" hasCustomPrompt="1"/>
          </p:nvPr>
        </p:nvSpPr>
        <p:spPr>
          <a:xfrm>
            <a:off x="502920" y="292608"/>
            <a:ext cx="7315200" cy="274320"/>
          </a:xfrm>
          <a:prstGeom prst="rect">
            <a:avLst/>
          </a:prstGeom>
          <a:noFill/>
          <a:ln/>
        </p:spPr>
        <p:txBody>
          <a:bodyPr wrap="square" lIns="0" tIns="0" rIns="0" bIns="0" rtlCol="0" anchor="t"/>
          <a:lstStyle/>
          <a:p>
            <a:pPr indent="0" marL="0">
              <a:buNone/>
            </a:pPr>
            <a:r>
              <a:rPr lang="en-US" sz="1300" b="1" spc="100" kern="0" dirty="0">
                <a:solidFill>
                  <a:schemeClr val="accent6"/>
                </a:solidFill>
              </a:rPr>
              <a:t>RESULTS AND PERFORMANCE</a:t>
            </a:r>
            <a:endParaRPr lang="en-US" sz="1300" dirty="0"/>
          </a:p>
        </p:txBody>
      </p:sp>
      <p:sp>
        <p:nvSpPr>
          <p:cNvPr id="4" name="Text 1"/>
          <p:cNvSpPr/>
          <p:nvPr>
            <p:ph idx="102" type="title" hasCustomPrompt="1"/>
          </p:nvPr>
        </p:nvSpPr>
        <p:spPr>
          <a:xfrm>
            <a:off x="502920" y="777240"/>
            <a:ext cx="7589520" cy="1051560"/>
          </a:xfrm>
          <a:prstGeom prst="rect">
            <a:avLst/>
          </a:prstGeom>
          <a:noFill/>
          <a:ln/>
        </p:spPr>
        <p:txBody>
          <a:bodyPr wrap="square" lIns="0" tIns="0" rIns="0" bIns="0" rtlCol="0" anchor="t"/>
          <a:lstStyle/>
          <a:p>
            <a:pPr algn="l" indent="0" marL="0">
              <a:buNone/>
            </a:pPr>
            <a:r>
              <a:rPr lang="en-US" sz="3400" b="1" dirty="0">
                <a:solidFill>
                  <a:srgbClr val="0B1F45"/>
                </a:solidFill>
              </a:rPr>
              <a:t>Significant Improvements in
</a:t>
            </a:r>
            <a:pPr algn="l" indent="0" marL="0">
              <a:buNone/>
            </a:pPr>
            <a:r>
              <a:rPr lang="en-US" sz="3400" b="1" dirty="0">
                <a:solidFill>
                  <a:srgbClr val="D7192F"/>
                </a:solidFill>
              </a:rPr>
              <a:t>Transport Efficiency</a:t>
            </a:r>
            <a:endParaRPr lang="en-US" sz="3400" dirty="0"/>
          </a:p>
        </p:txBody>
      </p:sp>
      <p:sp>
        <p:nvSpPr>
          <p:cNvPr id="5" name="Text 2"/>
          <p:cNvSpPr txBox="1"/>
          <p:nvPr/>
        </p:nvSpPr>
        <p:spPr>
          <a:xfrm>
            <a:off x="502920" y="1874520"/>
            <a:ext cx="7315200" cy="566928"/>
          </a:xfrm>
          <a:prstGeom prst="rect">
            <a:avLst/>
          </a:prstGeom>
          <a:noFill/>
          <a:ln/>
        </p:spPr>
        <p:txBody>
          <a:bodyPr wrap="square" lIns="0" tIns="0" rIns="0" bIns="0" rtlCol="0" anchor="t"/>
          <a:lstStyle/>
          <a:p>
            <a:pPr indent="0" marL="0">
              <a:buNone/>
            </a:pPr>
            <a:r>
              <a:rPr lang="en-US" sz="1500" dirty="0">
                <a:solidFill>
                  <a:schemeClr val="tx2"/>
                </a:solidFill>
              </a:rPr>
              <a:t>Fixed-price plan on the challenge data: fewer, fuller buses, every school kept together.</a:t>
            </a:r>
            <a:endParaRPr lang="en-US" sz="1500" dirty="0"/>
          </a:p>
        </p:txBody>
      </p:sp>
      <p:sp>
        <p:nvSpPr>
          <p:cNvPr id="6" name="Total transport cost"/>
          <p:cNvSpPr/>
          <p:nvPr/>
        </p:nvSpPr>
        <p:spPr>
          <a:xfrm>
            <a:off x="502920" y="2487168"/>
            <a:ext cx="2697480" cy="1207008"/>
          </a:xfrm>
          <a:prstGeom prst="roundRect">
            <a:avLst>
              <a:gd name="adj" fmla="val 9091"/>
            </a:avLst>
          </a:prstGeom>
          <a:solidFill>
            <a:srgbClr val="FDECEE"/>
          </a:solidFill>
          <a:ln w="9525">
            <a:solidFill>
              <a:srgbClr val="FDECEE"/>
            </a:solidFill>
            <a:prstDash val="solid"/>
          </a:ln>
        </p:spPr>
      </p:sp>
      <p:pic>
        <p:nvPicPr>
          <p:cNvPr id="7" name="Image 1" descr="Total transport cost">    </p:cNvPr>
          <p:cNvPicPr>
            <a:picLocks noChangeAspect="1"/>
          </p:cNvPicPr>
          <p:nvPr/>
        </p:nvPicPr>
        <p:blipFill>
          <a:blip r:embed="rId2"/>
          <a:stretch>
            <a:fillRect/>
          </a:stretch>
        </p:blipFill>
        <p:spPr>
          <a:xfrm>
            <a:off x="685800" y="2788920"/>
            <a:ext cx="566928" cy="566928"/>
          </a:xfrm>
          <a:prstGeom prst="rect">
            <a:avLst/>
          </a:prstGeom>
        </p:spPr>
      </p:pic>
      <p:sp>
        <p:nvSpPr>
          <p:cNvPr id="8" name="Text 4"/>
          <p:cNvSpPr txBox="1"/>
          <p:nvPr/>
        </p:nvSpPr>
        <p:spPr>
          <a:xfrm>
            <a:off x="1417320" y="2578608"/>
            <a:ext cx="1737360" cy="256032"/>
          </a:xfrm>
          <a:prstGeom prst="rect">
            <a:avLst/>
          </a:prstGeom>
          <a:noFill/>
          <a:ln/>
        </p:spPr>
        <p:txBody>
          <a:bodyPr wrap="square" lIns="0" tIns="0" rIns="0" bIns="0" rtlCol="0" anchor="t"/>
          <a:lstStyle/>
          <a:p>
            <a:pPr indent="0" marL="0">
              <a:buNone/>
            </a:pPr>
            <a:r>
              <a:rPr lang="en-US" sz="1200" b="1" dirty="0">
                <a:solidFill>
                  <a:schemeClr val="tx1"/>
                </a:solidFill>
              </a:rPr>
              <a:t>Total transport cost</a:t>
            </a:r>
            <a:endParaRPr lang="en-US" sz="1200" dirty="0"/>
          </a:p>
        </p:txBody>
      </p:sp>
      <p:sp>
        <p:nvSpPr>
          <p:cNvPr id="9" name="Text 5"/>
          <p:cNvSpPr txBox="1"/>
          <p:nvPr/>
        </p:nvSpPr>
        <p:spPr>
          <a:xfrm>
            <a:off x="1417320" y="2834640"/>
            <a:ext cx="1737360" cy="475488"/>
          </a:xfrm>
          <a:prstGeom prst="rect">
            <a:avLst/>
          </a:prstGeom>
          <a:noFill/>
          <a:ln/>
        </p:spPr>
        <p:txBody>
          <a:bodyPr wrap="square" lIns="0" tIns="0" rIns="0" bIns="0" rtlCol="0" anchor="t"/>
          <a:lstStyle/>
          <a:p>
            <a:pPr indent="0" marL="0">
              <a:buNone/>
            </a:pPr>
            <a:r>
              <a:rPr lang="en-US" sz="2500" b="1" dirty="0">
                <a:solidFill>
                  <a:srgbClr val="D7192F"/>
                </a:solidFill>
              </a:rPr>
              <a:t>↓ 43.7%</a:t>
            </a:r>
            <a:endParaRPr lang="en-US" sz="2500" dirty="0"/>
          </a:p>
        </p:txBody>
      </p:sp>
      <p:sp>
        <p:nvSpPr>
          <p:cNvPr id="10" name="Text 6"/>
          <p:cNvSpPr txBox="1"/>
          <p:nvPr/>
        </p:nvSpPr>
        <p:spPr>
          <a:xfrm>
            <a:off x="1417320" y="3310128"/>
            <a:ext cx="1737360" cy="329184"/>
          </a:xfrm>
          <a:prstGeom prst="rect">
            <a:avLst/>
          </a:prstGeom>
          <a:noFill/>
          <a:ln/>
        </p:spPr>
        <p:txBody>
          <a:bodyPr wrap="square" lIns="0" tIns="0" rIns="0" bIns="0" rtlCol="0" anchor="t"/>
          <a:lstStyle/>
          <a:p>
            <a:pPr indent="0" marL="0">
              <a:buNone/>
            </a:pPr>
            <a:r>
              <a:rPr lang="en-US" sz="1000" dirty="0">
                <a:solidFill>
                  <a:schemeClr val="tx2"/>
                </a:solidFill>
              </a:rPr>
              <a:t>3,330 → 1,875 cost units</a:t>
            </a:r>
            <a:endParaRPr lang="en-US" sz="1000" dirty="0"/>
          </a:p>
        </p:txBody>
      </p:sp>
      <p:sp>
        <p:nvSpPr>
          <p:cNvPr id="11" name="Number of buses"/>
          <p:cNvSpPr/>
          <p:nvPr/>
        </p:nvSpPr>
        <p:spPr>
          <a:xfrm>
            <a:off x="3337560" y="2487168"/>
            <a:ext cx="2697480" cy="1207008"/>
          </a:xfrm>
          <a:prstGeom prst="roundRect">
            <a:avLst>
              <a:gd name="adj" fmla="val 9091"/>
            </a:avLst>
          </a:prstGeom>
          <a:solidFill>
            <a:srgbClr val="EAF1FB"/>
          </a:solidFill>
          <a:ln w="9525">
            <a:solidFill>
              <a:srgbClr val="EAF1FB"/>
            </a:solidFill>
            <a:prstDash val="solid"/>
          </a:ln>
        </p:spPr>
      </p:sp>
      <p:pic>
        <p:nvPicPr>
          <p:cNvPr id="12" name="Image 2" descr="Number of buses">    </p:cNvPr>
          <p:cNvPicPr>
            <a:picLocks noChangeAspect="1"/>
          </p:cNvPicPr>
          <p:nvPr/>
        </p:nvPicPr>
        <p:blipFill>
          <a:blip r:embed="rId3"/>
          <a:stretch>
            <a:fillRect/>
          </a:stretch>
        </p:blipFill>
        <p:spPr>
          <a:xfrm>
            <a:off x="3520440" y="2788920"/>
            <a:ext cx="566928" cy="566928"/>
          </a:xfrm>
          <a:prstGeom prst="rect">
            <a:avLst/>
          </a:prstGeom>
        </p:spPr>
      </p:pic>
      <p:sp>
        <p:nvSpPr>
          <p:cNvPr id="13" name="Text 8"/>
          <p:cNvSpPr txBox="1"/>
          <p:nvPr/>
        </p:nvSpPr>
        <p:spPr>
          <a:xfrm>
            <a:off x="4251960" y="2578608"/>
            <a:ext cx="1737360" cy="256032"/>
          </a:xfrm>
          <a:prstGeom prst="rect">
            <a:avLst/>
          </a:prstGeom>
          <a:noFill/>
          <a:ln/>
        </p:spPr>
        <p:txBody>
          <a:bodyPr wrap="square" lIns="0" tIns="0" rIns="0" bIns="0" rtlCol="0" anchor="t"/>
          <a:lstStyle/>
          <a:p>
            <a:pPr indent="0" marL="0">
              <a:buNone/>
            </a:pPr>
            <a:r>
              <a:rPr lang="en-US" sz="1200" b="1" dirty="0">
                <a:solidFill>
                  <a:schemeClr val="tx1"/>
                </a:solidFill>
              </a:rPr>
              <a:t>Number of buses</a:t>
            </a:r>
            <a:endParaRPr lang="en-US" sz="1200" dirty="0"/>
          </a:p>
        </p:txBody>
      </p:sp>
      <p:sp>
        <p:nvSpPr>
          <p:cNvPr id="14" name="Text 9"/>
          <p:cNvSpPr txBox="1"/>
          <p:nvPr/>
        </p:nvSpPr>
        <p:spPr>
          <a:xfrm>
            <a:off x="4251960" y="2834640"/>
            <a:ext cx="1737360" cy="475488"/>
          </a:xfrm>
          <a:prstGeom prst="rect">
            <a:avLst/>
          </a:prstGeom>
          <a:noFill/>
          <a:ln/>
        </p:spPr>
        <p:txBody>
          <a:bodyPr wrap="square" lIns="0" tIns="0" rIns="0" bIns="0" rtlCol="0" anchor="t"/>
          <a:lstStyle/>
          <a:p>
            <a:pPr indent="0" marL="0">
              <a:buNone/>
            </a:pPr>
            <a:r>
              <a:rPr lang="en-US" sz="2500" b="1" dirty="0">
                <a:solidFill>
                  <a:srgbClr val="1F5FBF"/>
                </a:solidFill>
              </a:rPr>
              <a:t>60 → 25</a:t>
            </a:r>
            <a:endParaRPr lang="en-US" sz="2500" dirty="0"/>
          </a:p>
        </p:txBody>
      </p:sp>
      <p:sp>
        <p:nvSpPr>
          <p:cNvPr id="15" name="Text 10"/>
          <p:cNvSpPr txBox="1"/>
          <p:nvPr/>
        </p:nvSpPr>
        <p:spPr>
          <a:xfrm>
            <a:off x="4251960" y="3310128"/>
            <a:ext cx="1737360" cy="329184"/>
          </a:xfrm>
          <a:prstGeom prst="rect">
            <a:avLst/>
          </a:prstGeom>
          <a:noFill/>
          <a:ln/>
        </p:spPr>
        <p:txBody>
          <a:bodyPr wrap="square" lIns="0" tIns="0" rIns="0" bIns="0" rtlCol="0" anchor="t"/>
          <a:lstStyle/>
          <a:p>
            <a:pPr indent="0" marL="0">
              <a:buNone/>
            </a:pPr>
            <a:r>
              <a:rPr lang="en-US" sz="1000" dirty="0">
                <a:solidFill>
                  <a:schemeClr val="tx2"/>
                </a:solidFill>
              </a:rPr>
              <a:t>58.3% fewer buses</a:t>
            </a:r>
            <a:endParaRPr lang="en-US" sz="1000" dirty="0"/>
          </a:p>
        </p:txBody>
      </p:sp>
      <p:sp>
        <p:nvSpPr>
          <p:cNvPr id="16" name="Attendees"/>
          <p:cNvSpPr/>
          <p:nvPr/>
        </p:nvSpPr>
        <p:spPr>
          <a:xfrm>
            <a:off x="6172200" y="2487168"/>
            <a:ext cx="2697480" cy="1207008"/>
          </a:xfrm>
          <a:prstGeom prst="roundRect">
            <a:avLst>
              <a:gd name="adj" fmla="val 9091"/>
            </a:avLst>
          </a:prstGeom>
          <a:solidFill>
            <a:srgbClr val="EAF6EE"/>
          </a:solidFill>
          <a:ln w="9525">
            <a:solidFill>
              <a:srgbClr val="EAF6EE"/>
            </a:solidFill>
            <a:prstDash val="solid"/>
          </a:ln>
        </p:spPr>
      </p:sp>
      <p:pic>
        <p:nvPicPr>
          <p:cNvPr id="17" name="Image 3" descr="Attendees">    </p:cNvPr>
          <p:cNvPicPr>
            <a:picLocks noChangeAspect="1"/>
          </p:cNvPicPr>
          <p:nvPr/>
        </p:nvPicPr>
        <p:blipFill>
          <a:blip r:embed="rId4"/>
          <a:stretch>
            <a:fillRect/>
          </a:stretch>
        </p:blipFill>
        <p:spPr>
          <a:xfrm>
            <a:off x="6355080" y="2788920"/>
            <a:ext cx="566928" cy="566928"/>
          </a:xfrm>
          <a:prstGeom prst="rect">
            <a:avLst/>
          </a:prstGeom>
        </p:spPr>
      </p:pic>
      <p:sp>
        <p:nvSpPr>
          <p:cNvPr id="18" name="Text 12"/>
          <p:cNvSpPr txBox="1"/>
          <p:nvPr/>
        </p:nvSpPr>
        <p:spPr>
          <a:xfrm>
            <a:off x="7086600" y="2578608"/>
            <a:ext cx="1737360" cy="256032"/>
          </a:xfrm>
          <a:prstGeom prst="rect">
            <a:avLst/>
          </a:prstGeom>
          <a:noFill/>
          <a:ln/>
        </p:spPr>
        <p:txBody>
          <a:bodyPr wrap="square" lIns="0" tIns="0" rIns="0" bIns="0" rtlCol="0" anchor="t"/>
          <a:lstStyle/>
          <a:p>
            <a:pPr indent="0" marL="0">
              <a:buNone/>
            </a:pPr>
            <a:r>
              <a:rPr lang="en-US" sz="1200" b="1" dirty="0">
                <a:solidFill>
                  <a:schemeClr val="tx1"/>
                </a:solidFill>
              </a:rPr>
              <a:t>Attendees</a:t>
            </a:r>
            <a:endParaRPr lang="en-US" sz="1200" dirty="0"/>
          </a:p>
        </p:txBody>
      </p:sp>
      <p:sp>
        <p:nvSpPr>
          <p:cNvPr id="19" name="Text 13"/>
          <p:cNvSpPr txBox="1"/>
          <p:nvPr/>
        </p:nvSpPr>
        <p:spPr>
          <a:xfrm>
            <a:off x="7086600" y="2834640"/>
            <a:ext cx="1737360" cy="475488"/>
          </a:xfrm>
          <a:prstGeom prst="rect">
            <a:avLst/>
          </a:prstGeom>
          <a:noFill/>
          <a:ln/>
        </p:spPr>
        <p:txBody>
          <a:bodyPr wrap="square" lIns="0" tIns="0" rIns="0" bIns="0" rtlCol="0" anchor="t"/>
          <a:lstStyle/>
          <a:p>
            <a:pPr indent="0" marL="0">
              <a:buNone/>
            </a:pPr>
            <a:r>
              <a:rPr lang="en-US" sz="2500" b="1" dirty="0">
                <a:solidFill>
                  <a:srgbClr val="2E9E4F"/>
                </a:solidFill>
              </a:rPr>
              <a:t>1,244</a:t>
            </a:r>
            <a:endParaRPr lang="en-US" sz="2500" dirty="0"/>
          </a:p>
        </p:txBody>
      </p:sp>
      <p:sp>
        <p:nvSpPr>
          <p:cNvPr id="20" name="Text 14"/>
          <p:cNvSpPr txBox="1"/>
          <p:nvPr/>
        </p:nvSpPr>
        <p:spPr>
          <a:xfrm>
            <a:off x="7086600" y="3310128"/>
            <a:ext cx="1737360" cy="329184"/>
          </a:xfrm>
          <a:prstGeom prst="rect">
            <a:avLst/>
          </a:prstGeom>
          <a:noFill/>
          <a:ln/>
        </p:spPr>
        <p:txBody>
          <a:bodyPr wrap="square" lIns="0" tIns="0" rIns="0" bIns="0" rtlCol="0" anchor="t"/>
          <a:lstStyle/>
          <a:p>
            <a:pPr indent="0" marL="0">
              <a:buNone/>
            </a:pPr>
            <a:r>
              <a:rPr lang="en-US" sz="1000" dirty="0">
                <a:solidFill>
                  <a:schemeClr val="tx2"/>
                </a:solidFill>
              </a:rPr>
              <a:t>all seated, from 60 schools</a:t>
            </a:r>
            <a:endParaRPr lang="en-US" sz="1000" dirty="0"/>
          </a:p>
        </p:txBody>
      </p:sp>
      <p:sp>
        <p:nvSpPr>
          <p:cNvPr id="21" name="Seats filled"/>
          <p:cNvSpPr/>
          <p:nvPr/>
        </p:nvSpPr>
        <p:spPr>
          <a:xfrm>
            <a:off x="9006840" y="2487168"/>
            <a:ext cx="2697480" cy="1207008"/>
          </a:xfrm>
          <a:prstGeom prst="roundRect">
            <a:avLst>
              <a:gd name="adj" fmla="val 9091"/>
            </a:avLst>
          </a:prstGeom>
          <a:solidFill>
            <a:srgbClr val="FEF4E6"/>
          </a:solidFill>
          <a:ln w="9525">
            <a:solidFill>
              <a:srgbClr val="FEF4E6"/>
            </a:solidFill>
            <a:prstDash val="solid"/>
          </a:ln>
        </p:spPr>
      </p:sp>
      <p:pic>
        <p:nvPicPr>
          <p:cNvPr id="22" name="Image 4" descr="Seats filled">    </p:cNvPr>
          <p:cNvPicPr>
            <a:picLocks noChangeAspect="1"/>
          </p:cNvPicPr>
          <p:nvPr/>
        </p:nvPicPr>
        <p:blipFill>
          <a:blip r:embed="rId5"/>
          <a:stretch>
            <a:fillRect/>
          </a:stretch>
        </p:blipFill>
        <p:spPr>
          <a:xfrm>
            <a:off x="9189720" y="2788920"/>
            <a:ext cx="566928" cy="566928"/>
          </a:xfrm>
          <a:prstGeom prst="rect">
            <a:avLst/>
          </a:prstGeom>
        </p:spPr>
      </p:pic>
      <p:sp>
        <p:nvSpPr>
          <p:cNvPr id="23" name="Text 16"/>
          <p:cNvSpPr txBox="1"/>
          <p:nvPr/>
        </p:nvSpPr>
        <p:spPr>
          <a:xfrm>
            <a:off x="9921240" y="2578608"/>
            <a:ext cx="1737360" cy="256032"/>
          </a:xfrm>
          <a:prstGeom prst="rect">
            <a:avLst/>
          </a:prstGeom>
          <a:noFill/>
          <a:ln/>
        </p:spPr>
        <p:txBody>
          <a:bodyPr wrap="square" lIns="0" tIns="0" rIns="0" bIns="0" rtlCol="0" anchor="t"/>
          <a:lstStyle/>
          <a:p>
            <a:pPr indent="0" marL="0">
              <a:buNone/>
            </a:pPr>
            <a:r>
              <a:rPr lang="en-US" sz="1200" b="1" dirty="0">
                <a:solidFill>
                  <a:schemeClr val="tx1"/>
                </a:solidFill>
              </a:rPr>
              <a:t>Seats filled</a:t>
            </a:r>
            <a:endParaRPr lang="en-US" sz="1200" dirty="0"/>
          </a:p>
        </p:txBody>
      </p:sp>
      <p:sp>
        <p:nvSpPr>
          <p:cNvPr id="24" name="Text 17"/>
          <p:cNvSpPr txBox="1"/>
          <p:nvPr/>
        </p:nvSpPr>
        <p:spPr>
          <a:xfrm>
            <a:off x="9921240" y="2834640"/>
            <a:ext cx="1737360" cy="475488"/>
          </a:xfrm>
          <a:prstGeom prst="rect">
            <a:avLst/>
          </a:prstGeom>
          <a:noFill/>
          <a:ln/>
        </p:spPr>
        <p:txBody>
          <a:bodyPr wrap="square" lIns="0" tIns="0" rIns="0" bIns="0" rtlCol="0" anchor="t"/>
          <a:lstStyle/>
          <a:p>
            <a:pPr indent="0" marL="0">
              <a:buNone/>
            </a:pPr>
            <a:r>
              <a:rPr lang="en-US" sz="2500" b="1" dirty="0">
                <a:solidFill>
                  <a:srgbClr val="F29A1F"/>
                </a:solidFill>
              </a:rPr>
              <a:t>99.5%</a:t>
            </a:r>
            <a:endParaRPr lang="en-US" sz="2500" dirty="0"/>
          </a:p>
        </p:txBody>
      </p:sp>
      <p:sp>
        <p:nvSpPr>
          <p:cNvPr id="25" name="Text 18"/>
          <p:cNvSpPr txBox="1"/>
          <p:nvPr/>
        </p:nvSpPr>
        <p:spPr>
          <a:xfrm>
            <a:off x="9921240" y="3310128"/>
            <a:ext cx="1737360" cy="329184"/>
          </a:xfrm>
          <a:prstGeom prst="rect">
            <a:avLst/>
          </a:prstGeom>
          <a:noFill/>
          <a:ln/>
        </p:spPr>
        <p:txBody>
          <a:bodyPr wrap="square" lIns="0" tIns="0" rIns="0" bIns="0" rtlCol="0" anchor="t"/>
          <a:lstStyle/>
          <a:p>
            <a:pPr indent="0" marL="0">
              <a:buNone/>
            </a:pPr>
            <a:r>
              <a:rPr lang="en-US" sz="1000" dirty="0">
                <a:solidFill>
                  <a:schemeClr val="tx2"/>
                </a:solidFill>
              </a:rPr>
              <a:t>was 68.0% booked separately</a:t>
            </a:r>
            <a:endParaRPr lang="en-US" sz="1000" dirty="0"/>
          </a:p>
        </p:txBody>
      </p:sp>
      <p:sp>
        <p:nvSpPr>
          <p:cNvPr id="26" name="Cost chart"/>
          <p:cNvSpPr/>
          <p:nvPr/>
        </p:nvSpPr>
        <p:spPr>
          <a:xfrm>
            <a:off x="502920" y="3840480"/>
            <a:ext cx="2743200" cy="2560320"/>
          </a:xfrm>
          <a:prstGeom prst="roundRect">
            <a:avLst>
              <a:gd name="adj" fmla="val 4286"/>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graphicFrame>
        <p:nvGraphicFramePr>
          <p:cNvPr id="27" name="Chart 0" descr=""/>
          <p:cNvGraphicFramePr/>
          <p:nvPr/>
        </p:nvGraphicFramePr>
        <p:xfrm>
          <a:off x="594360" y="3904488"/>
          <a:ext cx="2560320" cy="2432304"/>
        </p:xfrm>
        <a:graphic xmlns:a="http://schemas.openxmlformats.org/drawingml/2006/main">
          <a:graphicData uri="http://schemas.openxmlformats.org/drawingml/2006/chart">
            <c:chart xmlns:c="http://schemas.openxmlformats.org/drawingml/2006/chart" r:id="rId6"/>
          </a:graphicData>
        </a:graphic>
      </p:graphicFrame>
      <p:sp>
        <p:nvSpPr>
          <p:cNvPr id="28" name="Bus chart"/>
          <p:cNvSpPr/>
          <p:nvPr/>
        </p:nvSpPr>
        <p:spPr>
          <a:xfrm>
            <a:off x="3383280" y="3840480"/>
            <a:ext cx="2743200" cy="2560320"/>
          </a:xfrm>
          <a:prstGeom prst="roundRect">
            <a:avLst>
              <a:gd name="adj" fmla="val 4286"/>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graphicFrame>
        <p:nvGraphicFramePr>
          <p:cNvPr id="29" name="Chart 1" descr=""/>
          <p:cNvGraphicFramePr/>
          <p:nvPr/>
        </p:nvGraphicFramePr>
        <p:xfrm>
          <a:off x="3474720" y="3904488"/>
          <a:ext cx="2560320" cy="2432304"/>
        </p:xfrm>
        <a:graphic xmlns:a="http://schemas.openxmlformats.org/drawingml/2006/main">
          <a:graphicData uri="http://schemas.openxmlformats.org/drawingml/2006/chart">
            <c:chart xmlns:c="http://schemas.openxmlformats.org/drawingml/2006/chart" r:id="rId7"/>
          </a:graphicData>
        </a:graphic>
      </p:graphicFrame>
      <p:sp>
        <p:nvSpPr>
          <p:cNvPr id="30" name="Metrics table"/>
          <p:cNvSpPr/>
          <p:nvPr/>
        </p:nvSpPr>
        <p:spPr>
          <a:xfrm>
            <a:off x="6263640" y="3840480"/>
            <a:ext cx="5422392" cy="2560320"/>
          </a:xfrm>
          <a:prstGeom prst="roundRect">
            <a:avLst>
              <a:gd name="adj" fmla="val 4286"/>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0" y="3959352"/>
          <a:ext cx="5148072" cy="914400"/>
        </p:xfrm>
        <a:graphic>
          <a:graphicData uri="http://schemas.openxmlformats.org/drawingml/2006/table">
            <a:tbl>
              <a:tblPr/>
              <a:tblGrid>
                <a:gridCol w="1691640"/>
                <a:gridCol w="1216152"/>
                <a:gridCol w="1143000"/>
                <a:gridCol w="1097280"/>
              </a:tblGrid>
              <a:tr h="301752">
                <a:tc>
                  <a:txBody>
                    <a:bodyPr/>
                    <a:lstStyle/>
                    <a:p>
                      <a:pPr algn="l" indent="0" marL="0">
                        <a:buNone/>
                      </a:pPr>
                      <a:r>
                        <a:rPr lang="en-US" sz="1100" b="1" dirty="0">
                          <a:solidFill>
                            <a:srgbClr val="FFFFFF"/>
                          </a:solidFill>
                        </a:rPr>
                        <a:t>Metric</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0B1F45"/>
                    </a:solidFill>
                  </a:tcPr>
                </a:tc>
                <a:tc>
                  <a:txBody>
                    <a:bodyPr/>
                    <a:lstStyle/>
                    <a:p>
                      <a:pPr algn="ctr" indent="0" marL="0">
                        <a:buNone/>
                      </a:pPr>
                      <a:r>
                        <a:rPr lang="en-US" sz="1100" b="1" dirty="0">
                          <a:solidFill>
                            <a:srgbClr val="FFFFFF"/>
                          </a:solidFill>
                        </a:rPr>
                        <a:t>Separate</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0B1F45"/>
                    </a:solidFill>
                  </a:tcPr>
                </a:tc>
                <a:tc>
                  <a:txBody>
                    <a:bodyPr/>
                    <a:lstStyle/>
                    <a:p>
                      <a:pPr algn="ctr" indent="0" marL="0">
                        <a:buNone/>
                      </a:pPr>
                      <a:r>
                        <a:rPr lang="en-US" sz="1100" b="1" dirty="0">
                          <a:solidFill>
                            <a:srgbClr val="FFFFFF"/>
                          </a:solidFill>
                        </a:rPr>
                        <a:t>Campus Cruise</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0B1F45"/>
                    </a:solidFill>
                  </a:tcPr>
                </a:tc>
                <a:tc>
                  <a:txBody>
                    <a:bodyPr/>
                    <a:lstStyle/>
                    <a:p>
                      <a:pPr algn="ctr" indent="0" marL="0">
                        <a:buNone/>
                      </a:pPr>
                      <a:r>
                        <a:rPr lang="en-US" sz="1100" b="1" dirty="0">
                          <a:solidFill>
                            <a:srgbClr val="FFFFFF"/>
                          </a:solidFill>
                        </a:rPr>
                        <a:t>Change</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0B1F45"/>
                    </a:solidFill>
                  </a:tcPr>
                </a:tc>
              </a:tr>
              <a:tr h="301752">
                <a:tc>
                  <a:txBody>
                    <a:bodyPr/>
                    <a:lstStyle/>
                    <a:p>
                      <a:pPr algn="l" indent="0" marL="0">
                        <a:buNone/>
                      </a:pPr>
                      <a:r>
                        <a:rPr lang="en-US" sz="1100" dirty="0">
                          <a:solidFill>
                            <a:srgbClr val="0B1F45"/>
                          </a:solidFill>
                        </a:rPr>
                        <a:t>Total cost</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1F45"/>
                          </a:solidFill>
                        </a:rPr>
                        <a:t>3,330</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1F45"/>
                          </a:solidFill>
                        </a:rPr>
                        <a:t>1,875</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9E4F"/>
                          </a:solidFill>
                        </a:rPr>
                        <a:t>−43.7%</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B1F45"/>
                          </a:solidFill>
                        </a:rPr>
                        <a:t>Buses</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1F45"/>
                          </a:solidFill>
                        </a:rPr>
                        <a:t>60</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1F45"/>
                          </a:solidFill>
                        </a:rPr>
                        <a:t>25</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9E4F"/>
                          </a:solidFill>
                        </a:rPr>
                        <a:t>−35</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B1F45"/>
                          </a:solidFill>
                        </a:rPr>
                        <a:t>Seats filled</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1F45"/>
                          </a:solidFill>
                        </a:rPr>
                        <a:t>68.0%</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1F45"/>
                          </a:solidFill>
                        </a:rPr>
                        <a:t>99.5%</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9E4F"/>
                          </a:solidFill>
                        </a:rPr>
                        <a:t>+31.5 pp</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B1F45"/>
                          </a:solidFill>
                        </a:rPr>
                        <a:t>Cost per attendee</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1F45"/>
                          </a:solidFill>
                        </a:rPr>
                        <a:t>2.68</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1F45"/>
                          </a:solidFill>
                        </a:rPr>
                        <a:t>1.51</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9E4F"/>
                          </a:solidFill>
                        </a:rPr>
                        <a:t>−44%</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r h="301752">
                <a:tc>
                  <a:txBody>
                    <a:bodyPr/>
                    <a:lstStyle/>
                    <a:p>
                      <a:pPr algn="l" indent="0" marL="0">
                        <a:buNone/>
                      </a:pPr>
                      <a:r>
                        <a:rPr lang="en-US" sz="1100" dirty="0">
                          <a:solidFill>
                            <a:srgbClr val="0B1F45"/>
                          </a:solidFill>
                        </a:rPr>
                        <a:t>Bus-miles (straight line)</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1F45"/>
                          </a:solidFill>
                        </a:rPr>
                        <a:t>1,289.4</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0B1F45"/>
                          </a:solidFill>
                        </a:rPr>
                        <a:t>789.4</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2E9E4F"/>
                          </a:solidFill>
                        </a:rPr>
                        <a:t>−38.8%</a:t>
                      </a:r>
                      <a:endParaRPr lang="en-US" sz="1100" dirty="0"/>
                    </a:p>
                  </a:txBody>
                  <a:tcPr marL="45720" marR="45720" marT="45720" marB="4572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r>
            </a:tbl>
          </a:graphicData>
        </a:graphic>
      </p:graphicFrame>
      <p:sp>
        <p:nvSpPr>
          <p:cNvPr id="32" name="Text 22"/>
          <p:cNvSpPr txBox="1"/>
          <p:nvPr/>
        </p:nvSpPr>
        <p:spPr>
          <a:xfrm>
            <a:off x="6400800" y="6035040"/>
            <a:ext cx="5148072" cy="310896"/>
          </a:xfrm>
          <a:prstGeom prst="rect">
            <a:avLst/>
          </a:prstGeom>
          <a:noFill/>
          <a:ln/>
        </p:spPr>
        <p:txBody>
          <a:bodyPr wrap="square" lIns="0" tIns="0" rIns="0" bIns="0" rtlCol="0" anchor="t"/>
          <a:lstStyle/>
          <a:p>
            <a:pPr indent="0" marL="0">
              <a:buNone/>
            </a:pPr>
            <a:r>
              <a:rPr lang="en-US" sz="950" dirty="0">
                <a:solidFill>
                  <a:schemeClr val="tx2"/>
                </a:solidFill>
              </a:rPr>
              <a:t>Other models (best found in 300 s): per mile −28.6%, per driving hour −17.7%. Challenge data only.</a:t>
            </a:r>
            <a:endParaRPr lang="en-US" sz="950" dirty="0"/>
          </a:p>
        </p:txBody>
      </p:sp>
      <p:sp>
        <p:nvSpPr>
          <p:cNvPr id="25" name="Slide Number Placeholder 0"/>
          <p:cNvSpPr>
            <a:spLocks noGrp="1"/>
          </p:cNvSpPr>
          <p:nvPr>
            <p:ph type="sldNum" sz="quarter" idx="4294967295"/>
          </p:nvPr>
        </p:nvSpPr>
        <p:spPr>
          <a:xfrm>
            <a:off x="11228832" y="651052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Coaches outside Principality Stadium, Cardiff (illustration from the team's reference slides)">    </p:cNvPr>
          <p:cNvPicPr>
            <a:picLocks noChangeAspect="1"/>
          </p:cNvPicPr>
          <p:nvPr/>
        </p:nvPicPr>
        <p:blipFill>
          <a:blip r:embed="rId1"/>
          <a:stretch>
            <a:fillRect/>
          </a:stretch>
        </p:blipFill>
        <p:spPr>
          <a:xfrm>
            <a:off x="8674138" y="0"/>
            <a:ext cx="3517557" cy="1828800"/>
          </a:xfrm>
          <a:prstGeom prst="rect">
            <a:avLst/>
          </a:prstGeom>
        </p:spPr>
      </p:pic>
      <p:sp>
        <p:nvSpPr>
          <p:cNvPr id="3" name="Text 0"/>
          <p:cNvSpPr/>
          <p:nvPr>
            <p:ph idx="100" type="body" hasCustomPrompt="1"/>
          </p:nvPr>
        </p:nvSpPr>
        <p:spPr>
          <a:xfrm>
            <a:off x="502920" y="292608"/>
            <a:ext cx="7315200" cy="274320"/>
          </a:xfrm>
          <a:prstGeom prst="rect">
            <a:avLst/>
          </a:prstGeom>
          <a:noFill/>
          <a:ln/>
        </p:spPr>
        <p:txBody>
          <a:bodyPr wrap="square" lIns="0" tIns="0" rIns="0" bIns="0" rtlCol="0" anchor="t"/>
          <a:lstStyle/>
          <a:p>
            <a:pPr indent="0" marL="0">
              <a:buNone/>
            </a:pPr>
            <a:r>
              <a:rPr lang="en-US" sz="1300" b="1" spc="100" kern="0" dirty="0">
                <a:solidFill>
                  <a:schemeClr val="accent6"/>
                </a:solidFill>
              </a:rPr>
              <a:t>APPLICATION AND KEY FEATURES</a:t>
            </a:r>
            <a:endParaRPr lang="en-US" sz="1300" dirty="0"/>
          </a:p>
        </p:txBody>
      </p:sp>
      <p:sp>
        <p:nvSpPr>
          <p:cNvPr id="4" name="Text 1"/>
          <p:cNvSpPr/>
          <p:nvPr>
            <p:ph idx="102" type="title" hasCustomPrompt="1"/>
          </p:nvPr>
        </p:nvSpPr>
        <p:spPr>
          <a:xfrm>
            <a:off x="502920" y="777240"/>
            <a:ext cx="7589520" cy="1051560"/>
          </a:xfrm>
          <a:prstGeom prst="rect">
            <a:avLst/>
          </a:prstGeom>
          <a:noFill/>
          <a:ln/>
        </p:spPr>
        <p:txBody>
          <a:bodyPr wrap="square" lIns="0" tIns="0" rIns="0" bIns="0" rtlCol="0" anchor="t"/>
          <a:lstStyle/>
          <a:p>
            <a:pPr algn="l" indent="0" marL="0">
              <a:buNone/>
            </a:pPr>
            <a:r>
              <a:rPr lang="en-US" sz="3400" b="1" dirty="0">
                <a:solidFill>
                  <a:srgbClr val="0B1F45"/>
                </a:solidFill>
              </a:rPr>
              <a:t>Campus Cruise </a:t>
            </a:r>
            <a:pPr algn="l" indent="0" marL="0">
              <a:buNone/>
            </a:pPr>
            <a:r>
              <a:rPr lang="en-US" sz="3400" b="1" dirty="0">
                <a:solidFill>
                  <a:srgbClr val="D7192F"/>
                </a:solidFill>
              </a:rPr>
              <a:t>in Action</a:t>
            </a:r>
            <a:endParaRPr lang="en-US" sz="3400" dirty="0"/>
          </a:p>
        </p:txBody>
      </p:sp>
      <p:sp>
        <p:nvSpPr>
          <p:cNvPr id="5" name="Text 2"/>
          <p:cNvSpPr txBox="1"/>
          <p:nvPr/>
        </p:nvSpPr>
        <p:spPr>
          <a:xfrm>
            <a:off x="502920" y="1481328"/>
            <a:ext cx="7589520" cy="566928"/>
          </a:xfrm>
          <a:prstGeom prst="rect">
            <a:avLst/>
          </a:prstGeom>
          <a:noFill/>
          <a:ln/>
        </p:spPr>
        <p:txBody>
          <a:bodyPr wrap="square" lIns="0" tIns="0" rIns="0" bIns="0" rtlCol="0" anchor="t"/>
          <a:lstStyle/>
          <a:p>
            <a:pPr indent="0" marL="0">
              <a:buNone/>
            </a:pPr>
            <a:r>
              <a:rPr lang="en-US" sz="1500" dirty="0">
                <a:solidFill>
                  <a:schemeClr val="tx2"/>
                </a:solidFill>
              </a:rPr>
              <a:t>A working web application to plan, optimise and check shared school transport for any event.</a:t>
            </a:r>
            <a:endParaRPr lang="en-US" sz="1500" dirty="0"/>
          </a:p>
        </p:txBody>
      </p:sp>
      <p:sp>
        <p:nvSpPr>
          <p:cNvPr id="6" name="Upload school data"/>
          <p:cNvSpPr/>
          <p:nvPr/>
        </p:nvSpPr>
        <p:spPr>
          <a:xfrm>
            <a:off x="502920" y="2212848"/>
            <a:ext cx="3794760" cy="731520"/>
          </a:xfrm>
          <a:prstGeom prst="roundRect">
            <a:avLst>
              <a:gd name="adj" fmla="val 15000"/>
            </a:avLst>
          </a:prstGeom>
          <a:solidFill>
            <a:srgbClr val="FDECEE"/>
          </a:solidFill>
          <a:ln w="9525">
            <a:solidFill>
              <a:srgbClr val="FDECEE"/>
            </a:solidFill>
            <a:prstDash val="solid"/>
          </a:ln>
        </p:spPr>
      </p:sp>
      <p:sp>
        <p:nvSpPr>
          <p:cNvPr id="7" name="Upload school data"/>
          <p:cNvSpPr/>
          <p:nvPr/>
        </p:nvSpPr>
        <p:spPr>
          <a:xfrm>
            <a:off x="640080" y="2304288"/>
            <a:ext cx="548640" cy="548640"/>
          </a:xfrm>
          <a:prstGeom prst="ellipse">
            <a:avLst/>
          </a:prstGeom>
          <a:solidFill>
            <a:srgbClr val="D7192F"/>
          </a:solidFill>
          <a:ln w="12700">
            <a:solidFill>
              <a:srgbClr val="D7192F"/>
            </a:solidFill>
            <a:prstDash val="solid"/>
          </a:ln>
        </p:spPr>
      </p:sp>
      <p:pic>
        <p:nvPicPr>
          <p:cNvPr id="8" name="Image 1" descr="Upload school data">    </p:cNvPr>
          <p:cNvPicPr>
            <a:picLocks noChangeAspect="1"/>
          </p:cNvPicPr>
          <p:nvPr/>
        </p:nvPicPr>
        <p:blipFill>
          <a:blip r:embed="rId2"/>
          <a:stretch>
            <a:fillRect/>
          </a:stretch>
        </p:blipFill>
        <p:spPr>
          <a:xfrm>
            <a:off x="777240" y="2441448"/>
            <a:ext cx="274320" cy="274320"/>
          </a:xfrm>
          <a:prstGeom prst="rect">
            <a:avLst/>
          </a:prstGeom>
        </p:spPr>
      </p:pic>
      <p:sp>
        <p:nvSpPr>
          <p:cNvPr id="9" name="Text 5"/>
          <p:cNvSpPr txBox="1"/>
          <p:nvPr/>
        </p:nvSpPr>
        <p:spPr>
          <a:xfrm>
            <a:off x="1325880" y="2286000"/>
            <a:ext cx="2880360" cy="292608"/>
          </a:xfrm>
          <a:prstGeom prst="rect">
            <a:avLst/>
          </a:prstGeom>
          <a:noFill/>
          <a:ln/>
        </p:spPr>
        <p:txBody>
          <a:bodyPr wrap="square" lIns="0" tIns="0" rIns="0" bIns="0" rtlCol="0" anchor="t"/>
          <a:lstStyle/>
          <a:p>
            <a:pPr indent="0" marL="0">
              <a:buNone/>
            </a:pPr>
            <a:r>
              <a:rPr lang="en-US" sz="1400" b="1" dirty="0">
                <a:solidFill>
                  <a:schemeClr val="tx1"/>
                </a:solidFill>
              </a:rPr>
              <a:t>Upload school data</a:t>
            </a:r>
            <a:endParaRPr lang="en-US" sz="1400" dirty="0"/>
          </a:p>
        </p:txBody>
      </p:sp>
      <p:sp>
        <p:nvSpPr>
          <p:cNvPr id="10" name="Text 6"/>
          <p:cNvSpPr txBox="1"/>
          <p:nvPr/>
        </p:nvSpPr>
        <p:spPr>
          <a:xfrm>
            <a:off x="1325880" y="2578608"/>
            <a:ext cx="2880360" cy="292608"/>
          </a:xfrm>
          <a:prstGeom prst="rect">
            <a:avLst/>
          </a:prstGeom>
          <a:noFill/>
          <a:ln/>
        </p:spPr>
        <p:txBody>
          <a:bodyPr wrap="square" lIns="0" tIns="0" rIns="0" bIns="0" rtlCol="0" anchor="t"/>
          <a:lstStyle/>
          <a:p>
            <a:pPr indent="0" marL="0">
              <a:buNone/>
            </a:pPr>
            <a:r>
              <a:rPr lang="en-US" sz="1100" dirty="0">
                <a:solidFill>
                  <a:schemeClr val="tx2"/>
                </a:solidFill>
              </a:rPr>
              <a:t>Any CSV; bad rows rejected by row number</a:t>
            </a:r>
            <a:endParaRPr lang="en-US" sz="1100" dirty="0"/>
          </a:p>
        </p:txBody>
      </p:sp>
      <p:sp>
        <p:nvSpPr>
          <p:cNvPr id="11" name="Search any venue"/>
          <p:cNvSpPr/>
          <p:nvPr/>
        </p:nvSpPr>
        <p:spPr>
          <a:xfrm>
            <a:off x="502920" y="3054096"/>
            <a:ext cx="3794760" cy="731520"/>
          </a:xfrm>
          <a:prstGeom prst="roundRect">
            <a:avLst>
              <a:gd name="adj" fmla="val 15000"/>
            </a:avLst>
          </a:prstGeom>
          <a:solidFill>
            <a:srgbClr val="EAF1FB"/>
          </a:solidFill>
          <a:ln w="9525">
            <a:solidFill>
              <a:srgbClr val="EAF1FB"/>
            </a:solidFill>
            <a:prstDash val="solid"/>
          </a:ln>
        </p:spPr>
      </p:sp>
      <p:sp>
        <p:nvSpPr>
          <p:cNvPr id="12" name="Search any venue"/>
          <p:cNvSpPr/>
          <p:nvPr/>
        </p:nvSpPr>
        <p:spPr>
          <a:xfrm>
            <a:off x="640080" y="3145536"/>
            <a:ext cx="548640" cy="548640"/>
          </a:xfrm>
          <a:prstGeom prst="ellipse">
            <a:avLst/>
          </a:prstGeom>
          <a:solidFill>
            <a:srgbClr val="1F5FBF"/>
          </a:solidFill>
          <a:ln w="12700">
            <a:solidFill>
              <a:srgbClr val="1F5FBF"/>
            </a:solidFill>
            <a:prstDash val="solid"/>
          </a:ln>
        </p:spPr>
      </p:sp>
      <p:pic>
        <p:nvPicPr>
          <p:cNvPr id="13" name="Image 2" descr="Search any venue">    </p:cNvPr>
          <p:cNvPicPr>
            <a:picLocks noChangeAspect="1"/>
          </p:cNvPicPr>
          <p:nvPr/>
        </p:nvPicPr>
        <p:blipFill>
          <a:blip r:embed="rId3"/>
          <a:stretch>
            <a:fillRect/>
          </a:stretch>
        </p:blipFill>
        <p:spPr>
          <a:xfrm>
            <a:off x="777240" y="3282696"/>
            <a:ext cx="274320" cy="274320"/>
          </a:xfrm>
          <a:prstGeom prst="rect">
            <a:avLst/>
          </a:prstGeom>
        </p:spPr>
      </p:pic>
      <p:sp>
        <p:nvSpPr>
          <p:cNvPr id="14" name="Text 9"/>
          <p:cNvSpPr txBox="1"/>
          <p:nvPr/>
        </p:nvSpPr>
        <p:spPr>
          <a:xfrm>
            <a:off x="1325880" y="3127248"/>
            <a:ext cx="2880360" cy="292608"/>
          </a:xfrm>
          <a:prstGeom prst="rect">
            <a:avLst/>
          </a:prstGeom>
          <a:noFill/>
          <a:ln/>
        </p:spPr>
        <p:txBody>
          <a:bodyPr wrap="square" lIns="0" tIns="0" rIns="0" bIns="0" rtlCol="0" anchor="t"/>
          <a:lstStyle/>
          <a:p>
            <a:pPr indent="0" marL="0">
              <a:buNone/>
            </a:pPr>
            <a:r>
              <a:rPr lang="en-US" sz="1400" b="1" dirty="0">
                <a:solidFill>
                  <a:schemeClr val="tx1"/>
                </a:solidFill>
              </a:rPr>
              <a:t>Search any venue</a:t>
            </a:r>
            <a:endParaRPr lang="en-US" sz="1400" dirty="0"/>
          </a:p>
        </p:txBody>
      </p:sp>
      <p:sp>
        <p:nvSpPr>
          <p:cNvPr id="15" name="Text 10"/>
          <p:cNvSpPr txBox="1"/>
          <p:nvPr/>
        </p:nvSpPr>
        <p:spPr>
          <a:xfrm>
            <a:off x="1325880" y="3419856"/>
            <a:ext cx="2880360" cy="292608"/>
          </a:xfrm>
          <a:prstGeom prst="rect">
            <a:avLst/>
          </a:prstGeom>
          <a:noFill/>
          <a:ln/>
        </p:spPr>
        <p:txBody>
          <a:bodyPr wrap="square" lIns="0" tIns="0" rIns="0" bIns="0" rtlCol="0" anchor="t"/>
          <a:lstStyle/>
          <a:p>
            <a:pPr indent="0" marL="0">
              <a:buNone/>
            </a:pPr>
            <a:r>
              <a:rPr lang="en-US" sz="1100" dirty="0">
                <a:solidFill>
                  <a:schemeClr val="tx2"/>
                </a:solidFill>
              </a:rPr>
              <a:t>Type an address; coordinates fill in</a:t>
            </a:r>
            <a:endParaRPr lang="en-US" sz="1100" dirty="0"/>
          </a:p>
        </p:txBody>
      </p:sp>
      <p:sp>
        <p:nvSpPr>
          <p:cNvPr id="16" name="Choose the objective"/>
          <p:cNvSpPr/>
          <p:nvPr/>
        </p:nvSpPr>
        <p:spPr>
          <a:xfrm>
            <a:off x="502920" y="3895344"/>
            <a:ext cx="3794760" cy="731520"/>
          </a:xfrm>
          <a:prstGeom prst="roundRect">
            <a:avLst>
              <a:gd name="adj" fmla="val 15000"/>
            </a:avLst>
          </a:prstGeom>
          <a:solidFill>
            <a:srgbClr val="EAF6EE"/>
          </a:solidFill>
          <a:ln w="9525">
            <a:solidFill>
              <a:srgbClr val="EAF6EE"/>
            </a:solidFill>
            <a:prstDash val="solid"/>
          </a:ln>
        </p:spPr>
      </p:sp>
      <p:sp>
        <p:nvSpPr>
          <p:cNvPr id="17" name="Choose the objective"/>
          <p:cNvSpPr/>
          <p:nvPr/>
        </p:nvSpPr>
        <p:spPr>
          <a:xfrm>
            <a:off x="640080" y="3986784"/>
            <a:ext cx="548640" cy="548640"/>
          </a:xfrm>
          <a:prstGeom prst="ellipse">
            <a:avLst/>
          </a:prstGeom>
          <a:solidFill>
            <a:srgbClr val="2E9E4F"/>
          </a:solidFill>
          <a:ln w="12700">
            <a:solidFill>
              <a:srgbClr val="2E9E4F"/>
            </a:solidFill>
            <a:prstDash val="solid"/>
          </a:ln>
        </p:spPr>
      </p:sp>
      <p:pic>
        <p:nvPicPr>
          <p:cNvPr id="18" name="Image 3" descr="Choose the objective">    </p:cNvPr>
          <p:cNvPicPr>
            <a:picLocks noChangeAspect="1"/>
          </p:cNvPicPr>
          <p:nvPr/>
        </p:nvPicPr>
        <p:blipFill>
          <a:blip r:embed="rId4"/>
          <a:stretch>
            <a:fillRect/>
          </a:stretch>
        </p:blipFill>
        <p:spPr>
          <a:xfrm>
            <a:off x="777240" y="4123944"/>
            <a:ext cx="274320" cy="274320"/>
          </a:xfrm>
          <a:prstGeom prst="rect">
            <a:avLst/>
          </a:prstGeom>
        </p:spPr>
      </p:pic>
      <p:sp>
        <p:nvSpPr>
          <p:cNvPr id="19" name="Text 13"/>
          <p:cNvSpPr txBox="1"/>
          <p:nvPr/>
        </p:nvSpPr>
        <p:spPr>
          <a:xfrm>
            <a:off x="1325880" y="3968496"/>
            <a:ext cx="2880360" cy="292608"/>
          </a:xfrm>
          <a:prstGeom prst="rect">
            <a:avLst/>
          </a:prstGeom>
          <a:noFill/>
          <a:ln/>
        </p:spPr>
        <p:txBody>
          <a:bodyPr wrap="square" lIns="0" tIns="0" rIns="0" bIns="0" rtlCol="0" anchor="t"/>
          <a:lstStyle/>
          <a:p>
            <a:pPr indent="0" marL="0">
              <a:buNone/>
            </a:pPr>
            <a:r>
              <a:rPr lang="en-US" sz="1400" b="1" dirty="0">
                <a:solidFill>
                  <a:schemeClr val="tx1"/>
                </a:solidFill>
              </a:rPr>
              <a:t>Choose the objective</a:t>
            </a:r>
            <a:endParaRPr lang="en-US" sz="1400" dirty="0"/>
          </a:p>
        </p:txBody>
      </p:sp>
      <p:sp>
        <p:nvSpPr>
          <p:cNvPr id="20" name="Text 14"/>
          <p:cNvSpPr txBox="1"/>
          <p:nvPr/>
        </p:nvSpPr>
        <p:spPr>
          <a:xfrm>
            <a:off x="1325880" y="4261104"/>
            <a:ext cx="2880360" cy="292608"/>
          </a:xfrm>
          <a:prstGeom prst="rect">
            <a:avLst/>
          </a:prstGeom>
          <a:noFill/>
          <a:ln/>
        </p:spPr>
        <p:txBody>
          <a:bodyPr wrap="square" lIns="0" tIns="0" rIns="0" bIns="0" rtlCol="0" anchor="t"/>
          <a:lstStyle/>
          <a:p>
            <a:pPr indent="0" marL="0">
              <a:buNone/>
            </a:pPr>
            <a:r>
              <a:rPr lang="en-US" sz="1100" dirty="0">
                <a:solidFill>
                  <a:schemeClr val="tx2"/>
                </a:solidFill>
              </a:rPr>
              <a:t>Fixed price, per mile or per hour</a:t>
            </a:r>
            <a:endParaRPr lang="en-US" sz="1100" dirty="0"/>
          </a:p>
        </p:txBody>
      </p:sp>
      <p:sp>
        <p:nvSpPr>
          <p:cNvPr id="21" name="Interactive route map"/>
          <p:cNvSpPr/>
          <p:nvPr/>
        </p:nvSpPr>
        <p:spPr>
          <a:xfrm>
            <a:off x="502920" y="4736592"/>
            <a:ext cx="3794760" cy="731520"/>
          </a:xfrm>
          <a:prstGeom prst="roundRect">
            <a:avLst>
              <a:gd name="adj" fmla="val 15000"/>
            </a:avLst>
          </a:prstGeom>
          <a:solidFill>
            <a:srgbClr val="FEF4E6"/>
          </a:solidFill>
          <a:ln w="9525">
            <a:solidFill>
              <a:srgbClr val="FEF4E6"/>
            </a:solidFill>
            <a:prstDash val="solid"/>
          </a:ln>
        </p:spPr>
      </p:sp>
      <p:sp>
        <p:nvSpPr>
          <p:cNvPr id="22" name="Interactive route map"/>
          <p:cNvSpPr/>
          <p:nvPr/>
        </p:nvSpPr>
        <p:spPr>
          <a:xfrm>
            <a:off x="640080" y="4828032"/>
            <a:ext cx="548640" cy="548640"/>
          </a:xfrm>
          <a:prstGeom prst="ellipse">
            <a:avLst/>
          </a:prstGeom>
          <a:solidFill>
            <a:srgbClr val="F29A1F"/>
          </a:solidFill>
          <a:ln w="12700">
            <a:solidFill>
              <a:srgbClr val="F29A1F"/>
            </a:solidFill>
            <a:prstDash val="solid"/>
          </a:ln>
        </p:spPr>
      </p:sp>
      <p:pic>
        <p:nvPicPr>
          <p:cNvPr id="23" name="Image 4" descr="Interactive route map">    </p:cNvPr>
          <p:cNvPicPr>
            <a:picLocks noChangeAspect="1"/>
          </p:cNvPicPr>
          <p:nvPr/>
        </p:nvPicPr>
        <p:blipFill>
          <a:blip r:embed="rId5"/>
          <a:stretch>
            <a:fillRect/>
          </a:stretch>
        </p:blipFill>
        <p:spPr>
          <a:xfrm>
            <a:off x="777240" y="4965192"/>
            <a:ext cx="274320" cy="274320"/>
          </a:xfrm>
          <a:prstGeom prst="rect">
            <a:avLst/>
          </a:prstGeom>
        </p:spPr>
      </p:pic>
      <p:sp>
        <p:nvSpPr>
          <p:cNvPr id="24" name="Text 17"/>
          <p:cNvSpPr txBox="1"/>
          <p:nvPr/>
        </p:nvSpPr>
        <p:spPr>
          <a:xfrm>
            <a:off x="1325880" y="4809744"/>
            <a:ext cx="2880360" cy="292608"/>
          </a:xfrm>
          <a:prstGeom prst="rect">
            <a:avLst/>
          </a:prstGeom>
          <a:noFill/>
          <a:ln/>
        </p:spPr>
        <p:txBody>
          <a:bodyPr wrap="square" lIns="0" tIns="0" rIns="0" bIns="0" rtlCol="0" anchor="t"/>
          <a:lstStyle/>
          <a:p>
            <a:pPr indent="0" marL="0">
              <a:buNone/>
            </a:pPr>
            <a:r>
              <a:rPr lang="en-US" sz="1400" b="1" dirty="0">
                <a:solidFill>
                  <a:schemeClr val="tx1"/>
                </a:solidFill>
              </a:rPr>
              <a:t>Interactive route map</a:t>
            </a:r>
            <a:endParaRPr lang="en-US" sz="1400" dirty="0"/>
          </a:p>
        </p:txBody>
      </p:sp>
      <p:sp>
        <p:nvSpPr>
          <p:cNvPr id="25" name="Text 18"/>
          <p:cNvSpPr txBox="1"/>
          <p:nvPr/>
        </p:nvSpPr>
        <p:spPr>
          <a:xfrm>
            <a:off x="1325880" y="5102352"/>
            <a:ext cx="2880360" cy="292608"/>
          </a:xfrm>
          <a:prstGeom prst="rect">
            <a:avLst/>
          </a:prstGeom>
          <a:noFill/>
          <a:ln/>
        </p:spPr>
        <p:txBody>
          <a:bodyPr wrap="square" lIns="0" tIns="0" rIns="0" bIns="0" rtlCol="0" anchor="t"/>
          <a:lstStyle/>
          <a:p>
            <a:pPr indent="0" marL="0">
              <a:buNone/>
            </a:pPr>
            <a:r>
              <a:rPr lang="en-US" sz="1100" dirty="0">
                <a:solidFill>
                  <a:schemeClr val="tx2"/>
                </a:solidFill>
              </a:rPr>
              <a:t>Every bus, its schools and road path</a:t>
            </a:r>
            <a:endParaRPr lang="en-US" sz="1100" dirty="0"/>
          </a:p>
        </p:txBody>
      </p:sp>
      <p:sp>
        <p:nvSpPr>
          <p:cNvPr id="26" name="Results and export"/>
          <p:cNvSpPr/>
          <p:nvPr/>
        </p:nvSpPr>
        <p:spPr>
          <a:xfrm>
            <a:off x="502920" y="5577840"/>
            <a:ext cx="3794760" cy="731520"/>
          </a:xfrm>
          <a:prstGeom prst="roundRect">
            <a:avLst>
              <a:gd name="adj" fmla="val 15000"/>
            </a:avLst>
          </a:prstGeom>
          <a:solidFill>
            <a:srgbClr val="F2EDFB"/>
          </a:solidFill>
          <a:ln w="9525">
            <a:solidFill>
              <a:srgbClr val="F2EDFB"/>
            </a:solidFill>
            <a:prstDash val="solid"/>
          </a:ln>
        </p:spPr>
      </p:sp>
      <p:sp>
        <p:nvSpPr>
          <p:cNvPr id="27" name="Results and export"/>
          <p:cNvSpPr/>
          <p:nvPr/>
        </p:nvSpPr>
        <p:spPr>
          <a:xfrm>
            <a:off x="640080" y="5669280"/>
            <a:ext cx="548640" cy="548640"/>
          </a:xfrm>
          <a:prstGeom prst="ellipse">
            <a:avLst/>
          </a:prstGeom>
          <a:solidFill>
            <a:srgbClr val="6B3FB5"/>
          </a:solidFill>
          <a:ln w="12700">
            <a:solidFill>
              <a:srgbClr val="6B3FB5"/>
            </a:solidFill>
            <a:prstDash val="solid"/>
          </a:ln>
        </p:spPr>
      </p:sp>
      <p:pic>
        <p:nvPicPr>
          <p:cNvPr id="28" name="Image 5" descr="Results and export">    </p:cNvPr>
          <p:cNvPicPr>
            <a:picLocks noChangeAspect="1"/>
          </p:cNvPicPr>
          <p:nvPr/>
        </p:nvPicPr>
        <p:blipFill>
          <a:blip r:embed="rId6"/>
          <a:stretch>
            <a:fillRect/>
          </a:stretch>
        </p:blipFill>
        <p:spPr>
          <a:xfrm>
            <a:off x="777240" y="5806440"/>
            <a:ext cx="274320" cy="274320"/>
          </a:xfrm>
          <a:prstGeom prst="rect">
            <a:avLst/>
          </a:prstGeom>
        </p:spPr>
      </p:pic>
      <p:sp>
        <p:nvSpPr>
          <p:cNvPr id="29" name="Text 21"/>
          <p:cNvSpPr txBox="1"/>
          <p:nvPr/>
        </p:nvSpPr>
        <p:spPr>
          <a:xfrm>
            <a:off x="1325880" y="5650992"/>
            <a:ext cx="2880360" cy="292608"/>
          </a:xfrm>
          <a:prstGeom prst="rect">
            <a:avLst/>
          </a:prstGeom>
          <a:noFill/>
          <a:ln/>
        </p:spPr>
        <p:txBody>
          <a:bodyPr wrap="square" lIns="0" tIns="0" rIns="0" bIns="0" rtlCol="0" anchor="t"/>
          <a:lstStyle/>
          <a:p>
            <a:pPr indent="0" marL="0">
              <a:buNone/>
            </a:pPr>
            <a:r>
              <a:rPr lang="en-US" sz="1400" b="1" dirty="0">
                <a:solidFill>
                  <a:schemeClr val="tx1"/>
                </a:solidFill>
              </a:rPr>
              <a:t>Results and export</a:t>
            </a:r>
            <a:endParaRPr lang="en-US" sz="1400" dirty="0"/>
          </a:p>
        </p:txBody>
      </p:sp>
      <p:sp>
        <p:nvSpPr>
          <p:cNvPr id="30" name="Text 22"/>
          <p:cNvSpPr txBox="1"/>
          <p:nvPr/>
        </p:nvSpPr>
        <p:spPr>
          <a:xfrm>
            <a:off x="1325880" y="5943600"/>
            <a:ext cx="2880360" cy="292608"/>
          </a:xfrm>
          <a:prstGeom prst="rect">
            <a:avLst/>
          </a:prstGeom>
          <a:noFill/>
          <a:ln/>
        </p:spPr>
        <p:txBody>
          <a:bodyPr wrap="square" lIns="0" tIns="0" rIns="0" bIns="0" rtlCol="0" anchor="t"/>
          <a:lstStyle/>
          <a:p>
            <a:pPr indent="0" marL="0">
              <a:buNone/>
            </a:pPr>
            <a:r>
              <a:rPr lang="en-US" sz="1100" dirty="0">
                <a:solidFill>
                  <a:schemeClr val="tx2"/>
                </a:solidFill>
              </a:rPr>
              <a:t>Plan CSV, report and audit report</a:t>
            </a:r>
            <a:endParaRPr lang="en-US" sz="1100" dirty="0"/>
          </a:p>
        </p:txBody>
      </p:sp>
      <p:sp>
        <p:nvSpPr>
          <p:cNvPr id="31" name="Inputs"/>
          <p:cNvSpPr/>
          <p:nvPr/>
        </p:nvSpPr>
        <p:spPr>
          <a:xfrm>
            <a:off x="4526280" y="2212848"/>
            <a:ext cx="2148840" cy="4187952"/>
          </a:xfrm>
          <a:prstGeom prst="roundRect">
            <a:avLst>
              <a:gd name="adj" fmla="val 4255"/>
            </a:avLst>
          </a:prstGeom>
          <a:solidFill>
            <a:srgbClr val="FFFFFF"/>
          </a:solidFill>
          <a:ln w="12700">
            <a:solidFill>
              <a:srgbClr val="0B1F45"/>
            </a:solidFill>
            <a:prstDash val="solid"/>
          </a:ln>
        </p:spPr>
      </p:sp>
      <p:sp>
        <p:nvSpPr>
          <p:cNvPr id="32" name="Shape 24"/>
          <p:cNvSpPr/>
          <p:nvPr/>
        </p:nvSpPr>
        <p:spPr>
          <a:xfrm>
            <a:off x="4526280" y="2212848"/>
            <a:ext cx="2148840" cy="457200"/>
          </a:xfrm>
          <a:prstGeom prst="roundRect">
            <a:avLst>
              <a:gd name="adj" fmla="val 20000"/>
            </a:avLst>
          </a:prstGeom>
          <a:solidFill>
            <a:srgbClr val="0B1F45"/>
          </a:solidFill>
          <a:ln w="12700">
            <a:solidFill>
              <a:srgbClr val="0B1F45"/>
            </a:solidFill>
            <a:prstDash val="solid"/>
          </a:ln>
        </p:spPr>
      </p:sp>
      <p:sp>
        <p:nvSpPr>
          <p:cNvPr id="33" name="Shape 25"/>
          <p:cNvSpPr/>
          <p:nvPr/>
        </p:nvSpPr>
        <p:spPr>
          <a:xfrm>
            <a:off x="4526280" y="2468880"/>
            <a:ext cx="2148840" cy="201168"/>
          </a:xfrm>
          <a:prstGeom prst="rect">
            <a:avLst/>
          </a:prstGeom>
          <a:solidFill>
            <a:srgbClr val="0B1F45"/>
          </a:solidFill>
          <a:ln w="12700">
            <a:solidFill>
              <a:srgbClr val="0B1F45"/>
            </a:solidFill>
            <a:prstDash val="solid"/>
          </a:ln>
        </p:spPr>
      </p:sp>
      <p:sp>
        <p:nvSpPr>
          <p:cNvPr id="34" name="Text 26"/>
          <p:cNvSpPr txBox="1"/>
          <p:nvPr/>
        </p:nvSpPr>
        <p:spPr>
          <a:xfrm>
            <a:off x="4690872" y="2212848"/>
            <a:ext cx="1874520" cy="457200"/>
          </a:xfrm>
          <a:prstGeom prst="rect">
            <a:avLst/>
          </a:prstGeom>
          <a:noFill/>
          <a:ln/>
        </p:spPr>
        <p:txBody>
          <a:bodyPr wrap="square" lIns="0" tIns="0" rIns="0" bIns="0" rtlCol="0" anchor="ctr"/>
          <a:lstStyle/>
          <a:p>
            <a:pPr indent="0" marL="0">
              <a:buNone/>
            </a:pPr>
            <a:r>
              <a:rPr lang="en-US" sz="1400" b="1" dirty="0">
                <a:solidFill>
                  <a:schemeClr val="bg1"/>
                </a:solidFill>
              </a:rPr>
              <a:t>Inputs</a:t>
            </a:r>
            <a:endParaRPr lang="en-US" sz="1400" dirty="0"/>
          </a:p>
        </p:txBody>
      </p:sp>
      <p:pic>
        <p:nvPicPr>
          <p:cNvPr id="35" name="Image 6" descr="Campus Cruise sidebar: school data upload and destination search with a map of the chosen venue">    </p:cNvPr>
          <p:cNvPicPr>
            <a:picLocks noChangeAspect="1"/>
          </p:cNvPicPr>
          <p:nvPr/>
        </p:nvPicPr>
        <p:blipFill>
          <a:blip r:embed="rId7"/>
          <a:stretch>
            <a:fillRect/>
          </a:stretch>
        </p:blipFill>
        <p:spPr>
          <a:xfrm>
            <a:off x="4892913" y="2743200"/>
            <a:ext cx="1415575" cy="3566160"/>
          </a:xfrm>
          <a:prstGeom prst="rect">
            <a:avLst/>
          </a:prstGeom>
        </p:spPr>
      </p:pic>
      <p:sp>
        <p:nvSpPr>
          <p:cNvPr id="36" name="Optimised route map"/>
          <p:cNvSpPr/>
          <p:nvPr/>
        </p:nvSpPr>
        <p:spPr>
          <a:xfrm>
            <a:off x="6903720" y="2212848"/>
            <a:ext cx="4782312" cy="4187952"/>
          </a:xfrm>
          <a:prstGeom prst="roundRect">
            <a:avLst>
              <a:gd name="adj" fmla="val 2183"/>
            </a:avLst>
          </a:prstGeom>
          <a:solidFill>
            <a:srgbClr val="FFFFFF"/>
          </a:solidFill>
          <a:ln w="12700">
            <a:solidFill>
              <a:srgbClr val="0B1F45"/>
            </a:solidFill>
            <a:prstDash val="solid"/>
          </a:ln>
        </p:spPr>
      </p:sp>
      <p:sp>
        <p:nvSpPr>
          <p:cNvPr id="37" name="Shape 28"/>
          <p:cNvSpPr/>
          <p:nvPr/>
        </p:nvSpPr>
        <p:spPr>
          <a:xfrm>
            <a:off x="6903720" y="2212848"/>
            <a:ext cx="4782312" cy="457200"/>
          </a:xfrm>
          <a:prstGeom prst="roundRect">
            <a:avLst>
              <a:gd name="adj" fmla="val 20000"/>
            </a:avLst>
          </a:prstGeom>
          <a:solidFill>
            <a:srgbClr val="0B1F45"/>
          </a:solidFill>
          <a:ln w="12700">
            <a:solidFill>
              <a:srgbClr val="0B1F45"/>
            </a:solidFill>
            <a:prstDash val="solid"/>
          </a:ln>
        </p:spPr>
      </p:sp>
      <p:sp>
        <p:nvSpPr>
          <p:cNvPr id="38" name="Shape 29"/>
          <p:cNvSpPr/>
          <p:nvPr/>
        </p:nvSpPr>
        <p:spPr>
          <a:xfrm>
            <a:off x="6903720" y="2468880"/>
            <a:ext cx="4782312" cy="201168"/>
          </a:xfrm>
          <a:prstGeom prst="rect">
            <a:avLst/>
          </a:prstGeom>
          <a:solidFill>
            <a:srgbClr val="0B1F45"/>
          </a:solidFill>
          <a:ln w="12700">
            <a:solidFill>
              <a:srgbClr val="0B1F45"/>
            </a:solidFill>
            <a:prstDash val="solid"/>
          </a:ln>
        </p:spPr>
      </p:sp>
      <p:sp>
        <p:nvSpPr>
          <p:cNvPr id="39" name="Text 30"/>
          <p:cNvSpPr txBox="1"/>
          <p:nvPr/>
        </p:nvSpPr>
        <p:spPr>
          <a:xfrm>
            <a:off x="7068312" y="2212848"/>
            <a:ext cx="4507992" cy="457200"/>
          </a:xfrm>
          <a:prstGeom prst="rect">
            <a:avLst/>
          </a:prstGeom>
          <a:noFill/>
          <a:ln/>
        </p:spPr>
        <p:txBody>
          <a:bodyPr wrap="square" lIns="0" tIns="0" rIns="0" bIns="0" rtlCol="0" anchor="ctr"/>
          <a:lstStyle/>
          <a:p>
            <a:pPr indent="0" marL="0">
              <a:buNone/>
            </a:pPr>
            <a:r>
              <a:rPr lang="en-US" sz="1400" b="1" dirty="0">
                <a:solidFill>
                  <a:schemeClr val="bg1"/>
                </a:solidFill>
              </a:rPr>
              <a:t>Optimised route map</a:t>
            </a:r>
            <a:endParaRPr lang="en-US" sz="1400" dirty="0"/>
          </a:p>
        </p:txBody>
      </p:sp>
      <p:pic>
        <p:nvPicPr>
          <p:cNvPr id="40" name="Image 7" descr="Campus Cruise route map: 25 buses from 60 schools to Principality Stadium">    </p:cNvPr>
          <p:cNvPicPr>
            <a:picLocks noChangeAspect="1"/>
          </p:cNvPicPr>
          <p:nvPr/>
        </p:nvPicPr>
        <p:blipFill>
          <a:blip r:embed="rId8"/>
          <a:stretch>
            <a:fillRect/>
          </a:stretch>
        </p:blipFill>
        <p:spPr>
          <a:xfrm>
            <a:off x="7008876" y="2743200"/>
            <a:ext cx="4572000" cy="3565886"/>
          </a:xfrm>
          <a:prstGeom prst="rect">
            <a:avLst/>
          </a:prstGeom>
        </p:spPr>
      </p:pic>
      <p:sp>
        <p:nvSpPr>
          <p:cNvPr id="41" name="Text 31"/>
          <p:cNvSpPr txBox="1"/>
          <p:nvPr/>
        </p:nvSpPr>
        <p:spPr>
          <a:xfrm>
            <a:off x="9326880" y="2212848"/>
            <a:ext cx="2212848" cy="457200"/>
          </a:xfrm>
          <a:prstGeom prst="rect">
            <a:avLst/>
          </a:prstGeom>
          <a:noFill/>
          <a:ln/>
        </p:spPr>
        <p:txBody>
          <a:bodyPr wrap="square" lIns="0" tIns="0" rIns="0" bIns="0" rtlCol="0" anchor="ctr"/>
          <a:lstStyle/>
          <a:p>
            <a:pPr algn="r" indent="0" marL="0">
              <a:buNone/>
            </a:pPr>
            <a:r>
              <a:rPr lang="en-US" sz="950" i="1" dirty="0">
                <a:solidFill>
                  <a:srgbClr val="B8C2D1"/>
                </a:solidFill>
              </a:rPr>
              <a:t>Real screenshots, 28 Oct 2026</a:t>
            </a:r>
            <a:endParaRPr lang="en-US" sz="950" dirty="0"/>
          </a:p>
        </p:txBody>
      </p:sp>
      <p:sp>
        <p:nvSpPr>
          <p:cNvPr id="25" name="Slide Number Placeholder 0"/>
          <p:cNvSpPr>
            <a:spLocks noGrp="1"/>
          </p:cNvSpPr>
          <p:nvPr>
            <p:ph type="sldNum" sz="quarter" idx="4294967295"/>
          </p:nvPr>
        </p:nvSpPr>
        <p:spPr>
          <a:xfrm>
            <a:off x="11228832" y="651052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oaches outside Principality Stadium, Cardiff (illustration from the team's reference slides)">    </p:cNvPr>
          <p:cNvPicPr>
            <a:picLocks noChangeAspect="1"/>
          </p:cNvPicPr>
          <p:nvPr/>
        </p:nvPicPr>
        <p:blipFill>
          <a:blip r:embed="rId1"/>
          <a:stretch>
            <a:fillRect/>
          </a:stretch>
        </p:blipFill>
        <p:spPr>
          <a:xfrm>
            <a:off x="8653357" y="0"/>
            <a:ext cx="3538338" cy="1874520"/>
          </a:xfrm>
          <a:prstGeom prst="rect">
            <a:avLst/>
          </a:prstGeom>
        </p:spPr>
      </p:pic>
      <p:sp>
        <p:nvSpPr>
          <p:cNvPr id="3" name="Text 0"/>
          <p:cNvSpPr/>
          <p:nvPr>
            <p:ph idx="100" type="body" hasCustomPrompt="1"/>
          </p:nvPr>
        </p:nvSpPr>
        <p:spPr>
          <a:xfrm>
            <a:off x="502920" y="292608"/>
            <a:ext cx="7315200" cy="274320"/>
          </a:xfrm>
          <a:prstGeom prst="rect">
            <a:avLst/>
          </a:prstGeom>
          <a:noFill/>
          <a:ln/>
        </p:spPr>
        <p:txBody>
          <a:bodyPr wrap="square" lIns="0" tIns="0" rIns="0" bIns="0" rtlCol="0" anchor="t"/>
          <a:lstStyle/>
          <a:p>
            <a:pPr indent="0" marL="0">
              <a:buNone/>
            </a:pPr>
            <a:r>
              <a:rPr lang="en-US" sz="1300" b="1" spc="100" kern="0" dirty="0">
                <a:solidFill>
                  <a:schemeClr val="accent6"/>
                </a:solidFill>
              </a:rPr>
              <a:t>GENERATIVE AI WITH HUMAN CONTROL</a:t>
            </a:r>
            <a:endParaRPr lang="en-US" sz="1300" dirty="0"/>
          </a:p>
        </p:txBody>
      </p:sp>
      <p:sp>
        <p:nvSpPr>
          <p:cNvPr id="4" name="Text 1"/>
          <p:cNvSpPr/>
          <p:nvPr>
            <p:ph idx="102" type="title" hasCustomPrompt="1"/>
          </p:nvPr>
        </p:nvSpPr>
        <p:spPr>
          <a:xfrm>
            <a:off x="502920" y="777240"/>
            <a:ext cx="7589520" cy="1051560"/>
          </a:xfrm>
          <a:prstGeom prst="rect">
            <a:avLst/>
          </a:prstGeom>
          <a:noFill/>
          <a:ln/>
        </p:spPr>
        <p:txBody>
          <a:bodyPr wrap="square" lIns="0" tIns="0" rIns="0" bIns="0" rtlCol="0" anchor="t"/>
          <a:lstStyle/>
          <a:p>
            <a:pPr algn="l" indent="0" marL="0">
              <a:buNone/>
            </a:pPr>
            <a:r>
              <a:rPr lang="en-US" sz="3400" b="1" dirty="0">
                <a:solidFill>
                  <a:srgbClr val="0B1F45"/>
                </a:solidFill>
              </a:rPr>
              <a:t>AI Assistant: </a:t>
            </a:r>
            <a:pPr algn="l" indent="0" marL="0">
              <a:buNone/>
            </a:pPr>
            <a:r>
              <a:rPr lang="en-US" sz="3400" b="1" dirty="0">
                <a:solidFill>
                  <a:srgbClr val="D7192F"/>
                </a:solidFill>
              </a:rPr>
              <a:t>You Approve</a:t>
            </a:r>
            <a:endParaRPr lang="en-US" sz="3400" dirty="0"/>
          </a:p>
        </p:txBody>
      </p:sp>
      <p:sp>
        <p:nvSpPr>
          <p:cNvPr id="5" name="Text 2"/>
          <p:cNvSpPr txBox="1"/>
          <p:nvPr/>
        </p:nvSpPr>
        <p:spPr>
          <a:xfrm>
            <a:off x="502920" y="1481328"/>
            <a:ext cx="7589520" cy="566928"/>
          </a:xfrm>
          <a:prstGeom prst="rect">
            <a:avLst/>
          </a:prstGeom>
          <a:noFill/>
          <a:ln/>
        </p:spPr>
        <p:txBody>
          <a:bodyPr wrap="square" lIns="0" tIns="0" rIns="0" bIns="0" rtlCol="0" anchor="t"/>
          <a:lstStyle/>
          <a:p>
            <a:pPr indent="0" marL="0">
              <a:buNone/>
            </a:pPr>
            <a:r>
              <a:rPr lang="en-US" sz="1500" dirty="0">
                <a:solidFill>
                  <a:schemeClr val="tx2"/>
                </a:solidFill>
              </a:rPr>
              <a:t>Organisers type what they want in plain English. The assistant cannot change anything on its own.</a:t>
            </a:r>
            <a:endParaRPr lang="en-US" sz="1500" dirty="0"/>
          </a:p>
        </p:txBody>
      </p:sp>
      <p:sp>
        <p:nvSpPr>
          <p:cNvPr id="6" name="You type a request"/>
          <p:cNvSpPr/>
          <p:nvPr/>
        </p:nvSpPr>
        <p:spPr>
          <a:xfrm>
            <a:off x="502920" y="2240280"/>
            <a:ext cx="6400800" cy="676656"/>
          </a:xfrm>
          <a:prstGeom prst="roundRect">
            <a:avLst>
              <a:gd name="adj" fmla="val 16216"/>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7" name="Step 1"/>
          <p:cNvSpPr/>
          <p:nvPr/>
        </p:nvSpPr>
        <p:spPr>
          <a:xfrm>
            <a:off x="658368" y="2359152"/>
            <a:ext cx="438912" cy="438912"/>
          </a:xfrm>
          <a:prstGeom prst="ellipse">
            <a:avLst/>
          </a:prstGeom>
          <a:solidFill>
            <a:srgbClr val="0B1F45"/>
          </a:solidFill>
          <a:ln w="12700">
            <a:solidFill>
              <a:srgbClr val="0B1F45"/>
            </a:solidFill>
            <a:prstDash val="solid"/>
          </a:ln>
        </p:spPr>
      </p:sp>
      <p:sp>
        <p:nvSpPr>
          <p:cNvPr id="8" name="Text 5"/>
          <p:cNvSpPr txBox="1"/>
          <p:nvPr/>
        </p:nvSpPr>
        <p:spPr>
          <a:xfrm>
            <a:off x="658368" y="235915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pic>
        <p:nvPicPr>
          <p:cNvPr id="9" name="Image 1" descr="You type a request">    </p:cNvPr>
          <p:cNvPicPr>
            <a:picLocks noChangeAspect="1"/>
          </p:cNvPicPr>
          <p:nvPr/>
        </p:nvPicPr>
        <p:blipFill>
          <a:blip r:embed="rId2"/>
          <a:stretch>
            <a:fillRect/>
          </a:stretch>
        </p:blipFill>
        <p:spPr>
          <a:xfrm>
            <a:off x="1261872" y="2414016"/>
            <a:ext cx="329184" cy="329184"/>
          </a:xfrm>
          <a:prstGeom prst="rect">
            <a:avLst/>
          </a:prstGeom>
        </p:spPr>
      </p:pic>
      <p:sp>
        <p:nvSpPr>
          <p:cNvPr id="10" name="Text 6"/>
          <p:cNvSpPr txBox="1"/>
          <p:nvPr/>
        </p:nvSpPr>
        <p:spPr>
          <a:xfrm>
            <a:off x="1783080" y="2295144"/>
            <a:ext cx="4937760" cy="292608"/>
          </a:xfrm>
          <a:prstGeom prst="rect">
            <a:avLst/>
          </a:prstGeom>
          <a:noFill/>
          <a:ln/>
        </p:spPr>
        <p:txBody>
          <a:bodyPr wrap="square" lIns="0" tIns="0" rIns="0" bIns="0" rtlCol="0" anchor="t"/>
          <a:lstStyle/>
          <a:p>
            <a:pPr indent="0" marL="0">
              <a:buNone/>
            </a:pPr>
            <a:r>
              <a:rPr lang="en-US" sz="1400" b="1" dirty="0">
                <a:solidFill>
                  <a:schemeClr val="tx1"/>
                </a:solidFill>
              </a:rPr>
              <a:t>You type a request</a:t>
            </a:r>
            <a:endParaRPr lang="en-US" sz="1400" dirty="0"/>
          </a:p>
        </p:txBody>
      </p:sp>
      <p:sp>
        <p:nvSpPr>
          <p:cNvPr id="11" name="Text 7"/>
          <p:cNvSpPr txBox="1"/>
          <p:nvPr/>
        </p:nvSpPr>
        <p:spPr>
          <a:xfrm>
            <a:off x="1783080" y="2587752"/>
            <a:ext cx="4937760" cy="274320"/>
          </a:xfrm>
          <a:prstGeom prst="rect">
            <a:avLst/>
          </a:prstGeom>
          <a:noFill/>
          <a:ln/>
        </p:spPr>
        <p:txBody>
          <a:bodyPr wrap="square" lIns="0" tIns="0" rIns="0" bIns="0" rtlCol="0" anchor="t"/>
          <a:lstStyle/>
          <a:p>
            <a:pPr indent="0" marL="0">
              <a:buNone/>
            </a:pPr>
            <a:r>
              <a:rPr lang="en-US" sz="1150" dirty="0">
                <a:solidFill>
                  <a:schemeClr val="tx2"/>
                </a:solidFill>
              </a:rPr>
              <a:t>"Minimise bus costs while keeping nearby schools together."</a:t>
            </a:r>
            <a:endParaRPr lang="en-US" sz="1150" dirty="0"/>
          </a:p>
        </p:txBody>
      </p:sp>
      <p:sp>
        <p:nvSpPr>
          <p:cNvPr id="12" name="GPT-4.1 mini proposes"/>
          <p:cNvSpPr/>
          <p:nvPr/>
        </p:nvSpPr>
        <p:spPr>
          <a:xfrm>
            <a:off x="502920" y="3017520"/>
            <a:ext cx="6400800" cy="676656"/>
          </a:xfrm>
          <a:prstGeom prst="roundRect">
            <a:avLst>
              <a:gd name="adj" fmla="val 16216"/>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13" name="Step 2"/>
          <p:cNvSpPr/>
          <p:nvPr/>
        </p:nvSpPr>
        <p:spPr>
          <a:xfrm>
            <a:off x="658368" y="3136392"/>
            <a:ext cx="438912" cy="438912"/>
          </a:xfrm>
          <a:prstGeom prst="ellipse">
            <a:avLst/>
          </a:prstGeom>
          <a:solidFill>
            <a:srgbClr val="0B1F45"/>
          </a:solidFill>
          <a:ln w="12700">
            <a:solidFill>
              <a:srgbClr val="0B1F45"/>
            </a:solidFill>
            <a:prstDash val="solid"/>
          </a:ln>
        </p:spPr>
      </p:sp>
      <p:sp>
        <p:nvSpPr>
          <p:cNvPr id="14" name="Text 10"/>
          <p:cNvSpPr txBox="1"/>
          <p:nvPr/>
        </p:nvSpPr>
        <p:spPr>
          <a:xfrm>
            <a:off x="658368" y="313639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pic>
        <p:nvPicPr>
          <p:cNvPr id="15" name="Image 2" descr="GPT-4.1 mini proposes">    </p:cNvPr>
          <p:cNvPicPr>
            <a:picLocks noChangeAspect="1"/>
          </p:cNvPicPr>
          <p:nvPr/>
        </p:nvPicPr>
        <p:blipFill>
          <a:blip r:embed="rId3"/>
          <a:stretch>
            <a:fillRect/>
          </a:stretch>
        </p:blipFill>
        <p:spPr>
          <a:xfrm>
            <a:off x="1261872" y="3191256"/>
            <a:ext cx="329184" cy="329184"/>
          </a:xfrm>
          <a:prstGeom prst="rect">
            <a:avLst/>
          </a:prstGeom>
        </p:spPr>
      </p:pic>
      <p:sp>
        <p:nvSpPr>
          <p:cNvPr id="16" name="Text 11"/>
          <p:cNvSpPr txBox="1"/>
          <p:nvPr/>
        </p:nvSpPr>
        <p:spPr>
          <a:xfrm>
            <a:off x="1783080" y="3072384"/>
            <a:ext cx="4937760" cy="292608"/>
          </a:xfrm>
          <a:prstGeom prst="rect">
            <a:avLst/>
          </a:prstGeom>
          <a:noFill/>
          <a:ln/>
        </p:spPr>
        <p:txBody>
          <a:bodyPr wrap="square" lIns="0" tIns="0" rIns="0" bIns="0" rtlCol="0" anchor="t"/>
          <a:lstStyle/>
          <a:p>
            <a:pPr indent="0" marL="0">
              <a:buNone/>
            </a:pPr>
            <a:r>
              <a:rPr lang="en-US" sz="1400" b="1" dirty="0">
                <a:solidFill>
                  <a:schemeClr val="tx1"/>
                </a:solidFill>
              </a:rPr>
              <a:t>GPT-4.1 mini proposes</a:t>
            </a:r>
            <a:endParaRPr lang="en-US" sz="1400" dirty="0"/>
          </a:p>
        </p:txBody>
      </p:sp>
      <p:sp>
        <p:nvSpPr>
          <p:cNvPr id="17" name="Text 12"/>
          <p:cNvSpPr txBox="1"/>
          <p:nvPr/>
        </p:nvSpPr>
        <p:spPr>
          <a:xfrm>
            <a:off x="1783080" y="3364992"/>
            <a:ext cx="4937760" cy="274320"/>
          </a:xfrm>
          <a:prstGeom prst="rect">
            <a:avLst/>
          </a:prstGeom>
          <a:noFill/>
          <a:ln/>
        </p:spPr>
        <p:txBody>
          <a:bodyPr wrap="square" lIns="0" tIns="0" rIns="0" bIns="0" rtlCol="0" anchor="t"/>
          <a:lstStyle/>
          <a:p>
            <a:pPr indent="0" marL="0">
              <a:buNone/>
            </a:pPr>
            <a:r>
              <a:rPr lang="en-US" sz="1150" dirty="0">
                <a:solidFill>
                  <a:schemeClr val="tx2"/>
                </a:solidFill>
              </a:rPr>
              <a:t>Structured JSON only: no tools, no direct changes</a:t>
            </a:r>
            <a:endParaRPr lang="en-US" sz="1150" dirty="0"/>
          </a:p>
        </p:txBody>
      </p:sp>
      <p:sp>
        <p:nvSpPr>
          <p:cNvPr id="18" name="Code checks the proposal"/>
          <p:cNvSpPr/>
          <p:nvPr/>
        </p:nvSpPr>
        <p:spPr>
          <a:xfrm>
            <a:off x="502920" y="3794760"/>
            <a:ext cx="6400800" cy="676656"/>
          </a:xfrm>
          <a:prstGeom prst="roundRect">
            <a:avLst>
              <a:gd name="adj" fmla="val 16216"/>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19" name="Step 3"/>
          <p:cNvSpPr/>
          <p:nvPr/>
        </p:nvSpPr>
        <p:spPr>
          <a:xfrm>
            <a:off x="658368" y="3913632"/>
            <a:ext cx="438912" cy="438912"/>
          </a:xfrm>
          <a:prstGeom prst="ellipse">
            <a:avLst/>
          </a:prstGeom>
          <a:solidFill>
            <a:srgbClr val="0B1F45"/>
          </a:solidFill>
          <a:ln w="12700">
            <a:solidFill>
              <a:srgbClr val="0B1F45"/>
            </a:solidFill>
            <a:prstDash val="solid"/>
          </a:ln>
        </p:spPr>
      </p:sp>
      <p:sp>
        <p:nvSpPr>
          <p:cNvPr id="20" name="Text 15"/>
          <p:cNvSpPr txBox="1"/>
          <p:nvPr/>
        </p:nvSpPr>
        <p:spPr>
          <a:xfrm>
            <a:off x="658368" y="391363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pic>
        <p:nvPicPr>
          <p:cNvPr id="21" name="Image 3" descr="Code checks the proposal">    </p:cNvPr>
          <p:cNvPicPr>
            <a:picLocks noChangeAspect="1"/>
          </p:cNvPicPr>
          <p:nvPr/>
        </p:nvPicPr>
        <p:blipFill>
          <a:blip r:embed="rId4"/>
          <a:stretch>
            <a:fillRect/>
          </a:stretch>
        </p:blipFill>
        <p:spPr>
          <a:xfrm>
            <a:off x="1261872" y="3968496"/>
            <a:ext cx="329184" cy="329184"/>
          </a:xfrm>
          <a:prstGeom prst="rect">
            <a:avLst/>
          </a:prstGeom>
        </p:spPr>
      </p:pic>
      <p:sp>
        <p:nvSpPr>
          <p:cNvPr id="22" name="Text 16"/>
          <p:cNvSpPr txBox="1"/>
          <p:nvPr/>
        </p:nvSpPr>
        <p:spPr>
          <a:xfrm>
            <a:off x="1783080" y="3849624"/>
            <a:ext cx="4937760" cy="292608"/>
          </a:xfrm>
          <a:prstGeom prst="rect">
            <a:avLst/>
          </a:prstGeom>
          <a:noFill/>
          <a:ln/>
        </p:spPr>
        <p:txBody>
          <a:bodyPr wrap="square" lIns="0" tIns="0" rIns="0" bIns="0" rtlCol="0" anchor="t"/>
          <a:lstStyle/>
          <a:p>
            <a:pPr indent="0" marL="0">
              <a:buNone/>
            </a:pPr>
            <a:r>
              <a:rPr lang="en-US" sz="1400" b="1" dirty="0">
                <a:solidFill>
                  <a:schemeClr val="tx1"/>
                </a:solidFill>
              </a:rPr>
              <a:t>Code checks the proposal</a:t>
            </a:r>
            <a:endParaRPr lang="en-US" sz="1400" dirty="0"/>
          </a:p>
        </p:txBody>
      </p:sp>
      <p:sp>
        <p:nvSpPr>
          <p:cNvPr id="23" name="Text 17"/>
          <p:cNvSpPr txBox="1"/>
          <p:nvPr/>
        </p:nvSpPr>
        <p:spPr>
          <a:xfrm>
            <a:off x="1783080" y="4142232"/>
            <a:ext cx="4937760" cy="274320"/>
          </a:xfrm>
          <a:prstGeom prst="rect">
            <a:avLst/>
          </a:prstGeom>
          <a:noFill/>
          <a:ln/>
        </p:spPr>
        <p:txBody>
          <a:bodyPr wrap="square" lIns="0" tIns="0" rIns="0" bIns="0" rtlCol="0" anchor="t"/>
          <a:lstStyle/>
          <a:p>
            <a:pPr indent="0" marL="0">
              <a:buNone/>
            </a:pPr>
            <a:r>
              <a:rPr lang="en-US" sz="1150" dirty="0">
                <a:solidFill>
                  <a:schemeClr val="tx2"/>
                </a:solidFill>
              </a:rPr>
              <a:t>Every school, number and rule against the data</a:t>
            </a:r>
            <a:endParaRPr lang="en-US" sz="1150" dirty="0"/>
          </a:p>
        </p:txBody>
      </p:sp>
      <p:sp>
        <p:nvSpPr>
          <p:cNvPr id="24" name="You approve or reject"/>
          <p:cNvSpPr/>
          <p:nvPr/>
        </p:nvSpPr>
        <p:spPr>
          <a:xfrm>
            <a:off x="502920" y="4572000"/>
            <a:ext cx="6400800" cy="676656"/>
          </a:xfrm>
          <a:prstGeom prst="roundRect">
            <a:avLst>
              <a:gd name="adj" fmla="val 16216"/>
            </a:avLst>
          </a:prstGeom>
          <a:solidFill>
            <a:srgbClr val="FDECEE"/>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25" name="Step 4"/>
          <p:cNvSpPr/>
          <p:nvPr/>
        </p:nvSpPr>
        <p:spPr>
          <a:xfrm>
            <a:off x="658368" y="4690872"/>
            <a:ext cx="438912" cy="438912"/>
          </a:xfrm>
          <a:prstGeom prst="ellipse">
            <a:avLst/>
          </a:prstGeom>
          <a:solidFill>
            <a:srgbClr val="D7192F"/>
          </a:solidFill>
          <a:ln w="12700">
            <a:solidFill>
              <a:srgbClr val="D7192F"/>
            </a:solidFill>
            <a:prstDash val="solid"/>
          </a:ln>
        </p:spPr>
      </p:sp>
      <p:sp>
        <p:nvSpPr>
          <p:cNvPr id="26" name="Text 20"/>
          <p:cNvSpPr txBox="1"/>
          <p:nvPr/>
        </p:nvSpPr>
        <p:spPr>
          <a:xfrm>
            <a:off x="658368" y="469087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pic>
        <p:nvPicPr>
          <p:cNvPr id="27" name="Image 4" descr="You approve or reject">    </p:cNvPr>
          <p:cNvPicPr>
            <a:picLocks noChangeAspect="1"/>
          </p:cNvPicPr>
          <p:nvPr/>
        </p:nvPicPr>
        <p:blipFill>
          <a:blip r:embed="rId5"/>
          <a:stretch>
            <a:fillRect/>
          </a:stretch>
        </p:blipFill>
        <p:spPr>
          <a:xfrm>
            <a:off x="1261872" y="4745736"/>
            <a:ext cx="329184" cy="329184"/>
          </a:xfrm>
          <a:prstGeom prst="rect">
            <a:avLst/>
          </a:prstGeom>
        </p:spPr>
      </p:pic>
      <p:sp>
        <p:nvSpPr>
          <p:cNvPr id="28" name="Text 21"/>
          <p:cNvSpPr txBox="1"/>
          <p:nvPr/>
        </p:nvSpPr>
        <p:spPr>
          <a:xfrm>
            <a:off x="1783080" y="4626864"/>
            <a:ext cx="4937760" cy="292608"/>
          </a:xfrm>
          <a:prstGeom prst="rect">
            <a:avLst/>
          </a:prstGeom>
          <a:noFill/>
          <a:ln/>
        </p:spPr>
        <p:txBody>
          <a:bodyPr wrap="square" lIns="0" tIns="0" rIns="0" bIns="0" rtlCol="0" anchor="t"/>
          <a:lstStyle/>
          <a:p>
            <a:pPr indent="0" marL="0">
              <a:buNone/>
            </a:pPr>
            <a:r>
              <a:rPr lang="en-US" sz="1400" b="1" dirty="0">
                <a:solidFill>
                  <a:schemeClr val="accent1"/>
                </a:solidFill>
              </a:rPr>
              <a:t>You approve or reject</a:t>
            </a:r>
            <a:endParaRPr lang="en-US" sz="1400" dirty="0"/>
          </a:p>
        </p:txBody>
      </p:sp>
      <p:sp>
        <p:nvSpPr>
          <p:cNvPr id="29" name="Text 22"/>
          <p:cNvSpPr txBox="1"/>
          <p:nvPr/>
        </p:nvSpPr>
        <p:spPr>
          <a:xfrm>
            <a:off x="1783080" y="4919472"/>
            <a:ext cx="4937760" cy="274320"/>
          </a:xfrm>
          <a:prstGeom prst="rect">
            <a:avLst/>
          </a:prstGeom>
          <a:noFill/>
          <a:ln/>
        </p:spPr>
        <p:txBody>
          <a:bodyPr wrap="square" lIns="0" tIns="0" rIns="0" bIns="0" rtlCol="0" anchor="t"/>
          <a:lstStyle/>
          <a:p>
            <a:pPr indent="0" marL="0">
              <a:buNone/>
            </a:pPr>
            <a:r>
              <a:rPr lang="en-US" sz="1150" dirty="0">
                <a:solidFill>
                  <a:schemeClr val="tx2"/>
                </a:solidFill>
              </a:rPr>
              <a:t>Nothing changes until you approve</a:t>
            </a:r>
            <a:endParaRPr lang="en-US" sz="1150" dirty="0"/>
          </a:p>
        </p:txBody>
      </p:sp>
      <p:sp>
        <p:nvSpPr>
          <p:cNvPr id="30" name="Optimiser and validator run"/>
          <p:cNvSpPr/>
          <p:nvPr/>
        </p:nvSpPr>
        <p:spPr>
          <a:xfrm>
            <a:off x="502920" y="5349240"/>
            <a:ext cx="6400800" cy="676656"/>
          </a:xfrm>
          <a:prstGeom prst="roundRect">
            <a:avLst>
              <a:gd name="adj" fmla="val 16216"/>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31" name="Step 5"/>
          <p:cNvSpPr/>
          <p:nvPr/>
        </p:nvSpPr>
        <p:spPr>
          <a:xfrm>
            <a:off x="658368" y="5468112"/>
            <a:ext cx="438912" cy="438912"/>
          </a:xfrm>
          <a:prstGeom prst="ellipse">
            <a:avLst/>
          </a:prstGeom>
          <a:solidFill>
            <a:srgbClr val="0B1F45"/>
          </a:solidFill>
          <a:ln w="12700">
            <a:solidFill>
              <a:srgbClr val="0B1F45"/>
            </a:solidFill>
            <a:prstDash val="solid"/>
          </a:ln>
        </p:spPr>
      </p:sp>
      <p:sp>
        <p:nvSpPr>
          <p:cNvPr id="32" name="Text 25"/>
          <p:cNvSpPr txBox="1"/>
          <p:nvPr/>
        </p:nvSpPr>
        <p:spPr>
          <a:xfrm>
            <a:off x="658368" y="5468112"/>
            <a:ext cx="438912" cy="438912"/>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pic>
        <p:nvPicPr>
          <p:cNvPr id="33" name="Image 5" descr="Optimiser and validator run">    </p:cNvPr>
          <p:cNvPicPr>
            <a:picLocks noChangeAspect="1"/>
          </p:cNvPicPr>
          <p:nvPr/>
        </p:nvPicPr>
        <p:blipFill>
          <a:blip r:embed="rId6"/>
          <a:stretch>
            <a:fillRect/>
          </a:stretch>
        </p:blipFill>
        <p:spPr>
          <a:xfrm>
            <a:off x="1261872" y="5522976"/>
            <a:ext cx="329184" cy="329184"/>
          </a:xfrm>
          <a:prstGeom prst="rect">
            <a:avLst/>
          </a:prstGeom>
        </p:spPr>
      </p:pic>
      <p:sp>
        <p:nvSpPr>
          <p:cNvPr id="34" name="Text 26"/>
          <p:cNvSpPr txBox="1"/>
          <p:nvPr/>
        </p:nvSpPr>
        <p:spPr>
          <a:xfrm>
            <a:off x="1783080" y="5404104"/>
            <a:ext cx="4937760" cy="292608"/>
          </a:xfrm>
          <a:prstGeom prst="rect">
            <a:avLst/>
          </a:prstGeom>
          <a:noFill/>
          <a:ln/>
        </p:spPr>
        <p:txBody>
          <a:bodyPr wrap="square" lIns="0" tIns="0" rIns="0" bIns="0" rtlCol="0" anchor="t"/>
          <a:lstStyle/>
          <a:p>
            <a:pPr indent="0" marL="0">
              <a:buNone/>
            </a:pPr>
            <a:r>
              <a:rPr lang="en-US" sz="1400" b="1" dirty="0">
                <a:solidFill>
                  <a:schemeClr val="tx1"/>
                </a:solidFill>
              </a:rPr>
              <a:t>Optimiser and validator run</a:t>
            </a:r>
            <a:endParaRPr lang="en-US" sz="1400" dirty="0"/>
          </a:p>
        </p:txBody>
      </p:sp>
      <p:sp>
        <p:nvSpPr>
          <p:cNvPr id="35" name="Text 27"/>
          <p:cNvSpPr txBox="1"/>
          <p:nvPr/>
        </p:nvSpPr>
        <p:spPr>
          <a:xfrm>
            <a:off x="1783080" y="5696712"/>
            <a:ext cx="4937760" cy="274320"/>
          </a:xfrm>
          <a:prstGeom prst="rect">
            <a:avLst/>
          </a:prstGeom>
          <a:noFill/>
          <a:ln/>
        </p:spPr>
        <p:txBody>
          <a:bodyPr wrap="square" lIns="0" tIns="0" rIns="0" bIns="0" rtlCol="0" anchor="t"/>
          <a:lstStyle/>
          <a:p>
            <a:pPr indent="0" marL="0">
              <a:buNone/>
            </a:pPr>
            <a:r>
              <a:rPr lang="en-US" sz="1150" dirty="0">
                <a:solidFill>
                  <a:schemeClr val="tx2"/>
                </a:solidFill>
              </a:rPr>
              <a:t>The same OR-Tools models and checks as every plan</a:t>
            </a:r>
            <a:endParaRPr lang="en-US" sz="1150" dirty="0"/>
          </a:p>
        </p:txBody>
      </p:sp>
      <p:sp>
        <p:nvSpPr>
          <p:cNvPr id="36" name="Shape 28"/>
          <p:cNvSpPr/>
          <p:nvPr/>
        </p:nvSpPr>
        <p:spPr>
          <a:xfrm>
            <a:off x="8189105" y="2221992"/>
            <a:ext cx="2623022" cy="4151376"/>
          </a:xfrm>
          <a:prstGeom prst="rect">
            <a:avLst/>
          </a:prstGeom>
          <a:solidFill>
            <a:srgbClr val="D7DCE3"/>
          </a:solidFill>
          <a:ln w="12700">
            <a:solidFill>
              <a:srgbClr val="D7DCE3"/>
            </a:solidFill>
            <a:prstDash val="solid"/>
          </a:ln>
        </p:spPr>
      </p:sp>
      <p:pic>
        <p:nvPicPr>
          <p:cNvPr id="37" name="Image 6" descr="Campus Cruise assistant panel answering 'Minimise bus costs while keeping nearby schools together' with a proposal awaiting approval">    </p:cNvPr>
          <p:cNvPicPr>
            <a:picLocks noChangeAspect="1"/>
          </p:cNvPicPr>
          <p:nvPr/>
        </p:nvPicPr>
        <p:blipFill>
          <a:blip r:embed="rId7"/>
          <a:stretch>
            <a:fillRect/>
          </a:stretch>
        </p:blipFill>
        <p:spPr>
          <a:xfrm>
            <a:off x="8207393" y="2240280"/>
            <a:ext cx="2586446" cy="4114800"/>
          </a:xfrm>
          <a:prstGeom prst="rect">
            <a:avLst/>
          </a:prstGeom>
        </p:spPr>
      </p:pic>
      <p:sp>
        <p:nvSpPr>
          <p:cNvPr id="38" name="Text 29"/>
          <p:cNvSpPr txBox="1"/>
          <p:nvPr/>
        </p:nvSpPr>
        <p:spPr>
          <a:xfrm>
            <a:off x="8207393" y="6382512"/>
            <a:ext cx="2586446" cy="164592"/>
          </a:xfrm>
          <a:prstGeom prst="rect">
            <a:avLst/>
          </a:prstGeom>
          <a:noFill/>
          <a:ln/>
        </p:spPr>
        <p:txBody>
          <a:bodyPr wrap="square" lIns="0" tIns="0" rIns="0" bIns="0" rtlCol="0" anchor="t"/>
          <a:lstStyle/>
          <a:p>
            <a:pPr algn="ctr" indent="0" marL="0">
              <a:buNone/>
            </a:pPr>
            <a:r>
              <a:rPr lang="en-US" sz="900" i="1" dirty="0">
                <a:solidFill>
                  <a:schemeClr val="accent6"/>
                </a:solidFill>
              </a:rPr>
              <a:t>Real screenshot</a:t>
            </a:r>
            <a:endParaRPr lang="en-US" sz="900" dirty="0"/>
          </a:p>
        </p:txBody>
      </p:sp>
      <p:sp>
        <p:nvSpPr>
          <p:cNvPr id="25" name="Slide Number Placeholder 0"/>
          <p:cNvSpPr>
            <a:spLocks noGrp="1"/>
          </p:cNvSpPr>
          <p:nvPr>
            <p:ph type="sldNum" sz="quarter" idx="4294967295"/>
          </p:nvPr>
        </p:nvSpPr>
        <p:spPr>
          <a:xfrm>
            <a:off x="11228832" y="651052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Coaches outside Principality Stadium, Cardiff (illustration from the team's reference slides)">    </p:cNvPr>
          <p:cNvPicPr>
            <a:picLocks noChangeAspect="1"/>
          </p:cNvPicPr>
          <p:nvPr/>
        </p:nvPicPr>
        <p:blipFill>
          <a:blip r:embed="rId1"/>
          <a:stretch>
            <a:fillRect/>
          </a:stretch>
        </p:blipFill>
        <p:spPr>
          <a:xfrm>
            <a:off x="8908338" y="0"/>
            <a:ext cx="3283357" cy="1874520"/>
          </a:xfrm>
          <a:prstGeom prst="rect">
            <a:avLst/>
          </a:prstGeom>
        </p:spPr>
      </p:pic>
      <p:sp>
        <p:nvSpPr>
          <p:cNvPr id="3" name="Text 0"/>
          <p:cNvSpPr/>
          <p:nvPr>
            <p:ph idx="100" type="body" hasCustomPrompt="1"/>
          </p:nvPr>
        </p:nvSpPr>
        <p:spPr>
          <a:xfrm>
            <a:off x="502920" y="292608"/>
            <a:ext cx="7315200" cy="274320"/>
          </a:xfrm>
          <a:prstGeom prst="rect">
            <a:avLst/>
          </a:prstGeom>
          <a:noFill/>
          <a:ln/>
        </p:spPr>
        <p:txBody>
          <a:bodyPr wrap="square" lIns="0" tIns="0" rIns="0" bIns="0" rtlCol="0" anchor="t"/>
          <a:lstStyle/>
          <a:p>
            <a:pPr indent="0" marL="0">
              <a:buNone/>
            </a:pPr>
            <a:r>
              <a:rPr lang="en-US" sz="1300" b="1" spc="100" kern="0" dirty="0">
                <a:solidFill>
                  <a:schemeClr val="accent6"/>
                </a:solidFill>
              </a:rPr>
              <a:t>IMPACT AND BENEFICIARIES</a:t>
            </a:r>
            <a:endParaRPr lang="en-US" sz="1300" dirty="0"/>
          </a:p>
        </p:txBody>
      </p:sp>
      <p:sp>
        <p:nvSpPr>
          <p:cNvPr id="4" name="Text 1"/>
          <p:cNvSpPr/>
          <p:nvPr>
            <p:ph idx="102" type="title" hasCustomPrompt="1"/>
          </p:nvPr>
        </p:nvSpPr>
        <p:spPr>
          <a:xfrm>
            <a:off x="502920" y="777240"/>
            <a:ext cx="7589520" cy="1051560"/>
          </a:xfrm>
          <a:prstGeom prst="rect">
            <a:avLst/>
          </a:prstGeom>
          <a:noFill/>
          <a:ln/>
        </p:spPr>
        <p:txBody>
          <a:bodyPr wrap="square" lIns="0" tIns="0" rIns="0" bIns="0" rtlCol="0" anchor="t"/>
          <a:lstStyle/>
          <a:p>
            <a:pPr algn="l" indent="0" marL="0">
              <a:buNone/>
            </a:pPr>
            <a:r>
              <a:rPr lang="en-US" sz="3400" b="1" dirty="0">
                <a:solidFill>
                  <a:srgbClr val="0B1F45"/>
                </a:solidFill>
              </a:rPr>
              <a:t>Sector Impact: </a:t>
            </a:r>
            <a:pPr algn="l" indent="0" marL="0">
              <a:buNone/>
            </a:pPr>
            <a:r>
              <a:rPr lang="en-US" sz="3400" b="1" dirty="0">
                <a:solidFill>
                  <a:srgbClr val="D7192F"/>
                </a:solidFill>
              </a:rPr>
              <a:t>Who Benefits</a:t>
            </a:r>
            <a:endParaRPr lang="en-US" sz="3400" dirty="0"/>
          </a:p>
        </p:txBody>
      </p:sp>
      <p:sp>
        <p:nvSpPr>
          <p:cNvPr id="5" name="Text 2"/>
          <p:cNvSpPr txBox="1"/>
          <p:nvPr/>
        </p:nvSpPr>
        <p:spPr>
          <a:xfrm>
            <a:off x="502920" y="1481328"/>
            <a:ext cx="7589520" cy="566928"/>
          </a:xfrm>
          <a:prstGeom prst="rect">
            <a:avLst/>
          </a:prstGeom>
          <a:noFill/>
          <a:ln/>
        </p:spPr>
        <p:txBody>
          <a:bodyPr wrap="square" lIns="0" tIns="0" rIns="0" bIns="0" rtlCol="0" anchor="t"/>
          <a:lstStyle/>
          <a:p>
            <a:pPr indent="0" marL="0">
              <a:buNone/>
            </a:pPr>
            <a:r>
              <a:rPr lang="en-US" sz="1500" dirty="0">
                <a:solidFill>
                  <a:schemeClr val="tx2"/>
                </a:solidFill>
              </a:rPr>
              <a:t>Measured on the challenge data; the next step is to measure it at a real event.</a:t>
            </a:r>
            <a:endParaRPr lang="en-US" sz="1500" dirty="0"/>
          </a:p>
        </p:txBody>
      </p:sp>
      <p:sp>
        <p:nvSpPr>
          <p:cNvPr id="6" name="Event organisers"/>
          <p:cNvSpPr/>
          <p:nvPr/>
        </p:nvSpPr>
        <p:spPr>
          <a:xfrm>
            <a:off x="502920" y="2240280"/>
            <a:ext cx="2075688" cy="1554480"/>
          </a:xfrm>
          <a:prstGeom prst="roundRect">
            <a:avLst>
              <a:gd name="adj" fmla="val 7059"/>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7" name="Icon FaClipboardList"/>
          <p:cNvSpPr/>
          <p:nvPr/>
        </p:nvSpPr>
        <p:spPr>
          <a:xfrm>
            <a:off x="667512" y="2423160"/>
            <a:ext cx="640080" cy="640080"/>
          </a:xfrm>
          <a:prstGeom prst="ellipse">
            <a:avLst/>
          </a:prstGeom>
          <a:solidFill>
            <a:srgbClr val="FDECEE"/>
          </a:solidFill>
          <a:ln w="12700">
            <a:solidFill>
              <a:srgbClr val="FDECEE"/>
            </a:solidFill>
            <a:prstDash val="solid"/>
          </a:ln>
        </p:spPr>
      </p:sp>
      <p:pic>
        <p:nvPicPr>
          <p:cNvPr id="8" name="Image 1" descr="FaClipboardList">    </p:cNvPr>
          <p:cNvPicPr>
            <a:picLocks noChangeAspect="1"/>
          </p:cNvPicPr>
          <p:nvPr/>
        </p:nvPicPr>
        <p:blipFill>
          <a:blip r:embed="rId2"/>
          <a:stretch>
            <a:fillRect/>
          </a:stretch>
        </p:blipFill>
        <p:spPr>
          <a:xfrm>
            <a:off x="827532" y="2583180"/>
            <a:ext cx="320040" cy="320040"/>
          </a:xfrm>
          <a:prstGeom prst="rect">
            <a:avLst/>
          </a:prstGeom>
        </p:spPr>
      </p:pic>
      <p:sp>
        <p:nvSpPr>
          <p:cNvPr id="9" name="Text 5"/>
          <p:cNvSpPr txBox="1"/>
          <p:nvPr/>
        </p:nvSpPr>
        <p:spPr>
          <a:xfrm>
            <a:off x="667512" y="3200400"/>
            <a:ext cx="1828800" cy="256032"/>
          </a:xfrm>
          <a:prstGeom prst="rect">
            <a:avLst/>
          </a:prstGeom>
          <a:noFill/>
          <a:ln/>
        </p:spPr>
        <p:txBody>
          <a:bodyPr wrap="square" lIns="0" tIns="0" rIns="0" bIns="0" rtlCol="0" anchor="t"/>
          <a:lstStyle/>
          <a:p>
            <a:pPr indent="0" marL="0">
              <a:buNone/>
            </a:pPr>
            <a:r>
              <a:rPr lang="en-US" sz="1300" b="1" dirty="0">
                <a:solidFill>
                  <a:schemeClr val="tx1"/>
                </a:solidFill>
              </a:rPr>
              <a:t>Event organisers</a:t>
            </a:r>
            <a:endParaRPr lang="en-US" sz="1300" dirty="0"/>
          </a:p>
        </p:txBody>
      </p:sp>
      <p:sp>
        <p:nvSpPr>
          <p:cNvPr id="10" name="Text 6"/>
          <p:cNvSpPr txBox="1"/>
          <p:nvPr/>
        </p:nvSpPr>
        <p:spPr>
          <a:xfrm>
            <a:off x="667512" y="3456432"/>
            <a:ext cx="1828800" cy="256032"/>
          </a:xfrm>
          <a:prstGeom prst="rect">
            <a:avLst/>
          </a:prstGeom>
          <a:noFill/>
          <a:ln/>
        </p:spPr>
        <p:txBody>
          <a:bodyPr wrap="square" lIns="0" tIns="0" rIns="0" bIns="0" rtlCol="0" anchor="t"/>
          <a:lstStyle/>
          <a:p>
            <a:pPr indent="0" marL="0">
              <a:buNone/>
            </a:pPr>
            <a:r>
              <a:rPr lang="en-US" sz="1200" dirty="0">
                <a:solidFill>
                  <a:schemeClr val="tx2"/>
                </a:solidFill>
              </a:rPr>
              <a:t>A checked plan in seconds</a:t>
            </a:r>
            <a:endParaRPr lang="en-US" sz="1200" dirty="0"/>
          </a:p>
        </p:txBody>
      </p:sp>
      <p:sp>
        <p:nvSpPr>
          <p:cNvPr id="11" name="Schools and teachers"/>
          <p:cNvSpPr/>
          <p:nvPr/>
        </p:nvSpPr>
        <p:spPr>
          <a:xfrm>
            <a:off x="2715768" y="2240280"/>
            <a:ext cx="2075688" cy="1554480"/>
          </a:xfrm>
          <a:prstGeom prst="roundRect">
            <a:avLst>
              <a:gd name="adj" fmla="val 7059"/>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12" name="Icon FaSchool"/>
          <p:cNvSpPr/>
          <p:nvPr/>
        </p:nvSpPr>
        <p:spPr>
          <a:xfrm>
            <a:off x="2880360" y="2423160"/>
            <a:ext cx="640080" cy="640080"/>
          </a:xfrm>
          <a:prstGeom prst="ellipse">
            <a:avLst/>
          </a:prstGeom>
          <a:solidFill>
            <a:srgbClr val="EAF1FB"/>
          </a:solidFill>
          <a:ln w="12700">
            <a:solidFill>
              <a:srgbClr val="EAF1FB"/>
            </a:solidFill>
            <a:prstDash val="solid"/>
          </a:ln>
        </p:spPr>
      </p:sp>
      <p:pic>
        <p:nvPicPr>
          <p:cNvPr id="13" name="Image 2" descr="FaSchool">    </p:cNvPr>
          <p:cNvPicPr>
            <a:picLocks noChangeAspect="1"/>
          </p:cNvPicPr>
          <p:nvPr/>
        </p:nvPicPr>
        <p:blipFill>
          <a:blip r:embed="rId3"/>
          <a:stretch>
            <a:fillRect/>
          </a:stretch>
        </p:blipFill>
        <p:spPr>
          <a:xfrm>
            <a:off x="3040380" y="2583180"/>
            <a:ext cx="320040" cy="320040"/>
          </a:xfrm>
          <a:prstGeom prst="rect">
            <a:avLst/>
          </a:prstGeom>
        </p:spPr>
      </p:pic>
      <p:sp>
        <p:nvSpPr>
          <p:cNvPr id="14" name="Text 9"/>
          <p:cNvSpPr txBox="1"/>
          <p:nvPr/>
        </p:nvSpPr>
        <p:spPr>
          <a:xfrm>
            <a:off x="2880360" y="3200400"/>
            <a:ext cx="1828800" cy="256032"/>
          </a:xfrm>
          <a:prstGeom prst="rect">
            <a:avLst/>
          </a:prstGeom>
          <a:noFill/>
          <a:ln/>
        </p:spPr>
        <p:txBody>
          <a:bodyPr wrap="square" lIns="0" tIns="0" rIns="0" bIns="0" rtlCol="0" anchor="t"/>
          <a:lstStyle/>
          <a:p>
            <a:pPr indent="0" marL="0">
              <a:buNone/>
            </a:pPr>
            <a:r>
              <a:rPr lang="en-US" sz="1300" b="1" dirty="0">
                <a:solidFill>
                  <a:schemeClr val="tx1"/>
                </a:solidFill>
              </a:rPr>
              <a:t>Schools and teachers</a:t>
            </a:r>
            <a:endParaRPr lang="en-US" sz="1300" dirty="0"/>
          </a:p>
        </p:txBody>
      </p:sp>
      <p:sp>
        <p:nvSpPr>
          <p:cNvPr id="15" name="Text 10"/>
          <p:cNvSpPr txBox="1"/>
          <p:nvPr/>
        </p:nvSpPr>
        <p:spPr>
          <a:xfrm>
            <a:off x="2880360" y="3456432"/>
            <a:ext cx="1828800" cy="256032"/>
          </a:xfrm>
          <a:prstGeom prst="rect">
            <a:avLst/>
          </a:prstGeom>
          <a:noFill/>
          <a:ln/>
        </p:spPr>
        <p:txBody>
          <a:bodyPr wrap="square" lIns="0" tIns="0" rIns="0" bIns="0" rtlCol="0" anchor="t"/>
          <a:lstStyle/>
          <a:p>
            <a:pPr indent="0" marL="0">
              <a:buNone/>
            </a:pPr>
            <a:r>
              <a:rPr lang="en-US" sz="1200" dirty="0">
                <a:solidFill>
                  <a:schemeClr val="tx2"/>
                </a:solidFill>
              </a:rPr>
              <a:t>Lower, fair cost shares</a:t>
            </a:r>
            <a:endParaRPr lang="en-US" sz="1200" dirty="0"/>
          </a:p>
        </p:txBody>
      </p:sp>
      <p:sp>
        <p:nvSpPr>
          <p:cNvPr id="16" name="Pupils"/>
          <p:cNvSpPr/>
          <p:nvPr/>
        </p:nvSpPr>
        <p:spPr>
          <a:xfrm>
            <a:off x="4928616" y="2240280"/>
            <a:ext cx="2075688" cy="1554480"/>
          </a:xfrm>
          <a:prstGeom prst="roundRect">
            <a:avLst>
              <a:gd name="adj" fmla="val 7059"/>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17" name="Icon FaChild"/>
          <p:cNvSpPr/>
          <p:nvPr/>
        </p:nvSpPr>
        <p:spPr>
          <a:xfrm>
            <a:off x="5093208" y="2423160"/>
            <a:ext cx="640080" cy="640080"/>
          </a:xfrm>
          <a:prstGeom prst="ellipse">
            <a:avLst/>
          </a:prstGeom>
          <a:solidFill>
            <a:srgbClr val="EAF6EE"/>
          </a:solidFill>
          <a:ln w="12700">
            <a:solidFill>
              <a:srgbClr val="EAF6EE"/>
            </a:solidFill>
            <a:prstDash val="solid"/>
          </a:ln>
        </p:spPr>
      </p:sp>
      <p:pic>
        <p:nvPicPr>
          <p:cNvPr id="18" name="Image 3" descr="FaChild">    </p:cNvPr>
          <p:cNvPicPr>
            <a:picLocks noChangeAspect="1"/>
          </p:cNvPicPr>
          <p:nvPr/>
        </p:nvPicPr>
        <p:blipFill>
          <a:blip r:embed="rId4"/>
          <a:stretch>
            <a:fillRect/>
          </a:stretch>
        </p:blipFill>
        <p:spPr>
          <a:xfrm>
            <a:off x="5253228" y="2583180"/>
            <a:ext cx="320040" cy="320040"/>
          </a:xfrm>
          <a:prstGeom prst="rect">
            <a:avLst/>
          </a:prstGeom>
        </p:spPr>
      </p:pic>
      <p:sp>
        <p:nvSpPr>
          <p:cNvPr id="19" name="Text 13"/>
          <p:cNvSpPr txBox="1"/>
          <p:nvPr/>
        </p:nvSpPr>
        <p:spPr>
          <a:xfrm>
            <a:off x="5093208" y="3200400"/>
            <a:ext cx="1828800" cy="256032"/>
          </a:xfrm>
          <a:prstGeom prst="rect">
            <a:avLst/>
          </a:prstGeom>
          <a:noFill/>
          <a:ln/>
        </p:spPr>
        <p:txBody>
          <a:bodyPr wrap="square" lIns="0" tIns="0" rIns="0" bIns="0" rtlCol="0" anchor="t"/>
          <a:lstStyle/>
          <a:p>
            <a:pPr indent="0" marL="0">
              <a:buNone/>
            </a:pPr>
            <a:r>
              <a:rPr lang="en-US" sz="1300" b="1" dirty="0">
                <a:solidFill>
                  <a:schemeClr val="tx1"/>
                </a:solidFill>
              </a:rPr>
              <a:t>Pupils</a:t>
            </a:r>
            <a:endParaRPr lang="en-US" sz="1300" dirty="0"/>
          </a:p>
        </p:txBody>
      </p:sp>
      <p:sp>
        <p:nvSpPr>
          <p:cNvPr id="20" name="Text 14"/>
          <p:cNvSpPr txBox="1"/>
          <p:nvPr/>
        </p:nvSpPr>
        <p:spPr>
          <a:xfrm>
            <a:off x="5093208" y="3456432"/>
            <a:ext cx="1828800" cy="256032"/>
          </a:xfrm>
          <a:prstGeom prst="rect">
            <a:avLst/>
          </a:prstGeom>
          <a:noFill/>
          <a:ln/>
        </p:spPr>
        <p:txBody>
          <a:bodyPr wrap="square" lIns="0" tIns="0" rIns="0" bIns="0" rtlCol="0" anchor="t"/>
          <a:lstStyle/>
          <a:p>
            <a:pPr indent="0" marL="0">
              <a:buNone/>
            </a:pPr>
            <a:r>
              <a:rPr lang="en-US" sz="1200" dirty="0">
                <a:solidFill>
                  <a:schemeClr val="tx2"/>
                </a:solidFill>
              </a:rPr>
              <a:t>Lower cost to attend</a:t>
            </a:r>
            <a:endParaRPr lang="en-US" sz="1200" dirty="0"/>
          </a:p>
        </p:txBody>
      </p:sp>
      <p:sp>
        <p:nvSpPr>
          <p:cNvPr id="21" name="Coach operators"/>
          <p:cNvSpPr/>
          <p:nvPr/>
        </p:nvSpPr>
        <p:spPr>
          <a:xfrm>
            <a:off x="502920" y="3931920"/>
            <a:ext cx="2075688" cy="1554480"/>
          </a:xfrm>
          <a:prstGeom prst="roundRect">
            <a:avLst>
              <a:gd name="adj" fmla="val 7059"/>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22" name="Icon FaBus"/>
          <p:cNvSpPr/>
          <p:nvPr/>
        </p:nvSpPr>
        <p:spPr>
          <a:xfrm>
            <a:off x="667512" y="4114800"/>
            <a:ext cx="640080" cy="640080"/>
          </a:xfrm>
          <a:prstGeom prst="ellipse">
            <a:avLst/>
          </a:prstGeom>
          <a:solidFill>
            <a:srgbClr val="FEF4E6"/>
          </a:solidFill>
          <a:ln w="12700">
            <a:solidFill>
              <a:srgbClr val="FEF4E6"/>
            </a:solidFill>
            <a:prstDash val="solid"/>
          </a:ln>
        </p:spPr>
      </p:sp>
      <p:pic>
        <p:nvPicPr>
          <p:cNvPr id="23" name="Image 4" descr="FaBus">    </p:cNvPr>
          <p:cNvPicPr>
            <a:picLocks noChangeAspect="1"/>
          </p:cNvPicPr>
          <p:nvPr/>
        </p:nvPicPr>
        <p:blipFill>
          <a:blip r:embed="rId5"/>
          <a:stretch>
            <a:fillRect/>
          </a:stretch>
        </p:blipFill>
        <p:spPr>
          <a:xfrm>
            <a:off x="827532" y="4274820"/>
            <a:ext cx="320040" cy="320040"/>
          </a:xfrm>
          <a:prstGeom prst="rect">
            <a:avLst/>
          </a:prstGeom>
        </p:spPr>
      </p:pic>
      <p:sp>
        <p:nvSpPr>
          <p:cNvPr id="24" name="Text 17"/>
          <p:cNvSpPr txBox="1"/>
          <p:nvPr/>
        </p:nvSpPr>
        <p:spPr>
          <a:xfrm>
            <a:off x="667512" y="4892040"/>
            <a:ext cx="1828800" cy="256032"/>
          </a:xfrm>
          <a:prstGeom prst="rect">
            <a:avLst/>
          </a:prstGeom>
          <a:noFill/>
          <a:ln/>
        </p:spPr>
        <p:txBody>
          <a:bodyPr wrap="square" lIns="0" tIns="0" rIns="0" bIns="0" rtlCol="0" anchor="t"/>
          <a:lstStyle/>
          <a:p>
            <a:pPr indent="0" marL="0">
              <a:buNone/>
            </a:pPr>
            <a:r>
              <a:rPr lang="en-US" sz="1300" b="1" dirty="0">
                <a:solidFill>
                  <a:schemeClr val="tx1"/>
                </a:solidFill>
              </a:rPr>
              <a:t>Coach operators</a:t>
            </a:r>
            <a:endParaRPr lang="en-US" sz="1300" dirty="0"/>
          </a:p>
        </p:txBody>
      </p:sp>
      <p:sp>
        <p:nvSpPr>
          <p:cNvPr id="25" name="Text 18"/>
          <p:cNvSpPr txBox="1"/>
          <p:nvPr/>
        </p:nvSpPr>
        <p:spPr>
          <a:xfrm>
            <a:off x="667512" y="5148072"/>
            <a:ext cx="1828800" cy="256032"/>
          </a:xfrm>
          <a:prstGeom prst="rect">
            <a:avLst/>
          </a:prstGeom>
          <a:noFill/>
          <a:ln/>
        </p:spPr>
        <p:txBody>
          <a:bodyPr wrap="square" lIns="0" tIns="0" rIns="0" bIns="0" rtlCol="0" anchor="t"/>
          <a:lstStyle/>
          <a:p>
            <a:pPr indent="0" marL="0">
              <a:buNone/>
            </a:pPr>
            <a:r>
              <a:rPr lang="en-US" sz="1200" dirty="0">
                <a:solidFill>
                  <a:schemeClr val="tx2"/>
                </a:solidFill>
              </a:rPr>
              <a:t>A clear booking list</a:t>
            </a:r>
            <a:endParaRPr lang="en-US" sz="1200" dirty="0"/>
          </a:p>
        </p:txBody>
      </p:sp>
      <p:sp>
        <p:nvSpPr>
          <p:cNvPr id="26" name="Event venues"/>
          <p:cNvSpPr/>
          <p:nvPr/>
        </p:nvSpPr>
        <p:spPr>
          <a:xfrm>
            <a:off x="2715768" y="3931920"/>
            <a:ext cx="2075688" cy="1554480"/>
          </a:xfrm>
          <a:prstGeom prst="roundRect">
            <a:avLst>
              <a:gd name="adj" fmla="val 7059"/>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27" name="Icon FaLandmark"/>
          <p:cNvSpPr/>
          <p:nvPr/>
        </p:nvSpPr>
        <p:spPr>
          <a:xfrm>
            <a:off x="2880360" y="4114800"/>
            <a:ext cx="640080" cy="640080"/>
          </a:xfrm>
          <a:prstGeom prst="ellipse">
            <a:avLst/>
          </a:prstGeom>
          <a:solidFill>
            <a:srgbClr val="F2EDFB"/>
          </a:solidFill>
          <a:ln w="12700">
            <a:solidFill>
              <a:srgbClr val="F2EDFB"/>
            </a:solidFill>
            <a:prstDash val="solid"/>
          </a:ln>
        </p:spPr>
      </p:sp>
      <p:pic>
        <p:nvPicPr>
          <p:cNvPr id="28" name="Image 5" descr="FaLandmark">    </p:cNvPr>
          <p:cNvPicPr>
            <a:picLocks noChangeAspect="1"/>
          </p:cNvPicPr>
          <p:nvPr/>
        </p:nvPicPr>
        <p:blipFill>
          <a:blip r:embed="rId6"/>
          <a:stretch>
            <a:fillRect/>
          </a:stretch>
        </p:blipFill>
        <p:spPr>
          <a:xfrm>
            <a:off x="3040380" y="4274820"/>
            <a:ext cx="320040" cy="320040"/>
          </a:xfrm>
          <a:prstGeom prst="rect">
            <a:avLst/>
          </a:prstGeom>
        </p:spPr>
      </p:pic>
      <p:sp>
        <p:nvSpPr>
          <p:cNvPr id="29" name="Text 21"/>
          <p:cNvSpPr txBox="1"/>
          <p:nvPr/>
        </p:nvSpPr>
        <p:spPr>
          <a:xfrm>
            <a:off x="2880360" y="4892040"/>
            <a:ext cx="1828800" cy="256032"/>
          </a:xfrm>
          <a:prstGeom prst="rect">
            <a:avLst/>
          </a:prstGeom>
          <a:noFill/>
          <a:ln/>
        </p:spPr>
        <p:txBody>
          <a:bodyPr wrap="square" lIns="0" tIns="0" rIns="0" bIns="0" rtlCol="0" anchor="t"/>
          <a:lstStyle/>
          <a:p>
            <a:pPr indent="0" marL="0">
              <a:buNone/>
            </a:pPr>
            <a:r>
              <a:rPr lang="en-US" sz="1300" b="1" dirty="0">
                <a:solidFill>
                  <a:schemeClr val="tx1"/>
                </a:solidFill>
              </a:rPr>
              <a:t>Event venues</a:t>
            </a:r>
            <a:endParaRPr lang="en-US" sz="1300" dirty="0"/>
          </a:p>
        </p:txBody>
      </p:sp>
      <p:sp>
        <p:nvSpPr>
          <p:cNvPr id="30" name="Text 22"/>
          <p:cNvSpPr txBox="1"/>
          <p:nvPr/>
        </p:nvSpPr>
        <p:spPr>
          <a:xfrm>
            <a:off x="2880360" y="5148072"/>
            <a:ext cx="1828800" cy="256032"/>
          </a:xfrm>
          <a:prstGeom prst="rect">
            <a:avLst/>
          </a:prstGeom>
          <a:noFill/>
          <a:ln/>
        </p:spPr>
        <p:txBody>
          <a:bodyPr wrap="square" lIns="0" tIns="0" rIns="0" bIns="0" rtlCol="0" anchor="t"/>
          <a:lstStyle/>
          <a:p>
            <a:pPr indent="0" marL="0">
              <a:buNone/>
            </a:pPr>
            <a:r>
              <a:rPr lang="en-US" sz="1200" dirty="0">
                <a:solidFill>
                  <a:schemeClr val="tx2"/>
                </a:solidFill>
              </a:rPr>
              <a:t>Fewer coaches to park</a:t>
            </a:r>
            <a:endParaRPr lang="en-US" sz="1200" dirty="0"/>
          </a:p>
        </p:txBody>
      </p:sp>
      <p:sp>
        <p:nvSpPr>
          <p:cNvPr id="31" name="Local communities"/>
          <p:cNvSpPr/>
          <p:nvPr/>
        </p:nvSpPr>
        <p:spPr>
          <a:xfrm>
            <a:off x="4928616" y="3931920"/>
            <a:ext cx="2075688" cy="1554480"/>
          </a:xfrm>
          <a:prstGeom prst="roundRect">
            <a:avLst>
              <a:gd name="adj" fmla="val 7059"/>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32" name="Icon FaUsers"/>
          <p:cNvSpPr/>
          <p:nvPr/>
        </p:nvSpPr>
        <p:spPr>
          <a:xfrm>
            <a:off x="5093208" y="4114800"/>
            <a:ext cx="640080" cy="640080"/>
          </a:xfrm>
          <a:prstGeom prst="ellipse">
            <a:avLst/>
          </a:prstGeom>
          <a:solidFill>
            <a:srgbClr val="EAF1FB"/>
          </a:solidFill>
          <a:ln w="12700">
            <a:solidFill>
              <a:srgbClr val="EAF1FB"/>
            </a:solidFill>
            <a:prstDash val="solid"/>
          </a:ln>
        </p:spPr>
      </p:sp>
      <p:pic>
        <p:nvPicPr>
          <p:cNvPr id="33" name="Image 6" descr="FaUsers">    </p:cNvPr>
          <p:cNvPicPr>
            <a:picLocks noChangeAspect="1"/>
          </p:cNvPicPr>
          <p:nvPr/>
        </p:nvPicPr>
        <p:blipFill>
          <a:blip r:embed="rId7"/>
          <a:stretch>
            <a:fillRect/>
          </a:stretch>
        </p:blipFill>
        <p:spPr>
          <a:xfrm>
            <a:off x="5253228" y="4274820"/>
            <a:ext cx="320040" cy="320040"/>
          </a:xfrm>
          <a:prstGeom prst="rect">
            <a:avLst/>
          </a:prstGeom>
        </p:spPr>
      </p:pic>
      <p:sp>
        <p:nvSpPr>
          <p:cNvPr id="34" name="Text 25"/>
          <p:cNvSpPr txBox="1"/>
          <p:nvPr/>
        </p:nvSpPr>
        <p:spPr>
          <a:xfrm>
            <a:off x="5093208" y="4892040"/>
            <a:ext cx="1828800" cy="256032"/>
          </a:xfrm>
          <a:prstGeom prst="rect">
            <a:avLst/>
          </a:prstGeom>
          <a:noFill/>
          <a:ln/>
        </p:spPr>
        <p:txBody>
          <a:bodyPr wrap="square" lIns="0" tIns="0" rIns="0" bIns="0" rtlCol="0" anchor="t"/>
          <a:lstStyle/>
          <a:p>
            <a:pPr indent="0" marL="0">
              <a:buNone/>
            </a:pPr>
            <a:r>
              <a:rPr lang="en-US" sz="1300" b="1" dirty="0">
                <a:solidFill>
                  <a:schemeClr val="tx1"/>
                </a:solidFill>
              </a:rPr>
              <a:t>Local communities</a:t>
            </a:r>
            <a:endParaRPr lang="en-US" sz="1300" dirty="0"/>
          </a:p>
        </p:txBody>
      </p:sp>
      <p:sp>
        <p:nvSpPr>
          <p:cNvPr id="35" name="Text 26"/>
          <p:cNvSpPr txBox="1"/>
          <p:nvPr/>
        </p:nvSpPr>
        <p:spPr>
          <a:xfrm>
            <a:off x="5093208" y="5148072"/>
            <a:ext cx="1828800" cy="256032"/>
          </a:xfrm>
          <a:prstGeom prst="rect">
            <a:avLst/>
          </a:prstGeom>
          <a:noFill/>
          <a:ln/>
        </p:spPr>
        <p:txBody>
          <a:bodyPr wrap="square" lIns="0" tIns="0" rIns="0" bIns="0" rtlCol="0" anchor="t"/>
          <a:lstStyle/>
          <a:p>
            <a:pPr indent="0" marL="0">
              <a:buNone/>
            </a:pPr>
            <a:r>
              <a:rPr lang="en-US" sz="1200" dirty="0">
                <a:solidFill>
                  <a:schemeClr val="tx2"/>
                </a:solidFill>
              </a:rPr>
              <a:t>Less coach traffic</a:t>
            </a:r>
            <a:endParaRPr lang="en-US" sz="1200" dirty="0"/>
          </a:p>
        </p:txBody>
      </p:sp>
      <p:sp>
        <p:nvSpPr>
          <p:cNvPr id="36" name="Metric 1"/>
          <p:cNvSpPr/>
          <p:nvPr/>
        </p:nvSpPr>
        <p:spPr>
          <a:xfrm>
            <a:off x="7315200" y="2240280"/>
            <a:ext cx="4370832" cy="987552"/>
          </a:xfrm>
          <a:prstGeom prst="roundRect">
            <a:avLst>
              <a:gd name="adj" fmla="val 11111"/>
            </a:avLst>
          </a:prstGeom>
          <a:solidFill>
            <a:srgbClr val="FDECEE"/>
          </a:solidFill>
          <a:ln w="9525">
            <a:solidFill>
              <a:srgbClr val="FDECEE"/>
            </a:solidFill>
            <a:prstDash val="solid"/>
          </a:ln>
        </p:spPr>
      </p:sp>
      <p:sp>
        <p:nvSpPr>
          <p:cNvPr id="37" name="Text 28"/>
          <p:cNvSpPr txBox="1"/>
          <p:nvPr/>
        </p:nvSpPr>
        <p:spPr>
          <a:xfrm>
            <a:off x="7498080" y="2240280"/>
            <a:ext cx="1417320" cy="987552"/>
          </a:xfrm>
          <a:prstGeom prst="rect">
            <a:avLst/>
          </a:prstGeom>
          <a:noFill/>
          <a:ln/>
        </p:spPr>
        <p:txBody>
          <a:bodyPr wrap="square" lIns="0" tIns="0" rIns="0" bIns="0" rtlCol="0" anchor="ctr"/>
          <a:lstStyle/>
          <a:p>
            <a:pPr indent="0" marL="0">
              <a:buNone/>
            </a:pPr>
            <a:r>
              <a:rPr lang="en-US" sz="3000" b="1" dirty="0">
                <a:solidFill>
                  <a:srgbClr val="D7192F"/>
                </a:solidFill>
              </a:rPr>
              <a:t>−35</a:t>
            </a:r>
            <a:endParaRPr lang="en-US" sz="3000" dirty="0"/>
          </a:p>
        </p:txBody>
      </p:sp>
      <p:sp>
        <p:nvSpPr>
          <p:cNvPr id="38" name="Text 29"/>
          <p:cNvSpPr txBox="1"/>
          <p:nvPr/>
        </p:nvSpPr>
        <p:spPr>
          <a:xfrm>
            <a:off x="8961120" y="2240280"/>
            <a:ext cx="2606040" cy="987552"/>
          </a:xfrm>
          <a:prstGeom prst="rect">
            <a:avLst/>
          </a:prstGeom>
          <a:noFill/>
          <a:ln/>
        </p:spPr>
        <p:txBody>
          <a:bodyPr wrap="square" lIns="0" tIns="0" rIns="0" bIns="0" rtlCol="0" anchor="ctr"/>
          <a:lstStyle/>
          <a:p>
            <a:pPr indent="0" marL="0">
              <a:buNone/>
            </a:pPr>
            <a:r>
              <a:rPr lang="en-US" sz="1300" dirty="0">
                <a:solidFill>
                  <a:schemeClr val="tx1"/>
                </a:solidFill>
              </a:rPr>
              <a:t>buses to book and coordinate</a:t>
            </a:r>
            <a:endParaRPr lang="en-US" sz="1300" dirty="0"/>
          </a:p>
        </p:txBody>
      </p:sp>
      <p:sp>
        <p:nvSpPr>
          <p:cNvPr id="39" name="Metric 2"/>
          <p:cNvSpPr/>
          <p:nvPr/>
        </p:nvSpPr>
        <p:spPr>
          <a:xfrm>
            <a:off x="7315200" y="3337560"/>
            <a:ext cx="4370832" cy="987552"/>
          </a:xfrm>
          <a:prstGeom prst="roundRect">
            <a:avLst>
              <a:gd name="adj" fmla="val 11111"/>
            </a:avLst>
          </a:prstGeom>
          <a:solidFill>
            <a:srgbClr val="EAF1FB"/>
          </a:solidFill>
          <a:ln w="9525">
            <a:solidFill>
              <a:srgbClr val="EAF1FB"/>
            </a:solidFill>
            <a:prstDash val="solid"/>
          </a:ln>
        </p:spPr>
      </p:sp>
      <p:sp>
        <p:nvSpPr>
          <p:cNvPr id="40" name="Text 31"/>
          <p:cNvSpPr txBox="1"/>
          <p:nvPr/>
        </p:nvSpPr>
        <p:spPr>
          <a:xfrm>
            <a:off x="7498080" y="3337560"/>
            <a:ext cx="1417320" cy="987552"/>
          </a:xfrm>
          <a:prstGeom prst="rect">
            <a:avLst/>
          </a:prstGeom>
          <a:noFill/>
          <a:ln/>
        </p:spPr>
        <p:txBody>
          <a:bodyPr wrap="square" lIns="0" tIns="0" rIns="0" bIns="0" rtlCol="0" anchor="ctr"/>
          <a:lstStyle/>
          <a:p>
            <a:pPr indent="0" marL="0">
              <a:buNone/>
            </a:pPr>
            <a:r>
              <a:rPr lang="en-US" sz="3000" b="1" dirty="0">
                <a:solidFill>
                  <a:srgbClr val="1F5FBF"/>
                </a:solidFill>
              </a:rPr>
              <a:t>99.5%</a:t>
            </a:r>
            <a:endParaRPr lang="en-US" sz="3000" dirty="0"/>
          </a:p>
        </p:txBody>
      </p:sp>
      <p:sp>
        <p:nvSpPr>
          <p:cNvPr id="41" name="Text 32"/>
          <p:cNvSpPr txBox="1"/>
          <p:nvPr/>
        </p:nvSpPr>
        <p:spPr>
          <a:xfrm>
            <a:off x="8961120" y="3337560"/>
            <a:ext cx="2606040" cy="987552"/>
          </a:xfrm>
          <a:prstGeom prst="rect">
            <a:avLst/>
          </a:prstGeom>
          <a:noFill/>
          <a:ln/>
        </p:spPr>
        <p:txBody>
          <a:bodyPr wrap="square" lIns="0" tIns="0" rIns="0" bIns="0" rtlCol="0" anchor="ctr"/>
          <a:lstStyle/>
          <a:p>
            <a:pPr indent="0" marL="0">
              <a:buNone/>
            </a:pPr>
            <a:r>
              <a:rPr lang="en-US" sz="1300" dirty="0">
                <a:solidFill>
                  <a:schemeClr val="tx1"/>
                </a:solidFill>
              </a:rPr>
              <a:t>seats filled (was 68.0%)</a:t>
            </a:r>
            <a:endParaRPr lang="en-US" sz="1300" dirty="0"/>
          </a:p>
        </p:txBody>
      </p:sp>
      <p:sp>
        <p:nvSpPr>
          <p:cNvPr id="42" name="Metric 3"/>
          <p:cNvSpPr/>
          <p:nvPr/>
        </p:nvSpPr>
        <p:spPr>
          <a:xfrm>
            <a:off x="7315200" y="4434840"/>
            <a:ext cx="4370832" cy="987552"/>
          </a:xfrm>
          <a:prstGeom prst="roundRect">
            <a:avLst>
              <a:gd name="adj" fmla="val 11111"/>
            </a:avLst>
          </a:prstGeom>
          <a:solidFill>
            <a:srgbClr val="EAF6EE"/>
          </a:solidFill>
          <a:ln w="9525">
            <a:solidFill>
              <a:srgbClr val="EAF6EE"/>
            </a:solidFill>
            <a:prstDash val="solid"/>
          </a:ln>
        </p:spPr>
      </p:sp>
      <p:sp>
        <p:nvSpPr>
          <p:cNvPr id="43" name="Text 34"/>
          <p:cNvSpPr txBox="1"/>
          <p:nvPr/>
        </p:nvSpPr>
        <p:spPr>
          <a:xfrm>
            <a:off x="7498080" y="4434840"/>
            <a:ext cx="1417320" cy="987552"/>
          </a:xfrm>
          <a:prstGeom prst="rect">
            <a:avLst/>
          </a:prstGeom>
          <a:noFill/>
          <a:ln/>
        </p:spPr>
        <p:txBody>
          <a:bodyPr wrap="square" lIns="0" tIns="0" rIns="0" bIns="0" rtlCol="0" anchor="ctr"/>
          <a:lstStyle/>
          <a:p>
            <a:pPr indent="0" marL="0">
              <a:buNone/>
            </a:pPr>
            <a:r>
              <a:rPr lang="en-US" sz="3000" b="1" dirty="0">
                <a:solidFill>
                  <a:srgbClr val="2E9E4F"/>
                </a:solidFill>
              </a:rPr>
              <a:t>−38.8%</a:t>
            </a:r>
            <a:endParaRPr lang="en-US" sz="3000" dirty="0"/>
          </a:p>
        </p:txBody>
      </p:sp>
      <p:sp>
        <p:nvSpPr>
          <p:cNvPr id="44" name="Text 35"/>
          <p:cNvSpPr txBox="1"/>
          <p:nvPr/>
        </p:nvSpPr>
        <p:spPr>
          <a:xfrm>
            <a:off x="8961120" y="4434840"/>
            <a:ext cx="2606040" cy="987552"/>
          </a:xfrm>
          <a:prstGeom prst="rect">
            <a:avLst/>
          </a:prstGeom>
          <a:noFill/>
          <a:ln/>
        </p:spPr>
        <p:txBody>
          <a:bodyPr wrap="square" lIns="0" tIns="0" rIns="0" bIns="0" rtlCol="0" anchor="ctr"/>
          <a:lstStyle/>
          <a:p>
            <a:pPr indent="0" marL="0">
              <a:buNone/>
            </a:pPr>
            <a:r>
              <a:rPr lang="en-US" sz="1300" dirty="0">
                <a:solidFill>
                  <a:schemeClr val="tx1"/>
                </a:solidFill>
              </a:rPr>
              <a:t>bus-miles, 1,289 → 789 (straight line)</a:t>
            </a:r>
            <a:endParaRPr lang="en-US" sz="1300" dirty="0"/>
          </a:p>
        </p:txBody>
      </p:sp>
      <p:sp>
        <p:nvSpPr>
          <p:cNvPr id="45" name="Text 36"/>
          <p:cNvSpPr txBox="1"/>
          <p:nvPr/>
        </p:nvSpPr>
        <p:spPr>
          <a:xfrm>
            <a:off x="7315200" y="5577840"/>
            <a:ext cx="4370832" cy="320040"/>
          </a:xfrm>
          <a:prstGeom prst="rect">
            <a:avLst/>
          </a:prstGeom>
          <a:noFill/>
          <a:ln/>
        </p:spPr>
        <p:txBody>
          <a:bodyPr wrap="square" lIns="0" tIns="0" rIns="0" bIns="0" rtlCol="0" anchor="t"/>
          <a:lstStyle/>
          <a:p>
            <a:pPr indent="0" marL="0">
              <a:buNone/>
            </a:pPr>
            <a:r>
              <a:rPr lang="en-US" sz="1000" dirty="0">
                <a:solidFill>
                  <a:schemeClr val="tx2"/>
                </a:solidFill>
              </a:rPr>
              <a:t>Fixed-price plan; baseline = one bus per school. No fuel or emissions claim.</a:t>
            </a:r>
            <a:endParaRPr lang="en-US" sz="1000" dirty="0"/>
          </a:p>
        </p:txBody>
      </p:sp>
      <p:sp>
        <p:nvSpPr>
          <p:cNvPr id="25" name="Slide Number Placeholder 0"/>
          <p:cNvSpPr>
            <a:spLocks noGrp="1"/>
          </p:cNvSpPr>
          <p:nvPr>
            <p:ph type="sldNum" sz="quarter" idx="4294967295"/>
          </p:nvPr>
        </p:nvSpPr>
        <p:spPr>
          <a:xfrm>
            <a:off x="11228832" y="651052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oaches outside Principality Stadium, Cardiff (illustration from the team's reference slides)">    </p:cNvPr>
          <p:cNvPicPr>
            <a:picLocks noChangeAspect="1"/>
          </p:cNvPicPr>
          <p:nvPr/>
        </p:nvPicPr>
        <p:blipFill>
          <a:blip r:embed="rId1"/>
          <a:stretch>
            <a:fillRect/>
          </a:stretch>
        </p:blipFill>
        <p:spPr>
          <a:xfrm>
            <a:off x="8653357" y="0"/>
            <a:ext cx="3538338" cy="1874520"/>
          </a:xfrm>
          <a:prstGeom prst="rect">
            <a:avLst/>
          </a:prstGeom>
        </p:spPr>
      </p:pic>
      <p:sp>
        <p:nvSpPr>
          <p:cNvPr id="3" name="Text 0"/>
          <p:cNvSpPr/>
          <p:nvPr>
            <p:ph idx="100" type="body" hasCustomPrompt="1"/>
          </p:nvPr>
        </p:nvSpPr>
        <p:spPr>
          <a:xfrm>
            <a:off x="502920" y="292608"/>
            <a:ext cx="7315200" cy="274320"/>
          </a:xfrm>
          <a:prstGeom prst="rect">
            <a:avLst/>
          </a:prstGeom>
          <a:noFill/>
          <a:ln/>
        </p:spPr>
        <p:txBody>
          <a:bodyPr wrap="square" lIns="0" tIns="0" rIns="0" bIns="0" rtlCol="0" anchor="t"/>
          <a:lstStyle/>
          <a:p>
            <a:pPr indent="0" marL="0">
              <a:buNone/>
            </a:pPr>
            <a:r>
              <a:rPr lang="en-US" sz="1300" b="1" spc="100" kern="0" dirty="0">
                <a:solidFill>
                  <a:schemeClr val="accent6"/>
                </a:solidFill>
              </a:rPr>
              <a:t>RESPONSIBLE AI</a:t>
            </a:r>
            <a:endParaRPr lang="en-US" sz="1300" dirty="0"/>
          </a:p>
        </p:txBody>
      </p:sp>
      <p:sp>
        <p:nvSpPr>
          <p:cNvPr id="4" name="Text 1"/>
          <p:cNvSpPr/>
          <p:nvPr>
            <p:ph idx="102" type="title" hasCustomPrompt="1"/>
          </p:nvPr>
        </p:nvSpPr>
        <p:spPr>
          <a:xfrm>
            <a:off x="502920" y="777240"/>
            <a:ext cx="7589520" cy="1051560"/>
          </a:xfrm>
          <a:prstGeom prst="rect">
            <a:avLst/>
          </a:prstGeom>
          <a:noFill/>
          <a:ln/>
        </p:spPr>
        <p:txBody>
          <a:bodyPr wrap="square" lIns="0" tIns="0" rIns="0" bIns="0" rtlCol="0" anchor="t"/>
          <a:lstStyle/>
          <a:p>
            <a:pPr algn="l" indent="0" marL="0">
              <a:buNone/>
            </a:pPr>
            <a:r>
              <a:rPr lang="en-US" sz="3400" b="1" dirty="0">
                <a:solidFill>
                  <a:srgbClr val="0B1F45"/>
                </a:solidFill>
              </a:rPr>
              <a:t>Responsible AI </a:t>
            </a:r>
            <a:pPr algn="l" indent="0" marL="0">
              <a:buNone/>
            </a:pPr>
            <a:r>
              <a:rPr lang="en-US" sz="3400" b="1" dirty="0">
                <a:solidFill>
                  <a:srgbClr val="D7192F"/>
                </a:solidFill>
              </a:rPr>
              <a:t>by Design</a:t>
            </a:r>
            <a:endParaRPr lang="en-US" sz="3400" dirty="0"/>
          </a:p>
        </p:txBody>
      </p:sp>
      <p:sp>
        <p:nvSpPr>
          <p:cNvPr id="5" name="Text 2"/>
          <p:cNvSpPr txBox="1"/>
          <p:nvPr/>
        </p:nvSpPr>
        <p:spPr>
          <a:xfrm>
            <a:off x="502920" y="1481328"/>
            <a:ext cx="7589520" cy="566928"/>
          </a:xfrm>
          <a:prstGeom prst="rect">
            <a:avLst/>
          </a:prstGeom>
          <a:noFill/>
          <a:ln/>
        </p:spPr>
        <p:txBody>
          <a:bodyPr wrap="square" lIns="0" tIns="0" rIns="0" bIns="0" rtlCol="0" anchor="t"/>
          <a:lstStyle/>
          <a:p>
            <a:pPr indent="0" marL="0">
              <a:buNone/>
            </a:pPr>
            <a:r>
              <a:rPr lang="en-US" sz="1500" dirty="0">
                <a:solidFill>
                  <a:schemeClr val="tx2"/>
                </a:solidFill>
              </a:rPr>
              <a:t>Decision support, not an autonomous system: people approve, code verifies.</a:t>
            </a:r>
            <a:endParaRPr lang="en-US" sz="1500" dirty="0"/>
          </a:p>
        </p:txBody>
      </p:sp>
      <p:sp>
        <p:nvSpPr>
          <p:cNvPr id="6" name="Transparency"/>
          <p:cNvSpPr/>
          <p:nvPr/>
        </p:nvSpPr>
        <p:spPr>
          <a:xfrm>
            <a:off x="502920" y="2240280"/>
            <a:ext cx="3611880" cy="1828800"/>
          </a:xfrm>
          <a:prstGeom prst="roundRect">
            <a:avLst>
              <a:gd name="adj" fmla="val 6000"/>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7" name="Icon FaEye"/>
          <p:cNvSpPr/>
          <p:nvPr/>
        </p:nvSpPr>
        <p:spPr>
          <a:xfrm>
            <a:off x="731520" y="2496312"/>
            <a:ext cx="731520" cy="731520"/>
          </a:xfrm>
          <a:prstGeom prst="ellipse">
            <a:avLst/>
          </a:prstGeom>
          <a:solidFill>
            <a:srgbClr val="EAF1FB"/>
          </a:solidFill>
          <a:ln w="12700">
            <a:solidFill>
              <a:srgbClr val="EAF1FB"/>
            </a:solidFill>
            <a:prstDash val="solid"/>
          </a:ln>
        </p:spPr>
      </p:sp>
      <p:pic>
        <p:nvPicPr>
          <p:cNvPr id="8" name="Image 1" descr="FaEye">    </p:cNvPr>
          <p:cNvPicPr>
            <a:picLocks noChangeAspect="1"/>
          </p:cNvPicPr>
          <p:nvPr/>
        </p:nvPicPr>
        <p:blipFill>
          <a:blip r:embed="rId2"/>
          <a:stretch>
            <a:fillRect/>
          </a:stretch>
        </p:blipFill>
        <p:spPr>
          <a:xfrm>
            <a:off x="914400" y="2679192"/>
            <a:ext cx="365760" cy="365760"/>
          </a:xfrm>
          <a:prstGeom prst="rect">
            <a:avLst/>
          </a:prstGeom>
        </p:spPr>
      </p:pic>
      <p:sp>
        <p:nvSpPr>
          <p:cNvPr id="9" name="Text 5"/>
          <p:cNvSpPr txBox="1"/>
          <p:nvPr/>
        </p:nvSpPr>
        <p:spPr>
          <a:xfrm>
            <a:off x="1645920" y="2496312"/>
            <a:ext cx="2331720" cy="329184"/>
          </a:xfrm>
          <a:prstGeom prst="rect">
            <a:avLst/>
          </a:prstGeom>
          <a:noFill/>
          <a:ln/>
        </p:spPr>
        <p:txBody>
          <a:bodyPr wrap="square" lIns="0" tIns="0" rIns="0" bIns="0" rtlCol="0" anchor="t"/>
          <a:lstStyle/>
          <a:p>
            <a:pPr indent="0" marL="0">
              <a:buNone/>
            </a:pPr>
            <a:r>
              <a:rPr lang="en-US" sz="1700" b="1" dirty="0">
                <a:solidFill>
                  <a:srgbClr val="1F5FBF"/>
                </a:solidFill>
              </a:rPr>
              <a:t>Transparency</a:t>
            </a:r>
            <a:endParaRPr lang="en-US" sz="1700" dirty="0"/>
          </a:p>
        </p:txBody>
      </p:sp>
      <p:sp>
        <p:nvSpPr>
          <p:cNvPr id="10" name="Text 6"/>
          <p:cNvSpPr txBox="1"/>
          <p:nvPr/>
        </p:nvSpPr>
        <p:spPr>
          <a:xfrm>
            <a:off x="1645920" y="2898648"/>
            <a:ext cx="2331720" cy="1051560"/>
          </a:xfrm>
          <a:prstGeom prst="rect">
            <a:avLst/>
          </a:prstGeom>
          <a:noFill/>
          <a:ln/>
        </p:spPr>
        <p:txBody>
          <a:bodyPr wrap="square" lIns="0" tIns="0" rIns="0" bIns="0" rtlCol="0" anchor="t"/>
          <a:lstStyle/>
          <a:p>
            <a:pPr indent="0" marL="0">
              <a:buNone/>
            </a:pPr>
            <a:r>
              <a:rPr lang="en-US" sz="1300" dirty="0">
                <a:solidFill>
                  <a:schemeClr val="tx1"/>
                </a:solidFill>
              </a:rPr>
              <a:t>Every plan labelled proven optimal or best found; estimates marked</a:t>
            </a:r>
            <a:endParaRPr lang="en-US" sz="1300" dirty="0"/>
          </a:p>
        </p:txBody>
      </p:sp>
      <p:sp>
        <p:nvSpPr>
          <p:cNvPr id="11" name="Privacy"/>
          <p:cNvSpPr/>
          <p:nvPr/>
        </p:nvSpPr>
        <p:spPr>
          <a:xfrm>
            <a:off x="4288536" y="2240280"/>
            <a:ext cx="3611880" cy="1828800"/>
          </a:xfrm>
          <a:prstGeom prst="roundRect">
            <a:avLst>
              <a:gd name="adj" fmla="val 6000"/>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12" name="Icon FaLock"/>
          <p:cNvSpPr/>
          <p:nvPr/>
        </p:nvSpPr>
        <p:spPr>
          <a:xfrm>
            <a:off x="4517136" y="2496312"/>
            <a:ext cx="731520" cy="731520"/>
          </a:xfrm>
          <a:prstGeom prst="ellipse">
            <a:avLst/>
          </a:prstGeom>
          <a:solidFill>
            <a:srgbClr val="EAF6EE"/>
          </a:solidFill>
          <a:ln w="12700">
            <a:solidFill>
              <a:srgbClr val="EAF6EE"/>
            </a:solidFill>
            <a:prstDash val="solid"/>
          </a:ln>
        </p:spPr>
      </p:sp>
      <p:pic>
        <p:nvPicPr>
          <p:cNvPr id="13" name="Image 2" descr="FaLock">    </p:cNvPr>
          <p:cNvPicPr>
            <a:picLocks noChangeAspect="1"/>
          </p:cNvPicPr>
          <p:nvPr/>
        </p:nvPicPr>
        <p:blipFill>
          <a:blip r:embed="rId3"/>
          <a:stretch>
            <a:fillRect/>
          </a:stretch>
        </p:blipFill>
        <p:spPr>
          <a:xfrm>
            <a:off x="4700016" y="2679192"/>
            <a:ext cx="365760" cy="365760"/>
          </a:xfrm>
          <a:prstGeom prst="rect">
            <a:avLst/>
          </a:prstGeom>
        </p:spPr>
      </p:pic>
      <p:sp>
        <p:nvSpPr>
          <p:cNvPr id="14" name="Text 9"/>
          <p:cNvSpPr txBox="1"/>
          <p:nvPr/>
        </p:nvSpPr>
        <p:spPr>
          <a:xfrm>
            <a:off x="5431536" y="2496312"/>
            <a:ext cx="2331720" cy="329184"/>
          </a:xfrm>
          <a:prstGeom prst="rect">
            <a:avLst/>
          </a:prstGeom>
          <a:noFill/>
          <a:ln/>
        </p:spPr>
        <p:txBody>
          <a:bodyPr wrap="square" lIns="0" tIns="0" rIns="0" bIns="0" rtlCol="0" anchor="t"/>
          <a:lstStyle/>
          <a:p>
            <a:pPr indent="0" marL="0">
              <a:buNone/>
            </a:pPr>
            <a:r>
              <a:rPr lang="en-US" sz="1700" b="1" dirty="0">
                <a:solidFill>
                  <a:srgbClr val="2E9E4F"/>
                </a:solidFill>
              </a:rPr>
              <a:t>Privacy</a:t>
            </a:r>
            <a:endParaRPr lang="en-US" sz="1700" dirty="0"/>
          </a:p>
        </p:txBody>
      </p:sp>
      <p:sp>
        <p:nvSpPr>
          <p:cNvPr id="15" name="Text 10"/>
          <p:cNvSpPr txBox="1"/>
          <p:nvPr/>
        </p:nvSpPr>
        <p:spPr>
          <a:xfrm>
            <a:off x="5431536" y="2898648"/>
            <a:ext cx="2331720" cy="1051560"/>
          </a:xfrm>
          <a:prstGeom prst="rect">
            <a:avLst/>
          </a:prstGeom>
          <a:noFill/>
          <a:ln/>
        </p:spPr>
        <p:txBody>
          <a:bodyPr wrap="square" lIns="0" tIns="0" rIns="0" bIns="0" rtlCol="0" anchor="t"/>
          <a:lstStyle/>
          <a:p>
            <a:pPr indent="0" marL="0">
              <a:buNone/>
            </a:pPr>
            <a:r>
              <a:rPr lang="en-US" sz="1300" dirty="0">
                <a:solidFill>
                  <a:schemeClr val="tx1"/>
                </a:solidFill>
              </a:rPr>
              <a:t>School-level head counts only, no pupil names; address search sends only the typed text</a:t>
            </a:r>
            <a:endParaRPr lang="en-US" sz="1300" dirty="0"/>
          </a:p>
        </p:txBody>
      </p:sp>
      <p:sp>
        <p:nvSpPr>
          <p:cNvPr id="16" name="Security"/>
          <p:cNvSpPr/>
          <p:nvPr/>
        </p:nvSpPr>
        <p:spPr>
          <a:xfrm>
            <a:off x="8074152" y="2240280"/>
            <a:ext cx="3611880" cy="1828800"/>
          </a:xfrm>
          <a:prstGeom prst="roundRect">
            <a:avLst>
              <a:gd name="adj" fmla="val 6000"/>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17" name="Icon FaShieldAlt"/>
          <p:cNvSpPr/>
          <p:nvPr/>
        </p:nvSpPr>
        <p:spPr>
          <a:xfrm>
            <a:off x="8302752" y="2496312"/>
            <a:ext cx="731520" cy="731520"/>
          </a:xfrm>
          <a:prstGeom prst="ellipse">
            <a:avLst/>
          </a:prstGeom>
          <a:solidFill>
            <a:srgbClr val="FDECEE"/>
          </a:solidFill>
          <a:ln w="12700">
            <a:solidFill>
              <a:srgbClr val="FDECEE"/>
            </a:solidFill>
            <a:prstDash val="solid"/>
          </a:ln>
        </p:spPr>
      </p:sp>
      <p:pic>
        <p:nvPicPr>
          <p:cNvPr id="18" name="Image 3" descr="FaShieldAlt">    </p:cNvPr>
          <p:cNvPicPr>
            <a:picLocks noChangeAspect="1"/>
          </p:cNvPicPr>
          <p:nvPr/>
        </p:nvPicPr>
        <p:blipFill>
          <a:blip r:embed="rId4"/>
          <a:stretch>
            <a:fillRect/>
          </a:stretch>
        </p:blipFill>
        <p:spPr>
          <a:xfrm>
            <a:off x="8485632" y="2679192"/>
            <a:ext cx="365760" cy="365760"/>
          </a:xfrm>
          <a:prstGeom prst="rect">
            <a:avLst/>
          </a:prstGeom>
        </p:spPr>
      </p:pic>
      <p:sp>
        <p:nvSpPr>
          <p:cNvPr id="19" name="Text 13"/>
          <p:cNvSpPr txBox="1"/>
          <p:nvPr/>
        </p:nvSpPr>
        <p:spPr>
          <a:xfrm>
            <a:off x="9217152" y="2496312"/>
            <a:ext cx="2331720" cy="329184"/>
          </a:xfrm>
          <a:prstGeom prst="rect">
            <a:avLst/>
          </a:prstGeom>
          <a:noFill/>
          <a:ln/>
        </p:spPr>
        <p:txBody>
          <a:bodyPr wrap="square" lIns="0" tIns="0" rIns="0" bIns="0" rtlCol="0" anchor="t"/>
          <a:lstStyle/>
          <a:p>
            <a:pPr indent="0" marL="0">
              <a:buNone/>
            </a:pPr>
            <a:r>
              <a:rPr lang="en-US" sz="1700" b="1" dirty="0">
                <a:solidFill>
                  <a:srgbClr val="D7192F"/>
                </a:solidFill>
              </a:rPr>
              <a:t>Security</a:t>
            </a:r>
            <a:endParaRPr lang="en-US" sz="1700" dirty="0"/>
          </a:p>
        </p:txBody>
      </p:sp>
      <p:sp>
        <p:nvSpPr>
          <p:cNvPr id="20" name="Text 14"/>
          <p:cNvSpPr txBox="1"/>
          <p:nvPr/>
        </p:nvSpPr>
        <p:spPr>
          <a:xfrm>
            <a:off x="9217152" y="2898648"/>
            <a:ext cx="2331720" cy="1051560"/>
          </a:xfrm>
          <a:prstGeom prst="rect">
            <a:avLst/>
          </a:prstGeom>
          <a:noFill/>
          <a:ln/>
        </p:spPr>
        <p:txBody>
          <a:bodyPr wrap="square" lIns="0" tIns="0" rIns="0" bIns="0" rtlCol="0" anchor="t"/>
          <a:lstStyle/>
          <a:p>
            <a:pPr indent="0" marL="0">
              <a:buNone/>
            </a:pPr>
            <a:r>
              <a:rPr lang="en-US" sz="1300" dirty="0">
                <a:solidFill>
                  <a:schemeClr val="tx1"/>
                </a:solidFill>
              </a:rPr>
              <a:t>API keys never shown or logged; the LLM has no tools</a:t>
            </a:r>
            <a:endParaRPr lang="en-US" sz="1300" dirty="0"/>
          </a:p>
        </p:txBody>
      </p:sp>
      <p:sp>
        <p:nvSpPr>
          <p:cNvPr id="21" name="Accountability"/>
          <p:cNvSpPr/>
          <p:nvPr/>
        </p:nvSpPr>
        <p:spPr>
          <a:xfrm>
            <a:off x="502920" y="4251960"/>
            <a:ext cx="3611880" cy="1828800"/>
          </a:xfrm>
          <a:prstGeom prst="roundRect">
            <a:avLst>
              <a:gd name="adj" fmla="val 6000"/>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22" name="Icon FaUserCheck"/>
          <p:cNvSpPr/>
          <p:nvPr/>
        </p:nvSpPr>
        <p:spPr>
          <a:xfrm>
            <a:off x="731520" y="4507992"/>
            <a:ext cx="731520" cy="731520"/>
          </a:xfrm>
          <a:prstGeom prst="ellipse">
            <a:avLst/>
          </a:prstGeom>
          <a:solidFill>
            <a:srgbClr val="FEF4E6"/>
          </a:solidFill>
          <a:ln w="12700">
            <a:solidFill>
              <a:srgbClr val="FEF4E6"/>
            </a:solidFill>
            <a:prstDash val="solid"/>
          </a:ln>
        </p:spPr>
      </p:sp>
      <p:pic>
        <p:nvPicPr>
          <p:cNvPr id="23" name="Image 4" descr="FaUserCheck">    </p:cNvPr>
          <p:cNvPicPr>
            <a:picLocks noChangeAspect="1"/>
          </p:cNvPicPr>
          <p:nvPr/>
        </p:nvPicPr>
        <p:blipFill>
          <a:blip r:embed="rId5"/>
          <a:stretch>
            <a:fillRect/>
          </a:stretch>
        </p:blipFill>
        <p:spPr>
          <a:xfrm>
            <a:off x="914400" y="4690872"/>
            <a:ext cx="365760" cy="365760"/>
          </a:xfrm>
          <a:prstGeom prst="rect">
            <a:avLst/>
          </a:prstGeom>
        </p:spPr>
      </p:pic>
      <p:sp>
        <p:nvSpPr>
          <p:cNvPr id="24" name="Text 17"/>
          <p:cNvSpPr txBox="1"/>
          <p:nvPr/>
        </p:nvSpPr>
        <p:spPr>
          <a:xfrm>
            <a:off x="1645920" y="4507992"/>
            <a:ext cx="2331720" cy="329184"/>
          </a:xfrm>
          <a:prstGeom prst="rect">
            <a:avLst/>
          </a:prstGeom>
          <a:noFill/>
          <a:ln/>
        </p:spPr>
        <p:txBody>
          <a:bodyPr wrap="square" lIns="0" tIns="0" rIns="0" bIns="0" rtlCol="0" anchor="t"/>
          <a:lstStyle/>
          <a:p>
            <a:pPr indent="0" marL="0">
              <a:buNone/>
            </a:pPr>
            <a:r>
              <a:rPr lang="en-US" sz="1700" b="1" dirty="0">
                <a:solidFill>
                  <a:srgbClr val="F29A1F"/>
                </a:solidFill>
              </a:rPr>
              <a:t>Accountability</a:t>
            </a:r>
            <a:endParaRPr lang="en-US" sz="1700" dirty="0"/>
          </a:p>
        </p:txBody>
      </p:sp>
      <p:sp>
        <p:nvSpPr>
          <p:cNvPr id="25" name="Text 18"/>
          <p:cNvSpPr txBox="1"/>
          <p:nvPr/>
        </p:nvSpPr>
        <p:spPr>
          <a:xfrm>
            <a:off x="1645920" y="4910328"/>
            <a:ext cx="2331720" cy="1051560"/>
          </a:xfrm>
          <a:prstGeom prst="rect">
            <a:avLst/>
          </a:prstGeom>
          <a:noFill/>
          <a:ln/>
        </p:spPr>
        <p:txBody>
          <a:bodyPr wrap="square" lIns="0" tIns="0" rIns="0" bIns="0" rtlCol="0" anchor="t"/>
          <a:lstStyle/>
          <a:p>
            <a:pPr indent="0" marL="0">
              <a:buNone/>
            </a:pPr>
            <a:r>
              <a:rPr lang="en-US" sz="1300" dirty="0">
                <a:solidFill>
                  <a:schemeClr val="tx1"/>
                </a:solidFill>
              </a:rPr>
              <a:t>Organiser approves every AI change; audit report of every run</a:t>
            </a:r>
            <a:endParaRPr lang="en-US" sz="1300" dirty="0"/>
          </a:p>
        </p:txBody>
      </p:sp>
      <p:sp>
        <p:nvSpPr>
          <p:cNvPr id="26" name="Safety and fairness"/>
          <p:cNvSpPr/>
          <p:nvPr/>
        </p:nvSpPr>
        <p:spPr>
          <a:xfrm>
            <a:off x="4288536" y="4251960"/>
            <a:ext cx="3611880" cy="1828800"/>
          </a:xfrm>
          <a:prstGeom prst="roundRect">
            <a:avLst>
              <a:gd name="adj" fmla="val 6000"/>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27" name="Icon FaBalanceScale"/>
          <p:cNvSpPr/>
          <p:nvPr/>
        </p:nvSpPr>
        <p:spPr>
          <a:xfrm>
            <a:off x="4517136" y="4507992"/>
            <a:ext cx="731520" cy="731520"/>
          </a:xfrm>
          <a:prstGeom prst="ellipse">
            <a:avLst/>
          </a:prstGeom>
          <a:solidFill>
            <a:srgbClr val="F2EDFB"/>
          </a:solidFill>
          <a:ln w="12700">
            <a:solidFill>
              <a:srgbClr val="F2EDFB"/>
            </a:solidFill>
            <a:prstDash val="solid"/>
          </a:ln>
        </p:spPr>
      </p:sp>
      <p:pic>
        <p:nvPicPr>
          <p:cNvPr id="28" name="Image 5" descr="FaBalanceScale">    </p:cNvPr>
          <p:cNvPicPr>
            <a:picLocks noChangeAspect="1"/>
          </p:cNvPicPr>
          <p:nvPr/>
        </p:nvPicPr>
        <p:blipFill>
          <a:blip r:embed="rId6"/>
          <a:stretch>
            <a:fillRect/>
          </a:stretch>
        </p:blipFill>
        <p:spPr>
          <a:xfrm>
            <a:off x="4700016" y="4690872"/>
            <a:ext cx="365760" cy="365760"/>
          </a:xfrm>
          <a:prstGeom prst="rect">
            <a:avLst/>
          </a:prstGeom>
        </p:spPr>
      </p:pic>
      <p:sp>
        <p:nvSpPr>
          <p:cNvPr id="29" name="Text 21"/>
          <p:cNvSpPr txBox="1"/>
          <p:nvPr/>
        </p:nvSpPr>
        <p:spPr>
          <a:xfrm>
            <a:off x="5431536" y="4507992"/>
            <a:ext cx="2331720" cy="329184"/>
          </a:xfrm>
          <a:prstGeom prst="rect">
            <a:avLst/>
          </a:prstGeom>
          <a:noFill/>
          <a:ln/>
        </p:spPr>
        <p:txBody>
          <a:bodyPr wrap="square" lIns="0" tIns="0" rIns="0" bIns="0" rtlCol="0" anchor="t"/>
          <a:lstStyle/>
          <a:p>
            <a:pPr indent="0" marL="0">
              <a:buNone/>
            </a:pPr>
            <a:r>
              <a:rPr lang="en-US" sz="1700" b="1" dirty="0">
                <a:solidFill>
                  <a:srgbClr val="6B3FB5"/>
                </a:solidFill>
              </a:rPr>
              <a:t>Safety and fairness</a:t>
            </a:r>
            <a:endParaRPr lang="en-US" sz="1700" dirty="0"/>
          </a:p>
        </p:txBody>
      </p:sp>
      <p:sp>
        <p:nvSpPr>
          <p:cNvPr id="30" name="Text 22"/>
          <p:cNvSpPr txBox="1"/>
          <p:nvPr/>
        </p:nvSpPr>
        <p:spPr>
          <a:xfrm>
            <a:off x="5431536" y="4910328"/>
            <a:ext cx="2331720" cy="1051560"/>
          </a:xfrm>
          <a:prstGeom prst="rect">
            <a:avLst/>
          </a:prstGeom>
          <a:noFill/>
          <a:ln/>
        </p:spPr>
        <p:txBody>
          <a:bodyPr wrap="square" lIns="0" tIns="0" rIns="0" bIns="0" rtlCol="0" anchor="t"/>
          <a:lstStyle/>
          <a:p>
            <a:pPr indent="0" marL="0">
              <a:buNone/>
            </a:pPr>
            <a:r>
              <a:rPr lang="en-US" sz="1300" dirty="0">
                <a:solidFill>
                  <a:schemeClr val="tx1"/>
                </a:solidFill>
              </a:rPr>
              <a:t>Rules re-checked by independent code; cost shared per attendee</a:t>
            </a:r>
            <a:endParaRPr lang="en-US" sz="1300" dirty="0"/>
          </a:p>
        </p:txBody>
      </p:sp>
      <p:sp>
        <p:nvSpPr>
          <p:cNvPr id="31" name="Honest limits"/>
          <p:cNvSpPr/>
          <p:nvPr/>
        </p:nvSpPr>
        <p:spPr>
          <a:xfrm>
            <a:off x="8074152" y="4251960"/>
            <a:ext cx="3611880" cy="1828800"/>
          </a:xfrm>
          <a:prstGeom prst="roundRect">
            <a:avLst>
              <a:gd name="adj" fmla="val 6000"/>
            </a:avLst>
          </a:prstGeom>
          <a:solidFill>
            <a:srgbClr val="FFFFFF"/>
          </a:solidFill>
          <a:ln w="9525">
            <a:solidFill>
              <a:srgbClr val="E6E9EF"/>
            </a:solidFill>
            <a:prstDash val="solid"/>
          </a:ln>
          <a:effectLst>
            <a:outerShdw sx="100000" sy="100000" kx="0" ky="0" algn="bl" rotWithShape="0" blurRad="76200" dist="19050" dir="5400000">
              <a:srgbClr val="0B1F45">
                <a:alpha val="8000"/>
              </a:srgbClr>
            </a:outerShdw>
          </a:effectLst>
        </p:spPr>
      </p:sp>
      <p:sp>
        <p:nvSpPr>
          <p:cNvPr id="32" name="Icon FaExclamationTriangle"/>
          <p:cNvSpPr/>
          <p:nvPr/>
        </p:nvSpPr>
        <p:spPr>
          <a:xfrm>
            <a:off x="8302752" y="4507992"/>
            <a:ext cx="731520" cy="731520"/>
          </a:xfrm>
          <a:prstGeom prst="ellipse">
            <a:avLst/>
          </a:prstGeom>
          <a:solidFill>
            <a:srgbClr val="FDECEE"/>
          </a:solidFill>
          <a:ln w="12700">
            <a:solidFill>
              <a:srgbClr val="FDECEE"/>
            </a:solidFill>
            <a:prstDash val="solid"/>
          </a:ln>
        </p:spPr>
      </p:sp>
      <p:pic>
        <p:nvPicPr>
          <p:cNvPr id="33" name="Image 6" descr="FaExclamationTriangle">    </p:cNvPr>
          <p:cNvPicPr>
            <a:picLocks noChangeAspect="1"/>
          </p:cNvPicPr>
          <p:nvPr/>
        </p:nvPicPr>
        <p:blipFill>
          <a:blip r:embed="rId7"/>
          <a:stretch>
            <a:fillRect/>
          </a:stretch>
        </p:blipFill>
        <p:spPr>
          <a:xfrm>
            <a:off x="8485632" y="4690872"/>
            <a:ext cx="365760" cy="365760"/>
          </a:xfrm>
          <a:prstGeom prst="rect">
            <a:avLst/>
          </a:prstGeom>
        </p:spPr>
      </p:pic>
      <p:sp>
        <p:nvSpPr>
          <p:cNvPr id="34" name="Text 25"/>
          <p:cNvSpPr txBox="1"/>
          <p:nvPr/>
        </p:nvSpPr>
        <p:spPr>
          <a:xfrm>
            <a:off x="9217152" y="4507992"/>
            <a:ext cx="2331720" cy="329184"/>
          </a:xfrm>
          <a:prstGeom prst="rect">
            <a:avLst/>
          </a:prstGeom>
          <a:noFill/>
          <a:ln/>
        </p:spPr>
        <p:txBody>
          <a:bodyPr wrap="square" lIns="0" tIns="0" rIns="0" bIns="0" rtlCol="0" anchor="t"/>
          <a:lstStyle/>
          <a:p>
            <a:pPr indent="0" marL="0">
              <a:buNone/>
            </a:pPr>
            <a:r>
              <a:rPr lang="en-US" sz="1700" b="1" dirty="0">
                <a:solidFill>
                  <a:srgbClr val="D7192F"/>
                </a:solidFill>
              </a:rPr>
              <a:t>Honest limits</a:t>
            </a:r>
            <a:endParaRPr lang="en-US" sz="1700" dirty="0"/>
          </a:p>
        </p:txBody>
      </p:sp>
      <p:sp>
        <p:nvSpPr>
          <p:cNvPr id="35" name="Text 26"/>
          <p:cNvSpPr txBox="1"/>
          <p:nvPr/>
        </p:nvSpPr>
        <p:spPr>
          <a:xfrm>
            <a:off x="9217152" y="4910328"/>
            <a:ext cx="2331720" cy="1051560"/>
          </a:xfrm>
          <a:prstGeom prst="rect">
            <a:avLst/>
          </a:prstGeom>
          <a:noFill/>
          <a:ln/>
        </p:spPr>
        <p:txBody>
          <a:bodyPr wrap="square" lIns="0" tIns="0" rIns="0" bIns="0" rtlCol="0" anchor="t"/>
          <a:lstStyle/>
          <a:p>
            <a:pPr indent="0" marL="0">
              <a:buNone/>
            </a:pPr>
            <a:r>
              <a:rPr lang="en-US" sz="1300" dirty="0">
                <a:solidFill>
                  <a:schemeClr val="tx1"/>
                </a:solidFill>
              </a:rPr>
              <a:t>No live traffic or boarding time; not yet tested at a real event</a:t>
            </a:r>
            <a:endParaRPr lang="en-US" sz="1300" dirty="0"/>
          </a:p>
        </p:txBody>
      </p:sp>
      <p:sp>
        <p:nvSpPr>
          <p:cNvPr id="25" name="Slide Number Placeholder 0"/>
          <p:cNvSpPr>
            <a:spLocks noGrp="1"/>
          </p:cNvSpPr>
          <p:nvPr>
            <p:ph type="sldNum" sz="quarter" idx="4294967295"/>
          </p:nvPr>
        </p:nvSpPr>
        <p:spPr>
          <a:xfrm>
            <a:off x="11228832" y="6510528"/>
            <a:ext cx="457200" cy="219456"/>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t"/>
          <a:lstStyle/>
          <a:p>
            <a:pPr indent="0" marL="0">
              <a:buNone/>
            </a:pPr>
            <a:r>
              <a:rPr lang="en-US" sz="1300" b="1" spc="100" kern="0" dirty="0">
                <a:solidFill>
                  <a:srgbClr val="B8C2D1"/>
                </a:solidFill>
              </a:rPr>
              <a:t>CONCLUSION</a:t>
            </a:r>
            <a:endParaRPr lang="en-US" sz="1300" dirty="0"/>
          </a:p>
        </p:txBody>
      </p:sp>
      <p:sp>
        <p:nvSpPr>
          <p:cNvPr id="3" name="Shape 1"/>
          <p:cNvSpPr/>
          <p:nvPr/>
        </p:nvSpPr>
        <p:spPr>
          <a:xfrm>
            <a:off x="548640" y="749808"/>
            <a:ext cx="502920" cy="64008"/>
          </a:xfrm>
          <a:prstGeom prst="rect">
            <a:avLst/>
          </a:prstGeom>
          <a:solidFill>
            <a:srgbClr val="D7192F"/>
          </a:solidFill>
          <a:ln w="12700">
            <a:solidFill>
              <a:srgbClr val="D7192F"/>
            </a:solidFill>
            <a:prstDash val="solid"/>
          </a:ln>
        </p:spPr>
      </p:sp>
      <p:sp>
        <p:nvSpPr>
          <p:cNvPr id="4" name="Text 2"/>
          <p:cNvSpPr txBox="1"/>
          <p:nvPr/>
        </p:nvSpPr>
        <p:spPr>
          <a:xfrm>
            <a:off x="548640" y="914400"/>
            <a:ext cx="6583680" cy="1234440"/>
          </a:xfrm>
          <a:prstGeom prst="rect">
            <a:avLst/>
          </a:prstGeom>
          <a:noFill/>
          <a:ln/>
        </p:spPr>
        <p:txBody>
          <a:bodyPr wrap="square" lIns="0" tIns="0" rIns="0" bIns="0" rtlCol="0" anchor="t"/>
          <a:lstStyle/>
          <a:p>
            <a:pPr indent="0" marL="0">
              <a:buNone/>
            </a:pPr>
            <a:r>
              <a:rPr lang="en-US" sz="3600" b="1" dirty="0">
                <a:solidFill>
                  <a:srgbClr val="FFFFFF"/>
                </a:solidFill>
              </a:rPr>
              <a:t>Fewer buses, lower cost,
</a:t>
            </a:r>
            <a:pPr indent="0" marL="0">
              <a:buNone/>
            </a:pPr>
            <a:r>
              <a:rPr lang="en-US" sz="3600" b="1" dirty="0">
                <a:solidFill>
                  <a:srgbClr val="FF5A6A"/>
                </a:solidFill>
              </a:rPr>
              <a:t>plans people can trust</a:t>
            </a:r>
            <a:endParaRPr lang="en-US" sz="3600" dirty="0"/>
          </a:p>
        </p:txBody>
      </p:sp>
      <p:pic>
        <p:nvPicPr>
          <p:cNvPr id="5" name="Image 0" descr="Coaches outside Principality Stadium (illustration from the team's reference slides)">    </p:cNvPr>
          <p:cNvPicPr>
            <a:picLocks noChangeAspect="1"/>
          </p:cNvPicPr>
          <p:nvPr/>
        </p:nvPicPr>
        <p:blipFill>
          <a:blip r:embed="rId1"/>
          <a:stretch>
            <a:fillRect/>
          </a:stretch>
        </p:blipFill>
        <p:spPr>
          <a:xfrm>
            <a:off x="8455457" y="411480"/>
            <a:ext cx="3233318" cy="2377440"/>
          </a:xfrm>
          <a:prstGeom prst="rect">
            <a:avLst/>
          </a:prstGeom>
        </p:spPr>
      </p:pic>
      <p:sp>
        <p:nvSpPr>
          <p:cNvPr id="6" name="Problem"/>
          <p:cNvSpPr/>
          <p:nvPr/>
        </p:nvSpPr>
        <p:spPr>
          <a:xfrm>
            <a:off x="548640" y="3063240"/>
            <a:ext cx="2633472" cy="1691640"/>
          </a:xfrm>
          <a:prstGeom prst="roundRect">
            <a:avLst>
              <a:gd name="adj" fmla="val 6486"/>
            </a:avLst>
          </a:prstGeom>
          <a:solidFill>
            <a:srgbClr val="15305F"/>
          </a:solidFill>
          <a:ln w="9525">
            <a:solidFill>
              <a:srgbClr val="15305F"/>
            </a:solidFill>
            <a:prstDash val="solid"/>
          </a:ln>
        </p:spPr>
      </p:sp>
      <p:pic>
        <p:nvPicPr>
          <p:cNvPr id="7" name="Image 1" descr="Problem">    </p:cNvPr>
          <p:cNvPicPr>
            <a:picLocks noChangeAspect="1"/>
          </p:cNvPicPr>
          <p:nvPr/>
        </p:nvPicPr>
        <p:blipFill>
          <a:blip r:embed="rId2"/>
          <a:stretch>
            <a:fillRect/>
          </a:stretch>
        </p:blipFill>
        <p:spPr>
          <a:xfrm>
            <a:off x="731520" y="3218688"/>
            <a:ext cx="365760" cy="365760"/>
          </a:xfrm>
          <a:prstGeom prst="rect">
            <a:avLst/>
          </a:prstGeom>
        </p:spPr>
      </p:pic>
      <p:sp>
        <p:nvSpPr>
          <p:cNvPr id="8" name="Text 4"/>
          <p:cNvSpPr txBox="1"/>
          <p:nvPr/>
        </p:nvSpPr>
        <p:spPr>
          <a:xfrm>
            <a:off x="1207008" y="3200400"/>
            <a:ext cx="1828800" cy="402336"/>
          </a:xfrm>
          <a:prstGeom prst="rect">
            <a:avLst/>
          </a:prstGeom>
          <a:noFill/>
          <a:ln/>
        </p:spPr>
        <p:txBody>
          <a:bodyPr wrap="square" lIns="0" tIns="0" rIns="0" bIns="0" rtlCol="0" anchor="ctr"/>
          <a:lstStyle/>
          <a:p>
            <a:pPr indent="0" marL="0">
              <a:buNone/>
            </a:pPr>
            <a:r>
              <a:rPr lang="en-US" sz="1600" b="1" dirty="0">
                <a:solidFill>
                  <a:schemeClr val="bg1"/>
                </a:solidFill>
              </a:rPr>
              <a:t>Problem</a:t>
            </a:r>
            <a:endParaRPr lang="en-US" sz="1600" dirty="0"/>
          </a:p>
        </p:txBody>
      </p:sp>
      <p:sp>
        <p:nvSpPr>
          <p:cNvPr id="9" name="Text 5"/>
          <p:cNvSpPr txBox="1"/>
          <p:nvPr/>
        </p:nvSpPr>
        <p:spPr>
          <a:xfrm>
            <a:off x="731520" y="3749040"/>
            <a:ext cx="2286000" cy="914400"/>
          </a:xfrm>
          <a:prstGeom prst="rect">
            <a:avLst/>
          </a:prstGeom>
          <a:noFill/>
          <a:ln/>
        </p:spPr>
        <p:txBody>
          <a:bodyPr wrap="square" lIns="0" tIns="0" rIns="0" bIns="0" rtlCol="0" anchor="t"/>
          <a:lstStyle/>
          <a:p>
            <a:pPr indent="0" marL="0">
              <a:buNone/>
            </a:pPr>
            <a:r>
              <a:rPr lang="en-US" sz="1300" dirty="0">
                <a:solidFill>
                  <a:srgbClr val="DDE3EC"/>
                </a:solidFill>
              </a:rPr>
              <a:t>Schools booking alone waste seats and money</a:t>
            </a:r>
            <a:endParaRPr lang="en-US" sz="1300" dirty="0"/>
          </a:p>
        </p:txBody>
      </p:sp>
      <p:sp>
        <p:nvSpPr>
          <p:cNvPr id="10" name="Result"/>
          <p:cNvSpPr/>
          <p:nvPr/>
        </p:nvSpPr>
        <p:spPr>
          <a:xfrm>
            <a:off x="3346704" y="3063240"/>
            <a:ext cx="2633472" cy="1691640"/>
          </a:xfrm>
          <a:prstGeom prst="roundRect">
            <a:avLst>
              <a:gd name="adj" fmla="val 6486"/>
            </a:avLst>
          </a:prstGeom>
          <a:solidFill>
            <a:srgbClr val="15305F"/>
          </a:solidFill>
          <a:ln w="9525">
            <a:solidFill>
              <a:srgbClr val="15305F"/>
            </a:solidFill>
            <a:prstDash val="solid"/>
          </a:ln>
        </p:spPr>
      </p:sp>
      <p:pic>
        <p:nvPicPr>
          <p:cNvPr id="11" name="Image 2" descr="Result">    </p:cNvPr>
          <p:cNvPicPr>
            <a:picLocks noChangeAspect="1"/>
          </p:cNvPicPr>
          <p:nvPr/>
        </p:nvPicPr>
        <p:blipFill>
          <a:blip r:embed="rId3"/>
          <a:stretch>
            <a:fillRect/>
          </a:stretch>
        </p:blipFill>
        <p:spPr>
          <a:xfrm>
            <a:off x="3529584" y="3218688"/>
            <a:ext cx="365760" cy="365760"/>
          </a:xfrm>
          <a:prstGeom prst="rect">
            <a:avLst/>
          </a:prstGeom>
        </p:spPr>
      </p:pic>
      <p:sp>
        <p:nvSpPr>
          <p:cNvPr id="12" name="Text 7"/>
          <p:cNvSpPr txBox="1"/>
          <p:nvPr/>
        </p:nvSpPr>
        <p:spPr>
          <a:xfrm>
            <a:off x="4005072" y="3200400"/>
            <a:ext cx="1828800" cy="402336"/>
          </a:xfrm>
          <a:prstGeom prst="rect">
            <a:avLst/>
          </a:prstGeom>
          <a:noFill/>
          <a:ln/>
        </p:spPr>
        <p:txBody>
          <a:bodyPr wrap="square" lIns="0" tIns="0" rIns="0" bIns="0" rtlCol="0" anchor="ctr"/>
          <a:lstStyle/>
          <a:p>
            <a:pPr indent="0" marL="0">
              <a:buNone/>
            </a:pPr>
            <a:r>
              <a:rPr lang="en-US" sz="1600" b="1" dirty="0">
                <a:solidFill>
                  <a:schemeClr val="bg1"/>
                </a:solidFill>
              </a:rPr>
              <a:t>Result</a:t>
            </a:r>
            <a:endParaRPr lang="en-US" sz="1600" dirty="0"/>
          </a:p>
        </p:txBody>
      </p:sp>
      <p:sp>
        <p:nvSpPr>
          <p:cNvPr id="13" name="Text 8"/>
          <p:cNvSpPr txBox="1"/>
          <p:nvPr/>
        </p:nvSpPr>
        <p:spPr>
          <a:xfrm>
            <a:off x="3529584" y="3749040"/>
            <a:ext cx="2286000" cy="914400"/>
          </a:xfrm>
          <a:prstGeom prst="rect">
            <a:avLst/>
          </a:prstGeom>
          <a:noFill/>
          <a:ln/>
        </p:spPr>
        <p:txBody>
          <a:bodyPr wrap="square" lIns="0" tIns="0" rIns="0" bIns="0" rtlCol="0" anchor="t"/>
          <a:lstStyle/>
          <a:p>
            <a:pPr indent="0" marL="0">
              <a:buNone/>
            </a:pPr>
            <a:r>
              <a:rPr lang="en-US" sz="1300" dirty="0">
                <a:solidFill>
                  <a:srgbClr val="DDE3EC"/>
                </a:solidFill>
              </a:rPr>
              <a:t>43.7% cheaper, 60 → 25 buses, proven optimal</a:t>
            </a:r>
            <a:endParaRPr lang="en-US" sz="1300" dirty="0"/>
          </a:p>
        </p:txBody>
      </p:sp>
      <p:sp>
        <p:nvSpPr>
          <p:cNvPr id="14" name="Contribution"/>
          <p:cNvSpPr/>
          <p:nvPr/>
        </p:nvSpPr>
        <p:spPr>
          <a:xfrm>
            <a:off x="6144768" y="3063240"/>
            <a:ext cx="2633472" cy="1691640"/>
          </a:xfrm>
          <a:prstGeom prst="roundRect">
            <a:avLst>
              <a:gd name="adj" fmla="val 6486"/>
            </a:avLst>
          </a:prstGeom>
          <a:solidFill>
            <a:srgbClr val="15305F"/>
          </a:solidFill>
          <a:ln w="9525">
            <a:solidFill>
              <a:srgbClr val="15305F"/>
            </a:solidFill>
            <a:prstDash val="solid"/>
          </a:ln>
        </p:spPr>
      </p:sp>
      <p:pic>
        <p:nvPicPr>
          <p:cNvPr id="15" name="Image 3" descr="Contribution">    </p:cNvPr>
          <p:cNvPicPr>
            <a:picLocks noChangeAspect="1"/>
          </p:cNvPicPr>
          <p:nvPr/>
        </p:nvPicPr>
        <p:blipFill>
          <a:blip r:embed="rId4"/>
          <a:stretch>
            <a:fillRect/>
          </a:stretch>
        </p:blipFill>
        <p:spPr>
          <a:xfrm>
            <a:off x="6327648" y="3218688"/>
            <a:ext cx="365760" cy="365760"/>
          </a:xfrm>
          <a:prstGeom prst="rect">
            <a:avLst/>
          </a:prstGeom>
        </p:spPr>
      </p:pic>
      <p:sp>
        <p:nvSpPr>
          <p:cNvPr id="16" name="Text 10"/>
          <p:cNvSpPr txBox="1"/>
          <p:nvPr/>
        </p:nvSpPr>
        <p:spPr>
          <a:xfrm>
            <a:off x="6803136" y="3200400"/>
            <a:ext cx="1828800" cy="402336"/>
          </a:xfrm>
          <a:prstGeom prst="rect">
            <a:avLst/>
          </a:prstGeom>
          <a:noFill/>
          <a:ln/>
        </p:spPr>
        <p:txBody>
          <a:bodyPr wrap="square" lIns="0" tIns="0" rIns="0" bIns="0" rtlCol="0" anchor="ctr"/>
          <a:lstStyle/>
          <a:p>
            <a:pPr indent="0" marL="0">
              <a:buNone/>
            </a:pPr>
            <a:r>
              <a:rPr lang="en-US" sz="1600" b="1" dirty="0">
                <a:solidFill>
                  <a:schemeClr val="bg1"/>
                </a:solidFill>
              </a:rPr>
              <a:t>Contribution</a:t>
            </a:r>
            <a:endParaRPr lang="en-US" sz="1600" dirty="0"/>
          </a:p>
        </p:txBody>
      </p:sp>
      <p:sp>
        <p:nvSpPr>
          <p:cNvPr id="17" name="Text 11"/>
          <p:cNvSpPr txBox="1"/>
          <p:nvPr/>
        </p:nvSpPr>
        <p:spPr>
          <a:xfrm>
            <a:off x="6327648" y="3749040"/>
            <a:ext cx="2286000" cy="914400"/>
          </a:xfrm>
          <a:prstGeom prst="rect">
            <a:avLst/>
          </a:prstGeom>
          <a:noFill/>
          <a:ln/>
        </p:spPr>
        <p:txBody>
          <a:bodyPr wrap="square" lIns="0" tIns="0" rIns="0" bIns="0" rtlCol="0" anchor="t"/>
          <a:lstStyle/>
          <a:p>
            <a:pPr indent="0" marL="0">
              <a:buNone/>
            </a:pPr>
            <a:r>
              <a:rPr lang="en-US" sz="1300" dirty="0">
                <a:solidFill>
                  <a:srgbClr val="DDE3EC"/>
                </a:solidFill>
              </a:rPr>
              <a:t>Exact + routing optimisation, independent checks, any schools and venue</a:t>
            </a:r>
            <a:endParaRPr lang="en-US" sz="1300" dirty="0"/>
          </a:p>
        </p:txBody>
      </p:sp>
      <p:sp>
        <p:nvSpPr>
          <p:cNvPr id="18" name="Next step"/>
          <p:cNvSpPr/>
          <p:nvPr/>
        </p:nvSpPr>
        <p:spPr>
          <a:xfrm>
            <a:off x="8942832" y="3063240"/>
            <a:ext cx="2633472" cy="1691640"/>
          </a:xfrm>
          <a:prstGeom prst="roundRect">
            <a:avLst>
              <a:gd name="adj" fmla="val 6486"/>
            </a:avLst>
          </a:prstGeom>
          <a:solidFill>
            <a:srgbClr val="15305F"/>
          </a:solidFill>
          <a:ln w="9525">
            <a:solidFill>
              <a:srgbClr val="15305F"/>
            </a:solidFill>
            <a:prstDash val="solid"/>
          </a:ln>
        </p:spPr>
      </p:sp>
      <p:pic>
        <p:nvPicPr>
          <p:cNvPr id="19" name="Image 4" descr="Next step">    </p:cNvPr>
          <p:cNvPicPr>
            <a:picLocks noChangeAspect="1"/>
          </p:cNvPicPr>
          <p:nvPr/>
        </p:nvPicPr>
        <p:blipFill>
          <a:blip r:embed="rId5"/>
          <a:stretch>
            <a:fillRect/>
          </a:stretch>
        </p:blipFill>
        <p:spPr>
          <a:xfrm>
            <a:off x="9125712" y="3218688"/>
            <a:ext cx="365760" cy="365760"/>
          </a:xfrm>
          <a:prstGeom prst="rect">
            <a:avLst/>
          </a:prstGeom>
        </p:spPr>
      </p:pic>
      <p:sp>
        <p:nvSpPr>
          <p:cNvPr id="20" name="Text 13"/>
          <p:cNvSpPr txBox="1"/>
          <p:nvPr/>
        </p:nvSpPr>
        <p:spPr>
          <a:xfrm>
            <a:off x="9601200" y="3200400"/>
            <a:ext cx="1828800" cy="402336"/>
          </a:xfrm>
          <a:prstGeom prst="rect">
            <a:avLst/>
          </a:prstGeom>
          <a:noFill/>
          <a:ln/>
        </p:spPr>
        <p:txBody>
          <a:bodyPr wrap="square" lIns="0" tIns="0" rIns="0" bIns="0" rtlCol="0" anchor="ctr"/>
          <a:lstStyle/>
          <a:p>
            <a:pPr indent="0" marL="0">
              <a:buNone/>
            </a:pPr>
            <a:r>
              <a:rPr lang="en-US" sz="1600" b="1" dirty="0">
                <a:solidFill>
                  <a:schemeClr val="bg1"/>
                </a:solidFill>
              </a:rPr>
              <a:t>Next step</a:t>
            </a:r>
            <a:endParaRPr lang="en-US" sz="1600" dirty="0"/>
          </a:p>
        </p:txBody>
      </p:sp>
      <p:sp>
        <p:nvSpPr>
          <p:cNvPr id="21" name="Text 14"/>
          <p:cNvSpPr txBox="1"/>
          <p:nvPr/>
        </p:nvSpPr>
        <p:spPr>
          <a:xfrm>
            <a:off x="9125712" y="3749040"/>
            <a:ext cx="2286000" cy="914400"/>
          </a:xfrm>
          <a:prstGeom prst="rect">
            <a:avLst/>
          </a:prstGeom>
          <a:noFill/>
          <a:ln/>
        </p:spPr>
        <p:txBody>
          <a:bodyPr wrap="square" lIns="0" tIns="0" rIns="0" bIns="0" rtlCol="0" anchor="t"/>
          <a:lstStyle/>
          <a:p>
            <a:pPr indent="0" marL="0">
              <a:buNone/>
            </a:pPr>
            <a:r>
              <a:rPr lang="en-US" sz="1300" dirty="0">
                <a:solidFill>
                  <a:srgbClr val="DDE3EC"/>
                </a:solidFill>
              </a:rPr>
              <a:t>Pilot with a Welsh organiser; collect feedback</a:t>
            </a:r>
            <a:endParaRPr lang="en-US" sz="1300" dirty="0"/>
          </a:p>
        </p:txBody>
      </p:sp>
      <p:sp>
        <p:nvSpPr>
          <p:cNvPr id="22" name="Text 15"/>
          <p:cNvSpPr txBox="1"/>
          <p:nvPr/>
        </p:nvSpPr>
        <p:spPr>
          <a:xfrm>
            <a:off x="548640" y="5257800"/>
            <a:ext cx="11064240" cy="640080"/>
          </a:xfrm>
          <a:prstGeom prst="rect">
            <a:avLst/>
          </a:prstGeom>
          <a:noFill/>
          <a:ln/>
        </p:spPr>
        <p:txBody>
          <a:bodyPr wrap="square" lIns="0" tIns="0" rIns="0" bIns="0" rtlCol="0" anchor="t"/>
          <a:lstStyle/>
          <a:p>
            <a:pPr indent="0" marL="0">
              <a:buNone/>
            </a:pPr>
            <a:r>
              <a:rPr lang="en-US" sz="3200" b="1" dirty="0">
                <a:solidFill>
                  <a:srgbClr val="FF5A6A"/>
                </a:solidFill>
              </a:rPr>
              <a:t>Thank you. Questions?</a:t>
            </a:r>
            <a:endParaRPr lang="en-US" sz="3200" dirty="0"/>
          </a:p>
        </p:txBody>
      </p:sp>
    </p:spTree>
  </p:cSld>
  <p:clrMapOvr>
    <a:masterClrMapping/>
  </p:clrMapOvr>
</p:sld>
</file>

<file path=ppt/theme/theme1.xml><?xml version="1.0" encoding="utf-8"?>
<a:theme xmlns:a="http://schemas.openxmlformats.org/drawingml/2006/main" name="Campus Cruise">
  <a:themeElements>
    <a:clrScheme name="Campus Cruise">
      <a:dk1>
        <a:srgbClr val="0B1F45"/>
      </a:dk1>
      <a:lt1>
        <a:srgbClr val="FFFFFF"/>
      </a:lt1>
      <a:dk2>
        <a:srgbClr val="334155"/>
      </a:dk2>
      <a:lt2>
        <a:srgbClr val="F5F7FA"/>
      </a:lt2>
      <a:accent1>
        <a:srgbClr val="D7192F"/>
      </a:accent1>
      <a:accent2>
        <a:srgbClr val="1F5FBF"/>
      </a:accent2>
      <a:accent3>
        <a:srgbClr val="2E9E4F"/>
      </a:accent3>
      <a:accent4>
        <a:srgbClr val="F29A1F"/>
      </a:accent4>
      <a:accent5>
        <a:srgbClr val="6B3FB5"/>
      </a:accent5>
      <a:accent6>
        <a:srgbClr val="64748B"/>
      </a:accent6>
      <a:hlink>
        <a:srgbClr val="1F5FBF"/>
      </a:hlink>
      <a:folHlink>
        <a:srgbClr val="6B3FB5"/>
      </a:folHlink>
    </a:clrScheme>
    <a:fontScheme name="Campus Cruis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Cruise - AI-Powered School Transport Optimisation</dc:title>
  <dc:subject>PptxGenJS Presentation</dc:subject>
  <dc:creator>Dhanush Kalapati, Samyaka Nadavala, Sathwika Orugonda</dc:creator>
  <cp:lastModifiedBy>Dhanush Kalapati, Samyaka Nadavala, Sathwika Orugonda</cp:lastModifiedBy>
  <cp:revision>1</cp:revision>
  <dcterms:created xsi:type="dcterms:W3CDTF">2026-10-28T01:22:21Z</dcterms:created>
  <dcterms:modified xsi:type="dcterms:W3CDTF">2026-10-28T01:22:21Z</dcterms:modified>
</cp:coreProperties>
</file>