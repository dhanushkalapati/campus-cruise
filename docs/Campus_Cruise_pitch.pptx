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4dfc050-6310-782f-b733-649766b6cc7e}">
          <p14:sldIdLst>
            <p14:sldId id="256"/>
          </p14:sldIdLst>
        </p14:section>
        <p14:section name="Problem and approach" id="{0d79d742-1fe8-7b30-1cef-1961d6cee214}">
          <p14:sldIdLst>
            <p14:sldId id="257"/>
            <p14:sldId id="258"/>
          </p14:sldIdLst>
        </p14:section>
        <p14:section name="Demo" id="{cae05c64-b458-547b-dc9b-f61a92e0b4b4}">
          <p14:sldIdLst>
            <p14:sldId id="259"/>
            <p14:sldId id="260"/>
          </p14:sldIdLst>
        </p14:section>
        <p14:section name="Results and trust" id="{7be2d095-44be-e001-5018-b59d3b14fffa}">
          <p14:sldIdLst>
            <p14:sldId id="261"/>
            <p14:sldId id="262"/>
          </p14:sldIdLst>
        </p14:section>
        <p14:section name="Responsible AI and impact" id="{6a282d09-349b-7f5e-f029-cee120868f6f}">
          <p14:sldIdLst>
            <p14:sldId id="263"/>
            <p14:sldId id="264"/>
          </p14:sldIdLst>
        </p14:section>
        <p14:section name="Close" id="{a40b8d21-3d58-1a4a-9b96-53f563f84b7f}">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2933"/>
                </a:solidFill>
                <a:latin typeface="+mn-lt"/>
              </a:defRPr>
            </a:pPr>
            <a:r>
              <a:rPr sz="1100" b="0" i="0" u="none" strike="noStrike">
                <a:solidFill>
                  <a:srgbClr val="1F2933"/>
                </a:solidFill>
                <a:latin typeface="+mn-lt"/>
              </a:rPr>
              <a:t>Saving vs one bus per school (%)</a:t>
            </a:r>
          </a:p>
        </c:rich>
      </c:tx>
      <c:layout/>
      <c:overlay val="0"/>
    </c:title>
    <c:autoTitleDeleted val="0"/>
    <c:plotArea>
      <c:layout/>
      <c:barChart>
        <c:barDir val="bar"/>
        <c:grouping val="clustered"/>
        <c:varyColors val="0"/>
        <c:ser>
          <c:idx val="0"/>
          <c:order val="0"/>
          <c:tx>
            <c:strRef>
              <c:f>Sheet1!$B$1</c:f>
              <c:strCache>
                <c:ptCount val="1"/>
                <c:pt idx="0">
                  <c:v>Saving vs one bus per school (%)</c:v>
                </c:pt>
              </c:strCache>
            </c:strRef>
          </c:tx>
          <c:spPr>
            <a:solidFill>
              <a:srgbClr val="D6453D"/>
            </a:solidFill>
            <a:effectLst/>
          </c:spPr>
          <c:invertIfNegative val="0"/>
          <c:dLbls>
            <c:numFmt formatCode="0.0&quot;%&quot;"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dPt>
            <c:idx val="0"/>
            <c:invertIfNegative val="0"/>
            <c:bubble3D val="0"/>
            <c:spPr>
              <a:solidFill>
                <a:srgbClr val="D6453D"/>
              </a:solidFill>
              <a:effectLst/>
            </c:spPr>
          </c:dPt>
          <c:dPt>
            <c:idx val="1"/>
            <c:invertIfNegative val="0"/>
            <c:bubble3D val="0"/>
            <c:spPr>
              <a:solidFill>
                <a:srgbClr val="3C6E9F"/>
              </a:solidFill>
              <a:effectLst/>
            </c:spPr>
          </c:dPt>
          <c:dPt>
            <c:idx val="2"/>
            <c:invertIfNegative val="0"/>
            <c:bubble3D val="0"/>
            <c:spPr>
              <a:solidFill>
                <a:srgbClr val="3C6E9F"/>
              </a:solidFill>
              <a:effectLst/>
            </c:spPr>
          </c:dPt>
          <c:cat>
            <c:multiLvlStrRef>
              <c:f>Sheet1!$A$2:$A$4</c:f>
              <c:multiLvlStrCache>
                <c:ptCount val="3"/>
                <c:lvl>
                  <c:pt idx="0">
                    <c:v>Fixed price</c:v>
                  </c:pt>
                  <c:pt idx="1">
                    <c:v>Distance</c:v>
                  </c:pt>
                  <c:pt idx="2">
                    <c:v>Travel time</c:v>
                  </c:pt>
                </c:lvl>
              </c:multiLvlStrCache>
            </c:multiLvlStrRef>
          </c:cat>
          <c:val>
            <c:numRef>
              <c:f>Sheet1!$B$2:$B$4</c:f>
              <c:numCache>
                <c:formatCode>General</c:formatCode>
                <c:ptCount val="3"/>
                <c:pt idx="0">
                  <c:v>43.7</c:v>
                </c:pt>
                <c:pt idx="1">
                  <c:v>28.6</c:v>
                </c:pt>
                <c:pt idx="2">
                  <c:v>18.9</c:v>
                </c:pt>
              </c:numCache>
            </c:numRef>
          </c:val>
        </c:ser>
        <c:dLbls>
          <c:numFmt formatCode="0.0&quot;%&quot;"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5B6670"/>
                </a:solidFill>
                <a:latin typeface="+mn-lt"/>
              </a:defRPr>
            </a:pPr>
            <a:endParaRPr lang="en-US"/>
          </a:p>
        </c:txPr>
        <c:crossAx val="2094734552"/>
        <c:crosses val="autoZero"/>
        <c:auto val="1"/>
        <c:lblAlgn val="ctr"/>
        <c:noMultiLvlLbl val="1"/>
      </c:catAx>
      <c:valAx>
        <c:axId val="2094734552"/>
        <c:scaling>
          <c:orientation val="minMax"/>
          <c:max val="5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(0:00-0:20): We're Campus Cruise. We help event organisers decide which schools share a bus, so that getting pupils to an event costs less and takes less guesswork.
Replace the team-name placeholders before the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(0:20-0:55): Sixty schools are sending 1,244 people to Principality Stadium. The simple plan is one bus per school: 60 buses. Sharing is cheaper, but there are far too many ways to group 60 schools to try by hand, and each group must stay together because one adult supervises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(0:55-1:35): The challenge prices buses three ways. For a fixed price per bus we use an exact constraint solver that can prove no cheaper plan exists. When the price depends on miles or driving time, the pickup order matters, so a vehicle-routing search improves the plan for five minutes. We label those honestly: best found, not proven cheapest.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WHILE CLICKING (1:35-3:05):
1. Fixed-price plan: 25 buses instead of 60, status proven optimal.
2. On the map each colour is one bus. Click a school: its bus, pickup order and cost share.
3. Now a change: CF15 brings 25 people and SA18 brings 20. The fixed model re-optimises by itself in a few seconds, and Compare shows the new cost and which schools moved. (Routing models instead show Optimisation required and wait for a click.) If asked: the result, 1,950, is labelled Feasible at 20 s (lower bound 1,935).
4. What-if: plus 10% attendance at every school, as a separate scenario. The current plan stays untouched until I tick the box and adopt it.
If the demo fails: say 'Let me show the recording', play clip A (and D), continue with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(3:05-3:50, live assistant or clip D): Organisers can also just type: 'NP11 now brings 15 people.' A language model turns that into a proposal, but it changes nothing. The app checks every school and number against the data, shows the exact change, and waits. Only when I approve does our optimiser run, and its plan is checked like any other. Ask it to put 60 people on one bus and it refuses, because a school group can't be split.
If asked about accuracy: offline, 30 test requests including deliberately wrong model outputs are all handled correctly by the guardrails. Live with GPT-4.1 mini (one run, 30 requests): request type right 24/30, approval offered exactly when expected 29/30.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(3:50-4:30): With a fixed price per bus, the plan costs 1,875 instead of 3,330, a 43.7% saving, with 25 buses instead of 60. That is provably the cheapest: 1,244 people need at least 25 fifty-seat buses. For the distance model we save 28.6%, and for road travel time 18.9%. Those two are the best plans found in five minutes, not proven minimums.
Costs are in cost units (the data states no currency). Baseline = every school rents its own cheapest bus. Costs from different models are not comparable. Figures: python benchmark.py, 2026-10-25.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(4:30-5:05): Every plan, whoever proposes it, is re-checked by separate code: every school on exactly one bus, no bus over capacity, every cost recalculated. A plan that fails can't be shown or exported. And when inputs change, the search starts from the previous plan, so schools only move when they must.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(5:05-5:45): Campus Cruise is decision support, not an autonomous system. The language model interprets and explains; the optimiser decides; people approve. We only use school-level counts, and we tell users exactly what leaves the computer. Next: if organisers record who needs a wheelchair space, the solver can guarantee those groups an accessible bus.
Data sent out: coordinates to the public OSRM routing server (time model, road paths); outcodes, head counts and plan figures to OpenAI when the assistant is used. No names. Both can be switched off. The six-principles table is in the Responsible AI tab and the README.
CHECK before the pitch: the one-word feature under each principle matches the app's Responsible AI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(5:45-6:40): Who gains? Event organisers get a checked plan in seconds, schools and pupils a lower cost to attend, Welsh coach operators a clear booking list, venues fewer coaches to park. The National Events Strategy for Wales wants events that consider cost to attend, tracks sustainable transport options, and starts from the Well-being of Future Generations Act. On the challenge data the fixed plan also cuts total bus-miles by about 39%, from about 1,290 to about 790 - straight-line miles, and we don't claim an emissions figure. Nobody has tested this at a real event yet, so we propose a pilot with one Welsh organiser: same inputs, both plans, compare cost, buses, mileage, planning time and feedback, with consent and school-level data only.
Quotes verified on gov.wales on 2026-10-24: https://www.gov.wales/national-events-strategy-wales-2022-2030-html. Do not imply Welsh Government endorsement.
CO-PRODUCTION (scored criterion): if you collect any real feedback before the pitch (teacher, trip organiser, HCCH mentor), add it here. Do not invent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(6:40-7:00): Campus Cruise: fewer buses, lower cost, and plans organisers can trust. Thank you.
Before the pitch: replace [TEAM TO CONFIRM other tools.] in the disclosure with any other AI tools used (EOI, slides, images) and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C_DARK">
    <p:bg>
      <p:bgPr>
        <a:solidFill>
          <a:srgbClr val="16202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C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3" name="Text 0"/>
          <p:cNvSpPr/>
          <p:nvPr/>
        </p:nvSpPr>
        <p:spPr>
          <a:xfrm>
            <a:off x="457200" y="4800600"/>
            <a:ext cx="6858000" cy="228600"/>
          </a:xfrm>
          <a:prstGeom prst="rect">
            <a:avLst/>
          </a:prstGeom>
          <a:noFill/>
          <a:ln/>
        </p:spPr>
        <p:txBody>
          <a:bodyPr wrap="square" lIns="0" tIns="0" rIns="0" bIns="0" rtlCol="0" anchor="ctr"/>
          <a:lstStyle/>
          <a:p>
            <a:pPr indent="0" marL="0">
              <a:buNone/>
            </a:pPr>
            <a:r>
              <a:rPr lang="en-US" sz="900" dirty="0">
                <a:solidFill>
                  <a:schemeClr val="accent6"/>
                </a:solidFill>
              </a:rPr>
              <a:t>Campus Cruise · AI Pollination Student Competition 2026 · Technical Challenge 2</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234440"/>
            <a:ext cx="4389120" cy="822960"/>
          </a:xfrm>
          <a:prstGeom prst="rect">
            <a:avLst/>
          </a:prstGeom>
          <a:noFill/>
          <a:ln/>
        </p:spPr>
        <p:txBody>
          <a:bodyPr wrap="square" lIns="0" tIns="0" rIns="0" bIns="0" rtlCol="0" anchor="ctr"/>
          <a:lstStyle/>
          <a:p>
            <a:pPr indent="0" marL="0">
              <a:buNone/>
            </a:pPr>
            <a:r>
              <a:rPr lang="en-US" sz="4400" b="1" dirty="0">
                <a:solidFill>
                  <a:schemeClr val="bg1"/>
                </a:solidFill>
              </a:rPr>
              <a:t>Campus Cruise</a:t>
            </a:r>
            <a:endParaRPr lang="en-US" sz="4400" dirty="0"/>
          </a:p>
        </p:txBody>
      </p:sp>
      <p:sp>
        <p:nvSpPr>
          <p:cNvPr id="3" name="Text 1"/>
          <p:cNvSpPr txBox="1"/>
          <p:nvPr/>
        </p:nvSpPr>
        <p:spPr>
          <a:xfrm>
            <a:off x="548640" y="2057400"/>
            <a:ext cx="4389120" cy="457200"/>
          </a:xfrm>
          <a:prstGeom prst="rect">
            <a:avLst/>
          </a:prstGeom>
          <a:noFill/>
          <a:ln/>
        </p:spPr>
        <p:txBody>
          <a:bodyPr wrap="square" lIns="0" tIns="0" rIns="0" bIns="0" rtlCol="0" anchor="ctr"/>
          <a:lstStyle/>
          <a:p>
            <a:pPr indent="0" marL="0">
              <a:buNone/>
            </a:pPr>
            <a:r>
              <a:rPr lang="en-US" sz="2200" i="1" dirty="0">
                <a:solidFill>
                  <a:schemeClr val="accent1"/>
                </a:solidFill>
              </a:rPr>
              <a:t>Where travel gets smarter</a:t>
            </a:r>
            <a:endParaRPr lang="en-US" sz="2200" dirty="0"/>
          </a:p>
        </p:txBody>
      </p:sp>
      <p:sp>
        <p:nvSpPr>
          <p:cNvPr id="4" name="Text 2"/>
          <p:cNvSpPr txBox="1"/>
          <p:nvPr/>
        </p:nvSpPr>
        <p:spPr>
          <a:xfrm>
            <a:off x="548640" y="2697480"/>
            <a:ext cx="4023360" cy="731520"/>
          </a:xfrm>
          <a:prstGeom prst="rect">
            <a:avLst/>
          </a:prstGeom>
          <a:noFill/>
          <a:ln/>
        </p:spPr>
        <p:txBody>
          <a:bodyPr wrap="square" lIns="0" tIns="0" rIns="0" bIns="0" rtlCol="0" anchor="ctr"/>
          <a:lstStyle/>
          <a:p>
            <a:pPr indent="0" marL="0">
              <a:buNone/>
            </a:pPr>
            <a:r>
              <a:rPr lang="en-US" sz="1500" dirty="0">
                <a:solidFill>
                  <a:srgbClr val="D5DAE0"/>
                </a:solidFill>
              </a:rPr>
              <a:t>Deciding which schools share a bus, so getting pupils to an event costs less and takes less guesswork.</a:t>
            </a:r>
            <a:endParaRPr lang="en-US" sz="1500" dirty="0"/>
          </a:p>
        </p:txBody>
      </p:sp>
      <p:sp>
        <p:nvSpPr>
          <p:cNvPr id="5" name="Text 3"/>
          <p:cNvSpPr txBox="1"/>
          <p:nvPr/>
        </p:nvSpPr>
        <p:spPr>
          <a:xfrm>
            <a:off x="548640" y="3977640"/>
            <a:ext cx="4389120" cy="274320"/>
          </a:xfrm>
          <a:prstGeom prst="rect">
            <a:avLst/>
          </a:prstGeom>
          <a:noFill/>
          <a:ln/>
        </p:spPr>
        <p:txBody>
          <a:bodyPr wrap="square" lIns="0" tIns="0" rIns="0" bIns="0" rtlCol="0" anchor="ctr"/>
          <a:lstStyle/>
          <a:p>
            <a:pPr indent="0" marL="0">
              <a:buNone/>
            </a:pPr>
            <a:r>
              <a:rPr lang="en-US" sz="1300" dirty="0">
                <a:solidFill>
                  <a:schemeClr val="bg1"/>
                </a:solidFill>
              </a:rPr>
              <a:t>[Team member 1]  ·  [Team member 2]  ·  [Team member 3]</a:t>
            </a:r>
            <a:endParaRPr lang="en-US" sz="1300" dirty="0"/>
          </a:p>
        </p:txBody>
      </p:sp>
      <p:sp>
        <p:nvSpPr>
          <p:cNvPr id="6" name="Text 4"/>
          <p:cNvSpPr txBox="1"/>
          <p:nvPr/>
        </p:nvSpPr>
        <p:spPr>
          <a:xfrm>
            <a:off x="548640" y="4297680"/>
            <a:ext cx="4754880" cy="274320"/>
          </a:xfrm>
          <a:prstGeom prst="rect">
            <a:avLst/>
          </a:prstGeom>
          <a:noFill/>
          <a:ln/>
        </p:spPr>
        <p:txBody>
          <a:bodyPr wrap="square" lIns="0" tIns="0" rIns="0" bIns="0" rtlCol="0" anchor="ctr"/>
          <a:lstStyle/>
          <a:p>
            <a:pPr indent="0" marL="0">
              <a:buNone/>
            </a:pPr>
            <a:r>
              <a:rPr lang="en-US" sz="1000" dirty="0">
                <a:solidFill>
                  <a:srgbClr val="AEB6BF"/>
                </a:solidFill>
              </a:rPr>
              <a:t>AI Pollination Student Competition 2026 · Technical Challenge 2: Travel Organizer</a:t>
            </a:r>
            <a:endParaRPr lang="en-US" sz="1000" dirty="0"/>
          </a:p>
        </p:txBody>
      </p:sp>
      <p:sp>
        <p:nvSpPr>
          <p:cNvPr id="7" name="Pickup SA6"/>
          <p:cNvSpPr/>
          <p:nvPr/>
        </p:nvSpPr>
        <p:spPr>
          <a:xfrm>
            <a:off x="5781257" y="2508142"/>
            <a:ext cx="160839" cy="160839"/>
          </a:xfrm>
          <a:prstGeom prst="ellipse">
            <a:avLst/>
          </a:prstGeom>
          <a:solidFill>
            <a:srgbClr val="D6453D">
              <a:alpha val="85000"/>
            </a:srgbClr>
          </a:solidFill>
          <a:ln w="6350">
            <a:solidFill>
              <a:srgbClr val="F5B7B2"/>
            </a:solidFill>
            <a:prstDash val="solid"/>
          </a:ln>
        </p:spPr>
      </p:sp>
      <p:sp>
        <p:nvSpPr>
          <p:cNvPr id="8" name="Pickup NP11"/>
          <p:cNvSpPr/>
          <p:nvPr/>
        </p:nvSpPr>
        <p:spPr>
          <a:xfrm>
            <a:off x="8025185" y="2656764"/>
            <a:ext cx="158500" cy="158500"/>
          </a:xfrm>
          <a:prstGeom prst="ellipse">
            <a:avLst/>
          </a:prstGeom>
          <a:solidFill>
            <a:srgbClr val="D6453D">
              <a:alpha val="85000"/>
            </a:srgbClr>
          </a:solidFill>
          <a:ln w="6350">
            <a:solidFill>
              <a:srgbClr val="F5B7B2"/>
            </a:solidFill>
            <a:prstDash val="solid"/>
          </a:ln>
        </p:spPr>
      </p:sp>
      <p:sp>
        <p:nvSpPr>
          <p:cNvPr id="9" name="Pickup SA14"/>
          <p:cNvSpPr/>
          <p:nvPr/>
        </p:nvSpPr>
        <p:spPr>
          <a:xfrm>
            <a:off x="5255133" y="2233916"/>
            <a:ext cx="171704" cy="171704"/>
          </a:xfrm>
          <a:prstGeom prst="ellipse">
            <a:avLst/>
          </a:prstGeom>
          <a:solidFill>
            <a:srgbClr val="D6453D">
              <a:alpha val="85000"/>
            </a:srgbClr>
          </a:solidFill>
          <a:ln w="6350">
            <a:solidFill>
              <a:srgbClr val="F5B7B2"/>
            </a:solidFill>
            <a:prstDash val="solid"/>
          </a:ln>
        </p:spPr>
      </p:sp>
      <p:sp>
        <p:nvSpPr>
          <p:cNvPr id="10" name="Pickup NP7"/>
          <p:cNvSpPr/>
          <p:nvPr/>
        </p:nvSpPr>
        <p:spPr>
          <a:xfrm>
            <a:off x="8357798" y="1801063"/>
            <a:ext cx="175728" cy="175728"/>
          </a:xfrm>
          <a:prstGeom prst="ellipse">
            <a:avLst/>
          </a:prstGeom>
          <a:solidFill>
            <a:srgbClr val="D6453D">
              <a:alpha val="85000"/>
            </a:srgbClr>
          </a:solidFill>
          <a:ln w="6350">
            <a:solidFill>
              <a:srgbClr val="F5B7B2"/>
            </a:solidFill>
            <a:prstDash val="solid"/>
          </a:ln>
        </p:spPr>
      </p:sp>
      <p:sp>
        <p:nvSpPr>
          <p:cNvPr id="11" name="Pickup SA13"/>
          <p:cNvSpPr/>
          <p:nvPr/>
        </p:nvSpPr>
        <p:spPr>
          <a:xfrm>
            <a:off x="6335860" y="2826070"/>
            <a:ext cx="167508" cy="167508"/>
          </a:xfrm>
          <a:prstGeom prst="ellipse">
            <a:avLst/>
          </a:prstGeom>
          <a:solidFill>
            <a:srgbClr val="D6453D">
              <a:alpha val="85000"/>
            </a:srgbClr>
          </a:solidFill>
          <a:ln w="6350">
            <a:solidFill>
              <a:srgbClr val="F5B7B2"/>
            </a:solidFill>
            <a:prstDash val="solid"/>
          </a:ln>
        </p:spPr>
      </p:sp>
      <p:sp>
        <p:nvSpPr>
          <p:cNvPr id="12" name="Pickup NP22"/>
          <p:cNvSpPr/>
          <p:nvPr/>
        </p:nvSpPr>
        <p:spPr>
          <a:xfrm>
            <a:off x="7670102" y="2079067"/>
            <a:ext cx="151064" cy="151064"/>
          </a:xfrm>
          <a:prstGeom prst="ellipse">
            <a:avLst/>
          </a:prstGeom>
          <a:solidFill>
            <a:srgbClr val="D6453D">
              <a:alpha val="85000"/>
            </a:srgbClr>
          </a:solidFill>
          <a:ln w="6350">
            <a:solidFill>
              <a:srgbClr val="F5B7B2"/>
            </a:solidFill>
            <a:prstDash val="solid"/>
          </a:ln>
        </p:spPr>
      </p:sp>
      <p:sp>
        <p:nvSpPr>
          <p:cNvPr id="13" name="Pickup SA5"/>
          <p:cNvSpPr/>
          <p:nvPr/>
        </p:nvSpPr>
        <p:spPr>
          <a:xfrm>
            <a:off x="5631310" y="2620237"/>
            <a:ext cx="185158" cy="185158"/>
          </a:xfrm>
          <a:prstGeom prst="ellipse">
            <a:avLst/>
          </a:prstGeom>
          <a:solidFill>
            <a:srgbClr val="D6453D">
              <a:alpha val="85000"/>
            </a:srgbClr>
          </a:solidFill>
          <a:ln w="6350">
            <a:solidFill>
              <a:srgbClr val="F5B7B2"/>
            </a:solidFill>
            <a:prstDash val="solid"/>
          </a:ln>
        </p:spPr>
      </p:sp>
      <p:sp>
        <p:nvSpPr>
          <p:cNvPr id="14" name="Pickup SA8"/>
          <p:cNvSpPr/>
          <p:nvPr/>
        </p:nvSpPr>
        <p:spPr>
          <a:xfrm>
            <a:off x="5994790" y="2301020"/>
            <a:ext cx="158500" cy="158500"/>
          </a:xfrm>
          <a:prstGeom prst="ellipse">
            <a:avLst/>
          </a:prstGeom>
          <a:solidFill>
            <a:srgbClr val="D6453D">
              <a:alpha val="85000"/>
            </a:srgbClr>
          </a:solidFill>
          <a:ln w="6350">
            <a:solidFill>
              <a:srgbClr val="F5B7B2"/>
            </a:solidFill>
            <a:prstDash val="solid"/>
          </a:ln>
        </p:spPr>
      </p:sp>
      <p:sp>
        <p:nvSpPr>
          <p:cNvPr id="15" name="Pickup CF83"/>
          <p:cNvSpPr/>
          <p:nvPr/>
        </p:nvSpPr>
        <p:spPr>
          <a:xfrm>
            <a:off x="7768302" y="2908033"/>
            <a:ext cx="177682" cy="177682"/>
          </a:xfrm>
          <a:prstGeom prst="ellipse">
            <a:avLst/>
          </a:prstGeom>
          <a:solidFill>
            <a:srgbClr val="D6453D">
              <a:alpha val="85000"/>
            </a:srgbClr>
          </a:solidFill>
          <a:ln w="6350">
            <a:solidFill>
              <a:srgbClr val="F5B7B2"/>
            </a:solidFill>
            <a:prstDash val="solid"/>
          </a:ln>
        </p:spPr>
      </p:sp>
      <p:sp>
        <p:nvSpPr>
          <p:cNvPr id="16" name="Pickup CF39"/>
          <p:cNvSpPr/>
          <p:nvPr/>
        </p:nvSpPr>
        <p:spPr>
          <a:xfrm>
            <a:off x="7182110" y="2847701"/>
            <a:ext cx="177682" cy="177682"/>
          </a:xfrm>
          <a:prstGeom prst="ellipse">
            <a:avLst/>
          </a:prstGeom>
          <a:solidFill>
            <a:srgbClr val="D6453D">
              <a:alpha val="85000"/>
            </a:srgbClr>
          </a:solidFill>
          <a:ln w="6350">
            <a:solidFill>
              <a:srgbClr val="F5B7B2"/>
            </a:solidFill>
            <a:prstDash val="solid"/>
          </a:ln>
        </p:spPr>
      </p:sp>
      <p:sp>
        <p:nvSpPr>
          <p:cNvPr id="17" name="Pickup NP8"/>
          <p:cNvSpPr/>
          <p:nvPr/>
        </p:nvSpPr>
        <p:spPr>
          <a:xfrm>
            <a:off x="7947353" y="1649290"/>
            <a:ext cx="183336" cy="183336"/>
          </a:xfrm>
          <a:prstGeom prst="ellipse">
            <a:avLst/>
          </a:prstGeom>
          <a:solidFill>
            <a:srgbClr val="D6453D">
              <a:alpha val="85000"/>
            </a:srgbClr>
          </a:solidFill>
          <a:ln w="6350">
            <a:solidFill>
              <a:srgbClr val="F5B7B2"/>
            </a:solidFill>
            <a:prstDash val="solid"/>
          </a:ln>
        </p:spPr>
      </p:sp>
      <p:sp>
        <p:nvSpPr>
          <p:cNvPr id="18" name="Pickup SA99"/>
          <p:cNvSpPr/>
          <p:nvPr/>
        </p:nvSpPr>
        <p:spPr>
          <a:xfrm>
            <a:off x="5704339" y="2524147"/>
            <a:ext cx="185158" cy="185158"/>
          </a:xfrm>
          <a:prstGeom prst="ellipse">
            <a:avLst/>
          </a:prstGeom>
          <a:solidFill>
            <a:srgbClr val="D6453D">
              <a:alpha val="85000"/>
            </a:srgbClr>
          </a:solidFill>
          <a:ln w="6350">
            <a:solidFill>
              <a:srgbClr val="F5B7B2"/>
            </a:solidFill>
            <a:prstDash val="solid"/>
          </a:ln>
        </p:spPr>
      </p:sp>
      <p:sp>
        <p:nvSpPr>
          <p:cNvPr id="19" name="Pickup LD3"/>
          <p:cNvSpPr/>
          <p:nvPr/>
        </p:nvSpPr>
        <p:spPr>
          <a:xfrm>
            <a:off x="7337762" y="1198708"/>
            <a:ext cx="181484" cy="181484"/>
          </a:xfrm>
          <a:prstGeom prst="ellipse">
            <a:avLst/>
          </a:prstGeom>
          <a:solidFill>
            <a:srgbClr val="D6453D">
              <a:alpha val="85000"/>
            </a:srgbClr>
          </a:solidFill>
          <a:ln w="6350">
            <a:solidFill>
              <a:srgbClr val="F5B7B2"/>
            </a:solidFill>
            <a:prstDash val="solid"/>
          </a:ln>
        </p:spPr>
      </p:sp>
      <p:sp>
        <p:nvSpPr>
          <p:cNvPr id="20" name="Pickup CF31"/>
          <p:cNvSpPr/>
          <p:nvPr/>
        </p:nvSpPr>
        <p:spPr>
          <a:xfrm>
            <a:off x="6756917" y="3271813"/>
            <a:ext cx="160839" cy="160839"/>
          </a:xfrm>
          <a:prstGeom prst="ellipse">
            <a:avLst/>
          </a:prstGeom>
          <a:solidFill>
            <a:srgbClr val="D6453D">
              <a:alpha val="85000"/>
            </a:srgbClr>
          </a:solidFill>
          <a:ln w="6350">
            <a:solidFill>
              <a:srgbClr val="F5B7B2"/>
            </a:solidFill>
            <a:prstDash val="solid"/>
          </a:ln>
        </p:spPr>
      </p:sp>
      <p:sp>
        <p:nvSpPr>
          <p:cNvPr id="21" name="Pickup SA1"/>
          <p:cNvSpPr/>
          <p:nvPr/>
        </p:nvSpPr>
        <p:spPr>
          <a:xfrm>
            <a:off x="5732451" y="2735331"/>
            <a:ext cx="158500" cy="158500"/>
          </a:xfrm>
          <a:prstGeom prst="ellipse">
            <a:avLst/>
          </a:prstGeom>
          <a:solidFill>
            <a:srgbClr val="D6453D">
              <a:alpha val="85000"/>
            </a:srgbClr>
          </a:solidFill>
          <a:ln w="6350">
            <a:solidFill>
              <a:srgbClr val="F5B7B2"/>
            </a:solidFill>
            <a:prstDash val="solid"/>
          </a:ln>
        </p:spPr>
      </p:sp>
      <p:sp>
        <p:nvSpPr>
          <p:cNvPr id="22" name="Pickup SA10"/>
          <p:cNvSpPr/>
          <p:nvPr/>
        </p:nvSpPr>
        <p:spPr>
          <a:xfrm>
            <a:off x="6112709" y="2442433"/>
            <a:ext cx="188714" cy="188714"/>
          </a:xfrm>
          <a:prstGeom prst="ellipse">
            <a:avLst/>
          </a:prstGeom>
          <a:solidFill>
            <a:srgbClr val="D6453D">
              <a:alpha val="85000"/>
            </a:srgbClr>
          </a:solidFill>
          <a:ln w="6350">
            <a:solidFill>
              <a:srgbClr val="F5B7B2"/>
            </a:solidFill>
            <a:prstDash val="solid"/>
          </a:ln>
        </p:spPr>
      </p:sp>
      <p:sp>
        <p:nvSpPr>
          <p:cNvPr id="23" name="Pickup SA9"/>
          <p:cNvSpPr/>
          <p:nvPr/>
        </p:nvSpPr>
        <p:spPr>
          <a:xfrm>
            <a:off x="6211627" y="2022871"/>
            <a:ext cx="171704" cy="171704"/>
          </a:xfrm>
          <a:prstGeom prst="ellipse">
            <a:avLst/>
          </a:prstGeom>
          <a:solidFill>
            <a:srgbClr val="D6453D">
              <a:alpha val="85000"/>
            </a:srgbClr>
          </a:solidFill>
          <a:ln w="6350">
            <a:solidFill>
              <a:srgbClr val="F5B7B2"/>
            </a:solidFill>
            <a:prstDash val="solid"/>
          </a:ln>
        </p:spPr>
      </p:sp>
      <p:sp>
        <p:nvSpPr>
          <p:cNvPr id="24" name="Pickup CF34"/>
          <p:cNvSpPr/>
          <p:nvPr/>
        </p:nvSpPr>
        <p:spPr>
          <a:xfrm>
            <a:off x="6557272" y="2816687"/>
            <a:ext cx="142839" cy="142839"/>
          </a:xfrm>
          <a:prstGeom prst="ellipse">
            <a:avLst/>
          </a:prstGeom>
          <a:solidFill>
            <a:srgbClr val="D6453D">
              <a:alpha val="85000"/>
            </a:srgbClr>
          </a:solidFill>
          <a:ln w="6350">
            <a:solidFill>
              <a:srgbClr val="F5B7B2"/>
            </a:solidFill>
            <a:prstDash val="solid"/>
          </a:ln>
        </p:spPr>
      </p:sp>
      <p:sp>
        <p:nvSpPr>
          <p:cNvPr id="25" name="Pickup NP20"/>
          <p:cNvSpPr/>
          <p:nvPr/>
        </p:nvSpPr>
        <p:spPr>
          <a:xfrm>
            <a:off x="8384828" y="2905747"/>
            <a:ext cx="148422" cy="148422"/>
          </a:xfrm>
          <a:prstGeom prst="ellipse">
            <a:avLst/>
          </a:prstGeom>
          <a:solidFill>
            <a:srgbClr val="D6453D">
              <a:alpha val="85000"/>
            </a:srgbClr>
          </a:solidFill>
          <a:ln w="6350">
            <a:solidFill>
              <a:srgbClr val="F5B7B2"/>
            </a:solidFill>
            <a:prstDash val="solid"/>
          </a:ln>
        </p:spPr>
      </p:sp>
      <p:sp>
        <p:nvSpPr>
          <p:cNvPr id="26" name="Pickup CF44"/>
          <p:cNvSpPr/>
          <p:nvPr/>
        </p:nvSpPr>
        <p:spPr>
          <a:xfrm>
            <a:off x="7093944" y="2313642"/>
            <a:ext cx="165339" cy="165339"/>
          </a:xfrm>
          <a:prstGeom prst="ellipse">
            <a:avLst/>
          </a:prstGeom>
          <a:solidFill>
            <a:srgbClr val="D6453D">
              <a:alpha val="85000"/>
            </a:srgbClr>
          </a:solidFill>
          <a:ln w="6350">
            <a:solidFill>
              <a:srgbClr val="F5B7B2"/>
            </a:solidFill>
            <a:prstDash val="solid"/>
          </a:ln>
        </p:spPr>
      </p:sp>
      <p:sp>
        <p:nvSpPr>
          <p:cNvPr id="27" name="Pickup SA11"/>
          <p:cNvSpPr/>
          <p:nvPr/>
        </p:nvSpPr>
        <p:spPr>
          <a:xfrm>
            <a:off x="6239481" y="2515305"/>
            <a:ext cx="158500" cy="158500"/>
          </a:xfrm>
          <a:prstGeom prst="ellipse">
            <a:avLst/>
          </a:prstGeom>
          <a:solidFill>
            <a:srgbClr val="D6453D">
              <a:alpha val="85000"/>
            </a:srgbClr>
          </a:solidFill>
          <a:ln w="6350">
            <a:solidFill>
              <a:srgbClr val="F5B7B2"/>
            </a:solidFill>
            <a:prstDash val="solid"/>
          </a:ln>
        </p:spPr>
      </p:sp>
      <p:sp>
        <p:nvSpPr>
          <p:cNvPr id="28" name="Pickup NP19"/>
          <p:cNvSpPr/>
          <p:nvPr/>
        </p:nvSpPr>
        <p:spPr>
          <a:xfrm>
            <a:off x="8491948" y="2900879"/>
            <a:ext cx="177682" cy="177682"/>
          </a:xfrm>
          <a:prstGeom prst="ellipse">
            <a:avLst/>
          </a:prstGeom>
          <a:solidFill>
            <a:srgbClr val="D6453D">
              <a:alpha val="85000"/>
            </a:srgbClr>
          </a:solidFill>
          <a:ln w="6350">
            <a:solidFill>
              <a:srgbClr val="F5B7B2"/>
            </a:solidFill>
            <a:prstDash val="solid"/>
          </a:ln>
        </p:spPr>
      </p:sp>
      <p:sp>
        <p:nvSpPr>
          <p:cNvPr id="29" name="Pickup CF36"/>
          <p:cNvSpPr/>
          <p:nvPr/>
        </p:nvSpPr>
        <p:spPr>
          <a:xfrm>
            <a:off x="6409453" y="3375896"/>
            <a:ext cx="169629" cy="169629"/>
          </a:xfrm>
          <a:prstGeom prst="ellipse">
            <a:avLst/>
          </a:prstGeom>
          <a:solidFill>
            <a:srgbClr val="D6453D">
              <a:alpha val="85000"/>
            </a:srgbClr>
          </a:solidFill>
          <a:ln w="6350">
            <a:solidFill>
              <a:srgbClr val="F5B7B2"/>
            </a:solidFill>
            <a:prstDash val="solid"/>
          </a:ln>
        </p:spPr>
      </p:sp>
      <p:sp>
        <p:nvSpPr>
          <p:cNvPr id="30" name="Pickup CF37"/>
          <p:cNvSpPr/>
          <p:nvPr/>
        </p:nvSpPr>
        <p:spPr>
          <a:xfrm>
            <a:off x="7448076" y="2839548"/>
            <a:ext cx="163117" cy="163117"/>
          </a:xfrm>
          <a:prstGeom prst="ellipse">
            <a:avLst/>
          </a:prstGeom>
          <a:solidFill>
            <a:srgbClr val="D6453D">
              <a:alpha val="85000"/>
            </a:srgbClr>
          </a:solidFill>
          <a:ln w="6350">
            <a:solidFill>
              <a:srgbClr val="F5B7B2"/>
            </a:solidFill>
            <a:prstDash val="solid"/>
          </a:ln>
        </p:spPr>
      </p:sp>
      <p:sp>
        <p:nvSpPr>
          <p:cNvPr id="31" name="Pickup SA2"/>
          <p:cNvSpPr/>
          <p:nvPr/>
        </p:nvSpPr>
        <p:spPr>
          <a:xfrm>
            <a:off x="5584814" y="2785794"/>
            <a:ext cx="126376" cy="126376"/>
          </a:xfrm>
          <a:prstGeom prst="ellipse">
            <a:avLst/>
          </a:prstGeom>
          <a:solidFill>
            <a:srgbClr val="D6453D">
              <a:alpha val="85000"/>
            </a:srgbClr>
          </a:solidFill>
          <a:ln w="6350">
            <a:solidFill>
              <a:srgbClr val="F5B7B2"/>
            </a:solidFill>
            <a:prstDash val="solid"/>
          </a:ln>
        </p:spPr>
      </p:sp>
      <p:sp>
        <p:nvSpPr>
          <p:cNvPr id="32" name="Pickup CF47"/>
          <p:cNvSpPr/>
          <p:nvPr/>
        </p:nvSpPr>
        <p:spPr>
          <a:xfrm>
            <a:off x="7321655" y="2152095"/>
            <a:ext cx="185158" cy="185158"/>
          </a:xfrm>
          <a:prstGeom prst="ellipse">
            <a:avLst/>
          </a:prstGeom>
          <a:solidFill>
            <a:srgbClr val="D6453D">
              <a:alpha val="85000"/>
            </a:srgbClr>
          </a:solidFill>
          <a:ln w="6350">
            <a:solidFill>
              <a:srgbClr val="F5B7B2"/>
            </a:solidFill>
            <a:prstDash val="solid"/>
          </a:ln>
        </p:spPr>
      </p:sp>
      <p:sp>
        <p:nvSpPr>
          <p:cNvPr id="33" name="Pickup CF72"/>
          <p:cNvSpPr/>
          <p:nvPr/>
        </p:nvSpPr>
        <p:spPr>
          <a:xfrm>
            <a:off x="7258132" y="3176994"/>
            <a:ext cx="158500" cy="158500"/>
          </a:xfrm>
          <a:prstGeom prst="ellipse">
            <a:avLst/>
          </a:prstGeom>
          <a:solidFill>
            <a:srgbClr val="D6453D">
              <a:alpha val="85000"/>
            </a:srgbClr>
          </a:solidFill>
          <a:ln w="6350">
            <a:solidFill>
              <a:srgbClr val="F5B7B2"/>
            </a:solidFill>
            <a:prstDash val="solid"/>
          </a:ln>
        </p:spPr>
      </p:sp>
      <p:sp>
        <p:nvSpPr>
          <p:cNvPr id="34" name="Pickup NP23"/>
          <p:cNvSpPr/>
          <p:nvPr/>
        </p:nvSpPr>
        <p:spPr>
          <a:xfrm>
            <a:off x="7852773" y="2024909"/>
            <a:ext cx="130051" cy="130051"/>
          </a:xfrm>
          <a:prstGeom prst="ellipse">
            <a:avLst/>
          </a:prstGeom>
          <a:solidFill>
            <a:srgbClr val="D6453D">
              <a:alpha val="85000"/>
            </a:srgbClr>
          </a:solidFill>
          <a:ln w="6350">
            <a:solidFill>
              <a:srgbClr val="F5B7B2"/>
            </a:solidFill>
            <a:prstDash val="solid"/>
          </a:ln>
        </p:spPr>
      </p:sp>
      <p:sp>
        <p:nvSpPr>
          <p:cNvPr id="35" name="Pickup CF46"/>
          <p:cNvSpPr/>
          <p:nvPr/>
        </p:nvSpPr>
        <p:spPr>
          <a:xfrm>
            <a:off x="7528162" y="2543572"/>
            <a:ext cx="193853" cy="193853"/>
          </a:xfrm>
          <a:prstGeom prst="ellipse">
            <a:avLst/>
          </a:prstGeom>
          <a:solidFill>
            <a:srgbClr val="D6453D">
              <a:alpha val="85000"/>
            </a:srgbClr>
          </a:solidFill>
          <a:ln w="6350">
            <a:solidFill>
              <a:srgbClr val="F5B7B2"/>
            </a:solidFill>
            <a:prstDash val="solid"/>
          </a:ln>
        </p:spPr>
      </p:sp>
      <p:sp>
        <p:nvSpPr>
          <p:cNvPr id="36" name="Pickup CF42"/>
          <p:cNvSpPr/>
          <p:nvPr/>
        </p:nvSpPr>
        <p:spPr>
          <a:xfrm>
            <a:off x="6933231" y="2569708"/>
            <a:ext cx="118135" cy="118135"/>
          </a:xfrm>
          <a:prstGeom prst="ellipse">
            <a:avLst/>
          </a:prstGeom>
          <a:solidFill>
            <a:srgbClr val="D6453D">
              <a:alpha val="85000"/>
            </a:srgbClr>
          </a:solidFill>
          <a:ln w="6350">
            <a:solidFill>
              <a:srgbClr val="F5B7B2"/>
            </a:solidFill>
            <a:prstDash val="solid"/>
          </a:ln>
        </p:spPr>
      </p:sp>
      <p:sp>
        <p:nvSpPr>
          <p:cNvPr id="37" name="Pickup SA3"/>
          <p:cNvSpPr/>
          <p:nvPr/>
        </p:nvSpPr>
        <p:spPr>
          <a:xfrm>
            <a:off x="5421035" y="2944171"/>
            <a:ext cx="151064" cy="151064"/>
          </a:xfrm>
          <a:prstGeom prst="ellipse">
            <a:avLst/>
          </a:prstGeom>
          <a:solidFill>
            <a:srgbClr val="D6453D">
              <a:alpha val="85000"/>
            </a:srgbClr>
          </a:solidFill>
          <a:ln w="6350">
            <a:solidFill>
              <a:srgbClr val="F5B7B2"/>
            </a:solidFill>
            <a:prstDash val="solid"/>
          </a:ln>
        </p:spPr>
      </p:sp>
      <p:sp>
        <p:nvSpPr>
          <p:cNvPr id="38" name="Pickup SA7"/>
          <p:cNvSpPr/>
          <p:nvPr/>
        </p:nvSpPr>
        <p:spPr>
          <a:xfrm>
            <a:off x="5870523" y="2551978"/>
            <a:ext cx="177682" cy="177682"/>
          </a:xfrm>
          <a:prstGeom prst="ellipse">
            <a:avLst/>
          </a:prstGeom>
          <a:solidFill>
            <a:srgbClr val="D6453D">
              <a:alpha val="85000"/>
            </a:srgbClr>
          </a:solidFill>
          <a:ln w="6350">
            <a:solidFill>
              <a:srgbClr val="F5B7B2"/>
            </a:solidFill>
            <a:prstDash val="solid"/>
          </a:ln>
        </p:spPr>
      </p:sp>
      <p:sp>
        <p:nvSpPr>
          <p:cNvPr id="39" name="Pickup NP18"/>
          <p:cNvSpPr/>
          <p:nvPr/>
        </p:nvSpPr>
        <p:spPr>
          <a:xfrm>
            <a:off x="8565548" y="2820628"/>
            <a:ext cx="151064" cy="151064"/>
          </a:xfrm>
          <a:prstGeom prst="ellipse">
            <a:avLst/>
          </a:prstGeom>
          <a:solidFill>
            <a:srgbClr val="D6453D">
              <a:alpha val="85000"/>
            </a:srgbClr>
          </a:solidFill>
          <a:ln w="6350">
            <a:solidFill>
              <a:srgbClr val="F5B7B2"/>
            </a:solidFill>
            <a:prstDash val="solid"/>
          </a:ln>
        </p:spPr>
      </p:sp>
      <p:sp>
        <p:nvSpPr>
          <p:cNvPr id="40" name="Pickup CF32"/>
          <p:cNvSpPr/>
          <p:nvPr/>
        </p:nvSpPr>
        <p:spPr>
          <a:xfrm>
            <a:off x="6727489" y="3025532"/>
            <a:ext cx="186950" cy="186950"/>
          </a:xfrm>
          <a:prstGeom prst="ellipse">
            <a:avLst/>
          </a:prstGeom>
          <a:solidFill>
            <a:srgbClr val="D6453D">
              <a:alpha val="85000"/>
            </a:srgbClr>
          </a:solidFill>
          <a:ln w="6350">
            <a:solidFill>
              <a:srgbClr val="F5B7B2"/>
            </a:solidFill>
            <a:prstDash val="solid"/>
          </a:ln>
        </p:spPr>
      </p:sp>
      <p:sp>
        <p:nvSpPr>
          <p:cNvPr id="41" name="Pickup CF33"/>
          <p:cNvSpPr/>
          <p:nvPr/>
        </p:nvSpPr>
        <p:spPr>
          <a:xfrm>
            <a:off x="6437950" y="3201798"/>
            <a:ext cx="148422" cy="148422"/>
          </a:xfrm>
          <a:prstGeom prst="ellipse">
            <a:avLst/>
          </a:prstGeom>
          <a:solidFill>
            <a:srgbClr val="D6453D">
              <a:alpha val="85000"/>
            </a:srgbClr>
          </a:solidFill>
          <a:ln w="6350">
            <a:solidFill>
              <a:srgbClr val="F5B7B2"/>
            </a:solidFill>
            <a:prstDash val="solid"/>
          </a:ln>
        </p:spPr>
      </p:sp>
      <p:sp>
        <p:nvSpPr>
          <p:cNvPr id="42" name="Pickup CF35"/>
          <p:cNvSpPr/>
          <p:nvPr/>
        </p:nvSpPr>
        <p:spPr>
          <a:xfrm>
            <a:off x="6903900" y="3205301"/>
            <a:ext cx="167508" cy="167508"/>
          </a:xfrm>
          <a:prstGeom prst="ellipse">
            <a:avLst/>
          </a:prstGeom>
          <a:solidFill>
            <a:srgbClr val="D6453D">
              <a:alpha val="85000"/>
            </a:srgbClr>
          </a:solidFill>
          <a:ln w="6350">
            <a:solidFill>
              <a:srgbClr val="F5B7B2"/>
            </a:solidFill>
            <a:prstDash val="solid"/>
          </a:ln>
        </p:spPr>
      </p:sp>
      <p:sp>
        <p:nvSpPr>
          <p:cNvPr id="43" name="Pickup CF15"/>
          <p:cNvSpPr/>
          <p:nvPr/>
        </p:nvSpPr>
        <p:spPr>
          <a:xfrm>
            <a:off x="7653156" y="3186307"/>
            <a:ext cx="107995" cy="107995"/>
          </a:xfrm>
          <a:prstGeom prst="ellipse">
            <a:avLst/>
          </a:prstGeom>
          <a:solidFill>
            <a:srgbClr val="D6453D">
              <a:alpha val="85000"/>
            </a:srgbClr>
          </a:solidFill>
          <a:ln w="6350">
            <a:solidFill>
              <a:srgbClr val="F5B7B2"/>
            </a:solidFill>
            <a:prstDash val="solid"/>
          </a:ln>
        </p:spPr>
      </p:sp>
      <p:sp>
        <p:nvSpPr>
          <p:cNvPr id="44" name="Pickup SA15"/>
          <p:cNvSpPr/>
          <p:nvPr/>
        </p:nvSpPr>
        <p:spPr>
          <a:xfrm>
            <a:off x="5088312" y="2403779"/>
            <a:ext cx="156096" cy="156096"/>
          </a:xfrm>
          <a:prstGeom prst="ellipse">
            <a:avLst/>
          </a:prstGeom>
          <a:solidFill>
            <a:srgbClr val="D6453D">
              <a:alpha val="85000"/>
            </a:srgbClr>
          </a:solidFill>
          <a:ln w="6350">
            <a:solidFill>
              <a:srgbClr val="F5B7B2"/>
            </a:solidFill>
            <a:prstDash val="solid"/>
          </a:ln>
        </p:spPr>
      </p:sp>
      <p:sp>
        <p:nvSpPr>
          <p:cNvPr id="45" name="Pickup CF81"/>
          <p:cNvSpPr/>
          <p:nvPr/>
        </p:nvSpPr>
        <p:spPr>
          <a:xfrm>
            <a:off x="7707133" y="2395065"/>
            <a:ext cx="153619" cy="153619"/>
          </a:xfrm>
          <a:prstGeom prst="ellipse">
            <a:avLst/>
          </a:prstGeom>
          <a:solidFill>
            <a:srgbClr val="D6453D">
              <a:alpha val="85000"/>
            </a:srgbClr>
          </a:solidFill>
          <a:ln w="6350">
            <a:solidFill>
              <a:srgbClr val="F5B7B2"/>
            </a:solidFill>
            <a:prstDash val="solid"/>
          </a:ln>
        </p:spPr>
      </p:sp>
      <p:sp>
        <p:nvSpPr>
          <p:cNvPr id="46" name="Pickup CF62"/>
          <p:cNvSpPr/>
          <p:nvPr/>
        </p:nvSpPr>
        <p:spPr>
          <a:xfrm>
            <a:off x="7511013" y="3746376"/>
            <a:ext cx="169629" cy="169629"/>
          </a:xfrm>
          <a:prstGeom prst="ellipse">
            <a:avLst/>
          </a:prstGeom>
          <a:solidFill>
            <a:srgbClr val="D6453D">
              <a:alpha val="85000"/>
            </a:srgbClr>
          </a:solidFill>
          <a:ln w="6350">
            <a:solidFill>
              <a:srgbClr val="F5B7B2"/>
            </a:solidFill>
            <a:prstDash val="solid"/>
          </a:ln>
        </p:spPr>
      </p:sp>
      <p:sp>
        <p:nvSpPr>
          <p:cNvPr id="47" name="Pickup CF71"/>
          <p:cNvSpPr/>
          <p:nvPr/>
        </p:nvSpPr>
        <p:spPr>
          <a:xfrm>
            <a:off x="7084476" y="3479502"/>
            <a:ext cx="183336" cy="183336"/>
          </a:xfrm>
          <a:prstGeom prst="ellipse">
            <a:avLst/>
          </a:prstGeom>
          <a:solidFill>
            <a:srgbClr val="D6453D">
              <a:alpha val="85000"/>
            </a:srgbClr>
          </a:solidFill>
          <a:ln w="6350">
            <a:solidFill>
              <a:srgbClr val="F5B7B2"/>
            </a:solidFill>
            <a:prstDash val="solid"/>
          </a:ln>
        </p:spPr>
      </p:sp>
      <p:sp>
        <p:nvSpPr>
          <p:cNvPr id="48" name="Pickup CF82"/>
          <p:cNvSpPr/>
          <p:nvPr/>
        </p:nvSpPr>
        <p:spPr>
          <a:xfrm>
            <a:off x="7723707" y="2624196"/>
            <a:ext cx="158500" cy="158500"/>
          </a:xfrm>
          <a:prstGeom prst="ellipse">
            <a:avLst/>
          </a:prstGeom>
          <a:solidFill>
            <a:srgbClr val="D6453D">
              <a:alpha val="85000"/>
            </a:srgbClr>
          </a:solidFill>
          <a:ln w="6350">
            <a:solidFill>
              <a:srgbClr val="F5B7B2"/>
            </a:solidFill>
            <a:prstDash val="solid"/>
          </a:ln>
        </p:spPr>
      </p:sp>
      <p:sp>
        <p:nvSpPr>
          <p:cNvPr id="49" name="Pickup CF43"/>
          <p:cNvSpPr/>
          <p:nvPr/>
        </p:nvSpPr>
        <p:spPr>
          <a:xfrm>
            <a:off x="7130375" y="2603242"/>
            <a:ext cx="139872" cy="139872"/>
          </a:xfrm>
          <a:prstGeom prst="ellipse">
            <a:avLst/>
          </a:prstGeom>
          <a:solidFill>
            <a:srgbClr val="D6453D">
              <a:alpha val="85000"/>
            </a:srgbClr>
          </a:solidFill>
          <a:ln w="6350">
            <a:solidFill>
              <a:srgbClr val="F5B7B2"/>
            </a:solidFill>
            <a:prstDash val="solid"/>
          </a:ln>
        </p:spPr>
      </p:sp>
      <p:sp>
        <p:nvSpPr>
          <p:cNvPr id="50" name="Pickup CF45"/>
          <p:cNvSpPr/>
          <p:nvPr/>
        </p:nvSpPr>
        <p:spPr>
          <a:xfrm>
            <a:off x="7363552" y="2531657"/>
            <a:ext cx="173736" cy="173736"/>
          </a:xfrm>
          <a:prstGeom prst="ellipse">
            <a:avLst/>
          </a:prstGeom>
          <a:solidFill>
            <a:srgbClr val="D6453D">
              <a:alpha val="85000"/>
            </a:srgbClr>
          </a:solidFill>
          <a:ln w="6350">
            <a:solidFill>
              <a:srgbClr val="F5B7B2"/>
            </a:solidFill>
            <a:prstDash val="solid"/>
          </a:ln>
        </p:spPr>
      </p:sp>
      <p:sp>
        <p:nvSpPr>
          <p:cNvPr id="51" name="Pickup NP13"/>
          <p:cNvSpPr/>
          <p:nvPr/>
        </p:nvSpPr>
        <p:spPr>
          <a:xfrm>
            <a:off x="7993873" y="2235698"/>
            <a:ext cx="165339" cy="165339"/>
          </a:xfrm>
          <a:prstGeom prst="ellipse">
            <a:avLst/>
          </a:prstGeom>
          <a:solidFill>
            <a:srgbClr val="D6453D">
              <a:alpha val="85000"/>
            </a:srgbClr>
          </a:solidFill>
          <a:ln w="6350">
            <a:solidFill>
              <a:srgbClr val="F5B7B2"/>
            </a:solidFill>
            <a:prstDash val="solid"/>
          </a:ln>
        </p:spPr>
      </p:sp>
      <p:sp>
        <p:nvSpPr>
          <p:cNvPr id="52" name="Pickup SA80"/>
          <p:cNvSpPr/>
          <p:nvPr/>
        </p:nvSpPr>
        <p:spPr>
          <a:xfrm>
            <a:off x="5773133" y="2633652"/>
            <a:ext cx="167508" cy="167508"/>
          </a:xfrm>
          <a:prstGeom prst="ellipse">
            <a:avLst/>
          </a:prstGeom>
          <a:solidFill>
            <a:srgbClr val="D6453D">
              <a:alpha val="85000"/>
            </a:srgbClr>
          </a:solidFill>
          <a:ln w="6350">
            <a:solidFill>
              <a:srgbClr val="F5B7B2"/>
            </a:solidFill>
            <a:prstDash val="solid"/>
          </a:ln>
        </p:spPr>
      </p:sp>
      <p:sp>
        <p:nvSpPr>
          <p:cNvPr id="53" name="Pickup NP44"/>
          <p:cNvSpPr/>
          <p:nvPr/>
        </p:nvSpPr>
        <p:spPr>
          <a:xfrm>
            <a:off x="8328360" y="2632451"/>
            <a:ext cx="139872" cy="139872"/>
          </a:xfrm>
          <a:prstGeom prst="ellipse">
            <a:avLst/>
          </a:prstGeom>
          <a:solidFill>
            <a:srgbClr val="D6453D">
              <a:alpha val="85000"/>
            </a:srgbClr>
          </a:solidFill>
          <a:ln w="6350">
            <a:solidFill>
              <a:srgbClr val="F5B7B2"/>
            </a:solidFill>
            <a:prstDash val="solid"/>
          </a:ln>
        </p:spPr>
      </p:sp>
      <p:sp>
        <p:nvSpPr>
          <p:cNvPr id="54" name="Pickup NP24"/>
          <p:cNvSpPr/>
          <p:nvPr/>
        </p:nvSpPr>
        <p:spPr>
          <a:xfrm>
            <a:off x="7699446" y="2291317"/>
            <a:ext cx="203524" cy="203524"/>
          </a:xfrm>
          <a:prstGeom prst="ellipse">
            <a:avLst/>
          </a:prstGeom>
          <a:solidFill>
            <a:srgbClr val="D6453D">
              <a:alpha val="85000"/>
            </a:srgbClr>
          </a:solidFill>
          <a:ln w="6350">
            <a:solidFill>
              <a:srgbClr val="F5B7B2"/>
            </a:solidFill>
            <a:prstDash val="solid"/>
          </a:ln>
        </p:spPr>
      </p:sp>
      <p:sp>
        <p:nvSpPr>
          <p:cNvPr id="55" name="Pickup SA12"/>
          <p:cNvSpPr/>
          <p:nvPr/>
        </p:nvSpPr>
        <p:spPr>
          <a:xfrm>
            <a:off x="6126859" y="2804168"/>
            <a:ext cx="188714" cy="188714"/>
          </a:xfrm>
          <a:prstGeom prst="ellipse">
            <a:avLst/>
          </a:prstGeom>
          <a:solidFill>
            <a:srgbClr val="D6453D">
              <a:alpha val="85000"/>
            </a:srgbClr>
          </a:solidFill>
          <a:ln w="6350">
            <a:solidFill>
              <a:srgbClr val="F5B7B2"/>
            </a:solidFill>
            <a:prstDash val="solid"/>
          </a:ln>
        </p:spPr>
      </p:sp>
      <p:sp>
        <p:nvSpPr>
          <p:cNvPr id="56" name="Pickup NP4"/>
          <p:cNvSpPr/>
          <p:nvPr/>
        </p:nvSpPr>
        <p:spPr>
          <a:xfrm>
            <a:off x="8256158" y="2303500"/>
            <a:ext cx="175728" cy="175728"/>
          </a:xfrm>
          <a:prstGeom prst="ellipse">
            <a:avLst/>
          </a:prstGeom>
          <a:solidFill>
            <a:srgbClr val="D6453D">
              <a:alpha val="85000"/>
            </a:srgbClr>
          </a:solidFill>
          <a:ln w="6350">
            <a:solidFill>
              <a:srgbClr val="F5B7B2"/>
            </a:solidFill>
            <a:prstDash val="solid"/>
          </a:ln>
        </p:spPr>
      </p:sp>
      <p:sp>
        <p:nvSpPr>
          <p:cNvPr id="57" name="Pickup NP12"/>
          <p:cNvSpPr/>
          <p:nvPr/>
        </p:nvSpPr>
        <p:spPr>
          <a:xfrm>
            <a:off x="7838278" y="2542488"/>
            <a:ext cx="156096" cy="156096"/>
          </a:xfrm>
          <a:prstGeom prst="ellipse">
            <a:avLst/>
          </a:prstGeom>
          <a:solidFill>
            <a:srgbClr val="D6453D">
              <a:alpha val="85000"/>
            </a:srgbClr>
          </a:solidFill>
          <a:ln w="6350">
            <a:solidFill>
              <a:srgbClr val="F5B7B2"/>
            </a:solidFill>
            <a:prstDash val="solid"/>
          </a:ln>
        </p:spPr>
      </p:sp>
      <p:sp>
        <p:nvSpPr>
          <p:cNvPr id="58" name="Pickup CF40"/>
          <p:cNvSpPr/>
          <p:nvPr/>
        </p:nvSpPr>
        <p:spPr>
          <a:xfrm>
            <a:off x="7108207" y="2754608"/>
            <a:ext cx="177682" cy="177682"/>
          </a:xfrm>
          <a:prstGeom prst="ellipse">
            <a:avLst/>
          </a:prstGeom>
          <a:solidFill>
            <a:srgbClr val="D6453D">
              <a:alpha val="85000"/>
            </a:srgbClr>
          </a:solidFill>
          <a:ln w="6350">
            <a:solidFill>
              <a:srgbClr val="F5B7B2"/>
            </a:solidFill>
            <a:prstDash val="solid"/>
          </a:ln>
        </p:spPr>
      </p:sp>
      <p:sp>
        <p:nvSpPr>
          <p:cNvPr id="59" name="Pickup CF48"/>
          <p:cNvSpPr/>
          <p:nvPr/>
        </p:nvSpPr>
        <p:spPr>
          <a:xfrm>
            <a:off x="7357448" y="2223240"/>
            <a:ext cx="133502" cy="133502"/>
          </a:xfrm>
          <a:prstGeom prst="ellipse">
            <a:avLst/>
          </a:prstGeom>
          <a:solidFill>
            <a:srgbClr val="D6453D">
              <a:alpha val="85000"/>
            </a:srgbClr>
          </a:solidFill>
          <a:ln w="6350">
            <a:solidFill>
              <a:srgbClr val="F5B7B2"/>
            </a:solidFill>
            <a:prstDash val="solid"/>
          </a:ln>
        </p:spPr>
      </p:sp>
      <p:sp>
        <p:nvSpPr>
          <p:cNvPr id="60" name="Pickup SA4"/>
          <p:cNvSpPr/>
          <p:nvPr/>
        </p:nvSpPr>
        <p:spPr>
          <a:xfrm>
            <a:off x="5419425" y="2517041"/>
            <a:ext cx="169629" cy="169629"/>
          </a:xfrm>
          <a:prstGeom prst="ellipse">
            <a:avLst/>
          </a:prstGeom>
          <a:solidFill>
            <a:srgbClr val="D6453D">
              <a:alpha val="85000"/>
            </a:srgbClr>
          </a:solidFill>
          <a:ln w="6350">
            <a:solidFill>
              <a:srgbClr val="F5B7B2"/>
            </a:solidFill>
            <a:prstDash val="solid"/>
          </a:ln>
        </p:spPr>
      </p:sp>
      <p:sp>
        <p:nvSpPr>
          <p:cNvPr id="61" name="Pickup CF41"/>
          <p:cNvSpPr/>
          <p:nvPr/>
        </p:nvSpPr>
        <p:spPr>
          <a:xfrm>
            <a:off x="7025049" y="2634152"/>
            <a:ext cx="171704" cy="171704"/>
          </a:xfrm>
          <a:prstGeom prst="ellipse">
            <a:avLst/>
          </a:prstGeom>
          <a:solidFill>
            <a:srgbClr val="D6453D">
              <a:alpha val="85000"/>
            </a:srgbClr>
          </a:solidFill>
          <a:ln w="6350">
            <a:solidFill>
              <a:srgbClr val="F5B7B2"/>
            </a:solidFill>
            <a:prstDash val="solid"/>
          </a:ln>
        </p:spPr>
      </p:sp>
      <p:sp>
        <p:nvSpPr>
          <p:cNvPr id="62" name="Pickup NP10"/>
          <p:cNvSpPr/>
          <p:nvPr/>
        </p:nvSpPr>
        <p:spPr>
          <a:xfrm>
            <a:off x="8278895" y="2973361"/>
            <a:ext cx="126376" cy="126376"/>
          </a:xfrm>
          <a:prstGeom prst="ellipse">
            <a:avLst/>
          </a:prstGeom>
          <a:solidFill>
            <a:srgbClr val="D6453D">
              <a:alpha val="85000"/>
            </a:srgbClr>
          </a:solidFill>
          <a:ln w="6350">
            <a:solidFill>
              <a:srgbClr val="F5B7B2"/>
            </a:solidFill>
            <a:prstDash val="solid"/>
          </a:ln>
        </p:spPr>
      </p:sp>
      <p:sp>
        <p:nvSpPr>
          <p:cNvPr id="63" name="Pickup CF63"/>
          <p:cNvSpPr/>
          <p:nvPr/>
        </p:nvSpPr>
        <p:spPr>
          <a:xfrm>
            <a:off x="7664325" y="3709478"/>
            <a:ext cx="167508" cy="167508"/>
          </a:xfrm>
          <a:prstGeom prst="ellipse">
            <a:avLst/>
          </a:prstGeom>
          <a:solidFill>
            <a:srgbClr val="D6453D">
              <a:alpha val="85000"/>
            </a:srgbClr>
          </a:solidFill>
          <a:ln w="6350">
            <a:solidFill>
              <a:srgbClr val="F5B7B2"/>
            </a:solidFill>
            <a:prstDash val="solid"/>
          </a:ln>
        </p:spPr>
      </p:sp>
      <p:sp>
        <p:nvSpPr>
          <p:cNvPr id="64" name="Pickup CF61"/>
          <p:cNvSpPr/>
          <p:nvPr/>
        </p:nvSpPr>
        <p:spPr>
          <a:xfrm>
            <a:off x="7031616" y="3729278"/>
            <a:ext cx="163117" cy="163117"/>
          </a:xfrm>
          <a:prstGeom prst="ellipse">
            <a:avLst/>
          </a:prstGeom>
          <a:solidFill>
            <a:srgbClr val="D6453D">
              <a:alpha val="85000"/>
            </a:srgbClr>
          </a:solidFill>
          <a:ln w="6350">
            <a:solidFill>
              <a:srgbClr val="F5B7B2"/>
            </a:solidFill>
            <a:prstDash val="solid"/>
          </a:ln>
        </p:spPr>
      </p:sp>
      <p:sp>
        <p:nvSpPr>
          <p:cNvPr id="65" name="Pickup SA18"/>
          <p:cNvSpPr/>
          <p:nvPr/>
        </p:nvSpPr>
        <p:spPr>
          <a:xfrm>
            <a:off x="5699003" y="1979682"/>
            <a:ext cx="107995" cy="107995"/>
          </a:xfrm>
          <a:prstGeom prst="ellipse">
            <a:avLst/>
          </a:prstGeom>
          <a:solidFill>
            <a:srgbClr val="D6453D">
              <a:alpha val="85000"/>
            </a:srgbClr>
          </a:solidFill>
          <a:ln w="6350">
            <a:solidFill>
              <a:srgbClr val="F5B7B2"/>
            </a:solidFill>
            <a:prstDash val="solid"/>
          </a:ln>
        </p:spPr>
      </p:sp>
      <p:sp>
        <p:nvSpPr>
          <p:cNvPr id="66" name="Pickup CF38"/>
          <p:cNvSpPr/>
          <p:nvPr/>
        </p:nvSpPr>
        <p:spPr>
          <a:xfrm>
            <a:off x="7454788" y="3037052"/>
            <a:ext cx="158500" cy="158500"/>
          </a:xfrm>
          <a:prstGeom prst="ellipse">
            <a:avLst/>
          </a:prstGeom>
          <a:solidFill>
            <a:srgbClr val="D6453D">
              <a:alpha val="85000"/>
            </a:srgbClr>
          </a:solidFill>
          <a:ln w="6350">
            <a:solidFill>
              <a:srgbClr val="F5B7B2"/>
            </a:solidFill>
            <a:prstDash val="solid"/>
          </a:ln>
        </p:spPr>
      </p:sp>
      <p:sp>
        <p:nvSpPr>
          <p:cNvPr id="67" name="Principality Stadium"/>
          <p:cNvSpPr/>
          <p:nvPr/>
        </p:nvSpPr>
        <p:spPr>
          <a:xfrm>
            <a:off x="7840803" y="3372952"/>
            <a:ext cx="237744" cy="237744"/>
          </a:xfrm>
          <a:prstGeom prst="star5">
            <a:avLst/>
          </a:prstGeom>
          <a:solidFill>
            <a:srgbClr val="F2A541"/>
          </a:solidFill>
          <a:ln w="9525">
            <a:solidFill>
              <a:srgbClr val="1F2933"/>
            </a:solidFill>
            <a:prstDash val="solid"/>
          </a:ln>
        </p:spPr>
      </p:sp>
      <p:sp>
        <p:nvSpPr>
          <p:cNvPr id="68" name="Text 66"/>
          <p:cNvSpPr txBox="1"/>
          <p:nvPr/>
        </p:nvSpPr>
        <p:spPr>
          <a:xfrm>
            <a:off x="5029200" y="4663440"/>
            <a:ext cx="3749040" cy="228600"/>
          </a:xfrm>
          <a:prstGeom prst="rect">
            <a:avLst/>
          </a:prstGeom>
          <a:noFill/>
          <a:ln/>
        </p:spPr>
        <p:txBody>
          <a:bodyPr wrap="square" lIns="0" tIns="0" rIns="0" bIns="0" rtlCol="0" anchor="ctr"/>
          <a:lstStyle/>
          <a:p>
            <a:pPr algn="ctr" indent="0" marL="0">
              <a:buNone/>
            </a:pPr>
            <a:r>
              <a:rPr lang="en-US" sz="1000" dirty="0">
                <a:solidFill>
                  <a:srgbClr val="AEB6BF"/>
                </a:solidFill>
              </a:rPr>
              <a:t>60 pickup points  ·  ★ Principality Stadium, Cardiff</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60 schools, 1,244 people, one stadium</a:t>
            </a:r>
            <a:endParaRPr lang="en-US" sz="3000" dirty="0"/>
          </a:p>
        </p:txBody>
      </p:sp>
      <p:sp>
        <p:nvSpPr>
          <p:cNvPr id="3" name="Stat schools to collect"/>
          <p:cNvSpPr/>
          <p:nvPr/>
        </p:nvSpPr>
        <p:spPr>
          <a:xfrm>
            <a:off x="457200" y="1143000"/>
            <a:ext cx="1874520" cy="1417320"/>
          </a:xfrm>
          <a:prstGeom prst="roundRect">
            <a:avLst>
              <a:gd name="adj" fmla="val 5161"/>
            </a:avLst>
          </a:prstGeom>
          <a:solidFill>
            <a:srgbClr val="F5F6F8"/>
          </a:solidFill>
          <a:ln w="12700">
            <a:solidFill>
              <a:srgbClr val="F5F6F8"/>
            </a:solidFill>
            <a:prstDash val="solid"/>
          </a:ln>
        </p:spPr>
      </p:sp>
      <p:sp>
        <p:nvSpPr>
          <p:cNvPr id="4" name="Text 2"/>
          <p:cNvSpPr txBox="1"/>
          <p:nvPr/>
        </p:nvSpPr>
        <p:spPr>
          <a:xfrm>
            <a:off x="594360" y="1261872"/>
            <a:ext cx="1600200" cy="685800"/>
          </a:xfrm>
          <a:prstGeom prst="rect">
            <a:avLst/>
          </a:prstGeom>
          <a:noFill/>
          <a:ln/>
        </p:spPr>
        <p:txBody>
          <a:bodyPr wrap="square" lIns="0" tIns="0" rIns="0" bIns="0" rtlCol="0" anchor="ctr"/>
          <a:lstStyle/>
          <a:p>
            <a:pPr indent="0" marL="0">
              <a:buNone/>
            </a:pPr>
            <a:r>
              <a:rPr lang="en-US" sz="3600" b="1" dirty="0">
                <a:solidFill>
                  <a:schemeClr val="tx1"/>
                </a:solidFill>
              </a:rPr>
              <a:t>60</a:t>
            </a:r>
            <a:endParaRPr lang="en-US" sz="3600" dirty="0"/>
          </a:p>
        </p:txBody>
      </p:sp>
      <p:sp>
        <p:nvSpPr>
          <p:cNvPr id="5" name="Text 3"/>
          <p:cNvSpPr txBox="1"/>
          <p:nvPr/>
        </p:nvSpPr>
        <p:spPr>
          <a:xfrm>
            <a:off x="594360" y="1965960"/>
            <a:ext cx="1600200" cy="502920"/>
          </a:xfrm>
          <a:prstGeom prst="rect">
            <a:avLst/>
          </a:prstGeom>
          <a:noFill/>
          <a:ln/>
        </p:spPr>
        <p:txBody>
          <a:bodyPr wrap="square" lIns="0" tIns="0" rIns="0" bIns="0" rtlCol="0" anchor="ctr"/>
          <a:lstStyle/>
          <a:p>
            <a:pPr indent="0" marL="0">
              <a:buNone/>
            </a:pPr>
            <a:r>
              <a:rPr lang="en-US" sz="1300" dirty="0">
                <a:solidFill>
                  <a:schemeClr val="tx2"/>
                </a:solidFill>
              </a:rPr>
              <a:t>schools to collect</a:t>
            </a:r>
            <a:endParaRPr lang="en-US" sz="1300" dirty="0"/>
          </a:p>
        </p:txBody>
      </p:sp>
      <p:sp>
        <p:nvSpPr>
          <p:cNvPr id="6" name="Stat attendees"/>
          <p:cNvSpPr/>
          <p:nvPr/>
        </p:nvSpPr>
        <p:spPr>
          <a:xfrm>
            <a:off x="2560320" y="1143000"/>
            <a:ext cx="1874520" cy="1417320"/>
          </a:xfrm>
          <a:prstGeom prst="roundRect">
            <a:avLst>
              <a:gd name="adj" fmla="val 5161"/>
            </a:avLst>
          </a:prstGeom>
          <a:solidFill>
            <a:srgbClr val="F5F6F8"/>
          </a:solidFill>
          <a:ln w="12700">
            <a:solidFill>
              <a:srgbClr val="F5F6F8"/>
            </a:solidFill>
            <a:prstDash val="solid"/>
          </a:ln>
        </p:spPr>
      </p:sp>
      <p:sp>
        <p:nvSpPr>
          <p:cNvPr id="7" name="Text 5"/>
          <p:cNvSpPr txBox="1"/>
          <p:nvPr/>
        </p:nvSpPr>
        <p:spPr>
          <a:xfrm>
            <a:off x="2697480" y="1261872"/>
            <a:ext cx="1600200" cy="685800"/>
          </a:xfrm>
          <a:prstGeom prst="rect">
            <a:avLst/>
          </a:prstGeom>
          <a:noFill/>
          <a:ln/>
        </p:spPr>
        <p:txBody>
          <a:bodyPr wrap="square" lIns="0" tIns="0" rIns="0" bIns="0" rtlCol="0" anchor="ctr"/>
          <a:lstStyle/>
          <a:p>
            <a:pPr indent="0" marL="0">
              <a:buNone/>
            </a:pPr>
            <a:r>
              <a:rPr lang="en-US" sz="3600" b="1" dirty="0">
                <a:solidFill>
                  <a:schemeClr val="tx1"/>
                </a:solidFill>
              </a:rPr>
              <a:t>1,244</a:t>
            </a:r>
            <a:endParaRPr lang="en-US" sz="3600" dirty="0"/>
          </a:p>
        </p:txBody>
      </p:sp>
      <p:sp>
        <p:nvSpPr>
          <p:cNvPr id="8" name="Text 6"/>
          <p:cNvSpPr txBox="1"/>
          <p:nvPr/>
        </p:nvSpPr>
        <p:spPr>
          <a:xfrm>
            <a:off x="2697480" y="1965960"/>
            <a:ext cx="1600200" cy="502920"/>
          </a:xfrm>
          <a:prstGeom prst="rect">
            <a:avLst/>
          </a:prstGeom>
          <a:noFill/>
          <a:ln/>
        </p:spPr>
        <p:txBody>
          <a:bodyPr wrap="square" lIns="0" tIns="0" rIns="0" bIns="0" rtlCol="0" anchor="ctr"/>
          <a:lstStyle/>
          <a:p>
            <a:pPr indent="0" marL="0">
              <a:buNone/>
            </a:pPr>
            <a:r>
              <a:rPr lang="en-US" sz="1300" dirty="0">
                <a:solidFill>
                  <a:schemeClr val="tx2"/>
                </a:solidFill>
              </a:rPr>
              <a:t>attendees</a:t>
            </a:r>
            <a:endParaRPr lang="en-US" sz="1300" dirty="0"/>
          </a:p>
        </p:txBody>
      </p:sp>
      <p:sp>
        <p:nvSpPr>
          <p:cNvPr id="9" name="Stat seat bus sizes"/>
          <p:cNvSpPr/>
          <p:nvPr/>
        </p:nvSpPr>
        <p:spPr>
          <a:xfrm>
            <a:off x="4663440" y="1143000"/>
            <a:ext cx="1874520" cy="1417320"/>
          </a:xfrm>
          <a:prstGeom prst="roundRect">
            <a:avLst>
              <a:gd name="adj" fmla="val 5161"/>
            </a:avLst>
          </a:prstGeom>
          <a:solidFill>
            <a:srgbClr val="F5F6F8"/>
          </a:solidFill>
          <a:ln w="12700">
            <a:solidFill>
              <a:srgbClr val="F5F6F8"/>
            </a:solidFill>
            <a:prstDash val="solid"/>
          </a:ln>
        </p:spPr>
      </p:sp>
      <p:sp>
        <p:nvSpPr>
          <p:cNvPr id="10" name="Text 8"/>
          <p:cNvSpPr txBox="1"/>
          <p:nvPr/>
        </p:nvSpPr>
        <p:spPr>
          <a:xfrm>
            <a:off x="4800600" y="1261872"/>
            <a:ext cx="1600200" cy="685800"/>
          </a:xfrm>
          <a:prstGeom prst="rect">
            <a:avLst/>
          </a:prstGeom>
          <a:noFill/>
          <a:ln/>
        </p:spPr>
        <p:txBody>
          <a:bodyPr wrap="square" lIns="0" tIns="0" rIns="0" bIns="0" rtlCol="0" anchor="ctr"/>
          <a:lstStyle/>
          <a:p>
            <a:pPr indent="0" marL="0">
              <a:buNone/>
            </a:pPr>
            <a:r>
              <a:rPr lang="en-US" sz="2600" b="1" dirty="0">
                <a:solidFill>
                  <a:schemeClr val="tx1"/>
                </a:solidFill>
              </a:rPr>
              <a:t>15 · 35 · 50</a:t>
            </a:r>
            <a:endParaRPr lang="en-US" sz="2600" dirty="0"/>
          </a:p>
        </p:txBody>
      </p:sp>
      <p:sp>
        <p:nvSpPr>
          <p:cNvPr id="11" name="Text 9"/>
          <p:cNvSpPr txBox="1"/>
          <p:nvPr/>
        </p:nvSpPr>
        <p:spPr>
          <a:xfrm>
            <a:off x="4800600" y="1965960"/>
            <a:ext cx="1600200" cy="502920"/>
          </a:xfrm>
          <a:prstGeom prst="rect">
            <a:avLst/>
          </a:prstGeom>
          <a:noFill/>
          <a:ln/>
        </p:spPr>
        <p:txBody>
          <a:bodyPr wrap="square" lIns="0" tIns="0" rIns="0" bIns="0" rtlCol="0" anchor="ctr"/>
          <a:lstStyle/>
          <a:p>
            <a:pPr indent="0" marL="0">
              <a:buNone/>
            </a:pPr>
            <a:r>
              <a:rPr lang="en-US" sz="1300" dirty="0">
                <a:solidFill>
                  <a:schemeClr val="tx2"/>
                </a:solidFill>
              </a:rPr>
              <a:t>seat bus sizes</a:t>
            </a:r>
            <a:endParaRPr lang="en-US" sz="1300" dirty="0"/>
          </a:p>
        </p:txBody>
      </p:sp>
      <p:sp>
        <p:nvSpPr>
          <p:cNvPr id="12" name="Stat buses if every school rents its own"/>
          <p:cNvSpPr/>
          <p:nvPr/>
        </p:nvSpPr>
        <p:spPr>
          <a:xfrm>
            <a:off x="6766560" y="1143000"/>
            <a:ext cx="1874520" cy="1417320"/>
          </a:xfrm>
          <a:prstGeom prst="roundRect">
            <a:avLst>
              <a:gd name="adj" fmla="val 5161"/>
            </a:avLst>
          </a:prstGeom>
          <a:solidFill>
            <a:srgbClr val="F5F6F8"/>
          </a:solidFill>
          <a:ln w="12700">
            <a:solidFill>
              <a:srgbClr val="F5F6F8"/>
            </a:solidFill>
            <a:prstDash val="solid"/>
          </a:ln>
        </p:spPr>
      </p:sp>
      <p:sp>
        <p:nvSpPr>
          <p:cNvPr id="13" name="Text 11"/>
          <p:cNvSpPr txBox="1"/>
          <p:nvPr/>
        </p:nvSpPr>
        <p:spPr>
          <a:xfrm>
            <a:off x="6903720" y="1261872"/>
            <a:ext cx="1600200" cy="685800"/>
          </a:xfrm>
          <a:prstGeom prst="rect">
            <a:avLst/>
          </a:prstGeom>
          <a:noFill/>
          <a:ln/>
        </p:spPr>
        <p:txBody>
          <a:bodyPr wrap="square" lIns="0" tIns="0" rIns="0" bIns="0" rtlCol="0" anchor="ctr"/>
          <a:lstStyle/>
          <a:p>
            <a:pPr indent="0" marL="0">
              <a:buNone/>
            </a:pPr>
            <a:r>
              <a:rPr lang="en-US" sz="3600" b="1" dirty="0">
                <a:solidFill>
                  <a:schemeClr val="accent1"/>
                </a:solidFill>
              </a:rPr>
              <a:t>60</a:t>
            </a:r>
            <a:endParaRPr lang="en-US" sz="3600" dirty="0"/>
          </a:p>
        </p:txBody>
      </p:sp>
      <p:sp>
        <p:nvSpPr>
          <p:cNvPr id="14" name="Text 12"/>
          <p:cNvSpPr txBox="1"/>
          <p:nvPr/>
        </p:nvSpPr>
        <p:spPr>
          <a:xfrm>
            <a:off x="6903720" y="1965960"/>
            <a:ext cx="1600200" cy="502920"/>
          </a:xfrm>
          <a:prstGeom prst="rect">
            <a:avLst/>
          </a:prstGeom>
          <a:noFill/>
          <a:ln/>
        </p:spPr>
        <p:txBody>
          <a:bodyPr wrap="square" lIns="0" tIns="0" rIns="0" bIns="0" rtlCol="0" anchor="ctr"/>
          <a:lstStyle/>
          <a:p>
            <a:pPr indent="0" marL="0">
              <a:buNone/>
            </a:pPr>
            <a:r>
              <a:rPr lang="en-US" sz="1300" dirty="0">
                <a:solidFill>
                  <a:schemeClr val="tx2"/>
                </a:solidFill>
              </a:rPr>
              <a:t>buses if every school rents its own</a:t>
            </a:r>
            <a:endParaRPr lang="en-US" sz="1300" dirty="0"/>
          </a:p>
        </p:txBody>
      </p:sp>
      <p:sp>
        <p:nvSpPr>
          <p:cNvPr id="15" name="Text 13"/>
          <p:cNvSpPr txBox="1"/>
          <p:nvPr/>
        </p:nvSpPr>
        <p:spPr>
          <a:xfrm>
            <a:off x="457200" y="2834640"/>
            <a:ext cx="3840480" cy="320040"/>
          </a:xfrm>
          <a:prstGeom prst="rect">
            <a:avLst/>
          </a:prstGeom>
          <a:noFill/>
          <a:ln/>
        </p:spPr>
        <p:txBody>
          <a:bodyPr wrap="square" lIns="0" tIns="0" rIns="0" bIns="0" rtlCol="0" anchor="ctr"/>
          <a:lstStyle/>
          <a:p>
            <a:pPr indent="0" marL="0">
              <a:buNone/>
            </a:pPr>
            <a:r>
              <a:rPr lang="en-US" sz="1800" b="1" dirty="0">
                <a:solidFill>
                  <a:schemeClr val="tx1"/>
                </a:solidFill>
              </a:rPr>
              <a:t>The rules</a:t>
            </a:r>
            <a:endParaRPr lang="en-US" sz="1800" dirty="0"/>
          </a:p>
        </p:txBody>
      </p:sp>
      <p:sp>
        <p:nvSpPr>
          <p:cNvPr id="16" name="Text 14"/>
          <p:cNvSpPr txBox="1"/>
          <p:nvPr/>
        </p:nvSpPr>
        <p:spPr>
          <a:xfrm>
            <a:off x="457200" y="3200400"/>
            <a:ext cx="4023360" cy="1280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A school group is never split: one adult supervises it</a:t>
            </a:r>
            <a:endParaRPr lang="en-US" sz="1500" dirty="0"/>
          </a:p>
          <a:p>
            <a:pPr marL="342900" indent="-342900">
              <a:spcAft>
                <a:spcPts val="600"/>
              </a:spcAft>
              <a:buSzPct val="100000"/>
              <a:buChar char="•"/>
            </a:pPr>
            <a:r>
              <a:rPr lang="en-US" sz="1500" dirty="0">
                <a:solidFill>
                  <a:schemeClr val="tx1"/>
                </a:solidFill>
              </a:rPr>
              <a:t>No bus carries more people than it has seats</a:t>
            </a:r>
            <a:endParaRPr lang="en-US" sz="1500" dirty="0"/>
          </a:p>
          <a:p>
            <a:pPr marL="342900" indent="-342900">
              <a:spcAft>
                <a:spcPts val="600"/>
              </a:spcAft>
              <a:buSzPct val="100000"/>
              <a:buChar char="•"/>
            </a:pPr>
            <a:r>
              <a:rPr lang="en-US" sz="1500" dirty="0">
                <a:solidFill>
                  <a:schemeClr val="tx1"/>
                </a:solidFill>
              </a:rPr>
              <a:t>Goal: lowest total cost for everyone</a:t>
            </a:r>
            <a:endParaRPr lang="en-US" sz="1500" dirty="0"/>
          </a:p>
        </p:txBody>
      </p:sp>
      <p:sp>
        <p:nvSpPr>
          <p:cNvPr id="17" name="Why it is hard"/>
          <p:cNvSpPr/>
          <p:nvPr/>
        </p:nvSpPr>
        <p:spPr>
          <a:xfrm>
            <a:off x="4754880" y="2834640"/>
            <a:ext cx="3931920" cy="1645920"/>
          </a:xfrm>
          <a:prstGeom prst="roundRect">
            <a:avLst>
              <a:gd name="adj" fmla="val 4444"/>
            </a:avLst>
          </a:prstGeom>
          <a:solidFill>
            <a:srgbClr val="FBE9E7"/>
          </a:solidFill>
          <a:ln w="12700">
            <a:solidFill>
              <a:srgbClr val="FBE9E7"/>
            </a:solidFill>
            <a:prstDash val="solid"/>
          </a:ln>
        </p:spPr>
      </p:sp>
      <p:sp>
        <p:nvSpPr>
          <p:cNvPr id="18" name="Text 16"/>
          <p:cNvSpPr txBox="1"/>
          <p:nvPr/>
        </p:nvSpPr>
        <p:spPr>
          <a:xfrm>
            <a:off x="4937760" y="2971800"/>
            <a:ext cx="3566160" cy="320040"/>
          </a:xfrm>
          <a:prstGeom prst="rect">
            <a:avLst/>
          </a:prstGeom>
          <a:noFill/>
          <a:ln/>
        </p:spPr>
        <p:txBody>
          <a:bodyPr wrap="square" lIns="0" tIns="0" rIns="0" bIns="0" rtlCol="0" anchor="ctr"/>
          <a:lstStyle/>
          <a:p>
            <a:pPr indent="0" marL="0">
              <a:buNone/>
            </a:pPr>
            <a:r>
              <a:rPr lang="en-US" sz="1800" b="1" dirty="0">
                <a:solidFill>
                  <a:schemeClr val="accent1"/>
                </a:solidFill>
              </a:rPr>
              <a:t>Why not by hand?</a:t>
            </a:r>
            <a:endParaRPr lang="en-US" sz="1800" dirty="0"/>
          </a:p>
        </p:txBody>
      </p:sp>
      <p:sp>
        <p:nvSpPr>
          <p:cNvPr id="19" name="Text 17"/>
          <p:cNvSpPr txBox="1"/>
          <p:nvPr/>
        </p:nvSpPr>
        <p:spPr>
          <a:xfrm>
            <a:off x="4937760" y="3337560"/>
            <a:ext cx="3566160" cy="1051560"/>
          </a:xfrm>
          <a:prstGeom prst="rect">
            <a:avLst/>
          </a:prstGeom>
          <a:noFill/>
          <a:ln/>
        </p:spPr>
        <p:txBody>
          <a:bodyPr wrap="square" lIns="0" tIns="0" rIns="0" bIns="0" rtlCol="0" anchor="t"/>
          <a:lstStyle/>
          <a:p>
            <a:pPr indent="0" marL="0">
              <a:buNone/>
            </a:pPr>
            <a:r>
              <a:rPr lang="en-US" sz="1400" dirty="0">
                <a:solidFill>
                  <a:schemeClr val="tx1"/>
                </a:solidFill>
              </a:rPr>
              <a:t>Sharing is cheaper, but there are far too many ways to group 60 schools onto buses to try by hand, and each grouping changes the route and the cost.</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Three ways to price a bus, three solvers</a:t>
            </a:r>
            <a:endParaRPr lang="en-US" sz="3000" dirty="0"/>
          </a:p>
        </p:txBody>
      </p:sp>
      <p:sp>
        <p:nvSpPr>
          <p:cNvPr id="3" name="Model 1"/>
          <p:cNvSpPr/>
          <p:nvPr/>
        </p:nvSpPr>
        <p:spPr>
          <a:xfrm>
            <a:off x="457200" y="1097280"/>
            <a:ext cx="2606040" cy="3429000"/>
          </a:xfrm>
          <a:prstGeom prst="roundRect">
            <a:avLst>
              <a:gd name="adj" fmla="val 2807"/>
            </a:avLst>
          </a:prstGeom>
          <a:solidFill>
            <a:srgbClr val="F5F6F8"/>
          </a:solidFill>
          <a:ln w="12700">
            <a:solidFill>
              <a:srgbClr val="F5F6F8"/>
            </a:solidFill>
            <a:prstDash val="solid"/>
          </a:ln>
        </p:spPr>
      </p:sp>
      <p:sp>
        <p:nvSpPr>
          <p:cNvPr id="4" name="Shape 2"/>
          <p:cNvSpPr/>
          <p:nvPr/>
        </p:nvSpPr>
        <p:spPr>
          <a:xfrm>
            <a:off x="640080" y="1261872"/>
            <a:ext cx="384048" cy="384048"/>
          </a:xfrm>
          <a:prstGeom prst="ellipse">
            <a:avLst/>
          </a:prstGeom>
          <a:solidFill>
            <a:srgbClr val="D6453D"/>
          </a:solidFill>
          <a:ln w="12700">
            <a:solidFill>
              <a:srgbClr val="D6453D"/>
            </a:solidFill>
            <a:prstDash val="solid"/>
          </a:ln>
        </p:spPr>
      </p:sp>
      <p:sp>
        <p:nvSpPr>
          <p:cNvPr id="5" name="Text 3"/>
          <p:cNvSpPr txBox="1"/>
          <p:nvPr/>
        </p:nvSpPr>
        <p:spPr>
          <a:xfrm>
            <a:off x="640080" y="12618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143000" y="1216152"/>
            <a:ext cx="1783080" cy="502920"/>
          </a:xfrm>
          <a:prstGeom prst="rect">
            <a:avLst/>
          </a:prstGeom>
          <a:noFill/>
          <a:ln/>
        </p:spPr>
        <p:txBody>
          <a:bodyPr wrap="square" lIns="0" tIns="0" rIns="0" bIns="0" rtlCol="0" anchor="ctr"/>
          <a:lstStyle/>
          <a:p>
            <a:pPr indent="0" marL="0">
              <a:buNone/>
            </a:pPr>
            <a:r>
              <a:rPr lang="en-US" sz="1600" b="1" dirty="0">
                <a:solidFill>
                  <a:schemeClr val="tx1"/>
                </a:solidFill>
              </a:rPr>
              <a:t>Fixed price per bus</a:t>
            </a:r>
            <a:endParaRPr lang="en-US" sz="1600" dirty="0"/>
          </a:p>
        </p:txBody>
      </p:sp>
      <p:sp>
        <p:nvSpPr>
          <p:cNvPr id="7" name="Text 5"/>
          <p:cNvSpPr txBox="1"/>
          <p:nvPr/>
        </p:nvSpPr>
        <p:spPr>
          <a:xfrm>
            <a:off x="640080" y="1874520"/>
            <a:ext cx="2240280" cy="731520"/>
          </a:xfrm>
          <a:prstGeom prst="rect">
            <a:avLst/>
          </a:prstGeom>
          <a:noFill/>
          <a:ln/>
        </p:spPr>
        <p:txBody>
          <a:bodyPr wrap="square" lIns="0" tIns="0" rIns="0" bIns="0" rtlCol="0" anchor="t"/>
          <a:lstStyle/>
          <a:p>
            <a:pPr indent="0" marL="0">
              <a:buNone/>
            </a:pPr>
            <a:r>
              <a:rPr lang="en-US" sz="1400" dirty="0">
                <a:solidFill>
                  <a:schemeClr val="tx2"/>
                </a:solidFill>
              </a:rPr>
              <a:t>Price depends only on bus size (40 / 60 / 75).</a:t>
            </a:r>
            <a:endParaRPr lang="en-US" sz="1400" dirty="0"/>
          </a:p>
        </p:txBody>
      </p:sp>
      <p:sp>
        <p:nvSpPr>
          <p:cNvPr id="8" name="Text 6"/>
          <p:cNvSpPr txBox="1"/>
          <p:nvPr/>
        </p:nvSpPr>
        <p:spPr>
          <a:xfrm>
            <a:off x="640080" y="2651760"/>
            <a:ext cx="2240280" cy="228600"/>
          </a:xfrm>
          <a:prstGeom prst="rect">
            <a:avLst/>
          </a:prstGeom>
          <a:noFill/>
          <a:ln/>
        </p:spPr>
        <p:txBody>
          <a:bodyPr wrap="square" lIns="0" tIns="0" rIns="0" bIns="0" rtlCol="0" anchor="ctr"/>
          <a:lstStyle/>
          <a:p>
            <a:pPr indent="0" marL="0">
              <a:buNone/>
            </a:pPr>
            <a:r>
              <a:rPr lang="en-US" sz="1100" b="1" dirty="0">
                <a:solidFill>
                  <a:schemeClr val="accent6"/>
                </a:solidFill>
              </a:rPr>
              <a:t>Method</a:t>
            </a:r>
            <a:endParaRPr lang="en-US" sz="1100" dirty="0"/>
          </a:p>
        </p:txBody>
      </p:sp>
      <p:sp>
        <p:nvSpPr>
          <p:cNvPr id="9" name="Text 7"/>
          <p:cNvSpPr txBox="1"/>
          <p:nvPr/>
        </p:nvSpPr>
        <p:spPr>
          <a:xfrm>
            <a:off x="640080" y="2880360"/>
            <a:ext cx="2240280" cy="548640"/>
          </a:xfrm>
          <a:prstGeom prst="rect">
            <a:avLst/>
          </a:prstGeom>
          <a:noFill/>
          <a:ln/>
        </p:spPr>
        <p:txBody>
          <a:bodyPr wrap="square" lIns="0" tIns="0" rIns="0" bIns="0" rtlCol="0" anchor="t"/>
          <a:lstStyle/>
          <a:p>
            <a:pPr indent="0" marL="0">
              <a:buNone/>
            </a:pPr>
            <a:r>
              <a:rPr lang="en-US" sz="1400" dirty="0">
                <a:solidFill>
                  <a:schemeClr val="tx1"/>
                </a:solidFill>
              </a:rPr>
              <a:t>Exact constraint solver (OR-Tools CP-SAT)</a:t>
            </a:r>
            <a:endParaRPr lang="en-US" sz="1400" dirty="0"/>
          </a:p>
        </p:txBody>
      </p:sp>
      <p:sp>
        <p:nvSpPr>
          <p:cNvPr id="10" name="Shape 8"/>
          <p:cNvSpPr/>
          <p:nvPr/>
        </p:nvSpPr>
        <p:spPr>
          <a:xfrm>
            <a:off x="640080" y="3703320"/>
            <a:ext cx="2240280" cy="548640"/>
          </a:xfrm>
          <a:prstGeom prst="roundRect">
            <a:avLst>
              <a:gd name="adj" fmla="val 10000"/>
            </a:avLst>
          </a:prstGeom>
          <a:solidFill>
            <a:srgbClr val="2E7D6B"/>
          </a:solidFill>
          <a:ln w="12700">
            <a:solidFill>
              <a:srgbClr val="2E7D6B"/>
            </a:solidFill>
            <a:prstDash val="solid"/>
          </a:ln>
        </p:spPr>
      </p:sp>
      <p:sp>
        <p:nvSpPr>
          <p:cNvPr id="11" name="Text 9"/>
          <p:cNvSpPr txBox="1"/>
          <p:nvPr/>
        </p:nvSpPr>
        <p:spPr>
          <a:xfrm>
            <a:off x="731520" y="3703320"/>
            <a:ext cx="2057400" cy="548640"/>
          </a:xfrm>
          <a:prstGeom prst="rect">
            <a:avLst/>
          </a:prstGeom>
          <a:noFill/>
          <a:ln/>
        </p:spPr>
        <p:txBody>
          <a:bodyPr wrap="square" lIns="0" tIns="0" rIns="0" bIns="0" rtlCol="0" anchor="ctr"/>
          <a:lstStyle/>
          <a:p>
            <a:pPr algn="ctr" indent="0" marL="0">
              <a:buNone/>
            </a:pPr>
            <a:r>
              <a:rPr lang="en-US" sz="1300" b="1" dirty="0">
                <a:solidFill>
                  <a:schemeClr val="bg1"/>
                </a:solidFill>
              </a:rPr>
              <a:t>Can prove the cheapest plan</a:t>
            </a:r>
            <a:endParaRPr lang="en-US" sz="1300" dirty="0"/>
          </a:p>
        </p:txBody>
      </p:sp>
      <p:sp>
        <p:nvSpPr>
          <p:cNvPr id="12" name="Model 2"/>
          <p:cNvSpPr/>
          <p:nvPr/>
        </p:nvSpPr>
        <p:spPr>
          <a:xfrm>
            <a:off x="3246120" y="1097280"/>
            <a:ext cx="2606040" cy="3429000"/>
          </a:xfrm>
          <a:prstGeom prst="roundRect">
            <a:avLst>
              <a:gd name="adj" fmla="val 2807"/>
            </a:avLst>
          </a:prstGeom>
          <a:solidFill>
            <a:srgbClr val="F5F6F8"/>
          </a:solidFill>
          <a:ln w="12700">
            <a:solidFill>
              <a:srgbClr val="F5F6F8"/>
            </a:solidFill>
            <a:prstDash val="solid"/>
          </a:ln>
        </p:spPr>
      </p:sp>
      <p:sp>
        <p:nvSpPr>
          <p:cNvPr id="13" name="Shape 11"/>
          <p:cNvSpPr/>
          <p:nvPr/>
        </p:nvSpPr>
        <p:spPr>
          <a:xfrm>
            <a:off x="3429000" y="1261872"/>
            <a:ext cx="384048" cy="384048"/>
          </a:xfrm>
          <a:prstGeom prst="ellipse">
            <a:avLst/>
          </a:prstGeom>
          <a:solidFill>
            <a:srgbClr val="D6453D"/>
          </a:solidFill>
          <a:ln w="12700">
            <a:solidFill>
              <a:srgbClr val="D6453D"/>
            </a:solidFill>
            <a:prstDash val="solid"/>
          </a:ln>
        </p:spPr>
      </p:sp>
      <p:sp>
        <p:nvSpPr>
          <p:cNvPr id="14" name="Text 12"/>
          <p:cNvSpPr txBox="1"/>
          <p:nvPr/>
        </p:nvSpPr>
        <p:spPr>
          <a:xfrm>
            <a:off x="3429000" y="12618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Text 13"/>
          <p:cNvSpPr txBox="1"/>
          <p:nvPr/>
        </p:nvSpPr>
        <p:spPr>
          <a:xfrm>
            <a:off x="3931920" y="1216152"/>
            <a:ext cx="1783080" cy="502920"/>
          </a:xfrm>
          <a:prstGeom prst="rect">
            <a:avLst/>
          </a:prstGeom>
          <a:noFill/>
          <a:ln/>
        </p:spPr>
        <p:txBody>
          <a:bodyPr wrap="square" lIns="0" tIns="0" rIns="0" bIns="0" rtlCol="0" anchor="ctr"/>
          <a:lstStyle/>
          <a:p>
            <a:pPr indent="0" marL="0">
              <a:buNone/>
            </a:pPr>
            <a:r>
              <a:rPr lang="en-US" sz="1600" b="1" dirty="0">
                <a:solidFill>
                  <a:schemeClr val="tx1"/>
                </a:solidFill>
              </a:rPr>
              <a:t>Price per straight-line mile</a:t>
            </a:r>
            <a:endParaRPr lang="en-US" sz="1600" dirty="0"/>
          </a:p>
        </p:txBody>
      </p:sp>
      <p:sp>
        <p:nvSpPr>
          <p:cNvPr id="16" name="Text 14"/>
          <p:cNvSpPr txBox="1"/>
          <p:nvPr/>
        </p:nvSpPr>
        <p:spPr>
          <a:xfrm>
            <a:off x="3429000" y="1874520"/>
            <a:ext cx="2240280" cy="731520"/>
          </a:xfrm>
          <a:prstGeom prst="rect">
            <a:avLst/>
          </a:prstGeom>
          <a:noFill/>
          <a:ln/>
        </p:spPr>
        <p:txBody>
          <a:bodyPr wrap="square" lIns="0" tIns="0" rIns="0" bIns="0" rtlCol="0" anchor="t"/>
          <a:lstStyle/>
          <a:p>
            <a:pPr indent="0" marL="0">
              <a:buNone/>
            </a:pPr>
            <a:r>
              <a:rPr lang="en-US" sz="1400" dirty="0">
                <a:solidFill>
                  <a:schemeClr val="tx2"/>
                </a:solidFill>
              </a:rPr>
              <a:t>Pickup order now matters: the bus drives between schools.</a:t>
            </a:r>
            <a:endParaRPr lang="en-US" sz="1400" dirty="0"/>
          </a:p>
        </p:txBody>
      </p:sp>
      <p:sp>
        <p:nvSpPr>
          <p:cNvPr id="17" name="Text 15"/>
          <p:cNvSpPr txBox="1"/>
          <p:nvPr/>
        </p:nvSpPr>
        <p:spPr>
          <a:xfrm>
            <a:off x="3429000" y="2651760"/>
            <a:ext cx="2240280" cy="228600"/>
          </a:xfrm>
          <a:prstGeom prst="rect">
            <a:avLst/>
          </a:prstGeom>
          <a:noFill/>
          <a:ln/>
        </p:spPr>
        <p:txBody>
          <a:bodyPr wrap="square" lIns="0" tIns="0" rIns="0" bIns="0" rtlCol="0" anchor="ctr"/>
          <a:lstStyle/>
          <a:p>
            <a:pPr indent="0" marL="0">
              <a:buNone/>
            </a:pPr>
            <a:r>
              <a:rPr lang="en-US" sz="1100" b="1" dirty="0">
                <a:solidFill>
                  <a:schemeClr val="accent6"/>
                </a:solidFill>
              </a:rPr>
              <a:t>Method</a:t>
            </a:r>
            <a:endParaRPr lang="en-US" sz="1100" dirty="0"/>
          </a:p>
        </p:txBody>
      </p:sp>
      <p:sp>
        <p:nvSpPr>
          <p:cNvPr id="18" name="Text 16"/>
          <p:cNvSpPr txBox="1"/>
          <p:nvPr/>
        </p:nvSpPr>
        <p:spPr>
          <a:xfrm>
            <a:off x="3429000" y="2880360"/>
            <a:ext cx="2240280" cy="548640"/>
          </a:xfrm>
          <a:prstGeom prst="rect">
            <a:avLst/>
          </a:prstGeom>
          <a:noFill/>
          <a:ln/>
        </p:spPr>
        <p:txBody>
          <a:bodyPr wrap="square" lIns="0" tIns="0" rIns="0" bIns="0" rtlCol="0" anchor="t"/>
          <a:lstStyle/>
          <a:p>
            <a:pPr indent="0" marL="0">
              <a:buNone/>
            </a:pPr>
            <a:r>
              <a:rPr lang="en-US" sz="1400" dirty="0">
                <a:solidFill>
                  <a:schemeClr val="tx1"/>
                </a:solidFill>
              </a:rPr>
              <a:t>Vehicle-routing search (OR-Tools)</a:t>
            </a:r>
            <a:endParaRPr lang="en-US" sz="1400" dirty="0"/>
          </a:p>
        </p:txBody>
      </p:sp>
      <p:sp>
        <p:nvSpPr>
          <p:cNvPr id="19" name="Shape 17"/>
          <p:cNvSpPr/>
          <p:nvPr/>
        </p:nvSpPr>
        <p:spPr>
          <a:xfrm>
            <a:off x="3429000" y="3703320"/>
            <a:ext cx="2240280" cy="548640"/>
          </a:xfrm>
          <a:prstGeom prst="roundRect">
            <a:avLst>
              <a:gd name="adj" fmla="val 10000"/>
            </a:avLst>
          </a:prstGeom>
          <a:solidFill>
            <a:srgbClr val="3C6E9F"/>
          </a:solidFill>
          <a:ln w="12700">
            <a:solidFill>
              <a:srgbClr val="3C6E9F"/>
            </a:solidFill>
            <a:prstDash val="solid"/>
          </a:ln>
        </p:spPr>
      </p:sp>
      <p:sp>
        <p:nvSpPr>
          <p:cNvPr id="20" name="Text 18"/>
          <p:cNvSpPr txBox="1"/>
          <p:nvPr/>
        </p:nvSpPr>
        <p:spPr>
          <a:xfrm>
            <a:off x="3520440" y="3703320"/>
            <a:ext cx="2057400" cy="548640"/>
          </a:xfrm>
          <a:prstGeom prst="rect">
            <a:avLst/>
          </a:prstGeom>
          <a:noFill/>
          <a:ln/>
        </p:spPr>
        <p:txBody>
          <a:bodyPr wrap="square" lIns="0" tIns="0" rIns="0" bIns="0" rtlCol="0" anchor="ctr"/>
          <a:lstStyle/>
          <a:p>
            <a:pPr algn="ctr" indent="0" marL="0">
              <a:buNone/>
            </a:pPr>
            <a:r>
              <a:rPr lang="en-US" sz="1300" b="1" dirty="0">
                <a:solidFill>
                  <a:schemeClr val="bg1"/>
                </a:solidFill>
              </a:rPr>
              <a:t>Best plan found in the time limit</a:t>
            </a:r>
            <a:endParaRPr lang="en-US" sz="1300" dirty="0"/>
          </a:p>
        </p:txBody>
      </p:sp>
      <p:sp>
        <p:nvSpPr>
          <p:cNvPr id="21" name="Model 3"/>
          <p:cNvSpPr/>
          <p:nvPr/>
        </p:nvSpPr>
        <p:spPr>
          <a:xfrm>
            <a:off x="6035040" y="1097280"/>
            <a:ext cx="2606040" cy="3429000"/>
          </a:xfrm>
          <a:prstGeom prst="roundRect">
            <a:avLst>
              <a:gd name="adj" fmla="val 2807"/>
            </a:avLst>
          </a:prstGeom>
          <a:solidFill>
            <a:srgbClr val="F5F6F8"/>
          </a:solidFill>
          <a:ln w="12700">
            <a:solidFill>
              <a:srgbClr val="F5F6F8"/>
            </a:solidFill>
            <a:prstDash val="solid"/>
          </a:ln>
        </p:spPr>
      </p:sp>
      <p:sp>
        <p:nvSpPr>
          <p:cNvPr id="22" name="Shape 20"/>
          <p:cNvSpPr/>
          <p:nvPr/>
        </p:nvSpPr>
        <p:spPr>
          <a:xfrm>
            <a:off x="6217920" y="1261872"/>
            <a:ext cx="384048" cy="384048"/>
          </a:xfrm>
          <a:prstGeom prst="ellipse">
            <a:avLst/>
          </a:prstGeom>
          <a:solidFill>
            <a:srgbClr val="D6453D"/>
          </a:solidFill>
          <a:ln w="12700">
            <a:solidFill>
              <a:srgbClr val="D6453D"/>
            </a:solidFill>
            <a:prstDash val="solid"/>
          </a:ln>
        </p:spPr>
      </p:sp>
      <p:sp>
        <p:nvSpPr>
          <p:cNvPr id="23" name="Text 21"/>
          <p:cNvSpPr txBox="1"/>
          <p:nvPr/>
        </p:nvSpPr>
        <p:spPr>
          <a:xfrm>
            <a:off x="6217920" y="12618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2"/>
          <p:cNvSpPr txBox="1"/>
          <p:nvPr/>
        </p:nvSpPr>
        <p:spPr>
          <a:xfrm>
            <a:off x="6720840" y="1216152"/>
            <a:ext cx="1783080" cy="502920"/>
          </a:xfrm>
          <a:prstGeom prst="rect">
            <a:avLst/>
          </a:prstGeom>
          <a:noFill/>
          <a:ln/>
        </p:spPr>
        <p:txBody>
          <a:bodyPr wrap="square" lIns="0" tIns="0" rIns="0" bIns="0" rtlCol="0" anchor="ctr"/>
          <a:lstStyle/>
          <a:p>
            <a:pPr indent="0" marL="0">
              <a:buNone/>
            </a:pPr>
            <a:r>
              <a:rPr lang="en-US" sz="1600" b="1" dirty="0">
                <a:solidFill>
                  <a:schemeClr val="tx1"/>
                </a:solidFill>
              </a:rPr>
              <a:t>Price per hour of road driving</a:t>
            </a:r>
            <a:endParaRPr lang="en-US" sz="1600" dirty="0"/>
          </a:p>
        </p:txBody>
      </p:sp>
      <p:sp>
        <p:nvSpPr>
          <p:cNvPr id="25" name="Text 23"/>
          <p:cNvSpPr txBox="1"/>
          <p:nvPr/>
        </p:nvSpPr>
        <p:spPr>
          <a:xfrm>
            <a:off x="6217920" y="1874520"/>
            <a:ext cx="2240280" cy="731520"/>
          </a:xfrm>
          <a:prstGeom prst="rect">
            <a:avLst/>
          </a:prstGeom>
          <a:noFill/>
          <a:ln/>
        </p:spPr>
        <p:txBody>
          <a:bodyPr wrap="square" lIns="0" tIns="0" rIns="0" bIns="0" rtlCol="0" anchor="t"/>
          <a:lstStyle/>
          <a:p>
            <a:pPr indent="0" marL="0">
              <a:buNone/>
            </a:pPr>
            <a:r>
              <a:rPr lang="en-US" sz="1400" dirty="0">
                <a:solidFill>
                  <a:schemeClr val="tx2"/>
                </a:solidFill>
              </a:rPr>
              <a:t>Real road travel times from OSRM.</a:t>
            </a:r>
            <a:endParaRPr lang="en-US" sz="1400" dirty="0"/>
          </a:p>
        </p:txBody>
      </p:sp>
      <p:sp>
        <p:nvSpPr>
          <p:cNvPr id="26" name="Text 24"/>
          <p:cNvSpPr txBox="1"/>
          <p:nvPr/>
        </p:nvSpPr>
        <p:spPr>
          <a:xfrm>
            <a:off x="6217920" y="2651760"/>
            <a:ext cx="2240280" cy="228600"/>
          </a:xfrm>
          <a:prstGeom prst="rect">
            <a:avLst/>
          </a:prstGeom>
          <a:noFill/>
          <a:ln/>
        </p:spPr>
        <p:txBody>
          <a:bodyPr wrap="square" lIns="0" tIns="0" rIns="0" bIns="0" rtlCol="0" anchor="ctr"/>
          <a:lstStyle/>
          <a:p>
            <a:pPr indent="0" marL="0">
              <a:buNone/>
            </a:pPr>
            <a:r>
              <a:rPr lang="en-US" sz="1100" b="1" dirty="0">
                <a:solidFill>
                  <a:schemeClr val="accent6"/>
                </a:solidFill>
              </a:rPr>
              <a:t>Method</a:t>
            </a:r>
            <a:endParaRPr lang="en-US" sz="1100" dirty="0"/>
          </a:p>
        </p:txBody>
      </p:sp>
      <p:sp>
        <p:nvSpPr>
          <p:cNvPr id="27" name="Text 25"/>
          <p:cNvSpPr txBox="1"/>
          <p:nvPr/>
        </p:nvSpPr>
        <p:spPr>
          <a:xfrm>
            <a:off x="6217920" y="2880360"/>
            <a:ext cx="2240280" cy="548640"/>
          </a:xfrm>
          <a:prstGeom prst="rect">
            <a:avLst/>
          </a:prstGeom>
          <a:noFill/>
          <a:ln/>
        </p:spPr>
        <p:txBody>
          <a:bodyPr wrap="square" lIns="0" tIns="0" rIns="0" bIns="0" rtlCol="0" anchor="t"/>
          <a:lstStyle/>
          <a:p>
            <a:pPr indent="0" marL="0">
              <a:buNone/>
            </a:pPr>
            <a:r>
              <a:rPr lang="en-US" sz="1400" dirty="0">
                <a:solidFill>
                  <a:schemeClr val="tx1"/>
                </a:solidFill>
              </a:rPr>
              <a:t>Vehicle-routing search (OR-Tools)</a:t>
            </a:r>
            <a:endParaRPr lang="en-US" sz="1400" dirty="0"/>
          </a:p>
        </p:txBody>
      </p:sp>
      <p:sp>
        <p:nvSpPr>
          <p:cNvPr id="28" name="Shape 26"/>
          <p:cNvSpPr/>
          <p:nvPr/>
        </p:nvSpPr>
        <p:spPr>
          <a:xfrm>
            <a:off x="6217920" y="3703320"/>
            <a:ext cx="2240280" cy="548640"/>
          </a:xfrm>
          <a:prstGeom prst="roundRect">
            <a:avLst>
              <a:gd name="adj" fmla="val 10000"/>
            </a:avLst>
          </a:prstGeom>
          <a:solidFill>
            <a:srgbClr val="3C6E9F"/>
          </a:solidFill>
          <a:ln w="12700">
            <a:solidFill>
              <a:srgbClr val="3C6E9F"/>
            </a:solidFill>
            <a:prstDash val="solid"/>
          </a:ln>
        </p:spPr>
      </p:sp>
      <p:sp>
        <p:nvSpPr>
          <p:cNvPr id="29" name="Text 27"/>
          <p:cNvSpPr txBox="1"/>
          <p:nvPr/>
        </p:nvSpPr>
        <p:spPr>
          <a:xfrm>
            <a:off x="6309360" y="3703320"/>
            <a:ext cx="2057400" cy="548640"/>
          </a:xfrm>
          <a:prstGeom prst="rect">
            <a:avLst/>
          </a:prstGeom>
          <a:noFill/>
          <a:ln/>
        </p:spPr>
        <p:txBody>
          <a:bodyPr wrap="square" lIns="0" tIns="0" rIns="0" bIns="0" rtlCol="0" anchor="ctr"/>
          <a:lstStyle/>
          <a:p>
            <a:pPr algn="ctr" indent="0" marL="0">
              <a:buNone/>
            </a:pPr>
            <a:r>
              <a:rPr lang="en-US" sz="1300" b="1" dirty="0">
                <a:solidFill>
                  <a:schemeClr val="bg1"/>
                </a:solidFill>
              </a:rPr>
              <a:t>Best plan found in the time limit</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Live demo: 25 buses instead of 60</a:t>
            </a:r>
            <a:endParaRPr lang="en-US" sz="3000" dirty="0"/>
          </a:p>
        </p:txBody>
      </p:sp>
      <p:sp>
        <p:nvSpPr>
          <p:cNvPr id="3" name="Map panel"/>
          <p:cNvSpPr/>
          <p:nvPr/>
        </p:nvSpPr>
        <p:spPr>
          <a:xfrm>
            <a:off x="457200" y="1097280"/>
            <a:ext cx="3931920" cy="3520440"/>
          </a:xfrm>
          <a:prstGeom prst="roundRect">
            <a:avLst>
              <a:gd name="adj" fmla="val 2078"/>
            </a:avLst>
          </a:prstGeom>
          <a:solidFill>
            <a:srgbClr val="F5F6F8"/>
          </a:solidFill>
          <a:ln w="12700">
            <a:solidFill>
              <a:srgbClr val="F5F6F8"/>
            </a:solidFill>
            <a:prstDash val="solid"/>
          </a:ln>
        </p:spPr>
      </p:sp>
      <p:sp>
        <p:nvSpPr>
          <p:cNvPr id="4" name="Pickup SA6"/>
          <p:cNvSpPr/>
          <p:nvPr/>
        </p:nvSpPr>
        <p:spPr>
          <a:xfrm>
            <a:off x="1273275" y="2691765"/>
            <a:ext cx="160839" cy="160839"/>
          </a:xfrm>
          <a:prstGeom prst="ellipse">
            <a:avLst/>
          </a:prstGeom>
          <a:solidFill>
            <a:srgbClr val="D6453D"/>
          </a:solidFill>
          <a:ln w="6350">
            <a:solidFill>
              <a:srgbClr val="FFFFFF"/>
            </a:solidFill>
            <a:prstDash val="solid"/>
          </a:ln>
        </p:spPr>
      </p:sp>
      <p:sp>
        <p:nvSpPr>
          <p:cNvPr id="5" name="Pickup NP11"/>
          <p:cNvSpPr/>
          <p:nvPr/>
        </p:nvSpPr>
        <p:spPr>
          <a:xfrm>
            <a:off x="3576222" y="2844267"/>
            <a:ext cx="158500" cy="158500"/>
          </a:xfrm>
          <a:prstGeom prst="ellipse">
            <a:avLst/>
          </a:prstGeom>
          <a:solidFill>
            <a:srgbClr val="F2A541"/>
          </a:solidFill>
          <a:ln w="6350">
            <a:solidFill>
              <a:srgbClr val="FFFFFF"/>
            </a:solidFill>
            <a:prstDash val="solid"/>
          </a:ln>
        </p:spPr>
      </p:sp>
      <p:sp>
        <p:nvSpPr>
          <p:cNvPr id="6" name="Pickup SA14"/>
          <p:cNvSpPr/>
          <p:nvPr/>
        </p:nvSpPr>
        <p:spPr>
          <a:xfrm>
            <a:off x="733449" y="2410466"/>
            <a:ext cx="171704" cy="171704"/>
          </a:xfrm>
          <a:prstGeom prst="ellipse">
            <a:avLst/>
          </a:prstGeom>
          <a:solidFill>
            <a:srgbClr val="F2A541"/>
          </a:solidFill>
          <a:ln w="6350">
            <a:solidFill>
              <a:srgbClr val="FFFFFF"/>
            </a:solidFill>
            <a:prstDash val="solid"/>
          </a:ln>
        </p:spPr>
      </p:sp>
      <p:sp>
        <p:nvSpPr>
          <p:cNvPr id="7" name="Pickup NP7"/>
          <p:cNvSpPr/>
          <p:nvPr/>
        </p:nvSpPr>
        <p:spPr>
          <a:xfrm>
            <a:off x="3917816" y="1966275"/>
            <a:ext cx="175728" cy="175728"/>
          </a:xfrm>
          <a:prstGeom prst="ellipse">
            <a:avLst/>
          </a:prstGeom>
          <a:solidFill>
            <a:srgbClr val="7CB342"/>
          </a:solidFill>
          <a:ln w="6350">
            <a:solidFill>
              <a:srgbClr val="FFFFFF"/>
            </a:solidFill>
            <a:prstDash val="solid"/>
          </a:ln>
        </p:spPr>
      </p:sp>
      <p:sp>
        <p:nvSpPr>
          <p:cNvPr id="8" name="Pickup SA13"/>
          <p:cNvSpPr/>
          <p:nvPr/>
        </p:nvSpPr>
        <p:spPr>
          <a:xfrm>
            <a:off x="1842560" y="3018147"/>
            <a:ext cx="167508" cy="167508"/>
          </a:xfrm>
          <a:prstGeom prst="ellipse">
            <a:avLst/>
          </a:prstGeom>
          <a:solidFill>
            <a:srgbClr val="D6453D"/>
          </a:solidFill>
          <a:ln w="6350">
            <a:solidFill>
              <a:srgbClr val="FFFFFF"/>
            </a:solidFill>
            <a:prstDash val="solid"/>
          </a:ln>
        </p:spPr>
      </p:sp>
      <p:sp>
        <p:nvSpPr>
          <p:cNvPr id="9" name="Pickup NP22"/>
          <p:cNvSpPr/>
          <p:nvPr/>
        </p:nvSpPr>
        <p:spPr>
          <a:xfrm>
            <a:off x="3211697" y="2251270"/>
            <a:ext cx="151064" cy="151064"/>
          </a:xfrm>
          <a:prstGeom prst="ellipse">
            <a:avLst/>
          </a:prstGeom>
          <a:solidFill>
            <a:srgbClr val="8A5A9E"/>
          </a:solidFill>
          <a:ln w="6350">
            <a:solidFill>
              <a:srgbClr val="FFFFFF"/>
            </a:solidFill>
            <a:prstDash val="solid"/>
          </a:ln>
        </p:spPr>
      </p:sp>
      <p:sp>
        <p:nvSpPr>
          <p:cNvPr id="10" name="Pickup SA5"/>
          <p:cNvSpPr/>
          <p:nvPr/>
        </p:nvSpPr>
        <p:spPr>
          <a:xfrm>
            <a:off x="1119701" y="2807130"/>
            <a:ext cx="185158" cy="185158"/>
          </a:xfrm>
          <a:prstGeom prst="ellipse">
            <a:avLst/>
          </a:prstGeom>
          <a:solidFill>
            <a:srgbClr val="3C6E9F"/>
          </a:solidFill>
          <a:ln w="6350">
            <a:solidFill>
              <a:srgbClr val="FFFFFF"/>
            </a:solidFill>
            <a:prstDash val="solid"/>
          </a:ln>
        </p:spPr>
      </p:sp>
      <p:sp>
        <p:nvSpPr>
          <p:cNvPr id="11" name="Pickup SA8"/>
          <p:cNvSpPr/>
          <p:nvPr/>
        </p:nvSpPr>
        <p:spPr>
          <a:xfrm>
            <a:off x="1492396" y="2479161"/>
            <a:ext cx="158500" cy="158500"/>
          </a:xfrm>
          <a:prstGeom prst="ellipse">
            <a:avLst/>
          </a:prstGeom>
          <a:solidFill>
            <a:srgbClr val="1F2933"/>
          </a:solidFill>
          <a:ln w="6350">
            <a:solidFill>
              <a:srgbClr val="FFFFFF"/>
            </a:solidFill>
            <a:prstDash val="solid"/>
          </a:ln>
        </p:spPr>
      </p:sp>
      <p:sp>
        <p:nvSpPr>
          <p:cNvPr id="12" name="Pickup CF83"/>
          <p:cNvSpPr/>
          <p:nvPr/>
        </p:nvSpPr>
        <p:spPr>
          <a:xfrm>
            <a:off x="3312832" y="3102401"/>
            <a:ext cx="177682" cy="177682"/>
          </a:xfrm>
          <a:prstGeom prst="ellipse">
            <a:avLst/>
          </a:prstGeom>
          <a:solidFill>
            <a:srgbClr val="D6453D"/>
          </a:solidFill>
          <a:ln w="6350">
            <a:solidFill>
              <a:srgbClr val="FFFFFF"/>
            </a:solidFill>
            <a:prstDash val="solid"/>
          </a:ln>
        </p:spPr>
      </p:sp>
      <p:sp>
        <p:nvSpPr>
          <p:cNvPr id="13" name="Pickup CF39"/>
          <p:cNvSpPr/>
          <p:nvPr/>
        </p:nvSpPr>
        <p:spPr>
          <a:xfrm>
            <a:off x="2711214" y="3040482"/>
            <a:ext cx="177682" cy="177682"/>
          </a:xfrm>
          <a:prstGeom prst="ellipse">
            <a:avLst/>
          </a:prstGeom>
          <a:solidFill>
            <a:srgbClr val="2E7D6B"/>
          </a:solidFill>
          <a:ln w="6350">
            <a:solidFill>
              <a:srgbClr val="FFFFFF"/>
            </a:solidFill>
            <a:prstDash val="solid"/>
          </a:ln>
        </p:spPr>
      </p:sp>
      <p:sp>
        <p:nvSpPr>
          <p:cNvPr id="14" name="Pickup NP8"/>
          <p:cNvSpPr/>
          <p:nvPr/>
        </p:nvSpPr>
        <p:spPr>
          <a:xfrm>
            <a:off x="3496670" y="1810608"/>
            <a:ext cx="183336" cy="183336"/>
          </a:xfrm>
          <a:prstGeom prst="ellipse">
            <a:avLst/>
          </a:prstGeom>
          <a:solidFill>
            <a:srgbClr val="7CB342"/>
          </a:solidFill>
          <a:ln w="6350">
            <a:solidFill>
              <a:srgbClr val="FFFFFF"/>
            </a:solidFill>
            <a:prstDash val="solid"/>
          </a:ln>
        </p:spPr>
      </p:sp>
      <p:sp>
        <p:nvSpPr>
          <p:cNvPr id="15" name="Pickup SA99"/>
          <p:cNvSpPr/>
          <p:nvPr/>
        </p:nvSpPr>
        <p:spPr>
          <a:xfrm>
            <a:off x="1194652" y="2708512"/>
            <a:ext cx="185158" cy="185158"/>
          </a:xfrm>
          <a:prstGeom prst="ellipse">
            <a:avLst/>
          </a:prstGeom>
          <a:solidFill>
            <a:srgbClr val="D6453D"/>
          </a:solidFill>
          <a:ln w="6350">
            <a:solidFill>
              <a:srgbClr val="FFFFFF"/>
            </a:solidFill>
            <a:prstDash val="solid"/>
          </a:ln>
        </p:spPr>
      </p:sp>
      <p:sp>
        <p:nvSpPr>
          <p:cNvPr id="16" name="Pickup LD3"/>
          <p:cNvSpPr/>
          <p:nvPr/>
        </p:nvSpPr>
        <p:spPr>
          <a:xfrm>
            <a:off x="2871013" y="1348144"/>
            <a:ext cx="181484" cy="181484"/>
          </a:xfrm>
          <a:prstGeom prst="ellipse">
            <a:avLst/>
          </a:prstGeom>
          <a:solidFill>
            <a:srgbClr val="2E7D6B"/>
          </a:solidFill>
          <a:ln w="6350">
            <a:solidFill>
              <a:srgbClr val="FFFFFF"/>
            </a:solidFill>
            <a:prstDash val="solid"/>
          </a:ln>
        </p:spPr>
      </p:sp>
      <p:sp>
        <p:nvSpPr>
          <p:cNvPr id="17" name="Pickup CF31"/>
          <p:cNvSpPr/>
          <p:nvPr/>
        </p:nvSpPr>
        <p:spPr>
          <a:xfrm>
            <a:off x="2274610" y="3475533"/>
            <a:ext cx="160839" cy="160839"/>
          </a:xfrm>
          <a:prstGeom prst="ellipse">
            <a:avLst/>
          </a:prstGeom>
          <a:solidFill>
            <a:srgbClr val="1F2933"/>
          </a:solidFill>
          <a:ln w="6350">
            <a:solidFill>
              <a:srgbClr val="FFFFFF"/>
            </a:solidFill>
            <a:prstDash val="solid"/>
          </a:ln>
        </p:spPr>
      </p:sp>
      <p:sp>
        <p:nvSpPr>
          <p:cNvPr id="18" name="Pickup SA1"/>
          <p:cNvSpPr/>
          <p:nvPr/>
        </p:nvSpPr>
        <p:spPr>
          <a:xfrm>
            <a:off x="1223153" y="2924903"/>
            <a:ext cx="158500" cy="158500"/>
          </a:xfrm>
          <a:prstGeom prst="ellipse">
            <a:avLst/>
          </a:prstGeom>
          <a:solidFill>
            <a:srgbClr val="1F2933"/>
          </a:solidFill>
          <a:ln w="6350">
            <a:solidFill>
              <a:srgbClr val="FFFFFF"/>
            </a:solidFill>
            <a:prstDash val="solid"/>
          </a:ln>
        </p:spPr>
      </p:sp>
      <p:sp>
        <p:nvSpPr>
          <p:cNvPr id="19" name="Pickup SA10"/>
          <p:cNvSpPr/>
          <p:nvPr/>
        </p:nvSpPr>
        <p:spPr>
          <a:xfrm>
            <a:off x="1613816" y="2624694"/>
            <a:ext cx="188714" cy="188714"/>
          </a:xfrm>
          <a:prstGeom prst="ellipse">
            <a:avLst/>
          </a:prstGeom>
          <a:solidFill>
            <a:srgbClr val="2E7D6B"/>
          </a:solidFill>
          <a:ln w="6350">
            <a:solidFill>
              <a:srgbClr val="FFFFFF"/>
            </a:solidFill>
            <a:prstDash val="solid"/>
          </a:ln>
        </p:spPr>
      </p:sp>
      <p:sp>
        <p:nvSpPr>
          <p:cNvPr id="20" name="Pickup SA9"/>
          <p:cNvSpPr/>
          <p:nvPr/>
        </p:nvSpPr>
        <p:spPr>
          <a:xfrm>
            <a:off x="1715113" y="2193867"/>
            <a:ext cx="171704" cy="171704"/>
          </a:xfrm>
          <a:prstGeom prst="ellipse">
            <a:avLst/>
          </a:prstGeom>
          <a:solidFill>
            <a:srgbClr val="7CB342"/>
          </a:solidFill>
          <a:ln w="6350">
            <a:solidFill>
              <a:srgbClr val="FFFFFF"/>
            </a:solidFill>
            <a:prstDash val="solid"/>
          </a:ln>
        </p:spPr>
      </p:sp>
      <p:sp>
        <p:nvSpPr>
          <p:cNvPr id="21" name="Pickup CF34"/>
          <p:cNvSpPr/>
          <p:nvPr/>
        </p:nvSpPr>
        <p:spPr>
          <a:xfrm>
            <a:off x="2069474" y="3008193"/>
            <a:ext cx="142839" cy="142839"/>
          </a:xfrm>
          <a:prstGeom prst="ellipse">
            <a:avLst/>
          </a:prstGeom>
          <a:solidFill>
            <a:srgbClr val="3C6E9F"/>
          </a:solidFill>
          <a:ln w="6350">
            <a:solidFill>
              <a:srgbClr val="FFFFFF"/>
            </a:solidFill>
            <a:prstDash val="solid"/>
          </a:ln>
        </p:spPr>
      </p:sp>
      <p:sp>
        <p:nvSpPr>
          <p:cNvPr id="22" name="Pickup NP20"/>
          <p:cNvSpPr/>
          <p:nvPr/>
        </p:nvSpPr>
        <p:spPr>
          <a:xfrm>
            <a:off x="3945198" y="3099670"/>
            <a:ext cx="148422" cy="148422"/>
          </a:xfrm>
          <a:prstGeom prst="ellipse">
            <a:avLst/>
          </a:prstGeom>
          <a:solidFill>
            <a:srgbClr val="8A5A9E"/>
          </a:solidFill>
          <a:ln w="6350">
            <a:solidFill>
              <a:srgbClr val="FFFFFF"/>
            </a:solidFill>
            <a:prstDash val="solid"/>
          </a:ln>
        </p:spPr>
      </p:sp>
      <p:sp>
        <p:nvSpPr>
          <p:cNvPr id="23" name="Pickup CF44"/>
          <p:cNvSpPr/>
          <p:nvPr/>
        </p:nvSpPr>
        <p:spPr>
          <a:xfrm>
            <a:off x="2620565" y="2492206"/>
            <a:ext cx="165339" cy="165339"/>
          </a:xfrm>
          <a:prstGeom prst="ellipse">
            <a:avLst/>
          </a:prstGeom>
          <a:solidFill>
            <a:srgbClr val="2E7D6B"/>
          </a:solidFill>
          <a:ln w="6350">
            <a:solidFill>
              <a:srgbClr val="FFFFFF"/>
            </a:solidFill>
            <a:prstDash val="solid"/>
          </a:ln>
        </p:spPr>
      </p:sp>
      <p:sp>
        <p:nvSpPr>
          <p:cNvPr id="24" name="Pickup SA11"/>
          <p:cNvSpPr/>
          <p:nvPr/>
        </p:nvSpPr>
        <p:spPr>
          <a:xfrm>
            <a:off x="1743527" y="2699086"/>
            <a:ext cx="158500" cy="158500"/>
          </a:xfrm>
          <a:prstGeom prst="ellipse">
            <a:avLst/>
          </a:prstGeom>
          <a:solidFill>
            <a:srgbClr val="D6453D"/>
          </a:solidFill>
          <a:ln w="6350">
            <a:solidFill>
              <a:srgbClr val="FFFFFF"/>
            </a:solidFill>
            <a:prstDash val="solid"/>
          </a:ln>
        </p:spPr>
      </p:sp>
      <p:sp>
        <p:nvSpPr>
          <p:cNvPr id="25" name="Pickup NP19"/>
          <p:cNvSpPr/>
          <p:nvPr/>
        </p:nvSpPr>
        <p:spPr>
          <a:xfrm>
            <a:off x="4055522" y="3095059"/>
            <a:ext cx="177682" cy="177682"/>
          </a:xfrm>
          <a:prstGeom prst="ellipse">
            <a:avLst/>
          </a:prstGeom>
          <a:solidFill>
            <a:srgbClr val="3C6E9F"/>
          </a:solidFill>
          <a:ln w="6350">
            <a:solidFill>
              <a:srgbClr val="FFFFFF"/>
            </a:solidFill>
            <a:prstDash val="solid"/>
          </a:ln>
        </p:spPr>
      </p:sp>
      <p:sp>
        <p:nvSpPr>
          <p:cNvPr id="26" name="Pickup CF36"/>
          <p:cNvSpPr/>
          <p:nvPr/>
        </p:nvSpPr>
        <p:spPr>
          <a:xfrm>
            <a:off x="1918118" y="3582471"/>
            <a:ext cx="169629" cy="169629"/>
          </a:xfrm>
          <a:prstGeom prst="ellipse">
            <a:avLst/>
          </a:prstGeom>
          <a:solidFill>
            <a:srgbClr val="D6453D"/>
          </a:solidFill>
          <a:ln w="6350">
            <a:solidFill>
              <a:srgbClr val="FFFFFF"/>
            </a:solidFill>
            <a:prstDash val="solid"/>
          </a:ln>
        </p:spPr>
      </p:sp>
      <p:sp>
        <p:nvSpPr>
          <p:cNvPr id="27" name="Pickup CF37"/>
          <p:cNvSpPr/>
          <p:nvPr/>
        </p:nvSpPr>
        <p:spPr>
          <a:xfrm>
            <a:off x="2983988" y="3031922"/>
            <a:ext cx="163117" cy="163117"/>
          </a:xfrm>
          <a:prstGeom prst="ellipse">
            <a:avLst/>
          </a:prstGeom>
          <a:solidFill>
            <a:srgbClr val="7CB342"/>
          </a:solidFill>
          <a:ln w="6350">
            <a:solidFill>
              <a:srgbClr val="FFFFFF"/>
            </a:solidFill>
            <a:prstDash val="solid"/>
          </a:ln>
        </p:spPr>
      </p:sp>
      <p:sp>
        <p:nvSpPr>
          <p:cNvPr id="28" name="Pickup SA2"/>
          <p:cNvSpPr/>
          <p:nvPr/>
        </p:nvSpPr>
        <p:spPr>
          <a:xfrm>
            <a:off x="1071209" y="2976270"/>
            <a:ext cx="126376" cy="126376"/>
          </a:xfrm>
          <a:prstGeom prst="ellipse">
            <a:avLst/>
          </a:prstGeom>
          <a:solidFill>
            <a:srgbClr val="3C6E9F"/>
          </a:solidFill>
          <a:ln w="6350">
            <a:solidFill>
              <a:srgbClr val="FFFFFF"/>
            </a:solidFill>
            <a:prstDash val="solid"/>
          </a:ln>
        </p:spPr>
      </p:sp>
      <p:sp>
        <p:nvSpPr>
          <p:cNvPr id="29" name="Pickup CF47"/>
          <p:cNvSpPr/>
          <p:nvPr/>
        </p:nvSpPr>
        <p:spPr>
          <a:xfrm>
            <a:off x="2854530" y="2326669"/>
            <a:ext cx="185158" cy="185158"/>
          </a:xfrm>
          <a:prstGeom prst="ellipse">
            <a:avLst/>
          </a:prstGeom>
          <a:solidFill>
            <a:srgbClr val="1F2933"/>
          </a:solidFill>
          <a:ln w="6350">
            <a:solidFill>
              <a:srgbClr val="FFFFFF"/>
            </a:solidFill>
            <a:prstDash val="solid"/>
          </a:ln>
        </p:spPr>
      </p:sp>
      <p:sp>
        <p:nvSpPr>
          <p:cNvPr id="30" name="Pickup CF72"/>
          <p:cNvSpPr/>
          <p:nvPr/>
        </p:nvSpPr>
        <p:spPr>
          <a:xfrm>
            <a:off x="2788984" y="3378188"/>
            <a:ext cx="158500" cy="158500"/>
          </a:xfrm>
          <a:prstGeom prst="ellipse">
            <a:avLst/>
          </a:prstGeom>
          <a:solidFill>
            <a:srgbClr val="3C6E9F"/>
          </a:solidFill>
          <a:ln w="6350">
            <a:solidFill>
              <a:srgbClr val="FFFFFF"/>
            </a:solidFill>
            <a:prstDash val="solid"/>
          </a:ln>
        </p:spPr>
      </p:sp>
      <p:sp>
        <p:nvSpPr>
          <p:cNvPr id="31" name="Pickup NP23"/>
          <p:cNvSpPr/>
          <p:nvPr/>
        </p:nvSpPr>
        <p:spPr>
          <a:xfrm>
            <a:off x="3398899" y="2195410"/>
            <a:ext cx="130051" cy="130051"/>
          </a:xfrm>
          <a:prstGeom prst="ellipse">
            <a:avLst/>
          </a:prstGeom>
          <a:solidFill>
            <a:srgbClr val="1F2933"/>
          </a:solidFill>
          <a:ln w="6350">
            <a:solidFill>
              <a:srgbClr val="FFFFFF"/>
            </a:solidFill>
            <a:prstDash val="solid"/>
          </a:ln>
        </p:spPr>
      </p:sp>
      <p:sp>
        <p:nvSpPr>
          <p:cNvPr id="32" name="Pickup CF46"/>
          <p:cNvSpPr/>
          <p:nvPr/>
        </p:nvSpPr>
        <p:spPr>
          <a:xfrm>
            <a:off x="3066585" y="2728562"/>
            <a:ext cx="193853" cy="193853"/>
          </a:xfrm>
          <a:prstGeom prst="ellipse">
            <a:avLst/>
          </a:prstGeom>
          <a:solidFill>
            <a:srgbClr val="8A5A9E"/>
          </a:solidFill>
          <a:ln w="6350">
            <a:solidFill>
              <a:srgbClr val="FFFFFF"/>
            </a:solidFill>
            <a:prstDash val="solid"/>
          </a:ln>
        </p:spPr>
      </p:sp>
      <p:sp>
        <p:nvSpPr>
          <p:cNvPr id="33" name="Pickup CF42"/>
          <p:cNvSpPr/>
          <p:nvPr/>
        </p:nvSpPr>
        <p:spPr>
          <a:xfrm>
            <a:off x="2455002" y="2754390"/>
            <a:ext cx="118135" cy="118135"/>
          </a:xfrm>
          <a:prstGeom prst="ellipse">
            <a:avLst/>
          </a:prstGeom>
          <a:solidFill>
            <a:srgbClr val="D6453D"/>
          </a:solidFill>
          <a:ln w="6350">
            <a:solidFill>
              <a:srgbClr val="FFFFFF"/>
            </a:solidFill>
            <a:prstDash val="solid"/>
          </a:ln>
        </p:spPr>
      </p:sp>
      <p:sp>
        <p:nvSpPr>
          <p:cNvPr id="34" name="Pickup SA3"/>
          <p:cNvSpPr/>
          <p:nvPr/>
        </p:nvSpPr>
        <p:spPr>
          <a:xfrm>
            <a:off x="903445" y="3139140"/>
            <a:ext cx="151064" cy="151064"/>
          </a:xfrm>
          <a:prstGeom prst="ellipse">
            <a:avLst/>
          </a:prstGeom>
          <a:solidFill>
            <a:srgbClr val="8A5A9E"/>
          </a:solidFill>
          <a:ln w="6350">
            <a:solidFill>
              <a:srgbClr val="FFFFFF"/>
            </a:solidFill>
            <a:prstDash val="solid"/>
          </a:ln>
        </p:spPr>
      </p:sp>
      <p:sp>
        <p:nvSpPr>
          <p:cNvPr id="35" name="Pickup SA7"/>
          <p:cNvSpPr/>
          <p:nvPr/>
        </p:nvSpPr>
        <p:spPr>
          <a:xfrm>
            <a:off x="1365111" y="2736977"/>
            <a:ext cx="177682" cy="177682"/>
          </a:xfrm>
          <a:prstGeom prst="ellipse">
            <a:avLst/>
          </a:prstGeom>
          <a:solidFill>
            <a:srgbClr val="C2185B"/>
          </a:solidFill>
          <a:ln w="6350">
            <a:solidFill>
              <a:srgbClr val="FFFFFF"/>
            </a:solidFill>
            <a:prstDash val="solid"/>
          </a:ln>
        </p:spPr>
      </p:sp>
      <p:sp>
        <p:nvSpPr>
          <p:cNvPr id="36" name="Pickup NP18"/>
          <p:cNvSpPr/>
          <p:nvPr/>
        </p:nvSpPr>
        <p:spPr>
          <a:xfrm>
            <a:off x="4130708" y="3012346"/>
            <a:ext cx="151064" cy="151064"/>
          </a:xfrm>
          <a:prstGeom prst="ellipse">
            <a:avLst/>
          </a:prstGeom>
          <a:solidFill>
            <a:srgbClr val="3C6E9F"/>
          </a:solidFill>
          <a:ln w="6350">
            <a:solidFill>
              <a:srgbClr val="FFFFFF"/>
            </a:solidFill>
            <a:prstDash val="solid"/>
          </a:ln>
        </p:spPr>
      </p:sp>
      <p:sp>
        <p:nvSpPr>
          <p:cNvPr id="37" name="Pickup CF32"/>
          <p:cNvSpPr/>
          <p:nvPr/>
        </p:nvSpPr>
        <p:spPr>
          <a:xfrm>
            <a:off x="2244751" y="3223114"/>
            <a:ext cx="186950" cy="186950"/>
          </a:xfrm>
          <a:prstGeom prst="ellipse">
            <a:avLst/>
          </a:prstGeom>
          <a:solidFill>
            <a:srgbClr val="D6453D"/>
          </a:solidFill>
          <a:ln w="6350">
            <a:solidFill>
              <a:srgbClr val="FFFFFF"/>
            </a:solidFill>
            <a:prstDash val="solid"/>
          </a:ln>
        </p:spPr>
      </p:sp>
      <p:sp>
        <p:nvSpPr>
          <p:cNvPr id="38" name="Pickup CF33"/>
          <p:cNvSpPr/>
          <p:nvPr/>
        </p:nvSpPr>
        <p:spPr>
          <a:xfrm>
            <a:off x="1947086" y="3403512"/>
            <a:ext cx="148422" cy="148422"/>
          </a:xfrm>
          <a:prstGeom prst="ellipse">
            <a:avLst/>
          </a:prstGeom>
          <a:solidFill>
            <a:srgbClr val="1F2933"/>
          </a:solidFill>
          <a:ln w="6350">
            <a:solidFill>
              <a:srgbClr val="FFFFFF"/>
            </a:solidFill>
            <a:prstDash val="solid"/>
          </a:ln>
        </p:spPr>
      </p:sp>
      <p:sp>
        <p:nvSpPr>
          <p:cNvPr id="39" name="Pickup CF35"/>
          <p:cNvSpPr/>
          <p:nvPr/>
        </p:nvSpPr>
        <p:spPr>
          <a:xfrm>
            <a:off x="2425548" y="3407358"/>
            <a:ext cx="167508" cy="167508"/>
          </a:xfrm>
          <a:prstGeom prst="ellipse">
            <a:avLst/>
          </a:prstGeom>
          <a:solidFill>
            <a:srgbClr val="F2A541"/>
          </a:solidFill>
          <a:ln w="6350">
            <a:solidFill>
              <a:srgbClr val="FFFFFF"/>
            </a:solidFill>
            <a:prstDash val="solid"/>
          </a:ln>
        </p:spPr>
      </p:sp>
      <p:sp>
        <p:nvSpPr>
          <p:cNvPr id="40" name="Pickup CF15"/>
          <p:cNvSpPr/>
          <p:nvPr/>
        </p:nvSpPr>
        <p:spPr>
          <a:xfrm>
            <a:off x="3193739" y="3387081"/>
            <a:ext cx="107995" cy="107995"/>
          </a:xfrm>
          <a:prstGeom prst="ellipse">
            <a:avLst/>
          </a:prstGeom>
          <a:solidFill>
            <a:srgbClr val="3C6E9F"/>
          </a:solidFill>
          <a:ln w="6350">
            <a:solidFill>
              <a:srgbClr val="FFFFFF"/>
            </a:solidFill>
            <a:prstDash val="solid"/>
          </a:ln>
        </p:spPr>
      </p:sp>
      <p:sp>
        <p:nvSpPr>
          <p:cNvPr id="41" name="Pickup SA15"/>
          <p:cNvSpPr/>
          <p:nvPr/>
        </p:nvSpPr>
        <p:spPr>
          <a:xfrm>
            <a:off x="562032" y="2584594"/>
            <a:ext cx="156096" cy="156096"/>
          </a:xfrm>
          <a:prstGeom prst="ellipse">
            <a:avLst/>
          </a:prstGeom>
          <a:solidFill>
            <a:srgbClr val="2E7D6B"/>
          </a:solidFill>
          <a:ln w="6350">
            <a:solidFill>
              <a:srgbClr val="FFFFFF"/>
            </a:solidFill>
            <a:prstDash val="solid"/>
          </a:ln>
        </p:spPr>
      </p:sp>
      <p:sp>
        <p:nvSpPr>
          <p:cNvPr id="42" name="Pickup CF81"/>
          <p:cNvSpPr/>
          <p:nvPr/>
        </p:nvSpPr>
        <p:spPr>
          <a:xfrm>
            <a:off x="3249737" y="2575617"/>
            <a:ext cx="153619" cy="153619"/>
          </a:xfrm>
          <a:prstGeom prst="ellipse">
            <a:avLst/>
          </a:prstGeom>
          <a:solidFill>
            <a:srgbClr val="C2185B"/>
          </a:solidFill>
          <a:ln w="6350">
            <a:solidFill>
              <a:srgbClr val="FFFFFF"/>
            </a:solidFill>
            <a:prstDash val="solid"/>
          </a:ln>
        </p:spPr>
      </p:sp>
      <p:sp>
        <p:nvSpPr>
          <p:cNvPr id="43" name="Pickup CF62"/>
          <p:cNvSpPr/>
          <p:nvPr/>
        </p:nvSpPr>
        <p:spPr>
          <a:xfrm>
            <a:off x="3048667" y="3962699"/>
            <a:ext cx="169629" cy="169629"/>
          </a:xfrm>
          <a:prstGeom prst="ellipse">
            <a:avLst/>
          </a:prstGeom>
          <a:solidFill>
            <a:srgbClr val="2E7D6B"/>
          </a:solidFill>
          <a:ln w="6350">
            <a:solidFill>
              <a:srgbClr val="FFFFFF"/>
            </a:solidFill>
            <a:prstDash val="solid"/>
          </a:ln>
        </p:spPr>
      </p:sp>
      <p:sp>
        <p:nvSpPr>
          <p:cNvPr id="44" name="Pickup CF71"/>
          <p:cNvSpPr/>
          <p:nvPr/>
        </p:nvSpPr>
        <p:spPr>
          <a:xfrm>
            <a:off x="2611085" y="3688983"/>
            <a:ext cx="183336" cy="183336"/>
          </a:xfrm>
          <a:prstGeom prst="ellipse">
            <a:avLst/>
          </a:prstGeom>
          <a:solidFill>
            <a:srgbClr val="7CB342"/>
          </a:solidFill>
          <a:ln w="6350">
            <a:solidFill>
              <a:srgbClr val="FFFFFF"/>
            </a:solidFill>
            <a:prstDash val="solid"/>
          </a:ln>
        </p:spPr>
      </p:sp>
      <p:sp>
        <p:nvSpPr>
          <p:cNvPr id="45" name="Pickup CF82"/>
          <p:cNvSpPr/>
          <p:nvPr/>
        </p:nvSpPr>
        <p:spPr>
          <a:xfrm>
            <a:off x="3266811" y="2810842"/>
            <a:ext cx="158500" cy="158500"/>
          </a:xfrm>
          <a:prstGeom prst="ellipse">
            <a:avLst/>
          </a:prstGeom>
          <a:solidFill>
            <a:srgbClr val="8A5A9E"/>
          </a:solidFill>
          <a:ln w="6350">
            <a:solidFill>
              <a:srgbClr val="FFFFFF"/>
            </a:solidFill>
            <a:prstDash val="solid"/>
          </a:ln>
        </p:spPr>
      </p:sp>
      <p:sp>
        <p:nvSpPr>
          <p:cNvPr id="46" name="Pickup CF43"/>
          <p:cNvSpPr/>
          <p:nvPr/>
        </p:nvSpPr>
        <p:spPr>
          <a:xfrm>
            <a:off x="2657620" y="2789092"/>
            <a:ext cx="139872" cy="139872"/>
          </a:xfrm>
          <a:prstGeom prst="ellipse">
            <a:avLst/>
          </a:prstGeom>
          <a:solidFill>
            <a:srgbClr val="3C6E9F"/>
          </a:solidFill>
          <a:ln w="6350">
            <a:solidFill>
              <a:srgbClr val="FFFFFF"/>
            </a:solidFill>
            <a:prstDash val="solid"/>
          </a:ln>
        </p:spPr>
      </p:sp>
      <p:sp>
        <p:nvSpPr>
          <p:cNvPr id="47" name="Pickup CF45"/>
          <p:cNvSpPr/>
          <p:nvPr/>
        </p:nvSpPr>
        <p:spPr>
          <a:xfrm>
            <a:off x="2897378" y="2716068"/>
            <a:ext cx="173736" cy="173736"/>
          </a:xfrm>
          <a:prstGeom prst="ellipse">
            <a:avLst/>
          </a:prstGeom>
          <a:solidFill>
            <a:srgbClr val="C2185B"/>
          </a:solidFill>
          <a:ln w="6350">
            <a:solidFill>
              <a:srgbClr val="FFFFFF"/>
            </a:solidFill>
            <a:prstDash val="solid"/>
          </a:ln>
        </p:spPr>
      </p:sp>
      <p:sp>
        <p:nvSpPr>
          <p:cNvPr id="48" name="Pickup NP13"/>
          <p:cNvSpPr/>
          <p:nvPr/>
        </p:nvSpPr>
        <p:spPr>
          <a:xfrm>
            <a:off x="3544177" y="2412211"/>
            <a:ext cx="165339" cy="165339"/>
          </a:xfrm>
          <a:prstGeom prst="ellipse">
            <a:avLst/>
          </a:prstGeom>
          <a:solidFill>
            <a:srgbClr val="F2A541"/>
          </a:solidFill>
          <a:ln w="6350">
            <a:solidFill>
              <a:srgbClr val="FFFFFF"/>
            </a:solidFill>
            <a:prstDash val="solid"/>
          </a:ln>
        </p:spPr>
      </p:sp>
      <p:sp>
        <p:nvSpPr>
          <p:cNvPr id="49" name="Pickup SA80"/>
          <p:cNvSpPr/>
          <p:nvPr/>
        </p:nvSpPr>
        <p:spPr>
          <a:xfrm>
            <a:off x="1265025" y="2820666"/>
            <a:ext cx="167508" cy="167508"/>
          </a:xfrm>
          <a:prstGeom prst="ellipse">
            <a:avLst/>
          </a:prstGeom>
          <a:solidFill>
            <a:srgbClr val="C2185B"/>
          </a:solidFill>
          <a:ln w="6350">
            <a:solidFill>
              <a:srgbClr val="FFFFFF"/>
            </a:solidFill>
            <a:prstDash val="solid"/>
          </a:ln>
        </p:spPr>
      </p:sp>
      <p:sp>
        <p:nvSpPr>
          <p:cNvPr id="50" name="Pickup NP44"/>
          <p:cNvSpPr/>
          <p:nvPr/>
        </p:nvSpPr>
        <p:spPr>
          <a:xfrm>
            <a:off x="3887131" y="2819069"/>
            <a:ext cx="139872" cy="139872"/>
          </a:xfrm>
          <a:prstGeom prst="ellipse">
            <a:avLst/>
          </a:prstGeom>
          <a:solidFill>
            <a:srgbClr val="F2A541"/>
          </a:solidFill>
          <a:ln w="6350">
            <a:solidFill>
              <a:srgbClr val="FFFFFF"/>
            </a:solidFill>
            <a:prstDash val="solid"/>
          </a:ln>
        </p:spPr>
      </p:sp>
      <p:sp>
        <p:nvSpPr>
          <p:cNvPr id="51" name="Pickup NP24"/>
          <p:cNvSpPr/>
          <p:nvPr/>
        </p:nvSpPr>
        <p:spPr>
          <a:xfrm>
            <a:off x="3242504" y="2469796"/>
            <a:ext cx="203524" cy="203524"/>
          </a:xfrm>
          <a:prstGeom prst="ellipse">
            <a:avLst/>
          </a:prstGeom>
          <a:solidFill>
            <a:srgbClr val="1F2933"/>
          </a:solidFill>
          <a:ln w="6350">
            <a:solidFill>
              <a:srgbClr val="FFFFFF"/>
            </a:solidFill>
            <a:prstDash val="solid"/>
          </a:ln>
        </p:spPr>
      </p:sp>
      <p:sp>
        <p:nvSpPr>
          <p:cNvPr id="52" name="Pickup SA12"/>
          <p:cNvSpPr/>
          <p:nvPr/>
        </p:nvSpPr>
        <p:spPr>
          <a:xfrm>
            <a:off x="1628338" y="2995948"/>
            <a:ext cx="188714" cy="188714"/>
          </a:xfrm>
          <a:prstGeom prst="ellipse">
            <a:avLst/>
          </a:prstGeom>
          <a:solidFill>
            <a:srgbClr val="8A5A9E"/>
          </a:solidFill>
          <a:ln w="6350">
            <a:solidFill>
              <a:srgbClr val="FFFFFF"/>
            </a:solidFill>
            <a:prstDash val="solid"/>
          </a:ln>
        </p:spPr>
      </p:sp>
      <p:sp>
        <p:nvSpPr>
          <p:cNvPr id="53" name="Pickup NP4"/>
          <p:cNvSpPr/>
          <p:nvPr/>
        </p:nvSpPr>
        <p:spPr>
          <a:xfrm>
            <a:off x="3813501" y="2481934"/>
            <a:ext cx="175728" cy="175728"/>
          </a:xfrm>
          <a:prstGeom prst="ellipse">
            <a:avLst/>
          </a:prstGeom>
          <a:solidFill>
            <a:srgbClr val="C2185B"/>
          </a:solidFill>
          <a:ln w="6350">
            <a:solidFill>
              <a:srgbClr val="FFFFFF"/>
            </a:solidFill>
            <a:prstDash val="solid"/>
          </a:ln>
        </p:spPr>
      </p:sp>
      <p:sp>
        <p:nvSpPr>
          <p:cNvPr id="54" name="Pickup NP12"/>
          <p:cNvSpPr/>
          <p:nvPr/>
        </p:nvSpPr>
        <p:spPr>
          <a:xfrm>
            <a:off x="3384365" y="2726952"/>
            <a:ext cx="156096" cy="156096"/>
          </a:xfrm>
          <a:prstGeom prst="ellipse">
            <a:avLst/>
          </a:prstGeom>
          <a:solidFill>
            <a:srgbClr val="8A5A9E"/>
          </a:solidFill>
          <a:ln w="6350">
            <a:solidFill>
              <a:srgbClr val="FFFFFF"/>
            </a:solidFill>
            <a:prstDash val="solid"/>
          </a:ln>
        </p:spPr>
      </p:sp>
      <p:sp>
        <p:nvSpPr>
          <p:cNvPr id="55" name="Pickup CF40"/>
          <p:cNvSpPr/>
          <p:nvPr/>
        </p:nvSpPr>
        <p:spPr>
          <a:xfrm>
            <a:off x="2635366" y="2944939"/>
            <a:ext cx="177682" cy="177682"/>
          </a:xfrm>
          <a:prstGeom prst="ellipse">
            <a:avLst/>
          </a:prstGeom>
          <a:solidFill>
            <a:srgbClr val="F2A541"/>
          </a:solidFill>
          <a:ln w="6350">
            <a:solidFill>
              <a:srgbClr val="FFFFFF"/>
            </a:solidFill>
            <a:prstDash val="solid"/>
          </a:ln>
        </p:spPr>
      </p:sp>
      <p:sp>
        <p:nvSpPr>
          <p:cNvPr id="56" name="Pickup CF48"/>
          <p:cNvSpPr/>
          <p:nvPr/>
        </p:nvSpPr>
        <p:spPr>
          <a:xfrm>
            <a:off x="2890584" y="2399006"/>
            <a:ext cx="133502" cy="133502"/>
          </a:xfrm>
          <a:prstGeom prst="ellipse">
            <a:avLst/>
          </a:prstGeom>
          <a:solidFill>
            <a:srgbClr val="C2185B"/>
          </a:solidFill>
          <a:ln w="6350">
            <a:solidFill>
              <a:srgbClr val="FFFFFF"/>
            </a:solidFill>
            <a:prstDash val="solid"/>
          </a:ln>
        </p:spPr>
      </p:sp>
      <p:sp>
        <p:nvSpPr>
          <p:cNvPr id="57" name="Pickup SA4"/>
          <p:cNvSpPr/>
          <p:nvPr/>
        </p:nvSpPr>
        <p:spPr>
          <a:xfrm>
            <a:off x="902037" y="2701014"/>
            <a:ext cx="169629" cy="169629"/>
          </a:xfrm>
          <a:prstGeom prst="ellipse">
            <a:avLst/>
          </a:prstGeom>
          <a:solidFill>
            <a:srgbClr val="F2A541"/>
          </a:solidFill>
          <a:ln w="6350">
            <a:solidFill>
              <a:srgbClr val="FFFFFF"/>
            </a:solidFill>
            <a:prstDash val="solid"/>
          </a:ln>
        </p:spPr>
      </p:sp>
      <p:sp>
        <p:nvSpPr>
          <p:cNvPr id="58" name="Pickup CF41"/>
          <p:cNvSpPr/>
          <p:nvPr/>
        </p:nvSpPr>
        <p:spPr>
          <a:xfrm>
            <a:off x="2549942" y="2821235"/>
            <a:ext cx="171704" cy="171704"/>
          </a:xfrm>
          <a:prstGeom prst="ellipse">
            <a:avLst/>
          </a:prstGeom>
          <a:solidFill>
            <a:srgbClr val="C2185B"/>
          </a:solidFill>
          <a:ln w="6350">
            <a:solidFill>
              <a:srgbClr val="FFFFFF"/>
            </a:solidFill>
            <a:prstDash val="solid"/>
          </a:ln>
        </p:spPr>
      </p:sp>
      <p:sp>
        <p:nvSpPr>
          <p:cNvPr id="59" name="Pickup NP10"/>
          <p:cNvSpPr/>
          <p:nvPr/>
        </p:nvSpPr>
        <p:spPr>
          <a:xfrm>
            <a:off x="3836186" y="3168773"/>
            <a:ext cx="126376" cy="126376"/>
          </a:xfrm>
          <a:prstGeom prst="ellipse">
            <a:avLst/>
          </a:prstGeom>
          <a:solidFill>
            <a:srgbClr val="3C6E9F"/>
          </a:solidFill>
          <a:ln w="6350">
            <a:solidFill>
              <a:srgbClr val="FFFFFF"/>
            </a:solidFill>
            <a:prstDash val="solid"/>
          </a:ln>
        </p:spPr>
      </p:sp>
      <p:sp>
        <p:nvSpPr>
          <p:cNvPr id="60" name="Pickup CF63"/>
          <p:cNvSpPr/>
          <p:nvPr/>
        </p:nvSpPr>
        <p:spPr>
          <a:xfrm>
            <a:off x="3205985" y="3924803"/>
            <a:ext cx="167508" cy="167508"/>
          </a:xfrm>
          <a:prstGeom prst="ellipse">
            <a:avLst/>
          </a:prstGeom>
          <a:solidFill>
            <a:srgbClr val="D6453D"/>
          </a:solidFill>
          <a:ln w="6350">
            <a:solidFill>
              <a:srgbClr val="FFFFFF"/>
            </a:solidFill>
            <a:prstDash val="solid"/>
          </a:ln>
        </p:spPr>
      </p:sp>
      <p:sp>
        <p:nvSpPr>
          <p:cNvPr id="61" name="Pickup CF61"/>
          <p:cNvSpPr/>
          <p:nvPr/>
        </p:nvSpPr>
        <p:spPr>
          <a:xfrm>
            <a:off x="2556568" y="3945067"/>
            <a:ext cx="163117" cy="163117"/>
          </a:xfrm>
          <a:prstGeom prst="ellipse">
            <a:avLst/>
          </a:prstGeom>
          <a:solidFill>
            <a:srgbClr val="7CB342"/>
          </a:solidFill>
          <a:ln w="6350">
            <a:solidFill>
              <a:srgbClr val="FFFFFF"/>
            </a:solidFill>
            <a:prstDash val="solid"/>
          </a:ln>
        </p:spPr>
      </p:sp>
      <p:sp>
        <p:nvSpPr>
          <p:cNvPr id="62" name="Pickup SA18"/>
          <p:cNvSpPr/>
          <p:nvPr/>
        </p:nvSpPr>
        <p:spPr>
          <a:xfrm>
            <a:off x="1188161" y="2148703"/>
            <a:ext cx="107995" cy="107995"/>
          </a:xfrm>
          <a:prstGeom prst="ellipse">
            <a:avLst/>
          </a:prstGeom>
          <a:solidFill>
            <a:srgbClr val="F2A541"/>
          </a:solidFill>
          <a:ln w="6350">
            <a:solidFill>
              <a:srgbClr val="FFFFFF"/>
            </a:solidFill>
            <a:prstDash val="solid"/>
          </a:ln>
        </p:spPr>
      </p:sp>
      <p:sp>
        <p:nvSpPr>
          <p:cNvPr id="63" name="Pickup CF38"/>
          <p:cNvSpPr/>
          <p:nvPr/>
        </p:nvSpPr>
        <p:spPr>
          <a:xfrm>
            <a:off x="2990816" y="3234563"/>
            <a:ext cx="158500" cy="158500"/>
          </a:xfrm>
          <a:prstGeom prst="ellipse">
            <a:avLst/>
          </a:prstGeom>
          <a:solidFill>
            <a:srgbClr val="3C6E9F"/>
          </a:solidFill>
          <a:ln w="6350">
            <a:solidFill>
              <a:srgbClr val="FFFFFF"/>
            </a:solidFill>
            <a:prstDash val="solid"/>
          </a:ln>
        </p:spPr>
      </p:sp>
      <p:sp>
        <p:nvSpPr>
          <p:cNvPr id="64" name="Principality Stadium"/>
          <p:cNvSpPr/>
          <p:nvPr/>
        </p:nvSpPr>
        <p:spPr>
          <a:xfrm>
            <a:off x="3388031" y="3580345"/>
            <a:ext cx="237744" cy="237744"/>
          </a:xfrm>
          <a:prstGeom prst="star5">
            <a:avLst/>
          </a:prstGeom>
          <a:solidFill>
            <a:srgbClr val="F2A541"/>
          </a:solidFill>
          <a:ln w="9525">
            <a:solidFill>
              <a:srgbClr val="1F2933"/>
            </a:solidFill>
            <a:prstDash val="solid"/>
          </a:ln>
        </p:spPr>
      </p:sp>
      <p:sp>
        <p:nvSpPr>
          <p:cNvPr id="65" name="Text 63"/>
          <p:cNvSpPr txBox="1"/>
          <p:nvPr/>
        </p:nvSpPr>
        <p:spPr>
          <a:xfrm>
            <a:off x="548640" y="4343400"/>
            <a:ext cx="3749040" cy="228600"/>
          </a:xfrm>
          <a:prstGeom prst="rect">
            <a:avLst/>
          </a:prstGeom>
          <a:noFill/>
          <a:ln/>
        </p:spPr>
        <p:txBody>
          <a:bodyPr wrap="square" lIns="0" tIns="0" rIns="0" bIns="0" rtlCol="0" anchor="ctr"/>
          <a:lstStyle/>
          <a:p>
            <a:pPr algn="ctr" indent="0" marL="0">
              <a:buNone/>
            </a:pPr>
            <a:r>
              <a:rPr lang="en-US" sz="1000" dirty="0">
                <a:solidFill>
                  <a:schemeClr val="accent6"/>
                </a:solidFill>
              </a:rPr>
              <a:t>Fixed-price plan: colour = shared bus · ★ stadium</a:t>
            </a:r>
            <a:endParaRPr lang="en-US" sz="1000" dirty="0"/>
          </a:p>
        </p:txBody>
      </p:sp>
      <p:sp>
        <p:nvSpPr>
          <p:cNvPr id="66" name="Shape 64"/>
          <p:cNvSpPr/>
          <p:nvPr/>
        </p:nvSpPr>
        <p:spPr>
          <a:xfrm>
            <a:off x="4709160" y="1188720"/>
            <a:ext cx="384048" cy="384048"/>
          </a:xfrm>
          <a:prstGeom prst="ellipse">
            <a:avLst/>
          </a:prstGeom>
          <a:solidFill>
            <a:srgbClr val="D6453D"/>
          </a:solidFill>
          <a:ln w="12700">
            <a:solidFill>
              <a:srgbClr val="D6453D"/>
            </a:solidFill>
            <a:prstDash val="solid"/>
          </a:ln>
        </p:spPr>
      </p:sp>
      <p:sp>
        <p:nvSpPr>
          <p:cNvPr id="67" name="Text 65"/>
          <p:cNvSpPr txBox="1"/>
          <p:nvPr/>
        </p:nvSpPr>
        <p:spPr>
          <a:xfrm>
            <a:off x="4709160" y="1188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8" name="Text 66"/>
          <p:cNvSpPr txBox="1"/>
          <p:nvPr/>
        </p:nvSpPr>
        <p:spPr>
          <a:xfrm>
            <a:off x="5257800" y="1143000"/>
            <a:ext cx="3429000" cy="292608"/>
          </a:xfrm>
          <a:prstGeom prst="rect">
            <a:avLst/>
          </a:prstGeom>
          <a:noFill/>
          <a:ln/>
        </p:spPr>
        <p:txBody>
          <a:bodyPr wrap="square" lIns="0" tIns="0" rIns="0" bIns="0" rtlCol="0" anchor="ctr"/>
          <a:lstStyle/>
          <a:p>
            <a:pPr indent="0" marL="0">
              <a:buNone/>
            </a:pPr>
            <a:r>
              <a:rPr lang="en-US" sz="1600" b="1" dirty="0">
                <a:solidFill>
                  <a:schemeClr val="tx1"/>
                </a:solidFill>
              </a:rPr>
              <a:t>Run</a:t>
            </a:r>
            <a:endParaRPr lang="en-US" sz="1600" dirty="0"/>
          </a:p>
        </p:txBody>
      </p:sp>
      <p:sp>
        <p:nvSpPr>
          <p:cNvPr id="69" name="Text 67"/>
          <p:cNvSpPr txBox="1"/>
          <p:nvPr/>
        </p:nvSpPr>
        <p:spPr>
          <a:xfrm>
            <a:off x="5257800" y="1435608"/>
            <a:ext cx="3429000" cy="457200"/>
          </a:xfrm>
          <a:prstGeom prst="rect">
            <a:avLst/>
          </a:prstGeom>
          <a:noFill/>
          <a:ln/>
        </p:spPr>
        <p:txBody>
          <a:bodyPr wrap="square" lIns="0" tIns="0" rIns="0" bIns="0" rtlCol="0" anchor="t"/>
          <a:lstStyle/>
          <a:p>
            <a:pPr indent="0" marL="0">
              <a:buNone/>
            </a:pPr>
            <a:r>
              <a:rPr lang="en-US" sz="1400" dirty="0">
                <a:solidFill>
                  <a:schemeClr val="tx2"/>
                </a:solidFill>
              </a:rPr>
              <a:t>Fixed-price plan in 20 s, labelled proven optimal</a:t>
            </a:r>
            <a:endParaRPr lang="en-US" sz="1400" dirty="0"/>
          </a:p>
        </p:txBody>
      </p:sp>
      <p:sp>
        <p:nvSpPr>
          <p:cNvPr id="70" name="Shape 68"/>
          <p:cNvSpPr/>
          <p:nvPr/>
        </p:nvSpPr>
        <p:spPr>
          <a:xfrm>
            <a:off x="4709160" y="2057400"/>
            <a:ext cx="384048" cy="384048"/>
          </a:xfrm>
          <a:prstGeom prst="ellipse">
            <a:avLst/>
          </a:prstGeom>
          <a:solidFill>
            <a:srgbClr val="D6453D"/>
          </a:solidFill>
          <a:ln w="12700">
            <a:solidFill>
              <a:srgbClr val="D6453D"/>
            </a:solidFill>
            <a:prstDash val="solid"/>
          </a:ln>
        </p:spPr>
      </p:sp>
      <p:sp>
        <p:nvSpPr>
          <p:cNvPr id="71" name="Text 69"/>
          <p:cNvSpPr txBox="1"/>
          <p:nvPr/>
        </p:nvSpPr>
        <p:spPr>
          <a:xfrm>
            <a:off x="4709160" y="20574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72" name="Text 70"/>
          <p:cNvSpPr txBox="1"/>
          <p:nvPr/>
        </p:nvSpPr>
        <p:spPr>
          <a:xfrm>
            <a:off x="5257800" y="2011680"/>
            <a:ext cx="3429000" cy="292608"/>
          </a:xfrm>
          <a:prstGeom prst="rect">
            <a:avLst/>
          </a:prstGeom>
          <a:noFill/>
          <a:ln/>
        </p:spPr>
        <p:txBody>
          <a:bodyPr wrap="square" lIns="0" tIns="0" rIns="0" bIns="0" rtlCol="0" anchor="ctr"/>
          <a:lstStyle/>
          <a:p>
            <a:pPr indent="0" marL="0">
              <a:buNone/>
            </a:pPr>
            <a:r>
              <a:rPr lang="en-US" sz="1600" b="1" dirty="0">
                <a:solidFill>
                  <a:schemeClr val="tx1"/>
                </a:solidFill>
              </a:rPr>
              <a:t>Explore</a:t>
            </a:r>
            <a:endParaRPr lang="en-US" sz="1600" dirty="0"/>
          </a:p>
        </p:txBody>
      </p:sp>
      <p:sp>
        <p:nvSpPr>
          <p:cNvPr id="73" name="Text 71"/>
          <p:cNvSpPr txBox="1"/>
          <p:nvPr/>
        </p:nvSpPr>
        <p:spPr>
          <a:xfrm>
            <a:off x="5257800" y="2304288"/>
            <a:ext cx="3429000" cy="457200"/>
          </a:xfrm>
          <a:prstGeom prst="rect">
            <a:avLst/>
          </a:prstGeom>
          <a:noFill/>
          <a:ln/>
        </p:spPr>
        <p:txBody>
          <a:bodyPr wrap="square" lIns="0" tIns="0" rIns="0" bIns="0" rtlCol="0" anchor="t"/>
          <a:lstStyle/>
          <a:p>
            <a:pPr indent="0" marL="0">
              <a:buNone/>
            </a:pPr>
            <a:r>
              <a:rPr lang="en-US" sz="1400" dirty="0">
                <a:solidFill>
                  <a:schemeClr val="tx2"/>
                </a:solidFill>
              </a:rPr>
              <a:t>Click a school: its bus, pickup order and cost share</a:t>
            </a:r>
            <a:endParaRPr lang="en-US" sz="1400" dirty="0"/>
          </a:p>
        </p:txBody>
      </p:sp>
      <p:sp>
        <p:nvSpPr>
          <p:cNvPr id="74" name="Shape 72"/>
          <p:cNvSpPr/>
          <p:nvPr/>
        </p:nvSpPr>
        <p:spPr>
          <a:xfrm>
            <a:off x="4709160" y="2926080"/>
            <a:ext cx="384048" cy="384048"/>
          </a:xfrm>
          <a:prstGeom prst="ellipse">
            <a:avLst/>
          </a:prstGeom>
          <a:solidFill>
            <a:srgbClr val="D6453D"/>
          </a:solidFill>
          <a:ln w="12700">
            <a:solidFill>
              <a:srgbClr val="D6453D"/>
            </a:solidFill>
            <a:prstDash val="solid"/>
          </a:ln>
        </p:spPr>
      </p:sp>
      <p:sp>
        <p:nvSpPr>
          <p:cNvPr id="75" name="Text 73"/>
          <p:cNvSpPr txBox="1"/>
          <p:nvPr/>
        </p:nvSpPr>
        <p:spPr>
          <a:xfrm>
            <a:off x="4709160" y="29260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76" name="Text 74"/>
          <p:cNvSpPr txBox="1"/>
          <p:nvPr/>
        </p:nvSpPr>
        <p:spPr>
          <a:xfrm>
            <a:off x="5257800" y="2880360"/>
            <a:ext cx="3429000" cy="292608"/>
          </a:xfrm>
          <a:prstGeom prst="rect">
            <a:avLst/>
          </a:prstGeom>
          <a:noFill/>
          <a:ln/>
        </p:spPr>
        <p:txBody>
          <a:bodyPr wrap="square" lIns="0" tIns="0" rIns="0" bIns="0" rtlCol="0" anchor="ctr"/>
          <a:lstStyle/>
          <a:p>
            <a:pPr indent="0" marL="0">
              <a:buNone/>
            </a:pPr>
            <a:r>
              <a:rPr lang="en-US" sz="1600" b="1" dirty="0">
                <a:solidFill>
                  <a:schemeClr val="tx1"/>
                </a:solidFill>
              </a:rPr>
              <a:t>Adjust</a:t>
            </a:r>
            <a:endParaRPr lang="en-US" sz="1600" dirty="0"/>
          </a:p>
        </p:txBody>
      </p:sp>
      <p:sp>
        <p:nvSpPr>
          <p:cNvPr id="77" name="Text 75"/>
          <p:cNvSpPr txBox="1"/>
          <p:nvPr/>
        </p:nvSpPr>
        <p:spPr>
          <a:xfrm>
            <a:off x="5257800" y="3172968"/>
            <a:ext cx="3429000" cy="457200"/>
          </a:xfrm>
          <a:prstGeom prst="rect">
            <a:avLst/>
          </a:prstGeom>
          <a:noFill/>
          <a:ln/>
        </p:spPr>
        <p:txBody>
          <a:bodyPr wrap="square" lIns="0" tIns="0" rIns="0" bIns="0" rtlCol="0" anchor="t"/>
          <a:lstStyle/>
          <a:p>
            <a:pPr indent="0" marL="0">
              <a:buNone/>
            </a:pPr>
            <a:r>
              <a:rPr lang="en-US" sz="1400" dirty="0">
                <a:solidFill>
                  <a:schemeClr val="tx2"/>
                </a:solidFill>
              </a:rPr>
              <a:t>CF15 brings 25, SA18 brings 20: the plan re-optimises itself</a:t>
            </a:r>
            <a:endParaRPr lang="en-US" sz="1400" dirty="0"/>
          </a:p>
        </p:txBody>
      </p:sp>
      <p:sp>
        <p:nvSpPr>
          <p:cNvPr id="78" name="Shape 76"/>
          <p:cNvSpPr/>
          <p:nvPr/>
        </p:nvSpPr>
        <p:spPr>
          <a:xfrm>
            <a:off x="4709160" y="3794760"/>
            <a:ext cx="384048" cy="384048"/>
          </a:xfrm>
          <a:prstGeom prst="ellipse">
            <a:avLst/>
          </a:prstGeom>
          <a:solidFill>
            <a:srgbClr val="D6453D"/>
          </a:solidFill>
          <a:ln w="12700">
            <a:solidFill>
              <a:srgbClr val="D6453D"/>
            </a:solidFill>
            <a:prstDash val="solid"/>
          </a:ln>
        </p:spPr>
      </p:sp>
      <p:sp>
        <p:nvSpPr>
          <p:cNvPr id="79" name="Text 77"/>
          <p:cNvSpPr txBox="1"/>
          <p:nvPr/>
        </p:nvSpPr>
        <p:spPr>
          <a:xfrm>
            <a:off x="4709160" y="37947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80" name="Text 78"/>
          <p:cNvSpPr txBox="1"/>
          <p:nvPr/>
        </p:nvSpPr>
        <p:spPr>
          <a:xfrm>
            <a:off x="5257800" y="3749040"/>
            <a:ext cx="3429000" cy="292608"/>
          </a:xfrm>
          <a:prstGeom prst="rect">
            <a:avLst/>
          </a:prstGeom>
          <a:noFill/>
          <a:ln/>
        </p:spPr>
        <p:txBody>
          <a:bodyPr wrap="square" lIns="0" tIns="0" rIns="0" bIns="0" rtlCol="0" anchor="ctr"/>
          <a:lstStyle/>
          <a:p>
            <a:pPr indent="0" marL="0">
              <a:buNone/>
            </a:pPr>
            <a:r>
              <a:rPr lang="en-US" sz="1600" b="1" dirty="0">
                <a:solidFill>
                  <a:schemeClr val="tx1"/>
                </a:solidFill>
              </a:rPr>
              <a:t>What-if</a:t>
            </a:r>
            <a:endParaRPr lang="en-US" sz="1600" dirty="0"/>
          </a:p>
        </p:txBody>
      </p:sp>
      <p:sp>
        <p:nvSpPr>
          <p:cNvPr id="81" name="Text 79"/>
          <p:cNvSpPr txBox="1"/>
          <p:nvPr/>
        </p:nvSpPr>
        <p:spPr>
          <a:xfrm>
            <a:off x="5257800" y="4041648"/>
            <a:ext cx="3429000" cy="457200"/>
          </a:xfrm>
          <a:prstGeom prst="rect">
            <a:avLst/>
          </a:prstGeom>
          <a:noFill/>
          <a:ln/>
        </p:spPr>
        <p:txBody>
          <a:bodyPr wrap="square" lIns="0" tIns="0" rIns="0" bIns="0" rtlCol="0" anchor="t"/>
          <a:lstStyle/>
          <a:p>
            <a:pPr indent="0" marL="0">
              <a:buNone/>
            </a:pPr>
            <a:r>
              <a:rPr lang="en-US" sz="1400" dirty="0">
                <a:solidFill>
                  <a:schemeClr val="tx2"/>
                </a:solidFill>
              </a:rPr>
              <a:t>+10% attendance as a separate scenario; adopt only with a tick</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The AI assistant proposes; people decide</a:t>
            </a:r>
            <a:endParaRPr lang="en-US" sz="3000" dirty="0"/>
          </a:p>
        </p:txBody>
      </p:sp>
      <p:sp>
        <p:nvSpPr>
          <p:cNvPr id="3" name="Step Organiser types"/>
          <p:cNvSpPr/>
          <p:nvPr/>
        </p:nvSpPr>
        <p:spPr>
          <a:xfrm>
            <a:off x="457200" y="1234440"/>
            <a:ext cx="1517904" cy="2103120"/>
          </a:xfrm>
          <a:prstGeom prst="roundRect">
            <a:avLst>
              <a:gd name="adj" fmla="val 4819"/>
            </a:avLst>
          </a:prstGeom>
          <a:solidFill>
            <a:srgbClr val="F5F6F8"/>
          </a:solidFill>
          <a:ln w="12700">
            <a:solidFill>
              <a:srgbClr val="F5F6F8"/>
            </a:solidFill>
            <a:prstDash val="solid"/>
          </a:ln>
        </p:spPr>
      </p:sp>
      <p:sp>
        <p:nvSpPr>
          <p:cNvPr id="4" name="Shape 2"/>
          <p:cNvSpPr/>
          <p:nvPr/>
        </p:nvSpPr>
        <p:spPr>
          <a:xfrm>
            <a:off x="1014984" y="1371600"/>
            <a:ext cx="402336" cy="402336"/>
          </a:xfrm>
          <a:prstGeom prst="ellipse">
            <a:avLst/>
          </a:prstGeom>
          <a:solidFill>
            <a:srgbClr val="6B7785"/>
          </a:solidFill>
          <a:ln w="12700">
            <a:solidFill>
              <a:srgbClr val="6B7785"/>
            </a:solidFill>
            <a:prstDash val="solid"/>
          </a:ln>
        </p:spPr>
      </p:sp>
      <p:sp>
        <p:nvSpPr>
          <p:cNvPr id="5" name="Text 3"/>
          <p:cNvSpPr txBox="1"/>
          <p:nvPr/>
        </p:nvSpPr>
        <p:spPr>
          <a:xfrm>
            <a:off x="1014984" y="137160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548640" y="1828800"/>
            <a:ext cx="1335024" cy="548640"/>
          </a:xfrm>
          <a:prstGeom prst="rect">
            <a:avLst/>
          </a:prstGeom>
          <a:noFill/>
          <a:ln/>
        </p:spPr>
        <p:txBody>
          <a:bodyPr wrap="square" lIns="0" tIns="0" rIns="0" bIns="0" rtlCol="0" anchor="ctr"/>
          <a:lstStyle/>
          <a:p>
            <a:pPr algn="ctr" indent="0" marL="0">
              <a:buNone/>
            </a:pPr>
            <a:r>
              <a:rPr lang="en-US" sz="1400" b="1" dirty="0">
                <a:solidFill>
                  <a:schemeClr val="tx1"/>
                </a:solidFill>
              </a:rPr>
              <a:t>Organiser types</a:t>
            </a:r>
            <a:endParaRPr lang="en-US" sz="1400" dirty="0"/>
          </a:p>
        </p:txBody>
      </p:sp>
      <p:sp>
        <p:nvSpPr>
          <p:cNvPr id="7" name="Text 5"/>
          <p:cNvSpPr txBox="1"/>
          <p:nvPr/>
        </p:nvSpPr>
        <p:spPr>
          <a:xfrm>
            <a:off x="548640" y="2423160"/>
            <a:ext cx="1335024" cy="868680"/>
          </a:xfrm>
          <a:prstGeom prst="rect">
            <a:avLst/>
          </a:prstGeom>
          <a:noFill/>
          <a:ln/>
        </p:spPr>
        <p:txBody>
          <a:bodyPr wrap="square" lIns="0" tIns="0" rIns="0" bIns="0" rtlCol="0" anchor="t"/>
          <a:lstStyle/>
          <a:p>
            <a:pPr algn="ctr" indent="0" marL="0">
              <a:buNone/>
            </a:pPr>
            <a:r>
              <a:rPr lang="en-US" sz="1200" dirty="0">
                <a:solidFill>
                  <a:schemeClr val="tx2"/>
                </a:solidFill>
              </a:rPr>
              <a:t>"NP11 now brings 15 people"</a:t>
            </a:r>
            <a:endParaRPr lang="en-US" sz="1200" dirty="0"/>
          </a:p>
        </p:txBody>
      </p:sp>
      <p:sp>
        <p:nvSpPr>
          <p:cNvPr id="8" name="Text 6"/>
          <p:cNvSpPr txBox="1"/>
          <p:nvPr/>
        </p:nvSpPr>
        <p:spPr>
          <a:xfrm>
            <a:off x="1956816" y="2011680"/>
            <a:ext cx="201168" cy="457200"/>
          </a:xfrm>
          <a:prstGeom prst="rect">
            <a:avLst/>
          </a:prstGeom>
          <a:noFill/>
          <a:ln/>
        </p:spPr>
        <p:txBody>
          <a:bodyPr wrap="square" lIns="0" tIns="0" rIns="0" bIns="0" rtlCol="0" anchor="ctr"/>
          <a:lstStyle/>
          <a:p>
            <a:pPr algn="ctr" indent="0" marL="0">
              <a:buNone/>
            </a:pPr>
            <a:r>
              <a:rPr lang="en-US" sz="2400" b="1" dirty="0">
                <a:solidFill>
                  <a:schemeClr val="accent6"/>
                </a:solidFill>
              </a:rPr>
              <a:t>›</a:t>
            </a:r>
            <a:endParaRPr lang="en-US" sz="2400" dirty="0"/>
          </a:p>
        </p:txBody>
      </p:sp>
      <p:sp>
        <p:nvSpPr>
          <p:cNvPr id="9" name="Step Language model"/>
          <p:cNvSpPr/>
          <p:nvPr/>
        </p:nvSpPr>
        <p:spPr>
          <a:xfrm>
            <a:off x="2139696" y="1234440"/>
            <a:ext cx="1517904" cy="2103120"/>
          </a:xfrm>
          <a:prstGeom prst="roundRect">
            <a:avLst>
              <a:gd name="adj" fmla="val 4819"/>
            </a:avLst>
          </a:prstGeom>
          <a:solidFill>
            <a:srgbClr val="F5F6F8"/>
          </a:solidFill>
          <a:ln w="12700">
            <a:solidFill>
              <a:srgbClr val="F5F6F8"/>
            </a:solidFill>
            <a:prstDash val="solid"/>
          </a:ln>
        </p:spPr>
      </p:sp>
      <p:sp>
        <p:nvSpPr>
          <p:cNvPr id="10" name="Shape 8"/>
          <p:cNvSpPr/>
          <p:nvPr/>
        </p:nvSpPr>
        <p:spPr>
          <a:xfrm>
            <a:off x="2697480" y="1371600"/>
            <a:ext cx="402336" cy="402336"/>
          </a:xfrm>
          <a:prstGeom prst="ellipse">
            <a:avLst/>
          </a:prstGeom>
          <a:solidFill>
            <a:srgbClr val="8A5A9E"/>
          </a:solidFill>
          <a:ln w="12700">
            <a:solidFill>
              <a:srgbClr val="8A5A9E"/>
            </a:solidFill>
            <a:prstDash val="solid"/>
          </a:ln>
        </p:spPr>
      </p:sp>
      <p:sp>
        <p:nvSpPr>
          <p:cNvPr id="11" name="Text 9"/>
          <p:cNvSpPr txBox="1"/>
          <p:nvPr/>
        </p:nvSpPr>
        <p:spPr>
          <a:xfrm>
            <a:off x="2697480" y="137160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2231136" y="1828800"/>
            <a:ext cx="1335024" cy="548640"/>
          </a:xfrm>
          <a:prstGeom prst="rect">
            <a:avLst/>
          </a:prstGeom>
          <a:noFill/>
          <a:ln/>
        </p:spPr>
        <p:txBody>
          <a:bodyPr wrap="square" lIns="0" tIns="0" rIns="0" bIns="0" rtlCol="0" anchor="ctr"/>
          <a:lstStyle/>
          <a:p>
            <a:pPr algn="ctr" indent="0" marL="0">
              <a:buNone/>
            </a:pPr>
            <a:r>
              <a:rPr lang="en-US" sz="1400" b="1" dirty="0">
                <a:solidFill>
                  <a:schemeClr val="tx1"/>
                </a:solidFill>
              </a:rPr>
              <a:t>Language model</a:t>
            </a:r>
            <a:endParaRPr lang="en-US" sz="1400" dirty="0"/>
          </a:p>
        </p:txBody>
      </p:sp>
      <p:sp>
        <p:nvSpPr>
          <p:cNvPr id="13" name="Text 11"/>
          <p:cNvSpPr txBox="1"/>
          <p:nvPr/>
        </p:nvSpPr>
        <p:spPr>
          <a:xfrm>
            <a:off x="2231136" y="2423160"/>
            <a:ext cx="1335024" cy="868680"/>
          </a:xfrm>
          <a:prstGeom prst="rect">
            <a:avLst/>
          </a:prstGeom>
          <a:noFill/>
          <a:ln/>
        </p:spPr>
        <p:txBody>
          <a:bodyPr wrap="square" lIns="0" tIns="0" rIns="0" bIns="0" rtlCol="0" anchor="t"/>
          <a:lstStyle/>
          <a:p>
            <a:pPr algn="ctr" indent="0" marL="0">
              <a:buNone/>
            </a:pPr>
            <a:r>
              <a:rPr lang="en-US" sz="1200" dirty="0">
                <a:solidFill>
                  <a:schemeClr val="tx2"/>
                </a:solidFill>
              </a:rPr>
              <a:t>GPT-4.1 mini returns a structured proposal (JSON only, no tools)</a:t>
            </a:r>
            <a:endParaRPr lang="en-US" sz="1200" dirty="0"/>
          </a:p>
        </p:txBody>
      </p:sp>
      <p:sp>
        <p:nvSpPr>
          <p:cNvPr id="14" name="Text 12"/>
          <p:cNvSpPr txBox="1"/>
          <p:nvPr/>
        </p:nvSpPr>
        <p:spPr>
          <a:xfrm>
            <a:off x="3639312" y="2011680"/>
            <a:ext cx="201168" cy="457200"/>
          </a:xfrm>
          <a:prstGeom prst="rect">
            <a:avLst/>
          </a:prstGeom>
          <a:noFill/>
          <a:ln/>
        </p:spPr>
        <p:txBody>
          <a:bodyPr wrap="square" lIns="0" tIns="0" rIns="0" bIns="0" rtlCol="0" anchor="ctr"/>
          <a:lstStyle/>
          <a:p>
            <a:pPr algn="ctr" indent="0" marL="0">
              <a:buNone/>
            </a:pPr>
            <a:r>
              <a:rPr lang="en-US" sz="2400" b="1" dirty="0">
                <a:solidFill>
                  <a:schemeClr val="accent6"/>
                </a:solidFill>
              </a:rPr>
              <a:t>›</a:t>
            </a:r>
            <a:endParaRPr lang="en-US" sz="2400" dirty="0"/>
          </a:p>
        </p:txBody>
      </p:sp>
      <p:sp>
        <p:nvSpPr>
          <p:cNvPr id="15" name="Step App checks"/>
          <p:cNvSpPr/>
          <p:nvPr/>
        </p:nvSpPr>
        <p:spPr>
          <a:xfrm>
            <a:off x="3822192" y="1234440"/>
            <a:ext cx="1517904" cy="2103120"/>
          </a:xfrm>
          <a:prstGeom prst="roundRect">
            <a:avLst>
              <a:gd name="adj" fmla="val 4819"/>
            </a:avLst>
          </a:prstGeom>
          <a:solidFill>
            <a:srgbClr val="F5F6F8"/>
          </a:solidFill>
          <a:ln w="12700">
            <a:solidFill>
              <a:srgbClr val="F5F6F8"/>
            </a:solidFill>
            <a:prstDash val="solid"/>
          </a:ln>
        </p:spPr>
      </p:sp>
      <p:sp>
        <p:nvSpPr>
          <p:cNvPr id="16" name="Shape 14"/>
          <p:cNvSpPr/>
          <p:nvPr/>
        </p:nvSpPr>
        <p:spPr>
          <a:xfrm>
            <a:off x="4379976" y="1371600"/>
            <a:ext cx="402336" cy="402336"/>
          </a:xfrm>
          <a:prstGeom prst="ellipse">
            <a:avLst/>
          </a:prstGeom>
          <a:solidFill>
            <a:srgbClr val="3C6E9F"/>
          </a:solidFill>
          <a:ln w="12700">
            <a:solidFill>
              <a:srgbClr val="3C6E9F"/>
            </a:solidFill>
            <a:prstDash val="solid"/>
          </a:ln>
        </p:spPr>
      </p:sp>
      <p:sp>
        <p:nvSpPr>
          <p:cNvPr id="17" name="Text 15"/>
          <p:cNvSpPr txBox="1"/>
          <p:nvPr/>
        </p:nvSpPr>
        <p:spPr>
          <a:xfrm>
            <a:off x="4379976" y="137160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6"/>
          <p:cNvSpPr txBox="1"/>
          <p:nvPr/>
        </p:nvSpPr>
        <p:spPr>
          <a:xfrm>
            <a:off x="3913632" y="1828800"/>
            <a:ext cx="1335024" cy="548640"/>
          </a:xfrm>
          <a:prstGeom prst="rect">
            <a:avLst/>
          </a:prstGeom>
          <a:noFill/>
          <a:ln/>
        </p:spPr>
        <p:txBody>
          <a:bodyPr wrap="square" lIns="0" tIns="0" rIns="0" bIns="0" rtlCol="0" anchor="ctr"/>
          <a:lstStyle/>
          <a:p>
            <a:pPr algn="ctr" indent="0" marL="0">
              <a:buNone/>
            </a:pPr>
            <a:r>
              <a:rPr lang="en-US" sz="1400" b="1" dirty="0">
                <a:solidFill>
                  <a:schemeClr val="tx1"/>
                </a:solidFill>
              </a:rPr>
              <a:t>App checks</a:t>
            </a:r>
            <a:endParaRPr lang="en-US" sz="1400" dirty="0"/>
          </a:p>
        </p:txBody>
      </p:sp>
      <p:sp>
        <p:nvSpPr>
          <p:cNvPr id="19" name="Text 17"/>
          <p:cNvSpPr txBox="1"/>
          <p:nvPr/>
        </p:nvSpPr>
        <p:spPr>
          <a:xfrm>
            <a:off x="3913632" y="2423160"/>
            <a:ext cx="1335024" cy="868680"/>
          </a:xfrm>
          <a:prstGeom prst="rect">
            <a:avLst/>
          </a:prstGeom>
          <a:noFill/>
          <a:ln/>
        </p:spPr>
        <p:txBody>
          <a:bodyPr wrap="square" lIns="0" tIns="0" rIns="0" bIns="0" rtlCol="0" anchor="t"/>
          <a:lstStyle/>
          <a:p>
            <a:pPr algn="ctr" indent="0" marL="0">
              <a:buNone/>
            </a:pPr>
            <a:r>
              <a:rPr lang="en-US" sz="1200" dirty="0">
                <a:solidFill>
                  <a:schemeClr val="tx2"/>
                </a:solidFill>
              </a:rPr>
              <a:t>Every school id, number and rule against the data</a:t>
            </a:r>
            <a:endParaRPr lang="en-US" sz="1200" dirty="0"/>
          </a:p>
        </p:txBody>
      </p:sp>
      <p:sp>
        <p:nvSpPr>
          <p:cNvPr id="20" name="Text 18"/>
          <p:cNvSpPr txBox="1"/>
          <p:nvPr/>
        </p:nvSpPr>
        <p:spPr>
          <a:xfrm>
            <a:off x="5321808" y="2011680"/>
            <a:ext cx="201168" cy="457200"/>
          </a:xfrm>
          <a:prstGeom prst="rect">
            <a:avLst/>
          </a:prstGeom>
          <a:noFill/>
          <a:ln/>
        </p:spPr>
        <p:txBody>
          <a:bodyPr wrap="square" lIns="0" tIns="0" rIns="0" bIns="0" rtlCol="0" anchor="ctr"/>
          <a:lstStyle/>
          <a:p>
            <a:pPr algn="ctr" indent="0" marL="0">
              <a:buNone/>
            </a:pPr>
            <a:r>
              <a:rPr lang="en-US" sz="2400" b="1" dirty="0">
                <a:solidFill>
                  <a:schemeClr val="accent6"/>
                </a:solidFill>
              </a:rPr>
              <a:t>›</a:t>
            </a:r>
            <a:endParaRPr lang="en-US" sz="2400" dirty="0"/>
          </a:p>
        </p:txBody>
      </p:sp>
      <p:sp>
        <p:nvSpPr>
          <p:cNvPr id="21" name="Step Organiser approves"/>
          <p:cNvSpPr/>
          <p:nvPr/>
        </p:nvSpPr>
        <p:spPr>
          <a:xfrm>
            <a:off x="5504688" y="1234440"/>
            <a:ext cx="1517904" cy="2103120"/>
          </a:xfrm>
          <a:prstGeom prst="roundRect">
            <a:avLst>
              <a:gd name="adj" fmla="val 4819"/>
            </a:avLst>
          </a:prstGeom>
          <a:solidFill>
            <a:srgbClr val="F5F6F8"/>
          </a:solidFill>
          <a:ln w="12700">
            <a:solidFill>
              <a:srgbClr val="F5F6F8"/>
            </a:solidFill>
            <a:prstDash val="solid"/>
          </a:ln>
        </p:spPr>
      </p:sp>
      <p:sp>
        <p:nvSpPr>
          <p:cNvPr id="22" name="Shape 20"/>
          <p:cNvSpPr/>
          <p:nvPr/>
        </p:nvSpPr>
        <p:spPr>
          <a:xfrm>
            <a:off x="6062472" y="1371600"/>
            <a:ext cx="402336" cy="402336"/>
          </a:xfrm>
          <a:prstGeom prst="ellipse">
            <a:avLst/>
          </a:prstGeom>
          <a:solidFill>
            <a:srgbClr val="D6453D"/>
          </a:solidFill>
          <a:ln w="12700">
            <a:solidFill>
              <a:srgbClr val="D6453D"/>
            </a:solidFill>
            <a:prstDash val="solid"/>
          </a:ln>
        </p:spPr>
      </p:sp>
      <p:sp>
        <p:nvSpPr>
          <p:cNvPr id="23" name="Text 21"/>
          <p:cNvSpPr txBox="1"/>
          <p:nvPr/>
        </p:nvSpPr>
        <p:spPr>
          <a:xfrm>
            <a:off x="6062472" y="137160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Text 22"/>
          <p:cNvSpPr txBox="1"/>
          <p:nvPr/>
        </p:nvSpPr>
        <p:spPr>
          <a:xfrm>
            <a:off x="5596128" y="1828800"/>
            <a:ext cx="1335024" cy="548640"/>
          </a:xfrm>
          <a:prstGeom prst="rect">
            <a:avLst/>
          </a:prstGeom>
          <a:noFill/>
          <a:ln/>
        </p:spPr>
        <p:txBody>
          <a:bodyPr wrap="square" lIns="0" tIns="0" rIns="0" bIns="0" rtlCol="0" anchor="ctr"/>
          <a:lstStyle/>
          <a:p>
            <a:pPr algn="ctr" indent="0" marL="0">
              <a:buNone/>
            </a:pPr>
            <a:r>
              <a:rPr lang="en-US" sz="1400" b="1" dirty="0">
                <a:solidFill>
                  <a:schemeClr val="tx1"/>
                </a:solidFill>
              </a:rPr>
              <a:t>Organiser approves</a:t>
            </a:r>
            <a:endParaRPr lang="en-US" sz="1400" dirty="0"/>
          </a:p>
        </p:txBody>
      </p:sp>
      <p:sp>
        <p:nvSpPr>
          <p:cNvPr id="25" name="Text 23"/>
          <p:cNvSpPr txBox="1"/>
          <p:nvPr/>
        </p:nvSpPr>
        <p:spPr>
          <a:xfrm>
            <a:off x="5596128" y="2423160"/>
            <a:ext cx="1335024" cy="868680"/>
          </a:xfrm>
          <a:prstGeom prst="rect">
            <a:avLst/>
          </a:prstGeom>
          <a:noFill/>
          <a:ln/>
        </p:spPr>
        <p:txBody>
          <a:bodyPr wrap="square" lIns="0" tIns="0" rIns="0" bIns="0" rtlCol="0" anchor="t"/>
          <a:lstStyle/>
          <a:p>
            <a:pPr algn="ctr" indent="0" marL="0">
              <a:buNone/>
            </a:pPr>
            <a:r>
              <a:rPr lang="en-US" sz="1200" dirty="0">
                <a:solidFill>
                  <a:schemeClr val="tx2"/>
                </a:solidFill>
              </a:rPr>
              <a:t>Sees the exact change; approve or reject</a:t>
            </a:r>
            <a:endParaRPr lang="en-US" sz="1200" dirty="0"/>
          </a:p>
        </p:txBody>
      </p:sp>
      <p:sp>
        <p:nvSpPr>
          <p:cNvPr id="26" name="Text 24"/>
          <p:cNvSpPr txBox="1"/>
          <p:nvPr/>
        </p:nvSpPr>
        <p:spPr>
          <a:xfrm>
            <a:off x="7004304" y="2011680"/>
            <a:ext cx="201168" cy="457200"/>
          </a:xfrm>
          <a:prstGeom prst="rect">
            <a:avLst/>
          </a:prstGeom>
          <a:noFill/>
          <a:ln/>
        </p:spPr>
        <p:txBody>
          <a:bodyPr wrap="square" lIns="0" tIns="0" rIns="0" bIns="0" rtlCol="0" anchor="ctr"/>
          <a:lstStyle/>
          <a:p>
            <a:pPr algn="ctr" indent="0" marL="0">
              <a:buNone/>
            </a:pPr>
            <a:r>
              <a:rPr lang="en-US" sz="2400" b="1" dirty="0">
                <a:solidFill>
                  <a:schemeClr val="accent6"/>
                </a:solidFill>
              </a:rPr>
              <a:t>›</a:t>
            </a:r>
            <a:endParaRPr lang="en-US" sz="2400" dirty="0"/>
          </a:p>
        </p:txBody>
      </p:sp>
      <p:sp>
        <p:nvSpPr>
          <p:cNvPr id="27" name="Step Optimiser + validator"/>
          <p:cNvSpPr/>
          <p:nvPr/>
        </p:nvSpPr>
        <p:spPr>
          <a:xfrm>
            <a:off x="7187184" y="1234440"/>
            <a:ext cx="1517904" cy="2103120"/>
          </a:xfrm>
          <a:prstGeom prst="roundRect">
            <a:avLst>
              <a:gd name="adj" fmla="val 4819"/>
            </a:avLst>
          </a:prstGeom>
          <a:solidFill>
            <a:srgbClr val="F5F6F8"/>
          </a:solidFill>
          <a:ln w="12700">
            <a:solidFill>
              <a:srgbClr val="F5F6F8"/>
            </a:solidFill>
            <a:prstDash val="solid"/>
          </a:ln>
        </p:spPr>
      </p:sp>
      <p:sp>
        <p:nvSpPr>
          <p:cNvPr id="28" name="Shape 26"/>
          <p:cNvSpPr/>
          <p:nvPr/>
        </p:nvSpPr>
        <p:spPr>
          <a:xfrm>
            <a:off x="7744968" y="1371600"/>
            <a:ext cx="402336" cy="402336"/>
          </a:xfrm>
          <a:prstGeom prst="ellipse">
            <a:avLst/>
          </a:prstGeom>
          <a:solidFill>
            <a:srgbClr val="2E7D6B"/>
          </a:solidFill>
          <a:ln w="12700">
            <a:solidFill>
              <a:srgbClr val="2E7D6B"/>
            </a:solidFill>
            <a:prstDash val="solid"/>
          </a:ln>
        </p:spPr>
      </p:sp>
      <p:sp>
        <p:nvSpPr>
          <p:cNvPr id="29" name="Text 27"/>
          <p:cNvSpPr txBox="1"/>
          <p:nvPr/>
        </p:nvSpPr>
        <p:spPr>
          <a:xfrm>
            <a:off x="7744968" y="137160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8"/>
          <p:cNvSpPr txBox="1"/>
          <p:nvPr/>
        </p:nvSpPr>
        <p:spPr>
          <a:xfrm>
            <a:off x="7278624" y="1828800"/>
            <a:ext cx="1335024" cy="548640"/>
          </a:xfrm>
          <a:prstGeom prst="rect">
            <a:avLst/>
          </a:prstGeom>
          <a:noFill/>
          <a:ln/>
        </p:spPr>
        <p:txBody>
          <a:bodyPr wrap="square" lIns="0" tIns="0" rIns="0" bIns="0" rtlCol="0" anchor="ctr"/>
          <a:lstStyle/>
          <a:p>
            <a:pPr algn="ctr" indent="0" marL="0">
              <a:buNone/>
            </a:pPr>
            <a:r>
              <a:rPr lang="en-US" sz="1400" b="1" dirty="0">
                <a:solidFill>
                  <a:schemeClr val="tx1"/>
                </a:solidFill>
              </a:rPr>
              <a:t>Optimiser + validator</a:t>
            </a:r>
            <a:endParaRPr lang="en-US" sz="1400" dirty="0"/>
          </a:p>
        </p:txBody>
      </p:sp>
      <p:sp>
        <p:nvSpPr>
          <p:cNvPr id="31" name="Text 29"/>
          <p:cNvSpPr txBox="1"/>
          <p:nvPr/>
        </p:nvSpPr>
        <p:spPr>
          <a:xfrm>
            <a:off x="7278624" y="2423160"/>
            <a:ext cx="1335024" cy="868680"/>
          </a:xfrm>
          <a:prstGeom prst="rect">
            <a:avLst/>
          </a:prstGeom>
          <a:noFill/>
          <a:ln/>
        </p:spPr>
        <p:txBody>
          <a:bodyPr wrap="square" lIns="0" tIns="0" rIns="0" bIns="0" rtlCol="0" anchor="t"/>
          <a:lstStyle/>
          <a:p>
            <a:pPr algn="ctr" indent="0" marL="0">
              <a:buNone/>
            </a:pPr>
            <a:r>
              <a:rPr lang="en-US" sz="1200" dirty="0">
                <a:solidFill>
                  <a:schemeClr val="tx2"/>
                </a:solidFill>
              </a:rPr>
              <a:t>OR-Tools re-plans; independent checks before results show</a:t>
            </a:r>
            <a:endParaRPr lang="en-US" sz="1200" dirty="0"/>
          </a:p>
        </p:txBody>
      </p:sp>
      <p:sp>
        <p:nvSpPr>
          <p:cNvPr id="32" name="Refusal example"/>
          <p:cNvSpPr/>
          <p:nvPr/>
        </p:nvSpPr>
        <p:spPr>
          <a:xfrm>
            <a:off x="457200" y="3611880"/>
            <a:ext cx="8229600" cy="914400"/>
          </a:xfrm>
          <a:prstGeom prst="roundRect">
            <a:avLst>
              <a:gd name="adj" fmla="val 8000"/>
            </a:avLst>
          </a:prstGeom>
          <a:solidFill>
            <a:srgbClr val="FBE9E7"/>
          </a:solidFill>
          <a:ln w="12700">
            <a:solidFill>
              <a:srgbClr val="FBE9E7"/>
            </a:solidFill>
            <a:prstDash val="solid"/>
          </a:ln>
        </p:spPr>
      </p:sp>
      <p:sp>
        <p:nvSpPr>
          <p:cNvPr id="33" name="Text 31"/>
          <p:cNvSpPr txBox="1"/>
          <p:nvPr/>
        </p:nvSpPr>
        <p:spPr>
          <a:xfrm>
            <a:off x="640080" y="3657600"/>
            <a:ext cx="7863840" cy="822960"/>
          </a:xfrm>
          <a:prstGeom prst="rect">
            <a:avLst/>
          </a:prstGeom>
          <a:noFill/>
          <a:ln/>
        </p:spPr>
        <p:txBody>
          <a:bodyPr wrap="square" lIns="0" tIns="0" rIns="0" bIns="0" rtlCol="0" anchor="ctr"/>
          <a:lstStyle/>
          <a:p>
            <a:pPr indent="0" marL="0">
              <a:buNone/>
            </a:pPr>
            <a:r>
              <a:rPr lang="en-US" sz="1400" b="1" dirty="0">
                <a:solidFill>
                  <a:schemeClr val="accent1"/>
                </a:solidFill>
              </a:rPr>
              <a:t>Guardrail in action:  </a:t>
            </a:r>
            <a:pPr indent="0" marL="0">
              <a:buNone/>
            </a:pPr>
            <a:r>
              <a:rPr lang="en-US" sz="1400" dirty="0">
                <a:solidFill>
                  <a:schemeClr val="tx1"/>
                </a:solidFill>
              </a:rPr>
              <a:t>"Put 60 people from NP11 on one bus" is refused: the biggest bus has 50 seats and a school group cannot be split. Nothing changes without the organiser clicking Approve.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Results: 43.7% cheaper, proven optimal</a:t>
            </a:r>
            <a:endParaRPr lang="en-US" sz="3000" dirty="0"/>
          </a:p>
        </p:txBody>
      </p:sp>
      <p:sp>
        <p:nvSpPr>
          <p:cNvPr id="3" name="Headline result"/>
          <p:cNvSpPr/>
          <p:nvPr/>
        </p:nvSpPr>
        <p:spPr>
          <a:xfrm>
            <a:off x="457200" y="1097280"/>
            <a:ext cx="2743200" cy="1965960"/>
          </a:xfrm>
          <a:prstGeom prst="roundRect">
            <a:avLst>
              <a:gd name="adj" fmla="val 3721"/>
            </a:avLst>
          </a:prstGeom>
          <a:solidFill>
            <a:srgbClr val="16202A"/>
          </a:solidFill>
          <a:ln w="12700">
            <a:solidFill>
              <a:srgbClr val="16202A"/>
            </a:solidFill>
            <a:prstDash val="solid"/>
          </a:ln>
        </p:spPr>
      </p:sp>
      <p:sp>
        <p:nvSpPr>
          <p:cNvPr id="4" name="Text 2"/>
          <p:cNvSpPr txBox="1"/>
          <p:nvPr/>
        </p:nvSpPr>
        <p:spPr>
          <a:xfrm>
            <a:off x="640080" y="1188720"/>
            <a:ext cx="2377440" cy="777240"/>
          </a:xfrm>
          <a:prstGeom prst="rect">
            <a:avLst/>
          </a:prstGeom>
          <a:noFill/>
          <a:ln/>
        </p:spPr>
        <p:txBody>
          <a:bodyPr wrap="square" lIns="0" tIns="0" rIns="0" bIns="0" rtlCol="0" anchor="ctr"/>
          <a:lstStyle/>
          <a:p>
            <a:pPr indent="0" marL="0">
              <a:buNone/>
            </a:pPr>
            <a:r>
              <a:rPr lang="en-US" sz="4800" b="1" dirty="0">
                <a:solidFill>
                  <a:schemeClr val="bg1"/>
                </a:solidFill>
              </a:rPr>
              <a:t>1,875</a:t>
            </a:r>
            <a:endParaRPr lang="en-US" sz="4800" dirty="0"/>
          </a:p>
        </p:txBody>
      </p:sp>
      <p:sp>
        <p:nvSpPr>
          <p:cNvPr id="5" name="Text 3"/>
          <p:cNvSpPr txBox="1"/>
          <p:nvPr/>
        </p:nvSpPr>
        <p:spPr>
          <a:xfrm>
            <a:off x="640080" y="1965960"/>
            <a:ext cx="2377440" cy="274320"/>
          </a:xfrm>
          <a:prstGeom prst="rect">
            <a:avLst/>
          </a:prstGeom>
          <a:noFill/>
          <a:ln/>
        </p:spPr>
        <p:txBody>
          <a:bodyPr wrap="square" lIns="0" tIns="0" rIns="0" bIns="0" rtlCol="0" anchor="ctr"/>
          <a:lstStyle/>
          <a:p>
            <a:pPr indent="0" marL="0">
              <a:buNone/>
            </a:pPr>
            <a:r>
              <a:rPr lang="en-US" sz="1400" dirty="0">
                <a:solidFill>
                  <a:srgbClr val="D5DAE0"/>
                </a:solidFill>
              </a:rPr>
              <a:t>instead of 3,330 cost units</a:t>
            </a:r>
            <a:endParaRPr lang="en-US" sz="1400" dirty="0"/>
          </a:p>
        </p:txBody>
      </p:sp>
      <p:sp>
        <p:nvSpPr>
          <p:cNvPr id="6" name="Text 4"/>
          <p:cNvSpPr txBox="1"/>
          <p:nvPr/>
        </p:nvSpPr>
        <p:spPr>
          <a:xfrm>
            <a:off x="640080" y="2286000"/>
            <a:ext cx="2377440" cy="320040"/>
          </a:xfrm>
          <a:prstGeom prst="rect">
            <a:avLst/>
          </a:prstGeom>
          <a:noFill/>
          <a:ln/>
        </p:spPr>
        <p:txBody>
          <a:bodyPr wrap="square" lIns="0" tIns="0" rIns="0" bIns="0" rtlCol="0" anchor="ctr"/>
          <a:lstStyle/>
          <a:p>
            <a:pPr indent="0" marL="0">
              <a:buNone/>
            </a:pPr>
            <a:r>
              <a:rPr lang="en-US" sz="1600" b="1" dirty="0">
                <a:solidFill>
                  <a:schemeClr val="accent3"/>
                </a:solidFill>
              </a:rPr>
              <a:t>25 buses instead of 60</a:t>
            </a:r>
            <a:endParaRPr lang="en-US" sz="1600" dirty="0"/>
          </a:p>
        </p:txBody>
      </p:sp>
      <p:sp>
        <p:nvSpPr>
          <p:cNvPr id="7" name="Text 5"/>
          <p:cNvSpPr txBox="1"/>
          <p:nvPr/>
        </p:nvSpPr>
        <p:spPr>
          <a:xfrm>
            <a:off x="640080" y="2651760"/>
            <a:ext cx="2377440" cy="274320"/>
          </a:xfrm>
          <a:prstGeom prst="rect">
            <a:avLst/>
          </a:prstGeom>
          <a:noFill/>
          <a:ln/>
        </p:spPr>
        <p:txBody>
          <a:bodyPr wrap="square" lIns="0" tIns="0" rIns="0" bIns="0" rtlCol="0" anchor="ctr"/>
          <a:lstStyle/>
          <a:p>
            <a:pPr indent="0" marL="0">
              <a:buNone/>
            </a:pPr>
            <a:r>
              <a:rPr lang="en-US" sz="1200" dirty="0">
                <a:solidFill>
                  <a:srgbClr val="D5DAE0"/>
                </a:solidFill>
              </a:rPr>
              <a:t>Fixed price per bus · proven cheapest</a:t>
            </a:r>
            <a:endParaRPr lang="en-US" sz="1200" dirty="0"/>
          </a:p>
        </p:txBody>
      </p:sp>
      <p:sp>
        <p:nvSpPr>
          <p:cNvPr id="8" name="Minimum proof"/>
          <p:cNvSpPr/>
          <p:nvPr/>
        </p:nvSpPr>
        <p:spPr>
          <a:xfrm>
            <a:off x="457200" y="3200400"/>
            <a:ext cx="2743200" cy="1371600"/>
          </a:xfrm>
          <a:prstGeom prst="roundRect">
            <a:avLst>
              <a:gd name="adj" fmla="val 5333"/>
            </a:avLst>
          </a:prstGeom>
          <a:solidFill>
            <a:srgbClr val="F5F6F8"/>
          </a:solidFill>
          <a:ln w="12700">
            <a:solidFill>
              <a:srgbClr val="F5F6F8"/>
            </a:solidFill>
            <a:prstDash val="solid"/>
          </a:ln>
        </p:spPr>
      </p:sp>
      <p:sp>
        <p:nvSpPr>
          <p:cNvPr id="9" name="Text 7"/>
          <p:cNvSpPr txBox="1"/>
          <p:nvPr/>
        </p:nvSpPr>
        <p:spPr>
          <a:xfrm>
            <a:off x="640080" y="3291840"/>
            <a:ext cx="2377440" cy="274320"/>
          </a:xfrm>
          <a:prstGeom prst="rect">
            <a:avLst/>
          </a:prstGeom>
          <a:noFill/>
          <a:ln/>
        </p:spPr>
        <p:txBody>
          <a:bodyPr wrap="square" lIns="0" tIns="0" rIns="0" bIns="0" rtlCol="0" anchor="ctr"/>
          <a:lstStyle/>
          <a:p>
            <a:pPr indent="0" marL="0">
              <a:buNone/>
            </a:pPr>
            <a:r>
              <a:rPr lang="en-US" sz="1300" b="1" dirty="0">
                <a:solidFill>
                  <a:schemeClr val="tx1"/>
                </a:solidFill>
              </a:rPr>
              <a:t>Why it is the minimum</a:t>
            </a:r>
            <a:endParaRPr lang="en-US" sz="1300" dirty="0"/>
          </a:p>
        </p:txBody>
      </p:sp>
      <p:sp>
        <p:nvSpPr>
          <p:cNvPr id="10" name="Text 8"/>
          <p:cNvSpPr txBox="1"/>
          <p:nvPr/>
        </p:nvSpPr>
        <p:spPr>
          <a:xfrm>
            <a:off x="640080" y="3566160"/>
            <a:ext cx="2377440" cy="914400"/>
          </a:xfrm>
          <a:prstGeom prst="rect">
            <a:avLst/>
          </a:prstGeom>
          <a:noFill/>
          <a:ln/>
        </p:spPr>
        <p:txBody>
          <a:bodyPr wrap="square" lIns="0" tIns="0" rIns="0" bIns="0" rtlCol="0" anchor="t"/>
          <a:lstStyle/>
          <a:p>
            <a:pPr indent="0" marL="0">
              <a:buNone/>
            </a:pPr>
            <a:r>
              <a:rPr lang="en-US" sz="1200" dirty="0">
                <a:solidFill>
                  <a:schemeClr val="tx2"/>
                </a:solidFill>
              </a:rPr>
              <a:t>1,244 people need at least 25 fifty-seat buses (1,250 seats). 25 × 75 = 1,875. The solver proves it too.</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429000" y="1097280"/>
          <a:ext cx="5257800" cy="914400"/>
        </p:xfrm>
        <a:graphic>
          <a:graphicData uri="http://schemas.openxmlformats.org/drawingml/2006/table">
            <a:tbl>
              <a:tblPr/>
              <a:tblGrid>
                <a:gridCol w="1508760"/>
                <a:gridCol w="1188720"/>
                <a:gridCol w="731520"/>
                <a:gridCol w="731520"/>
                <a:gridCol w="548640"/>
                <a:gridCol w="548640"/>
              </a:tblGrid>
              <a:tr h="384048">
                <a:tc>
                  <a:txBody>
                    <a:bodyPr/>
                    <a:lstStyle/>
                    <a:p>
                      <a:pPr algn="l" indent="0" marL="0">
                        <a:buNone/>
                      </a:pPr>
                      <a:r>
                        <a:rPr lang="en-US" sz="1200" b="1" dirty="0">
                          <a:solidFill>
                            <a:srgbClr val="FFFFFF"/>
                          </a:solidFill>
                        </a:rPr>
                        <a:t>Cost model</a:t>
                      </a:r>
                      <a:endParaRPr lang="en-US" sz="12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F2933"/>
                    </a:solidFill>
                  </a:tcPr>
                </a:tc>
                <a:tc>
                  <a:txBody>
                    <a:bodyPr/>
                    <a:lstStyle/>
                    <a:p>
                      <a:pPr algn="r" indent="0" marL="0">
                        <a:buNone/>
                      </a:pPr>
                      <a:r>
                        <a:rPr lang="en-US" sz="1200" b="1" dirty="0">
                          <a:solidFill>
                            <a:srgbClr val="FFFFFF"/>
                          </a:solidFill>
                        </a:rPr>
                        <a:t>Status</a:t>
                      </a:r>
                      <a:endParaRPr lang="en-US" sz="12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F2933"/>
                    </a:solidFill>
                  </a:tcPr>
                </a:tc>
                <a:tc>
                  <a:txBody>
                    <a:bodyPr/>
                    <a:lstStyle/>
                    <a:p>
                      <a:pPr algn="r" indent="0" marL="0">
                        <a:buNone/>
                      </a:pPr>
                      <a:r>
                        <a:rPr lang="en-US" sz="1200" b="1" dirty="0">
                          <a:solidFill>
                            <a:srgbClr val="FFFFFF"/>
                          </a:solidFill>
                        </a:rPr>
                        <a:t>Plan</a:t>
                      </a:r>
                      <a:endParaRPr lang="en-US" sz="12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F2933"/>
                    </a:solidFill>
                  </a:tcPr>
                </a:tc>
                <a:tc>
                  <a:txBody>
                    <a:bodyPr/>
                    <a:lstStyle/>
                    <a:p>
                      <a:pPr algn="r" indent="0" marL="0">
                        <a:buNone/>
                      </a:pPr>
                      <a:r>
                        <a:rPr lang="en-US" sz="1200" b="1" dirty="0">
                          <a:solidFill>
                            <a:srgbClr val="FFFFFF"/>
                          </a:solidFill>
                        </a:rPr>
                        <a:t>Baseline</a:t>
                      </a:r>
                      <a:endParaRPr lang="en-US" sz="12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F2933"/>
                    </a:solidFill>
                  </a:tcPr>
                </a:tc>
                <a:tc>
                  <a:txBody>
                    <a:bodyPr/>
                    <a:lstStyle/>
                    <a:p>
                      <a:pPr algn="r" indent="0" marL="0">
                        <a:buNone/>
                      </a:pPr>
                      <a:r>
                        <a:rPr lang="en-US" sz="1200" b="1" dirty="0">
                          <a:solidFill>
                            <a:srgbClr val="FFFFFF"/>
                          </a:solidFill>
                        </a:rPr>
                        <a:t>Saving</a:t>
                      </a:r>
                      <a:endParaRPr lang="en-US" sz="12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F2933"/>
                    </a:solidFill>
                  </a:tcPr>
                </a:tc>
                <a:tc>
                  <a:txBody>
                    <a:bodyPr/>
                    <a:lstStyle/>
                    <a:p>
                      <a:pPr algn="r" indent="0" marL="0">
                        <a:buNone/>
                      </a:pPr>
                      <a:r>
                        <a:rPr lang="en-US" sz="1200" b="1" dirty="0">
                          <a:solidFill>
                            <a:srgbClr val="FFFFFF"/>
                          </a:solidFill>
                        </a:rPr>
                        <a:t>Buses</a:t>
                      </a:r>
                      <a:endParaRPr lang="en-US" sz="12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1F2933"/>
                    </a:solidFill>
                  </a:tcPr>
                </a:tc>
              </a:tr>
              <a:tr h="384048">
                <a:tc>
                  <a:txBody>
                    <a:bodyPr/>
                    <a:lstStyle/>
                    <a:p>
                      <a:pPr algn="l" indent="0" marL="0">
                        <a:buNone/>
                      </a:pPr>
                      <a:r>
                        <a:rPr lang="en-US" sz="1200" dirty="0">
                          <a:solidFill>
                            <a:srgbClr val="1F2933"/>
                          </a:solidFill>
                        </a:rPr>
                        <a:t>Fixed price per bus</a:t>
                      </a:r>
                      <a:endParaRPr lang="en-US" sz="12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BE9E7"/>
                    </a:solidFill>
                  </a:tcPr>
                </a:tc>
                <a:tc>
                  <a:txBody>
                    <a:bodyPr/>
                    <a:lstStyle/>
                    <a:p>
                      <a:pPr algn="r" indent="0" marL="0">
                        <a:buNone/>
                      </a:pPr>
                      <a:r>
                        <a:rPr lang="en-US" sz="1200" b="1" dirty="0">
                          <a:solidFill>
                            <a:srgbClr val="1F2933"/>
                          </a:solidFill>
                        </a:rPr>
                        <a:t>Proven optimal</a:t>
                      </a:r>
                      <a:endParaRPr lang="en-US" sz="12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BE9E7"/>
                    </a:solidFill>
                  </a:tcPr>
                </a:tc>
                <a:tc>
                  <a:txBody>
                    <a:bodyPr/>
                    <a:lstStyle/>
                    <a:p>
                      <a:pPr algn="r" indent="0" marL="0">
                        <a:buNone/>
                      </a:pPr>
                      <a:r>
                        <a:rPr lang="en-US" sz="1200" b="1" dirty="0">
                          <a:solidFill>
                            <a:srgbClr val="1F2933"/>
                          </a:solidFill>
                        </a:rPr>
                        <a:t>1,875.00</a:t>
                      </a:r>
                      <a:endParaRPr lang="en-US" sz="12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BE9E7"/>
                    </a:solidFill>
                  </a:tcPr>
                </a:tc>
                <a:tc>
                  <a:txBody>
                    <a:bodyPr/>
                    <a:lstStyle/>
                    <a:p>
                      <a:pPr algn="r" indent="0" marL="0">
                        <a:buNone/>
                      </a:pPr>
                      <a:r>
                        <a:rPr lang="en-US" sz="1200" b="1" dirty="0">
                          <a:solidFill>
                            <a:srgbClr val="1F2933"/>
                          </a:solidFill>
                        </a:rPr>
                        <a:t>3,330.00</a:t>
                      </a:r>
                      <a:endParaRPr lang="en-US" sz="12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BE9E7"/>
                    </a:solidFill>
                  </a:tcPr>
                </a:tc>
                <a:tc>
                  <a:txBody>
                    <a:bodyPr/>
                    <a:lstStyle/>
                    <a:p>
                      <a:pPr algn="r" indent="0" marL="0">
                        <a:buNone/>
                      </a:pPr>
                      <a:r>
                        <a:rPr lang="en-US" sz="1200" b="1" dirty="0">
                          <a:solidFill>
                            <a:srgbClr val="1F2933"/>
                          </a:solidFill>
                        </a:rPr>
                        <a:t>43.7%</a:t>
                      </a:r>
                      <a:endParaRPr lang="en-US" sz="12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BE9E7"/>
                    </a:solidFill>
                  </a:tcPr>
                </a:tc>
                <a:tc>
                  <a:txBody>
                    <a:bodyPr/>
                    <a:lstStyle/>
                    <a:p>
                      <a:pPr algn="r" indent="0" marL="0">
                        <a:buNone/>
                      </a:pPr>
                      <a:r>
                        <a:rPr lang="en-US" sz="1200" b="1" dirty="0">
                          <a:solidFill>
                            <a:srgbClr val="1F2933"/>
                          </a:solidFill>
                        </a:rPr>
                        <a:t>25</a:t>
                      </a:r>
                      <a:endParaRPr lang="en-US" sz="12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BE9E7"/>
                    </a:solidFill>
                  </a:tcPr>
                </a:tc>
              </a:tr>
              <a:tr h="384048">
                <a:tc>
                  <a:txBody>
                    <a:bodyPr/>
                    <a:lstStyle/>
                    <a:p>
                      <a:pPr algn="l" indent="0" marL="0">
                        <a:buNone/>
                      </a:pPr>
                      <a:r>
                        <a:rPr lang="en-US" sz="1200" dirty="0">
                          <a:solidFill>
                            <a:srgbClr val="1F2933"/>
                          </a:solidFill>
                        </a:rPr>
                        <a:t>Straight-line distance</a:t>
                      </a:r>
                      <a:endParaRPr lang="en-US" sz="12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3"/>
                          </a:solidFill>
                        </a:rPr>
                        <a:t>Best found</a:t>
                      </a:r>
                      <a:endParaRPr lang="en-US" sz="12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3"/>
                          </a:solidFill>
                        </a:rPr>
                        <a:t>2,787.25</a:t>
                      </a:r>
                      <a:endParaRPr lang="en-US" sz="12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3"/>
                          </a:solidFill>
                        </a:rPr>
                        <a:t>3,903.87</a:t>
                      </a:r>
                      <a:endParaRPr lang="en-US" sz="12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3"/>
                          </a:solidFill>
                        </a:rPr>
                        <a:t>28.6%</a:t>
                      </a:r>
                      <a:endParaRPr lang="en-US" sz="12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3"/>
                          </a:solidFill>
                        </a:rPr>
                        <a:t>33</a:t>
                      </a:r>
                      <a:endParaRPr lang="en-US" sz="12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F2933"/>
                          </a:solidFill>
                        </a:rPr>
                        <a:t>Road travel time</a:t>
                      </a:r>
                      <a:endParaRPr lang="en-US" sz="12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3"/>
                          </a:solidFill>
                        </a:rPr>
                        <a:t>Best found</a:t>
                      </a:r>
                      <a:endParaRPr lang="en-US" sz="12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3"/>
                          </a:solidFill>
                        </a:rPr>
                        <a:t>6,667.72</a:t>
                      </a:r>
                      <a:endParaRPr lang="en-US" sz="12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3"/>
                          </a:solidFill>
                        </a:rPr>
                        <a:t>8,220.26</a:t>
                      </a:r>
                      <a:endParaRPr lang="en-US" sz="12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3"/>
                          </a:solidFill>
                        </a:rPr>
                        <a:t>18.9%</a:t>
                      </a:r>
                      <a:endParaRPr lang="en-US" sz="12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933"/>
                          </a:solidFill>
                        </a:rPr>
                        <a:t>37</a:t>
                      </a:r>
                      <a:endParaRPr lang="en-US" sz="12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r>
            </a:tbl>
          </a:graphicData>
        </a:graphic>
      </p:graphicFrame>
      <p:graphicFrame>
        <p:nvGraphicFramePr>
          <p:cNvPr id="12" name="Chart 0" descr=""/>
          <p:cNvGraphicFramePr/>
          <p:nvPr/>
        </p:nvGraphicFramePr>
        <p:xfrm>
          <a:off x="3429000" y="2788920"/>
          <a:ext cx="5257800" cy="17830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Every plan is checked before anyone sees it</a:t>
            </a:r>
            <a:endParaRPr lang="en-US" sz="3000" dirty="0"/>
          </a:p>
        </p:txBody>
      </p:sp>
      <p:sp>
        <p:nvSpPr>
          <p:cNvPr id="3" name="Proven optimal"/>
          <p:cNvSpPr/>
          <p:nvPr/>
        </p:nvSpPr>
        <p:spPr>
          <a:xfrm>
            <a:off x="457200" y="1097280"/>
            <a:ext cx="3977640" cy="1325880"/>
          </a:xfrm>
          <a:prstGeom prst="roundRect">
            <a:avLst>
              <a:gd name="adj" fmla="val 5517"/>
            </a:avLst>
          </a:prstGeom>
          <a:solidFill>
            <a:srgbClr val="F5F6F8"/>
          </a:solidFill>
          <a:ln w="12700">
            <a:solidFill>
              <a:srgbClr val="F5F6F8"/>
            </a:solidFill>
            <a:prstDash val="solid"/>
          </a:ln>
        </p:spPr>
      </p:sp>
      <p:sp>
        <p:nvSpPr>
          <p:cNvPr id="4" name="Text 2"/>
          <p:cNvSpPr txBox="1"/>
          <p:nvPr/>
        </p:nvSpPr>
        <p:spPr>
          <a:xfrm>
            <a:off x="640080" y="1188720"/>
            <a:ext cx="3657600" cy="365760"/>
          </a:xfrm>
          <a:prstGeom prst="rect">
            <a:avLst/>
          </a:prstGeom>
          <a:noFill/>
          <a:ln/>
        </p:spPr>
        <p:txBody>
          <a:bodyPr wrap="square" lIns="0" tIns="0" rIns="0" bIns="0" rtlCol="0" anchor="ctr"/>
          <a:lstStyle/>
          <a:p>
            <a:pPr indent="0" marL="0">
              <a:buNone/>
            </a:pPr>
            <a:r>
              <a:rPr lang="en-US" sz="1800" b="1" dirty="0">
                <a:solidFill>
                  <a:schemeClr val="accent2"/>
                </a:solidFill>
              </a:rPr>
              <a:t>Proven optimal</a:t>
            </a:r>
            <a:endParaRPr lang="en-US" sz="1800" dirty="0"/>
          </a:p>
        </p:txBody>
      </p:sp>
      <p:sp>
        <p:nvSpPr>
          <p:cNvPr id="5" name="Text 3"/>
          <p:cNvSpPr txBox="1"/>
          <p:nvPr/>
        </p:nvSpPr>
        <p:spPr>
          <a:xfrm>
            <a:off x="640080" y="1572768"/>
            <a:ext cx="3657600" cy="731520"/>
          </a:xfrm>
          <a:prstGeom prst="rect">
            <a:avLst/>
          </a:prstGeom>
          <a:noFill/>
          <a:ln/>
        </p:spPr>
        <p:txBody>
          <a:bodyPr wrap="square" lIns="0" tIns="0" rIns="0" bIns="0" rtlCol="0" anchor="t"/>
          <a:lstStyle/>
          <a:p>
            <a:pPr indent="0" marL="0">
              <a:buNone/>
            </a:pPr>
            <a:r>
              <a:rPr lang="en-US" sz="1400" dirty="0">
                <a:solidFill>
                  <a:schemeClr val="tx1"/>
                </a:solidFill>
              </a:rPr>
              <a:t>Shown only when the solver proves no cheaper plan exists.</a:t>
            </a:r>
            <a:endParaRPr lang="en-US" sz="1400" dirty="0"/>
          </a:p>
        </p:txBody>
      </p:sp>
      <p:sp>
        <p:nvSpPr>
          <p:cNvPr id="6" name="Best found"/>
          <p:cNvSpPr/>
          <p:nvPr/>
        </p:nvSpPr>
        <p:spPr>
          <a:xfrm>
            <a:off x="4709160" y="1097280"/>
            <a:ext cx="3977640" cy="1325880"/>
          </a:xfrm>
          <a:prstGeom prst="roundRect">
            <a:avLst>
              <a:gd name="adj" fmla="val 5517"/>
            </a:avLst>
          </a:prstGeom>
          <a:solidFill>
            <a:srgbClr val="F5F6F8"/>
          </a:solidFill>
          <a:ln w="12700">
            <a:solidFill>
              <a:srgbClr val="F5F6F8"/>
            </a:solidFill>
            <a:prstDash val="solid"/>
          </a:ln>
        </p:spPr>
      </p:sp>
      <p:sp>
        <p:nvSpPr>
          <p:cNvPr id="7" name="Text 5"/>
          <p:cNvSpPr txBox="1"/>
          <p:nvPr/>
        </p:nvSpPr>
        <p:spPr>
          <a:xfrm>
            <a:off x="4892040" y="1188720"/>
            <a:ext cx="3657600" cy="365760"/>
          </a:xfrm>
          <a:prstGeom prst="rect">
            <a:avLst/>
          </a:prstGeom>
          <a:noFill/>
          <a:ln/>
        </p:spPr>
        <p:txBody>
          <a:bodyPr wrap="square" lIns="0" tIns="0" rIns="0" bIns="0" rtlCol="0" anchor="ctr"/>
          <a:lstStyle/>
          <a:p>
            <a:pPr indent="0" marL="0">
              <a:buNone/>
            </a:pPr>
            <a:r>
              <a:rPr lang="en-US" sz="1800" b="1" dirty="0">
                <a:solidFill>
                  <a:schemeClr val="accent4"/>
                </a:solidFill>
              </a:rPr>
              <a:t>Best found</a:t>
            </a:r>
            <a:endParaRPr lang="en-US" sz="1800" dirty="0"/>
          </a:p>
        </p:txBody>
      </p:sp>
      <p:sp>
        <p:nvSpPr>
          <p:cNvPr id="8" name="Text 6"/>
          <p:cNvSpPr txBox="1"/>
          <p:nvPr/>
        </p:nvSpPr>
        <p:spPr>
          <a:xfrm>
            <a:off x="4892040" y="1572768"/>
            <a:ext cx="3657600" cy="731520"/>
          </a:xfrm>
          <a:prstGeom prst="rect">
            <a:avLst/>
          </a:prstGeom>
          <a:noFill/>
          <a:ln/>
        </p:spPr>
        <p:txBody>
          <a:bodyPr wrap="square" lIns="0" tIns="0" rIns="0" bIns="0" rtlCol="0" anchor="t"/>
          <a:lstStyle/>
          <a:p>
            <a:pPr indent="0" marL="0">
              <a:buNone/>
            </a:pPr>
            <a:r>
              <a:rPr lang="en-US" sz="1400" dirty="0">
                <a:solidFill>
                  <a:schemeClr val="tx1"/>
                </a:solidFill>
              </a:rPr>
              <a:t>Routing with mixed bus sizes is NP-hard. We report the best plan found and never call it optimal.</a:t>
            </a:r>
            <a:endParaRPr lang="en-US" sz="1400" dirty="0"/>
          </a:p>
        </p:txBody>
      </p:sp>
      <p:sp>
        <p:nvSpPr>
          <p:cNvPr id="9" name="Shape 7"/>
          <p:cNvSpPr/>
          <p:nvPr/>
        </p:nvSpPr>
        <p:spPr>
          <a:xfrm>
            <a:off x="457200" y="2670048"/>
            <a:ext cx="384048" cy="384048"/>
          </a:xfrm>
          <a:prstGeom prst="ellipse">
            <a:avLst/>
          </a:prstGeom>
          <a:solidFill>
            <a:srgbClr val="2E7D6B"/>
          </a:solidFill>
          <a:ln w="12700">
            <a:solidFill>
              <a:srgbClr val="2E7D6B"/>
            </a:solidFill>
            <a:prstDash val="solid"/>
          </a:ln>
        </p:spPr>
      </p:sp>
      <p:sp>
        <p:nvSpPr>
          <p:cNvPr id="10" name="Text 8"/>
          <p:cNvSpPr txBox="1"/>
          <p:nvPr/>
        </p:nvSpPr>
        <p:spPr>
          <a:xfrm>
            <a:off x="457200" y="26700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1" name="Text 9"/>
          <p:cNvSpPr txBox="1"/>
          <p:nvPr/>
        </p:nvSpPr>
        <p:spPr>
          <a:xfrm>
            <a:off x="1005840" y="2651760"/>
            <a:ext cx="4846320" cy="292608"/>
          </a:xfrm>
          <a:prstGeom prst="rect">
            <a:avLst/>
          </a:prstGeom>
          <a:noFill/>
          <a:ln/>
        </p:spPr>
        <p:txBody>
          <a:bodyPr wrap="square" lIns="0" tIns="0" rIns="0" bIns="0" rtlCol="0" anchor="ctr"/>
          <a:lstStyle/>
          <a:p>
            <a:pPr indent="0" marL="0">
              <a:buNone/>
            </a:pPr>
            <a:r>
              <a:rPr lang="en-US" sz="1600" b="1" dirty="0">
                <a:solidFill>
                  <a:schemeClr val="tx1"/>
                </a:solidFill>
              </a:rPr>
              <a:t>Independent validator</a:t>
            </a:r>
            <a:endParaRPr lang="en-US" sz="1600" dirty="0"/>
          </a:p>
        </p:txBody>
      </p:sp>
      <p:sp>
        <p:nvSpPr>
          <p:cNvPr id="12" name="Text 10"/>
          <p:cNvSpPr txBox="1"/>
          <p:nvPr/>
        </p:nvSpPr>
        <p:spPr>
          <a:xfrm>
            <a:off x="1005840" y="2944368"/>
            <a:ext cx="4846320" cy="621792"/>
          </a:xfrm>
          <a:prstGeom prst="rect">
            <a:avLst/>
          </a:prstGeom>
          <a:noFill/>
          <a:ln/>
        </p:spPr>
        <p:txBody>
          <a:bodyPr wrap="square" lIns="0" tIns="0" rIns="0" bIns="0" rtlCol="0" anchor="t"/>
          <a:lstStyle/>
          <a:p>
            <a:pPr indent="0" marL="0">
              <a:buNone/>
            </a:pPr>
            <a:r>
              <a:rPr lang="en-US" sz="1300" dirty="0">
                <a:solidFill>
                  <a:schemeClr val="tx2"/>
                </a:solidFill>
              </a:rPr>
              <a:t>Separate code re-checks every plan: each school on exactly one bus, no bus over capacity, every cost recalculated. A failing plan cannot be shown or exported.</a:t>
            </a:r>
            <a:endParaRPr lang="en-US" sz="1300" dirty="0"/>
          </a:p>
        </p:txBody>
      </p:sp>
      <p:sp>
        <p:nvSpPr>
          <p:cNvPr id="13" name="Shape 11"/>
          <p:cNvSpPr/>
          <p:nvPr/>
        </p:nvSpPr>
        <p:spPr>
          <a:xfrm>
            <a:off x="457200" y="3630168"/>
            <a:ext cx="384048" cy="384048"/>
          </a:xfrm>
          <a:prstGeom prst="ellipse">
            <a:avLst/>
          </a:prstGeom>
          <a:solidFill>
            <a:srgbClr val="2E7D6B"/>
          </a:solidFill>
          <a:ln w="12700">
            <a:solidFill>
              <a:srgbClr val="2E7D6B"/>
            </a:solidFill>
            <a:prstDash val="solid"/>
          </a:ln>
        </p:spPr>
      </p:sp>
      <p:sp>
        <p:nvSpPr>
          <p:cNvPr id="14" name="Text 12"/>
          <p:cNvSpPr txBox="1"/>
          <p:nvPr/>
        </p:nvSpPr>
        <p:spPr>
          <a:xfrm>
            <a:off x="457200" y="36301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5" name="Text 13"/>
          <p:cNvSpPr txBox="1"/>
          <p:nvPr/>
        </p:nvSpPr>
        <p:spPr>
          <a:xfrm>
            <a:off x="1005840" y="3611880"/>
            <a:ext cx="4846320" cy="292608"/>
          </a:xfrm>
          <a:prstGeom prst="rect">
            <a:avLst/>
          </a:prstGeom>
          <a:noFill/>
          <a:ln/>
        </p:spPr>
        <p:txBody>
          <a:bodyPr wrap="square" lIns="0" tIns="0" rIns="0" bIns="0" rtlCol="0" anchor="ctr"/>
          <a:lstStyle/>
          <a:p>
            <a:pPr indent="0" marL="0">
              <a:buNone/>
            </a:pPr>
            <a:r>
              <a:rPr lang="en-US" sz="1600" b="1" dirty="0">
                <a:solidFill>
                  <a:schemeClr val="tx1"/>
                </a:solidFill>
              </a:rPr>
              <a:t>Warm start</a:t>
            </a:r>
            <a:endParaRPr lang="en-US" sz="1600" dirty="0"/>
          </a:p>
        </p:txBody>
      </p:sp>
      <p:sp>
        <p:nvSpPr>
          <p:cNvPr id="16" name="Text 14"/>
          <p:cNvSpPr txBox="1"/>
          <p:nvPr/>
        </p:nvSpPr>
        <p:spPr>
          <a:xfrm>
            <a:off x="1005840" y="3904488"/>
            <a:ext cx="4846320" cy="621792"/>
          </a:xfrm>
          <a:prstGeom prst="rect">
            <a:avLst/>
          </a:prstGeom>
          <a:noFill/>
          <a:ln/>
        </p:spPr>
        <p:txBody>
          <a:bodyPr wrap="square" lIns="0" tIns="0" rIns="0" bIns="0" rtlCol="0" anchor="t"/>
          <a:lstStyle/>
          <a:p>
            <a:pPr indent="0" marL="0">
              <a:buNone/>
            </a:pPr>
            <a:r>
              <a:rPr lang="en-US" sz="1300" dirty="0">
                <a:solidFill>
                  <a:schemeClr val="tx2"/>
                </a:solidFill>
              </a:rPr>
              <a:t>When inputs change, the search starts from the previous plan, so schools only move when they must.</a:t>
            </a:r>
            <a:endParaRPr lang="en-US" sz="1300" dirty="0"/>
          </a:p>
        </p:txBody>
      </p:sp>
      <p:sp>
        <p:nvSpPr>
          <p:cNvPr id="17" name="Tests stat"/>
          <p:cNvSpPr/>
          <p:nvPr/>
        </p:nvSpPr>
        <p:spPr>
          <a:xfrm>
            <a:off x="6172200" y="2651760"/>
            <a:ext cx="2514600" cy="1874520"/>
          </a:xfrm>
          <a:prstGeom prst="roundRect">
            <a:avLst>
              <a:gd name="adj" fmla="val 3902"/>
            </a:avLst>
          </a:prstGeom>
          <a:solidFill>
            <a:srgbClr val="16202A"/>
          </a:solidFill>
          <a:ln w="12700">
            <a:solidFill>
              <a:srgbClr val="16202A"/>
            </a:solidFill>
            <a:prstDash val="solid"/>
          </a:ln>
        </p:spPr>
      </p:sp>
      <p:sp>
        <p:nvSpPr>
          <p:cNvPr id="18" name="Text 16"/>
          <p:cNvSpPr txBox="1"/>
          <p:nvPr/>
        </p:nvSpPr>
        <p:spPr>
          <a:xfrm>
            <a:off x="6355080" y="2788920"/>
            <a:ext cx="2148840" cy="822960"/>
          </a:xfrm>
          <a:prstGeom prst="rect">
            <a:avLst/>
          </a:prstGeom>
          <a:noFill/>
          <a:ln/>
        </p:spPr>
        <p:txBody>
          <a:bodyPr wrap="square" lIns="0" tIns="0" rIns="0" bIns="0" rtlCol="0" anchor="ctr"/>
          <a:lstStyle/>
          <a:p>
            <a:pPr indent="0" marL="0">
              <a:buNone/>
            </a:pPr>
            <a:r>
              <a:rPr lang="en-US" sz="5400" b="1" dirty="0">
                <a:solidFill>
                  <a:schemeClr val="bg1"/>
                </a:solidFill>
              </a:rPr>
              <a:t>323</a:t>
            </a:r>
            <a:endParaRPr lang="en-US" sz="5400" dirty="0"/>
          </a:p>
        </p:txBody>
      </p:sp>
      <p:sp>
        <p:nvSpPr>
          <p:cNvPr id="19" name="Text 17"/>
          <p:cNvSpPr txBox="1"/>
          <p:nvPr/>
        </p:nvSpPr>
        <p:spPr>
          <a:xfrm>
            <a:off x="6355080" y="3611880"/>
            <a:ext cx="2148840" cy="822960"/>
          </a:xfrm>
          <a:prstGeom prst="rect">
            <a:avLst/>
          </a:prstGeom>
          <a:noFill/>
          <a:ln/>
        </p:spPr>
        <p:txBody>
          <a:bodyPr wrap="square" lIns="0" tIns="0" rIns="0" bIns="0" rtlCol="0" anchor="t"/>
          <a:lstStyle/>
          <a:p>
            <a:pPr indent="0" marL="0">
              <a:buNone/>
            </a:pPr>
            <a:r>
              <a:rPr lang="en-US" sz="1200" dirty="0">
                <a:solidFill>
                  <a:srgbClr val="D5DAE0"/>
                </a:solidFill>
              </a:rPr>
              <a:t>automated tests: solver, validator, data checks, assistant guardrails and app flow</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Decision support, not an autonomous system</a:t>
            </a:r>
            <a:endParaRPr lang="en-US" sz="3000" dirty="0"/>
          </a:p>
        </p:txBody>
      </p:sp>
      <p:sp>
        <p:nvSpPr>
          <p:cNvPr id="3" name="Human oversight"/>
          <p:cNvSpPr/>
          <p:nvPr/>
        </p:nvSpPr>
        <p:spPr>
          <a:xfrm>
            <a:off x="457200" y="1097280"/>
            <a:ext cx="4023360" cy="1234440"/>
          </a:xfrm>
          <a:prstGeom prst="roundRect">
            <a:avLst>
              <a:gd name="adj" fmla="val 5926"/>
            </a:avLst>
          </a:prstGeom>
          <a:solidFill>
            <a:srgbClr val="F5F6F8"/>
          </a:solidFill>
          <a:ln w="12700">
            <a:solidFill>
              <a:srgbClr val="F5F6F8"/>
            </a:solidFill>
            <a:prstDash val="solid"/>
          </a:ln>
        </p:spPr>
      </p:sp>
      <p:sp>
        <p:nvSpPr>
          <p:cNvPr id="4" name="Shape 2"/>
          <p:cNvSpPr/>
          <p:nvPr/>
        </p:nvSpPr>
        <p:spPr>
          <a:xfrm>
            <a:off x="640080" y="1280160"/>
            <a:ext cx="274320" cy="274320"/>
          </a:xfrm>
          <a:prstGeom prst="ellipse">
            <a:avLst/>
          </a:prstGeom>
          <a:solidFill>
            <a:srgbClr val="D6453D"/>
          </a:solidFill>
          <a:ln w="12700">
            <a:solidFill>
              <a:srgbClr val="D6453D"/>
            </a:solidFill>
            <a:prstDash val="solid"/>
          </a:ln>
        </p:spPr>
      </p:sp>
      <p:sp>
        <p:nvSpPr>
          <p:cNvPr id="5" name="Text 3"/>
          <p:cNvSpPr txBox="1"/>
          <p:nvPr/>
        </p:nvSpPr>
        <p:spPr>
          <a:xfrm>
            <a:off x="1024128" y="1234440"/>
            <a:ext cx="3291840" cy="365760"/>
          </a:xfrm>
          <a:prstGeom prst="rect">
            <a:avLst/>
          </a:prstGeom>
          <a:noFill/>
          <a:ln/>
        </p:spPr>
        <p:txBody>
          <a:bodyPr wrap="square" lIns="0" tIns="0" rIns="0" bIns="0" rtlCol="0" anchor="ctr"/>
          <a:lstStyle/>
          <a:p>
            <a:pPr indent="0" marL="0">
              <a:buNone/>
            </a:pPr>
            <a:r>
              <a:rPr lang="en-US" sz="1600" b="1" dirty="0">
                <a:solidFill>
                  <a:schemeClr val="tx1"/>
                </a:solidFill>
              </a:rPr>
              <a:t>Human oversight</a:t>
            </a:r>
            <a:endParaRPr lang="en-US" sz="1600" dirty="0"/>
          </a:p>
        </p:txBody>
      </p:sp>
      <p:sp>
        <p:nvSpPr>
          <p:cNvPr id="6" name="Text 4"/>
          <p:cNvSpPr txBox="1"/>
          <p:nvPr/>
        </p:nvSpPr>
        <p:spPr>
          <a:xfrm>
            <a:off x="640080" y="1645920"/>
            <a:ext cx="3657600" cy="640080"/>
          </a:xfrm>
          <a:prstGeom prst="rect">
            <a:avLst/>
          </a:prstGeom>
          <a:noFill/>
          <a:ln/>
        </p:spPr>
        <p:txBody>
          <a:bodyPr wrap="square" lIns="0" tIns="0" rIns="0" bIns="0" rtlCol="0" anchor="t"/>
          <a:lstStyle/>
          <a:p>
            <a:pPr indent="0" marL="0">
              <a:buNone/>
            </a:pPr>
            <a:r>
              <a:rPr lang="en-US" sz="1300" dirty="0">
                <a:solidFill>
                  <a:schemeClr val="tx2"/>
                </a:solidFill>
              </a:rPr>
              <a:t>Assistant proposals need approval. Organisers adjust, compare and sign off.</a:t>
            </a:r>
            <a:endParaRPr lang="en-US" sz="1300" dirty="0"/>
          </a:p>
        </p:txBody>
      </p:sp>
      <p:sp>
        <p:nvSpPr>
          <p:cNvPr id="7" name="Explainable"/>
          <p:cNvSpPr/>
          <p:nvPr/>
        </p:nvSpPr>
        <p:spPr>
          <a:xfrm>
            <a:off x="4663440" y="1097280"/>
            <a:ext cx="4023360" cy="1234440"/>
          </a:xfrm>
          <a:prstGeom prst="roundRect">
            <a:avLst>
              <a:gd name="adj" fmla="val 5926"/>
            </a:avLst>
          </a:prstGeom>
          <a:solidFill>
            <a:srgbClr val="F5F6F8"/>
          </a:solidFill>
          <a:ln w="12700">
            <a:solidFill>
              <a:srgbClr val="F5F6F8"/>
            </a:solidFill>
            <a:prstDash val="solid"/>
          </a:ln>
        </p:spPr>
      </p:sp>
      <p:sp>
        <p:nvSpPr>
          <p:cNvPr id="8" name="Shape 6"/>
          <p:cNvSpPr/>
          <p:nvPr/>
        </p:nvSpPr>
        <p:spPr>
          <a:xfrm>
            <a:off x="4846320" y="1280160"/>
            <a:ext cx="274320" cy="274320"/>
          </a:xfrm>
          <a:prstGeom prst="ellipse">
            <a:avLst/>
          </a:prstGeom>
          <a:solidFill>
            <a:srgbClr val="3C6E9F"/>
          </a:solidFill>
          <a:ln w="12700">
            <a:solidFill>
              <a:srgbClr val="3C6E9F"/>
            </a:solidFill>
            <a:prstDash val="solid"/>
          </a:ln>
        </p:spPr>
      </p:sp>
      <p:sp>
        <p:nvSpPr>
          <p:cNvPr id="9" name="Text 7"/>
          <p:cNvSpPr txBox="1"/>
          <p:nvPr/>
        </p:nvSpPr>
        <p:spPr>
          <a:xfrm>
            <a:off x="5230368" y="1234440"/>
            <a:ext cx="3291840" cy="365760"/>
          </a:xfrm>
          <a:prstGeom prst="rect">
            <a:avLst/>
          </a:prstGeom>
          <a:noFill/>
          <a:ln/>
        </p:spPr>
        <p:txBody>
          <a:bodyPr wrap="square" lIns="0" tIns="0" rIns="0" bIns="0" rtlCol="0" anchor="ctr"/>
          <a:lstStyle/>
          <a:p>
            <a:pPr indent="0" marL="0">
              <a:buNone/>
            </a:pPr>
            <a:r>
              <a:rPr lang="en-US" sz="1600" b="1" dirty="0">
                <a:solidFill>
                  <a:schemeClr val="tx1"/>
                </a:solidFill>
              </a:rPr>
              <a:t>Explainable</a:t>
            </a:r>
            <a:endParaRPr lang="en-US" sz="1600" dirty="0"/>
          </a:p>
        </p:txBody>
      </p:sp>
      <p:sp>
        <p:nvSpPr>
          <p:cNvPr id="10" name="Text 8"/>
          <p:cNvSpPr txBox="1"/>
          <p:nvPr/>
        </p:nvSpPr>
        <p:spPr>
          <a:xfrm>
            <a:off x="4846320" y="1645920"/>
            <a:ext cx="3657600" cy="640080"/>
          </a:xfrm>
          <a:prstGeom prst="rect">
            <a:avLst/>
          </a:prstGeom>
          <a:noFill/>
          <a:ln/>
        </p:spPr>
        <p:txBody>
          <a:bodyPr wrap="square" lIns="0" tIns="0" rIns="0" bIns="0" rtlCol="0" anchor="t"/>
          <a:lstStyle/>
          <a:p>
            <a:pPr indent="0" marL="0">
              <a:buNone/>
            </a:pPr>
            <a:r>
              <a:rPr lang="en-US" sz="1300" dirty="0">
                <a:solidFill>
                  <a:schemeClr val="tx2"/>
                </a:solidFill>
              </a:rPr>
              <a:t>Every plan shows status, method, buses and each school's cost share. Assistant answers are checked against plan figures.</a:t>
            </a:r>
            <a:endParaRPr lang="en-US" sz="1300" dirty="0"/>
          </a:p>
        </p:txBody>
      </p:sp>
      <p:sp>
        <p:nvSpPr>
          <p:cNvPr id="11" name="Privacy"/>
          <p:cNvSpPr/>
          <p:nvPr/>
        </p:nvSpPr>
        <p:spPr>
          <a:xfrm>
            <a:off x="457200" y="2468880"/>
            <a:ext cx="4023360" cy="1234440"/>
          </a:xfrm>
          <a:prstGeom prst="roundRect">
            <a:avLst>
              <a:gd name="adj" fmla="val 5926"/>
            </a:avLst>
          </a:prstGeom>
          <a:solidFill>
            <a:srgbClr val="F5F6F8"/>
          </a:solidFill>
          <a:ln w="12700">
            <a:solidFill>
              <a:srgbClr val="F5F6F8"/>
            </a:solidFill>
            <a:prstDash val="solid"/>
          </a:ln>
        </p:spPr>
      </p:sp>
      <p:sp>
        <p:nvSpPr>
          <p:cNvPr id="12" name="Shape 10"/>
          <p:cNvSpPr/>
          <p:nvPr/>
        </p:nvSpPr>
        <p:spPr>
          <a:xfrm>
            <a:off x="640080" y="2651760"/>
            <a:ext cx="274320" cy="274320"/>
          </a:xfrm>
          <a:prstGeom prst="ellipse">
            <a:avLst/>
          </a:prstGeom>
          <a:solidFill>
            <a:srgbClr val="2E7D6B"/>
          </a:solidFill>
          <a:ln w="12700">
            <a:solidFill>
              <a:srgbClr val="2E7D6B"/>
            </a:solidFill>
            <a:prstDash val="solid"/>
          </a:ln>
        </p:spPr>
      </p:sp>
      <p:sp>
        <p:nvSpPr>
          <p:cNvPr id="13" name="Text 11"/>
          <p:cNvSpPr txBox="1"/>
          <p:nvPr/>
        </p:nvSpPr>
        <p:spPr>
          <a:xfrm>
            <a:off x="1024128" y="2606040"/>
            <a:ext cx="3291840" cy="365760"/>
          </a:xfrm>
          <a:prstGeom prst="rect">
            <a:avLst/>
          </a:prstGeom>
          <a:noFill/>
          <a:ln/>
        </p:spPr>
        <p:txBody>
          <a:bodyPr wrap="square" lIns="0" tIns="0" rIns="0" bIns="0" rtlCol="0" anchor="ctr"/>
          <a:lstStyle/>
          <a:p>
            <a:pPr indent="0" marL="0">
              <a:buNone/>
            </a:pPr>
            <a:r>
              <a:rPr lang="en-US" sz="1600" b="1" dirty="0">
                <a:solidFill>
                  <a:schemeClr val="tx1"/>
                </a:solidFill>
              </a:rPr>
              <a:t>Privacy</a:t>
            </a:r>
            <a:endParaRPr lang="en-US" sz="1600" dirty="0"/>
          </a:p>
        </p:txBody>
      </p:sp>
      <p:sp>
        <p:nvSpPr>
          <p:cNvPr id="14" name="Text 12"/>
          <p:cNvSpPr txBox="1"/>
          <p:nvPr/>
        </p:nvSpPr>
        <p:spPr>
          <a:xfrm>
            <a:off x="640080" y="3017520"/>
            <a:ext cx="3657600" cy="640080"/>
          </a:xfrm>
          <a:prstGeom prst="rect">
            <a:avLst/>
          </a:prstGeom>
          <a:noFill/>
          <a:ln/>
        </p:spPr>
        <p:txBody>
          <a:bodyPr wrap="square" lIns="0" tIns="0" rIns="0" bIns="0" rtlCol="0" anchor="t"/>
          <a:lstStyle/>
          <a:p>
            <a:pPr indent="0" marL="0">
              <a:buNone/>
            </a:pPr>
            <a:r>
              <a:rPr lang="en-US" sz="1300" dirty="0">
                <a:solidFill>
                  <a:schemeClr val="tx2"/>
                </a:solidFill>
              </a:rPr>
              <a:t>School-level head counts only, no pupil names. The assistant never receives coordinates. Both online services are optional.</a:t>
            </a:r>
            <a:endParaRPr lang="en-US" sz="1300" dirty="0"/>
          </a:p>
        </p:txBody>
      </p:sp>
      <p:sp>
        <p:nvSpPr>
          <p:cNvPr id="15" name="Accessibility (next step)"/>
          <p:cNvSpPr/>
          <p:nvPr/>
        </p:nvSpPr>
        <p:spPr>
          <a:xfrm>
            <a:off x="4663440" y="2468880"/>
            <a:ext cx="4023360" cy="1234440"/>
          </a:xfrm>
          <a:prstGeom prst="roundRect">
            <a:avLst>
              <a:gd name="adj" fmla="val 5926"/>
            </a:avLst>
          </a:prstGeom>
          <a:solidFill>
            <a:srgbClr val="F5F6F8"/>
          </a:solidFill>
          <a:ln w="12700">
            <a:solidFill>
              <a:srgbClr val="F5F6F8"/>
            </a:solidFill>
            <a:prstDash val="solid"/>
          </a:ln>
        </p:spPr>
      </p:sp>
      <p:sp>
        <p:nvSpPr>
          <p:cNvPr id="16" name="Shape 14"/>
          <p:cNvSpPr/>
          <p:nvPr/>
        </p:nvSpPr>
        <p:spPr>
          <a:xfrm>
            <a:off x="4846320" y="2651760"/>
            <a:ext cx="274320" cy="274320"/>
          </a:xfrm>
          <a:prstGeom prst="ellipse">
            <a:avLst/>
          </a:prstGeom>
          <a:solidFill>
            <a:srgbClr val="8A5A9E"/>
          </a:solidFill>
          <a:ln w="12700">
            <a:solidFill>
              <a:srgbClr val="8A5A9E"/>
            </a:solidFill>
            <a:prstDash val="solid"/>
          </a:ln>
        </p:spPr>
      </p:sp>
      <p:sp>
        <p:nvSpPr>
          <p:cNvPr id="17" name="Text 15"/>
          <p:cNvSpPr txBox="1"/>
          <p:nvPr/>
        </p:nvSpPr>
        <p:spPr>
          <a:xfrm>
            <a:off x="5230368" y="2606040"/>
            <a:ext cx="3291840" cy="365760"/>
          </a:xfrm>
          <a:prstGeom prst="rect">
            <a:avLst/>
          </a:prstGeom>
          <a:noFill/>
          <a:ln/>
        </p:spPr>
        <p:txBody>
          <a:bodyPr wrap="square" lIns="0" tIns="0" rIns="0" bIns="0" rtlCol="0" anchor="ctr"/>
          <a:lstStyle/>
          <a:p>
            <a:pPr indent="0" marL="0">
              <a:buNone/>
            </a:pPr>
            <a:r>
              <a:rPr lang="en-US" sz="1600" b="1" dirty="0">
                <a:solidFill>
                  <a:schemeClr val="tx1"/>
                </a:solidFill>
              </a:rPr>
              <a:t>Accessibility (next step)</a:t>
            </a:r>
            <a:endParaRPr lang="en-US" sz="1600" dirty="0"/>
          </a:p>
        </p:txBody>
      </p:sp>
      <p:sp>
        <p:nvSpPr>
          <p:cNvPr id="18" name="Text 16"/>
          <p:cNvSpPr txBox="1"/>
          <p:nvPr/>
        </p:nvSpPr>
        <p:spPr>
          <a:xfrm>
            <a:off x="4846320" y="3017520"/>
            <a:ext cx="3657600" cy="640080"/>
          </a:xfrm>
          <a:prstGeom prst="rect">
            <a:avLst/>
          </a:prstGeom>
          <a:noFill/>
          <a:ln/>
        </p:spPr>
        <p:txBody>
          <a:bodyPr wrap="square" lIns="0" tIns="0" rIns="0" bIns="0" rtlCol="0" anchor="t"/>
          <a:lstStyle/>
          <a:p>
            <a:pPr indent="0" marL="0">
              <a:buNone/>
            </a:pPr>
            <a:r>
              <a:rPr lang="en-US" sz="1300" dirty="0">
                <a:solidFill>
                  <a:schemeClr val="tx2"/>
                </a:solidFill>
              </a:rPr>
              <a:t>Accessible-bus constraint, once organisers record wheelchair needs. The challenge data has none.</a:t>
            </a:r>
            <a:endParaRPr lang="en-US" sz="1300" dirty="0"/>
          </a:p>
        </p:txBody>
      </p:sp>
      <p:sp>
        <p:nvSpPr>
          <p:cNvPr id="19" name="Text 17"/>
          <p:cNvSpPr txBox="1"/>
          <p:nvPr/>
        </p:nvSpPr>
        <p:spPr>
          <a:xfrm>
            <a:off x="457200" y="3931920"/>
            <a:ext cx="1325880" cy="548640"/>
          </a:xfrm>
          <a:prstGeom prst="rect">
            <a:avLst/>
          </a:prstGeom>
          <a:noFill/>
          <a:ln/>
        </p:spPr>
        <p:txBody>
          <a:bodyPr wrap="square" lIns="0" tIns="0" rIns="0" bIns="0" rtlCol="0" anchor="t"/>
          <a:lstStyle/>
          <a:p>
            <a:pPr indent="0" marL="0">
              <a:buNone/>
            </a:pPr>
            <a:r>
              <a:rPr lang="en-US" sz="1100" b="1" dirty="0">
                <a:solidFill>
                  <a:schemeClr val="accent2"/>
                </a:solidFill>
              </a:rPr>
              <a:t>✓ Transparency</a:t>
            </a:r>
            <a:endParaRPr lang="en-US" sz="1100" dirty="0"/>
          </a:p>
          <a:p>
            <a:pPr indent="0" marL="0">
              <a:buNone/>
            </a:pPr>
            <a:r>
              <a:rPr lang="en-US" sz="1100" dirty="0">
                <a:solidFill>
                  <a:schemeClr val="accent6"/>
                </a:solidFill>
              </a:rPr>
              <a:t>status labels</a:t>
            </a:r>
            <a:endParaRPr lang="en-US" sz="1100" dirty="0"/>
          </a:p>
        </p:txBody>
      </p:sp>
      <p:sp>
        <p:nvSpPr>
          <p:cNvPr id="20" name="Text 18"/>
          <p:cNvSpPr txBox="1"/>
          <p:nvPr/>
        </p:nvSpPr>
        <p:spPr>
          <a:xfrm>
            <a:off x="1828800" y="3931920"/>
            <a:ext cx="1325880" cy="548640"/>
          </a:xfrm>
          <a:prstGeom prst="rect">
            <a:avLst/>
          </a:prstGeom>
          <a:noFill/>
          <a:ln/>
        </p:spPr>
        <p:txBody>
          <a:bodyPr wrap="square" lIns="0" tIns="0" rIns="0" bIns="0" rtlCol="0" anchor="t"/>
          <a:lstStyle/>
          <a:p>
            <a:pPr indent="0" marL="0">
              <a:buNone/>
            </a:pPr>
            <a:r>
              <a:rPr lang="en-US" sz="1100" b="1" dirty="0">
                <a:solidFill>
                  <a:schemeClr val="accent2"/>
                </a:solidFill>
              </a:rPr>
              <a:t>✓ Privacy</a:t>
            </a:r>
            <a:endParaRPr lang="en-US" sz="1100" dirty="0"/>
          </a:p>
          <a:p>
            <a:pPr indent="0" marL="0">
              <a:buNone/>
            </a:pPr>
            <a:r>
              <a:rPr lang="en-US" sz="1100" dirty="0">
                <a:solidFill>
                  <a:schemeClr val="accent6"/>
                </a:solidFill>
              </a:rPr>
              <a:t>counts only</a:t>
            </a:r>
            <a:endParaRPr lang="en-US" sz="1100" dirty="0"/>
          </a:p>
        </p:txBody>
      </p:sp>
      <p:sp>
        <p:nvSpPr>
          <p:cNvPr id="21" name="Text 19"/>
          <p:cNvSpPr txBox="1"/>
          <p:nvPr/>
        </p:nvSpPr>
        <p:spPr>
          <a:xfrm>
            <a:off x="3200400" y="3931920"/>
            <a:ext cx="1325880" cy="548640"/>
          </a:xfrm>
          <a:prstGeom prst="rect">
            <a:avLst/>
          </a:prstGeom>
          <a:noFill/>
          <a:ln/>
        </p:spPr>
        <p:txBody>
          <a:bodyPr wrap="square" lIns="0" tIns="0" rIns="0" bIns="0" rtlCol="0" anchor="t"/>
          <a:lstStyle/>
          <a:p>
            <a:pPr indent="0" marL="0">
              <a:buNone/>
            </a:pPr>
            <a:r>
              <a:rPr lang="en-US" sz="1100" b="1" dirty="0">
                <a:solidFill>
                  <a:schemeClr val="accent2"/>
                </a:solidFill>
              </a:rPr>
              <a:t>✓ Accountability</a:t>
            </a:r>
            <a:endParaRPr lang="en-US" sz="1100" dirty="0"/>
          </a:p>
          <a:p>
            <a:pPr indent="0" marL="0">
              <a:buNone/>
            </a:pPr>
            <a:r>
              <a:rPr lang="en-US" sz="1100" dirty="0">
                <a:solidFill>
                  <a:schemeClr val="accent6"/>
                </a:solidFill>
              </a:rPr>
              <a:t>approval + audit log</a:t>
            </a:r>
            <a:endParaRPr lang="en-US" sz="1100" dirty="0"/>
          </a:p>
        </p:txBody>
      </p:sp>
      <p:sp>
        <p:nvSpPr>
          <p:cNvPr id="22" name="Text 20"/>
          <p:cNvSpPr txBox="1"/>
          <p:nvPr/>
        </p:nvSpPr>
        <p:spPr>
          <a:xfrm>
            <a:off x="4572000" y="3931920"/>
            <a:ext cx="1325880" cy="548640"/>
          </a:xfrm>
          <a:prstGeom prst="rect">
            <a:avLst/>
          </a:prstGeom>
          <a:noFill/>
          <a:ln/>
        </p:spPr>
        <p:txBody>
          <a:bodyPr wrap="square" lIns="0" tIns="0" rIns="0" bIns="0" rtlCol="0" anchor="t"/>
          <a:lstStyle/>
          <a:p>
            <a:pPr indent="0" marL="0">
              <a:buNone/>
            </a:pPr>
            <a:r>
              <a:rPr lang="en-US" sz="1100" b="1" dirty="0">
                <a:solidFill>
                  <a:schemeClr val="accent2"/>
                </a:solidFill>
              </a:rPr>
              <a:t>✓ Safety</a:t>
            </a:r>
            <a:endParaRPr lang="en-US" sz="1100" dirty="0"/>
          </a:p>
          <a:p>
            <a:pPr indent="0" marL="0">
              <a:buNone/>
            </a:pPr>
            <a:r>
              <a:rPr lang="en-US" sz="1100" dirty="0">
                <a:solidFill>
                  <a:schemeClr val="accent6"/>
                </a:solidFill>
              </a:rPr>
              <a:t>validator</a:t>
            </a:r>
            <a:endParaRPr lang="en-US" sz="1100" dirty="0"/>
          </a:p>
        </p:txBody>
      </p:sp>
      <p:sp>
        <p:nvSpPr>
          <p:cNvPr id="23" name="Text 21"/>
          <p:cNvSpPr txBox="1"/>
          <p:nvPr/>
        </p:nvSpPr>
        <p:spPr>
          <a:xfrm>
            <a:off x="5943600" y="3931920"/>
            <a:ext cx="1325880" cy="548640"/>
          </a:xfrm>
          <a:prstGeom prst="rect">
            <a:avLst/>
          </a:prstGeom>
          <a:noFill/>
          <a:ln/>
        </p:spPr>
        <p:txBody>
          <a:bodyPr wrap="square" lIns="0" tIns="0" rIns="0" bIns="0" rtlCol="0" anchor="t"/>
          <a:lstStyle/>
          <a:p>
            <a:pPr indent="0" marL="0">
              <a:buNone/>
            </a:pPr>
            <a:r>
              <a:rPr lang="en-US" sz="1100" b="1" dirty="0">
                <a:solidFill>
                  <a:schemeClr val="accent2"/>
                </a:solidFill>
              </a:rPr>
              <a:t>✓ Security</a:t>
            </a:r>
            <a:endParaRPr lang="en-US" sz="1100" dirty="0"/>
          </a:p>
          <a:p>
            <a:pPr indent="0" marL="0">
              <a:buNone/>
            </a:pPr>
            <a:r>
              <a:rPr lang="en-US" sz="1100" dirty="0">
                <a:solidFill>
                  <a:schemeClr val="accent6"/>
                </a:solidFill>
              </a:rPr>
              <a:t>no keys shown</a:t>
            </a:r>
            <a:endParaRPr lang="en-US" sz="1100" dirty="0"/>
          </a:p>
        </p:txBody>
      </p:sp>
      <p:sp>
        <p:nvSpPr>
          <p:cNvPr id="24" name="Text 22"/>
          <p:cNvSpPr txBox="1"/>
          <p:nvPr/>
        </p:nvSpPr>
        <p:spPr>
          <a:xfrm>
            <a:off x="7315200" y="3931920"/>
            <a:ext cx="1325880" cy="548640"/>
          </a:xfrm>
          <a:prstGeom prst="rect">
            <a:avLst/>
          </a:prstGeom>
          <a:noFill/>
          <a:ln/>
        </p:spPr>
        <p:txBody>
          <a:bodyPr wrap="square" lIns="0" tIns="0" rIns="0" bIns="0" rtlCol="0" anchor="t"/>
          <a:lstStyle/>
          <a:p>
            <a:pPr indent="0" marL="0">
              <a:buNone/>
            </a:pPr>
            <a:r>
              <a:rPr lang="en-US" sz="1100" b="1" dirty="0">
                <a:solidFill>
                  <a:schemeClr val="accent2"/>
                </a:solidFill>
              </a:rPr>
              <a:t>✓ Fairness</a:t>
            </a:r>
            <a:endParaRPr lang="en-US" sz="1100" dirty="0"/>
          </a:p>
          <a:p>
            <a:pPr indent="0" marL="0">
              <a:buNone/>
            </a:pPr>
            <a:r>
              <a:rPr lang="en-US" sz="1100" dirty="0">
                <a:solidFill>
                  <a:schemeClr val="accent6"/>
                </a:solidFill>
              </a:rPr>
              <a:t>fair cost shares</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1"/>
                </a:solidFill>
              </a:rPr>
              <a:t>Who benefits in Wales, and what comes next</a:t>
            </a:r>
            <a:endParaRPr lang="en-US" sz="3000" dirty="0"/>
          </a:p>
        </p:txBody>
      </p:sp>
      <p:sp>
        <p:nvSpPr>
          <p:cNvPr id="3" name="Event SMEs"/>
          <p:cNvSpPr/>
          <p:nvPr/>
        </p:nvSpPr>
        <p:spPr>
          <a:xfrm>
            <a:off x="457200" y="1051560"/>
            <a:ext cx="1920240" cy="731520"/>
          </a:xfrm>
          <a:prstGeom prst="roundRect">
            <a:avLst>
              <a:gd name="adj" fmla="val 10000"/>
            </a:avLst>
          </a:prstGeom>
          <a:solidFill>
            <a:srgbClr val="F5F6F8"/>
          </a:solidFill>
          <a:ln w="12700">
            <a:solidFill>
              <a:srgbClr val="F5F6F8"/>
            </a:solidFill>
            <a:prstDash val="solid"/>
          </a:ln>
        </p:spPr>
      </p:sp>
      <p:sp>
        <p:nvSpPr>
          <p:cNvPr id="4" name="Text 2"/>
          <p:cNvSpPr txBox="1"/>
          <p:nvPr/>
        </p:nvSpPr>
        <p:spPr>
          <a:xfrm>
            <a:off x="594360" y="1097280"/>
            <a:ext cx="1645920" cy="320040"/>
          </a:xfrm>
          <a:prstGeom prst="rect">
            <a:avLst/>
          </a:prstGeom>
          <a:noFill/>
          <a:ln/>
        </p:spPr>
        <p:txBody>
          <a:bodyPr wrap="square" lIns="0" tIns="0" rIns="0" bIns="0" rtlCol="0" anchor="ctr"/>
          <a:lstStyle/>
          <a:p>
            <a:pPr indent="0" marL="0">
              <a:buNone/>
            </a:pPr>
            <a:r>
              <a:rPr lang="en-US" sz="1400" b="1" dirty="0">
                <a:solidFill>
                  <a:schemeClr val="tx1"/>
                </a:solidFill>
              </a:rPr>
              <a:t>Event SMEs</a:t>
            </a:r>
            <a:endParaRPr lang="en-US" sz="1400" dirty="0"/>
          </a:p>
        </p:txBody>
      </p:sp>
      <p:sp>
        <p:nvSpPr>
          <p:cNvPr id="5" name="Text 3"/>
          <p:cNvSpPr txBox="1"/>
          <p:nvPr/>
        </p:nvSpPr>
        <p:spPr>
          <a:xfrm>
            <a:off x="594360" y="1417320"/>
            <a:ext cx="1645920" cy="274320"/>
          </a:xfrm>
          <a:prstGeom prst="rect">
            <a:avLst/>
          </a:prstGeom>
          <a:noFill/>
          <a:ln/>
        </p:spPr>
        <p:txBody>
          <a:bodyPr wrap="square" lIns="0" tIns="0" rIns="0" bIns="0" rtlCol="0" anchor="ctr"/>
          <a:lstStyle/>
          <a:p>
            <a:pPr indent="0" marL="0">
              <a:buNone/>
            </a:pPr>
            <a:r>
              <a:rPr lang="en-US" sz="1200" dirty="0">
                <a:solidFill>
                  <a:schemeClr val="tx2"/>
                </a:solidFill>
              </a:rPr>
              <a:t>checked plan in seconds</a:t>
            </a:r>
            <a:endParaRPr lang="en-US" sz="1200" dirty="0"/>
          </a:p>
        </p:txBody>
      </p:sp>
      <p:sp>
        <p:nvSpPr>
          <p:cNvPr id="6" name="Schools &amp; pupils"/>
          <p:cNvSpPr/>
          <p:nvPr/>
        </p:nvSpPr>
        <p:spPr>
          <a:xfrm>
            <a:off x="2560320" y="1051560"/>
            <a:ext cx="1920240" cy="731520"/>
          </a:xfrm>
          <a:prstGeom prst="roundRect">
            <a:avLst>
              <a:gd name="adj" fmla="val 10000"/>
            </a:avLst>
          </a:prstGeom>
          <a:solidFill>
            <a:srgbClr val="F5F6F8"/>
          </a:solidFill>
          <a:ln w="12700">
            <a:solidFill>
              <a:srgbClr val="F5F6F8"/>
            </a:solidFill>
            <a:prstDash val="solid"/>
          </a:ln>
        </p:spPr>
      </p:sp>
      <p:sp>
        <p:nvSpPr>
          <p:cNvPr id="7" name="Text 5"/>
          <p:cNvSpPr txBox="1"/>
          <p:nvPr/>
        </p:nvSpPr>
        <p:spPr>
          <a:xfrm>
            <a:off x="2697480" y="1097280"/>
            <a:ext cx="1645920" cy="320040"/>
          </a:xfrm>
          <a:prstGeom prst="rect">
            <a:avLst/>
          </a:prstGeom>
          <a:noFill/>
          <a:ln/>
        </p:spPr>
        <p:txBody>
          <a:bodyPr wrap="square" lIns="0" tIns="0" rIns="0" bIns="0" rtlCol="0" anchor="ctr"/>
          <a:lstStyle/>
          <a:p>
            <a:pPr indent="0" marL="0">
              <a:buNone/>
            </a:pPr>
            <a:r>
              <a:rPr lang="en-US" sz="1400" b="1" dirty="0">
                <a:solidFill>
                  <a:schemeClr val="tx1"/>
                </a:solidFill>
              </a:rPr>
              <a:t>Schools &amp; pupils</a:t>
            </a:r>
            <a:endParaRPr lang="en-US" sz="1400" dirty="0"/>
          </a:p>
        </p:txBody>
      </p:sp>
      <p:sp>
        <p:nvSpPr>
          <p:cNvPr id="8" name="Text 6"/>
          <p:cNvSpPr txBox="1"/>
          <p:nvPr/>
        </p:nvSpPr>
        <p:spPr>
          <a:xfrm>
            <a:off x="2697480" y="1417320"/>
            <a:ext cx="1645920" cy="274320"/>
          </a:xfrm>
          <a:prstGeom prst="rect">
            <a:avLst/>
          </a:prstGeom>
          <a:noFill/>
          <a:ln/>
        </p:spPr>
        <p:txBody>
          <a:bodyPr wrap="square" lIns="0" tIns="0" rIns="0" bIns="0" rtlCol="0" anchor="ctr"/>
          <a:lstStyle/>
          <a:p>
            <a:pPr indent="0" marL="0">
              <a:buNone/>
            </a:pPr>
            <a:r>
              <a:rPr lang="en-US" sz="1200" dirty="0">
                <a:solidFill>
                  <a:schemeClr val="tx2"/>
                </a:solidFill>
              </a:rPr>
              <a:t>lower cost to attend</a:t>
            </a:r>
            <a:endParaRPr lang="en-US" sz="1200" dirty="0"/>
          </a:p>
        </p:txBody>
      </p:sp>
      <p:sp>
        <p:nvSpPr>
          <p:cNvPr id="9" name="Coach operators"/>
          <p:cNvSpPr/>
          <p:nvPr/>
        </p:nvSpPr>
        <p:spPr>
          <a:xfrm>
            <a:off x="4663440" y="1051560"/>
            <a:ext cx="1920240" cy="731520"/>
          </a:xfrm>
          <a:prstGeom prst="roundRect">
            <a:avLst>
              <a:gd name="adj" fmla="val 10000"/>
            </a:avLst>
          </a:prstGeom>
          <a:solidFill>
            <a:srgbClr val="F5F6F8"/>
          </a:solidFill>
          <a:ln w="12700">
            <a:solidFill>
              <a:srgbClr val="F5F6F8"/>
            </a:solidFill>
            <a:prstDash val="solid"/>
          </a:ln>
        </p:spPr>
      </p:sp>
      <p:sp>
        <p:nvSpPr>
          <p:cNvPr id="10" name="Text 8"/>
          <p:cNvSpPr txBox="1"/>
          <p:nvPr/>
        </p:nvSpPr>
        <p:spPr>
          <a:xfrm>
            <a:off x="4800600" y="1097280"/>
            <a:ext cx="1645920" cy="320040"/>
          </a:xfrm>
          <a:prstGeom prst="rect">
            <a:avLst/>
          </a:prstGeom>
          <a:noFill/>
          <a:ln/>
        </p:spPr>
        <p:txBody>
          <a:bodyPr wrap="square" lIns="0" tIns="0" rIns="0" bIns="0" rtlCol="0" anchor="ctr"/>
          <a:lstStyle/>
          <a:p>
            <a:pPr indent="0" marL="0">
              <a:buNone/>
            </a:pPr>
            <a:r>
              <a:rPr lang="en-US" sz="1400" b="1" dirty="0">
                <a:solidFill>
                  <a:schemeClr val="tx1"/>
                </a:solidFill>
              </a:rPr>
              <a:t>Coach operators</a:t>
            </a:r>
            <a:endParaRPr lang="en-US" sz="1400" dirty="0"/>
          </a:p>
        </p:txBody>
      </p:sp>
      <p:sp>
        <p:nvSpPr>
          <p:cNvPr id="11" name="Text 9"/>
          <p:cNvSpPr txBox="1"/>
          <p:nvPr/>
        </p:nvSpPr>
        <p:spPr>
          <a:xfrm>
            <a:off x="4800600" y="1417320"/>
            <a:ext cx="1645920" cy="274320"/>
          </a:xfrm>
          <a:prstGeom prst="rect">
            <a:avLst/>
          </a:prstGeom>
          <a:noFill/>
          <a:ln/>
        </p:spPr>
        <p:txBody>
          <a:bodyPr wrap="square" lIns="0" tIns="0" rIns="0" bIns="0" rtlCol="0" anchor="ctr"/>
          <a:lstStyle/>
          <a:p>
            <a:pPr indent="0" marL="0">
              <a:buNone/>
            </a:pPr>
            <a:r>
              <a:rPr lang="en-US" sz="1200" dirty="0">
                <a:solidFill>
                  <a:schemeClr val="tx2"/>
                </a:solidFill>
              </a:rPr>
              <a:t>clear booking list</a:t>
            </a:r>
            <a:endParaRPr lang="en-US" sz="1200" dirty="0"/>
          </a:p>
        </p:txBody>
      </p:sp>
      <p:sp>
        <p:nvSpPr>
          <p:cNvPr id="12" name="Venues"/>
          <p:cNvSpPr/>
          <p:nvPr/>
        </p:nvSpPr>
        <p:spPr>
          <a:xfrm>
            <a:off x="6766560" y="1051560"/>
            <a:ext cx="1920240" cy="731520"/>
          </a:xfrm>
          <a:prstGeom prst="roundRect">
            <a:avLst>
              <a:gd name="adj" fmla="val 10000"/>
            </a:avLst>
          </a:prstGeom>
          <a:solidFill>
            <a:srgbClr val="F5F6F8"/>
          </a:solidFill>
          <a:ln w="12700">
            <a:solidFill>
              <a:srgbClr val="F5F6F8"/>
            </a:solidFill>
            <a:prstDash val="solid"/>
          </a:ln>
        </p:spPr>
      </p:sp>
      <p:sp>
        <p:nvSpPr>
          <p:cNvPr id="13" name="Text 11"/>
          <p:cNvSpPr txBox="1"/>
          <p:nvPr/>
        </p:nvSpPr>
        <p:spPr>
          <a:xfrm>
            <a:off x="6903720" y="1097280"/>
            <a:ext cx="1645920" cy="320040"/>
          </a:xfrm>
          <a:prstGeom prst="rect">
            <a:avLst/>
          </a:prstGeom>
          <a:noFill/>
          <a:ln/>
        </p:spPr>
        <p:txBody>
          <a:bodyPr wrap="square" lIns="0" tIns="0" rIns="0" bIns="0" rtlCol="0" anchor="ctr"/>
          <a:lstStyle/>
          <a:p>
            <a:pPr indent="0" marL="0">
              <a:buNone/>
            </a:pPr>
            <a:r>
              <a:rPr lang="en-US" sz="1400" b="1" dirty="0">
                <a:solidFill>
                  <a:schemeClr val="tx1"/>
                </a:solidFill>
              </a:rPr>
              <a:t>Venues</a:t>
            </a:r>
            <a:endParaRPr lang="en-US" sz="1400" dirty="0"/>
          </a:p>
        </p:txBody>
      </p:sp>
      <p:sp>
        <p:nvSpPr>
          <p:cNvPr id="14" name="Text 12"/>
          <p:cNvSpPr txBox="1"/>
          <p:nvPr/>
        </p:nvSpPr>
        <p:spPr>
          <a:xfrm>
            <a:off x="6903720" y="1417320"/>
            <a:ext cx="1645920" cy="274320"/>
          </a:xfrm>
          <a:prstGeom prst="rect">
            <a:avLst/>
          </a:prstGeom>
          <a:noFill/>
          <a:ln/>
        </p:spPr>
        <p:txBody>
          <a:bodyPr wrap="square" lIns="0" tIns="0" rIns="0" bIns="0" rtlCol="0" anchor="ctr"/>
          <a:lstStyle/>
          <a:p>
            <a:pPr indent="0" marL="0">
              <a:buNone/>
            </a:pPr>
            <a:r>
              <a:rPr lang="en-US" sz="1200" dirty="0">
                <a:solidFill>
                  <a:schemeClr val="tx2"/>
                </a:solidFill>
              </a:rPr>
              <a:t>fewer coaches to park</a:t>
            </a:r>
            <a:endParaRPr lang="en-US" sz="1200" dirty="0"/>
          </a:p>
        </p:txBody>
      </p:sp>
      <p:sp>
        <p:nvSpPr>
          <p:cNvPr id="15" name="Bus-miles stat"/>
          <p:cNvSpPr/>
          <p:nvPr/>
        </p:nvSpPr>
        <p:spPr>
          <a:xfrm>
            <a:off x="457200" y="1965960"/>
            <a:ext cx="2377440" cy="2606040"/>
          </a:xfrm>
          <a:prstGeom prst="roundRect">
            <a:avLst>
              <a:gd name="adj" fmla="val 3077"/>
            </a:avLst>
          </a:prstGeom>
          <a:solidFill>
            <a:srgbClr val="16202A"/>
          </a:solidFill>
          <a:ln w="12700">
            <a:solidFill>
              <a:srgbClr val="16202A"/>
            </a:solidFill>
            <a:prstDash val="solid"/>
          </a:ln>
        </p:spPr>
      </p:sp>
      <p:sp>
        <p:nvSpPr>
          <p:cNvPr id="16" name="Text 14"/>
          <p:cNvSpPr txBox="1"/>
          <p:nvPr/>
        </p:nvSpPr>
        <p:spPr>
          <a:xfrm>
            <a:off x="640080" y="2057400"/>
            <a:ext cx="2011680" cy="731520"/>
          </a:xfrm>
          <a:prstGeom prst="rect">
            <a:avLst/>
          </a:prstGeom>
          <a:noFill/>
          <a:ln/>
        </p:spPr>
        <p:txBody>
          <a:bodyPr wrap="square" lIns="0" tIns="0" rIns="0" bIns="0" rtlCol="0" anchor="ctr"/>
          <a:lstStyle/>
          <a:p>
            <a:pPr indent="0" marL="0">
              <a:buNone/>
            </a:pPr>
            <a:r>
              <a:rPr lang="en-US" sz="4800" b="1" dirty="0">
                <a:solidFill>
                  <a:schemeClr val="accent3"/>
                </a:solidFill>
              </a:rPr>
              <a:t>39%</a:t>
            </a:r>
            <a:endParaRPr lang="en-US" sz="4800" dirty="0"/>
          </a:p>
        </p:txBody>
      </p:sp>
      <p:sp>
        <p:nvSpPr>
          <p:cNvPr id="17" name="Text 15"/>
          <p:cNvSpPr txBox="1"/>
          <p:nvPr/>
        </p:nvSpPr>
        <p:spPr>
          <a:xfrm>
            <a:off x="640080" y="2788920"/>
            <a:ext cx="2011680" cy="320040"/>
          </a:xfrm>
          <a:prstGeom prst="rect">
            <a:avLst/>
          </a:prstGeom>
          <a:noFill/>
          <a:ln/>
        </p:spPr>
        <p:txBody>
          <a:bodyPr wrap="square" lIns="0" tIns="0" rIns="0" bIns="0" rtlCol="0" anchor="ctr"/>
          <a:lstStyle/>
          <a:p>
            <a:pPr indent="0" marL="0">
              <a:buNone/>
            </a:pPr>
            <a:r>
              <a:rPr lang="en-US" sz="1600" b="1" dirty="0">
                <a:solidFill>
                  <a:schemeClr val="bg1"/>
                </a:solidFill>
              </a:rPr>
              <a:t>fewer bus-miles</a:t>
            </a:r>
            <a:endParaRPr lang="en-US" sz="1600" dirty="0"/>
          </a:p>
        </p:txBody>
      </p:sp>
      <p:sp>
        <p:nvSpPr>
          <p:cNvPr id="18" name="Text 16"/>
          <p:cNvSpPr txBox="1"/>
          <p:nvPr/>
        </p:nvSpPr>
        <p:spPr>
          <a:xfrm>
            <a:off x="640080" y="3154680"/>
            <a:ext cx="2011680" cy="1325880"/>
          </a:xfrm>
          <a:prstGeom prst="rect">
            <a:avLst/>
          </a:prstGeom>
          <a:noFill/>
          <a:ln/>
        </p:spPr>
        <p:txBody>
          <a:bodyPr wrap="square" lIns="0" tIns="0" rIns="0" bIns="0" rtlCol="0" anchor="t"/>
          <a:lstStyle/>
          <a:p>
            <a:pPr indent="0" marL="0">
              <a:buNone/>
            </a:pPr>
            <a:r>
              <a:rPr lang="en-US" sz="1200" dirty="0">
                <a:solidFill>
                  <a:srgbClr val="D5DAE0"/>
                </a:solidFill>
              </a:rPr>
              <a:t>Fixed plan: 1,289 → 785 straight-line bus-miles. Not road miles; no emissions figure claimed.</a:t>
            </a:r>
            <a:endParaRPr lang="en-US" sz="1200" dirty="0"/>
          </a:p>
        </p:txBody>
      </p:sp>
      <p:sp>
        <p:nvSpPr>
          <p:cNvPr id="19" name="Text 17"/>
          <p:cNvSpPr txBox="1"/>
          <p:nvPr/>
        </p:nvSpPr>
        <p:spPr>
          <a:xfrm>
            <a:off x="3063240" y="1965960"/>
            <a:ext cx="5623560" cy="274320"/>
          </a:xfrm>
          <a:prstGeom prst="rect">
            <a:avLst/>
          </a:prstGeom>
          <a:noFill/>
          <a:ln/>
        </p:spPr>
        <p:txBody>
          <a:bodyPr wrap="square" lIns="0" tIns="0" rIns="0" bIns="0" rtlCol="0" anchor="ctr"/>
          <a:lstStyle/>
          <a:p>
            <a:pPr indent="0" marL="0">
              <a:buNone/>
            </a:pPr>
            <a:r>
              <a:rPr lang="en-US" sz="1400" b="1" dirty="0">
                <a:solidFill>
                  <a:schemeClr val="tx1"/>
                </a:solidFill>
              </a:rPr>
              <a:t>National Events Strategy for Wales 2022–2030</a:t>
            </a:r>
            <a:endParaRPr lang="en-US" sz="1400" dirty="0"/>
          </a:p>
        </p:txBody>
      </p:sp>
      <p:sp>
        <p:nvSpPr>
          <p:cNvPr id="20" name="Text 18"/>
          <p:cNvSpPr txBox="1"/>
          <p:nvPr/>
        </p:nvSpPr>
        <p:spPr>
          <a:xfrm>
            <a:off x="3063240" y="2240280"/>
            <a:ext cx="5623560" cy="960120"/>
          </a:xfrm>
          <a:prstGeom prst="rect">
            <a:avLst/>
          </a:prstGeom>
          <a:noFill/>
          <a:ln/>
        </p:spPr>
        <p:txBody>
          <a:bodyPr wrap="square" lIns="0" tIns="0" rIns="0" bIns="0" rtlCol="0" anchor="t"/>
          <a:lstStyle/>
          <a:p>
            <a:pPr indent="0" marL="0">
              <a:spcAft>
                <a:spcPts val="400"/>
              </a:spcAft>
              <a:buNone/>
            </a:pPr>
            <a:r>
              <a:rPr lang="en-US" sz="1200" i="1" dirty="0">
                <a:solidFill>
                  <a:schemeClr val="tx2"/>
                </a:solidFill>
              </a:rPr>
              <a:t>"…consider age, region, ethnicity, religion, cost to attend and so on to ensure the events on offer are widely inclusive and accessible."</a:t>
            </a:r>
            <a:endParaRPr lang="en-US" sz="1200" dirty="0"/>
          </a:p>
          <a:p>
            <a:pPr indent="0" marL="0">
              <a:spcAft>
                <a:spcPts val="400"/>
              </a:spcAft>
              <a:buNone/>
            </a:pPr>
            <a:r>
              <a:rPr lang="en-US" sz="1200" i="1" dirty="0">
                <a:solidFill>
                  <a:schemeClr val="tx2"/>
                </a:solidFill>
              </a:rPr>
              <a:t>Success measure: "Percentage of events encouraging or offering active and sustainable transport options."</a:t>
            </a:r>
            <a:endParaRPr lang="en-US" sz="1200" dirty="0"/>
          </a:p>
        </p:txBody>
      </p:sp>
      <p:sp>
        <p:nvSpPr>
          <p:cNvPr id="21" name="Pilot"/>
          <p:cNvSpPr/>
          <p:nvPr/>
        </p:nvSpPr>
        <p:spPr>
          <a:xfrm>
            <a:off x="3063240" y="3291840"/>
            <a:ext cx="2743200" cy="1280160"/>
          </a:xfrm>
          <a:prstGeom prst="roundRect">
            <a:avLst>
              <a:gd name="adj" fmla="val 5714"/>
            </a:avLst>
          </a:prstGeom>
          <a:solidFill>
            <a:srgbClr val="E6F2EE"/>
          </a:solidFill>
          <a:ln w="12700">
            <a:solidFill>
              <a:srgbClr val="E6F2EE"/>
            </a:solidFill>
            <a:prstDash val="solid"/>
          </a:ln>
        </p:spPr>
      </p:sp>
      <p:sp>
        <p:nvSpPr>
          <p:cNvPr id="22" name="Text 20"/>
          <p:cNvSpPr txBox="1"/>
          <p:nvPr/>
        </p:nvSpPr>
        <p:spPr>
          <a:xfrm>
            <a:off x="3200400" y="3337560"/>
            <a:ext cx="2468880" cy="274320"/>
          </a:xfrm>
          <a:prstGeom prst="rect">
            <a:avLst/>
          </a:prstGeom>
          <a:noFill/>
          <a:ln/>
        </p:spPr>
        <p:txBody>
          <a:bodyPr wrap="square" lIns="0" tIns="0" rIns="0" bIns="0" rtlCol="0" anchor="ctr"/>
          <a:lstStyle/>
          <a:p>
            <a:pPr indent="0" marL="0">
              <a:buNone/>
            </a:pPr>
            <a:r>
              <a:rPr lang="en-US" sz="1400" b="1" dirty="0">
                <a:solidFill>
                  <a:schemeClr val="accent2"/>
                </a:solidFill>
              </a:rPr>
              <a:t>Proposed pilot</a:t>
            </a:r>
            <a:endParaRPr lang="en-US" sz="1400" dirty="0"/>
          </a:p>
        </p:txBody>
      </p:sp>
      <p:sp>
        <p:nvSpPr>
          <p:cNvPr id="23" name="Text 21"/>
          <p:cNvSpPr txBox="1"/>
          <p:nvPr/>
        </p:nvSpPr>
        <p:spPr>
          <a:xfrm>
            <a:off x="3200400" y="3611880"/>
            <a:ext cx="2468880" cy="914400"/>
          </a:xfrm>
          <a:prstGeom prst="rect">
            <a:avLst/>
          </a:prstGeom>
          <a:noFill/>
          <a:ln/>
        </p:spPr>
        <p:txBody>
          <a:bodyPr wrap="square" lIns="0" tIns="0" rIns="0" bIns="0" rtlCol="0" anchor="t"/>
          <a:lstStyle/>
          <a:p>
            <a:pPr indent="0" marL="0">
              <a:buNone/>
            </a:pPr>
            <a:r>
              <a:rPr lang="en-US" sz="1200" dirty="0">
                <a:solidFill>
                  <a:schemeClr val="tx1"/>
                </a:solidFill>
              </a:rPr>
              <a:t>One Welsh organiser, same inputs, both plans. Compare cost, buses, mileage, planning time and feedback.</a:t>
            </a:r>
            <a:endParaRPr lang="en-US" sz="1200" dirty="0"/>
          </a:p>
        </p:txBody>
      </p:sp>
      <p:sp>
        <p:nvSpPr>
          <p:cNvPr id="24" name="Limits"/>
          <p:cNvSpPr/>
          <p:nvPr/>
        </p:nvSpPr>
        <p:spPr>
          <a:xfrm>
            <a:off x="5943600" y="3291840"/>
            <a:ext cx="2743200" cy="1280160"/>
          </a:xfrm>
          <a:prstGeom prst="roundRect">
            <a:avLst>
              <a:gd name="adj" fmla="val 5714"/>
            </a:avLst>
          </a:prstGeom>
          <a:solidFill>
            <a:srgbClr val="F5F6F8"/>
          </a:solidFill>
          <a:ln w="12700">
            <a:solidFill>
              <a:srgbClr val="F5F6F8"/>
            </a:solidFill>
            <a:prstDash val="solid"/>
          </a:ln>
        </p:spPr>
      </p:sp>
      <p:sp>
        <p:nvSpPr>
          <p:cNvPr id="25" name="Text 23"/>
          <p:cNvSpPr txBox="1"/>
          <p:nvPr/>
        </p:nvSpPr>
        <p:spPr>
          <a:xfrm>
            <a:off x="6080760" y="3337560"/>
            <a:ext cx="2468880" cy="274320"/>
          </a:xfrm>
          <a:prstGeom prst="rect">
            <a:avLst/>
          </a:prstGeom>
          <a:noFill/>
          <a:ln/>
        </p:spPr>
        <p:txBody>
          <a:bodyPr wrap="square" lIns="0" tIns="0" rIns="0" bIns="0" rtlCol="0" anchor="ctr"/>
          <a:lstStyle/>
          <a:p>
            <a:pPr indent="0" marL="0">
              <a:buNone/>
            </a:pPr>
            <a:r>
              <a:rPr lang="en-US" sz="1400" b="1" dirty="0">
                <a:solidFill>
                  <a:schemeClr val="accent6"/>
                </a:solidFill>
              </a:rPr>
              <a:t>Limits</a:t>
            </a:r>
            <a:endParaRPr lang="en-US" sz="1400" dirty="0"/>
          </a:p>
        </p:txBody>
      </p:sp>
      <p:sp>
        <p:nvSpPr>
          <p:cNvPr id="26" name="Text 24"/>
          <p:cNvSpPr txBox="1"/>
          <p:nvPr/>
        </p:nvSpPr>
        <p:spPr>
          <a:xfrm>
            <a:off x="6080760" y="3611880"/>
            <a:ext cx="2468880" cy="914400"/>
          </a:xfrm>
          <a:prstGeom prst="rect">
            <a:avLst/>
          </a:prstGeom>
          <a:noFill/>
          <a:ln/>
        </p:spPr>
        <p:txBody>
          <a:bodyPr wrap="square" lIns="0" tIns="0" rIns="0" bIns="0" rtlCol="0" anchor="t"/>
          <a:lstStyle/>
          <a:p>
            <a:pPr indent="0" marL="0">
              <a:buNone/>
            </a:pPr>
            <a:r>
              <a:rPr lang="en-US" sz="1200" dirty="0">
                <a:solidFill>
                  <a:schemeClr val="tx1"/>
                </a:solidFill>
              </a:rPr>
              <a:t>Not yet tested at a real event. Routing plans are best found, not proven. No accessibility data yet.</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640080"/>
            <a:ext cx="8046720" cy="457200"/>
          </a:xfrm>
          <a:prstGeom prst="rect">
            <a:avLst/>
          </a:prstGeom>
          <a:noFill/>
          <a:ln/>
        </p:spPr>
        <p:txBody>
          <a:bodyPr wrap="square" lIns="0" tIns="0" rIns="0" bIns="0" rtlCol="0" anchor="ctr"/>
          <a:lstStyle/>
          <a:p>
            <a:pPr indent="0" marL="0">
              <a:buNone/>
            </a:pPr>
            <a:r>
              <a:rPr lang="en-US" sz="1800" b="1" dirty="0">
                <a:solidFill>
                  <a:schemeClr val="accent1"/>
                </a:solidFill>
              </a:rPr>
              <a:t>Campus Cruise</a:t>
            </a:r>
            <a:endParaRPr lang="en-US" sz="1800" dirty="0"/>
          </a:p>
        </p:txBody>
      </p:sp>
      <p:sp>
        <p:nvSpPr>
          <p:cNvPr id="3" name="Text 1"/>
          <p:cNvSpPr txBox="1"/>
          <p:nvPr/>
        </p:nvSpPr>
        <p:spPr>
          <a:xfrm>
            <a:off x="548640" y="1097280"/>
            <a:ext cx="8046720" cy="914400"/>
          </a:xfrm>
          <a:prstGeom prst="rect">
            <a:avLst/>
          </a:prstGeom>
          <a:noFill/>
          <a:ln/>
        </p:spPr>
        <p:txBody>
          <a:bodyPr wrap="square" lIns="0" tIns="0" rIns="0" bIns="0" rtlCol="0" anchor="ctr"/>
          <a:lstStyle/>
          <a:p>
            <a:pPr indent="0" marL="0">
              <a:buNone/>
            </a:pPr>
            <a:r>
              <a:rPr lang="en-US" sz="2800" b="1" dirty="0">
                <a:solidFill>
                  <a:schemeClr val="bg1"/>
                </a:solidFill>
              </a:rPr>
              <a:t>Fewer buses, lower cost, plans organisers can trust</a:t>
            </a:r>
            <a:endParaRPr lang="en-US" sz="2800" dirty="0"/>
          </a:p>
        </p:txBody>
      </p:sp>
      <p:sp>
        <p:nvSpPr>
          <p:cNvPr id="4" name="Text 2"/>
          <p:cNvSpPr txBox="1"/>
          <p:nvPr/>
        </p:nvSpPr>
        <p:spPr>
          <a:xfrm>
            <a:off x="548640" y="2423160"/>
            <a:ext cx="1828800" cy="640080"/>
          </a:xfrm>
          <a:prstGeom prst="rect">
            <a:avLst/>
          </a:prstGeom>
          <a:noFill/>
          <a:ln/>
        </p:spPr>
        <p:txBody>
          <a:bodyPr wrap="square" lIns="0" tIns="0" rIns="0" bIns="0" rtlCol="0" anchor="ctr"/>
          <a:lstStyle/>
          <a:p>
            <a:pPr indent="0" marL="0">
              <a:buNone/>
            </a:pPr>
            <a:r>
              <a:rPr lang="en-US" sz="3200" b="1" dirty="0">
                <a:solidFill>
                  <a:schemeClr val="accent3"/>
                </a:solidFill>
              </a:rPr>
              <a:t>25</a:t>
            </a:r>
            <a:endParaRPr lang="en-US" sz="3200" dirty="0"/>
          </a:p>
        </p:txBody>
      </p:sp>
      <p:sp>
        <p:nvSpPr>
          <p:cNvPr id="5" name="Text 3"/>
          <p:cNvSpPr txBox="1"/>
          <p:nvPr/>
        </p:nvSpPr>
        <p:spPr>
          <a:xfrm>
            <a:off x="548640" y="3063240"/>
            <a:ext cx="1828800" cy="548640"/>
          </a:xfrm>
          <a:prstGeom prst="rect">
            <a:avLst/>
          </a:prstGeom>
          <a:noFill/>
          <a:ln/>
        </p:spPr>
        <p:txBody>
          <a:bodyPr wrap="square" lIns="0" tIns="0" rIns="0" bIns="0" rtlCol="0" anchor="t"/>
          <a:lstStyle/>
          <a:p>
            <a:pPr indent="0" marL="0">
              <a:buNone/>
            </a:pPr>
            <a:r>
              <a:rPr lang="en-US" sz="1400" dirty="0">
                <a:solidFill>
                  <a:srgbClr val="D5DAE0"/>
                </a:solidFill>
              </a:rPr>
              <a:t>buses instead of 60</a:t>
            </a:r>
            <a:endParaRPr lang="en-US" sz="1400" dirty="0"/>
          </a:p>
        </p:txBody>
      </p:sp>
      <p:sp>
        <p:nvSpPr>
          <p:cNvPr id="6" name="Text 4"/>
          <p:cNvSpPr txBox="1"/>
          <p:nvPr/>
        </p:nvSpPr>
        <p:spPr>
          <a:xfrm>
            <a:off x="2560320" y="2423160"/>
            <a:ext cx="1828800" cy="640080"/>
          </a:xfrm>
          <a:prstGeom prst="rect">
            <a:avLst/>
          </a:prstGeom>
          <a:noFill/>
          <a:ln/>
        </p:spPr>
        <p:txBody>
          <a:bodyPr wrap="square" lIns="0" tIns="0" rIns="0" bIns="0" rtlCol="0" anchor="ctr"/>
          <a:lstStyle/>
          <a:p>
            <a:pPr indent="0" marL="0">
              <a:buNone/>
            </a:pPr>
            <a:r>
              <a:rPr lang="en-US" sz="3200" b="1" dirty="0">
                <a:solidFill>
                  <a:schemeClr val="accent3"/>
                </a:solidFill>
              </a:rPr>
              <a:t>Proven</a:t>
            </a:r>
            <a:endParaRPr lang="en-US" sz="3200" dirty="0"/>
          </a:p>
        </p:txBody>
      </p:sp>
      <p:sp>
        <p:nvSpPr>
          <p:cNvPr id="7" name="Text 5"/>
          <p:cNvSpPr txBox="1"/>
          <p:nvPr/>
        </p:nvSpPr>
        <p:spPr>
          <a:xfrm>
            <a:off x="2560320" y="3063240"/>
            <a:ext cx="1828800" cy="548640"/>
          </a:xfrm>
          <a:prstGeom prst="rect">
            <a:avLst/>
          </a:prstGeom>
          <a:noFill/>
          <a:ln/>
        </p:spPr>
        <p:txBody>
          <a:bodyPr wrap="square" lIns="0" tIns="0" rIns="0" bIns="0" rtlCol="0" anchor="t"/>
          <a:lstStyle/>
          <a:p>
            <a:pPr indent="0" marL="0">
              <a:buNone/>
            </a:pPr>
            <a:r>
              <a:rPr lang="en-US" sz="1400" dirty="0">
                <a:solidFill>
                  <a:srgbClr val="D5DAE0"/>
                </a:solidFill>
              </a:rPr>
              <a:t>cheapest fixed-price plan</a:t>
            </a:r>
            <a:endParaRPr lang="en-US" sz="1400" dirty="0"/>
          </a:p>
        </p:txBody>
      </p:sp>
      <p:sp>
        <p:nvSpPr>
          <p:cNvPr id="8" name="Text 6"/>
          <p:cNvSpPr txBox="1"/>
          <p:nvPr/>
        </p:nvSpPr>
        <p:spPr>
          <a:xfrm>
            <a:off x="4572000" y="2423160"/>
            <a:ext cx="1828800" cy="640080"/>
          </a:xfrm>
          <a:prstGeom prst="rect">
            <a:avLst/>
          </a:prstGeom>
          <a:noFill/>
          <a:ln/>
        </p:spPr>
        <p:txBody>
          <a:bodyPr wrap="square" lIns="0" tIns="0" rIns="0" bIns="0" rtlCol="0" anchor="ctr"/>
          <a:lstStyle/>
          <a:p>
            <a:pPr indent="0" marL="0">
              <a:buNone/>
            </a:pPr>
            <a:r>
              <a:rPr lang="en-US" sz="3200" b="1" dirty="0">
                <a:solidFill>
                  <a:schemeClr val="accent3"/>
                </a:solidFill>
              </a:rPr>
              <a:t>Every</a:t>
            </a:r>
            <a:endParaRPr lang="en-US" sz="3200" dirty="0"/>
          </a:p>
        </p:txBody>
      </p:sp>
      <p:sp>
        <p:nvSpPr>
          <p:cNvPr id="9" name="Text 7"/>
          <p:cNvSpPr txBox="1"/>
          <p:nvPr/>
        </p:nvSpPr>
        <p:spPr>
          <a:xfrm>
            <a:off x="4572000" y="3063240"/>
            <a:ext cx="1828800" cy="548640"/>
          </a:xfrm>
          <a:prstGeom prst="rect">
            <a:avLst/>
          </a:prstGeom>
          <a:noFill/>
          <a:ln/>
        </p:spPr>
        <p:txBody>
          <a:bodyPr wrap="square" lIns="0" tIns="0" rIns="0" bIns="0" rtlCol="0" anchor="t"/>
          <a:lstStyle/>
          <a:p>
            <a:pPr indent="0" marL="0">
              <a:buNone/>
            </a:pPr>
            <a:r>
              <a:rPr lang="en-US" sz="1400" dirty="0">
                <a:solidFill>
                  <a:srgbClr val="D5DAE0"/>
                </a:solidFill>
              </a:rPr>
              <a:t>plan independently checked</a:t>
            </a:r>
            <a:endParaRPr lang="en-US" sz="1400" dirty="0"/>
          </a:p>
        </p:txBody>
      </p:sp>
      <p:sp>
        <p:nvSpPr>
          <p:cNvPr id="10" name="Text 8"/>
          <p:cNvSpPr txBox="1"/>
          <p:nvPr/>
        </p:nvSpPr>
        <p:spPr>
          <a:xfrm>
            <a:off x="6583680" y="2423160"/>
            <a:ext cx="1828800" cy="640080"/>
          </a:xfrm>
          <a:prstGeom prst="rect">
            <a:avLst/>
          </a:prstGeom>
          <a:noFill/>
          <a:ln/>
        </p:spPr>
        <p:txBody>
          <a:bodyPr wrap="square" lIns="0" tIns="0" rIns="0" bIns="0" rtlCol="0" anchor="ctr"/>
          <a:lstStyle/>
          <a:p>
            <a:pPr indent="0" marL="0">
              <a:buNone/>
            </a:pPr>
            <a:r>
              <a:rPr lang="en-US" sz="3200" b="1" dirty="0">
                <a:solidFill>
                  <a:schemeClr val="accent3"/>
                </a:solidFill>
              </a:rPr>
              <a:t>You</a:t>
            </a:r>
            <a:endParaRPr lang="en-US" sz="3200" dirty="0"/>
          </a:p>
        </p:txBody>
      </p:sp>
      <p:sp>
        <p:nvSpPr>
          <p:cNvPr id="11" name="Text 9"/>
          <p:cNvSpPr txBox="1"/>
          <p:nvPr/>
        </p:nvSpPr>
        <p:spPr>
          <a:xfrm>
            <a:off x="6583680" y="3063240"/>
            <a:ext cx="1828800" cy="548640"/>
          </a:xfrm>
          <a:prstGeom prst="rect">
            <a:avLst/>
          </a:prstGeom>
          <a:noFill/>
          <a:ln/>
        </p:spPr>
        <p:txBody>
          <a:bodyPr wrap="square" lIns="0" tIns="0" rIns="0" bIns="0" rtlCol="0" anchor="t"/>
          <a:lstStyle/>
          <a:p>
            <a:pPr indent="0" marL="0">
              <a:buNone/>
            </a:pPr>
            <a:r>
              <a:rPr lang="en-US" sz="1400" dirty="0">
                <a:solidFill>
                  <a:srgbClr val="D5DAE0"/>
                </a:solidFill>
              </a:rPr>
              <a:t>approve every change</a:t>
            </a:r>
            <a:endParaRPr lang="en-US" sz="1400" dirty="0"/>
          </a:p>
        </p:txBody>
      </p:sp>
      <p:sp>
        <p:nvSpPr>
          <p:cNvPr id="12" name="Text 10"/>
          <p:cNvSpPr txBox="1"/>
          <p:nvPr/>
        </p:nvSpPr>
        <p:spPr>
          <a:xfrm>
            <a:off x="548640" y="3840480"/>
            <a:ext cx="8046720" cy="365760"/>
          </a:xfrm>
          <a:prstGeom prst="rect">
            <a:avLst/>
          </a:prstGeom>
          <a:noFill/>
          <a:ln/>
        </p:spPr>
        <p:txBody>
          <a:bodyPr wrap="square" lIns="0" tIns="0" rIns="0" bIns="0" rtlCol="0" anchor="ctr"/>
          <a:lstStyle/>
          <a:p>
            <a:pPr indent="0" marL="0">
              <a:buNone/>
            </a:pPr>
            <a:r>
              <a:rPr lang="en-US" sz="1800" dirty="0">
                <a:solidFill>
                  <a:schemeClr val="bg1"/>
                </a:solidFill>
              </a:rPr>
              <a:t>Thank you. Questions?</a:t>
            </a:r>
            <a:endParaRPr lang="en-US" sz="1800" dirty="0"/>
          </a:p>
        </p:txBody>
      </p:sp>
      <p:sp>
        <p:nvSpPr>
          <p:cNvPr id="13" name="Text 11"/>
          <p:cNvSpPr txBox="1"/>
          <p:nvPr/>
        </p:nvSpPr>
        <p:spPr>
          <a:xfrm>
            <a:off x="548640" y="4343400"/>
            <a:ext cx="8046720" cy="502920"/>
          </a:xfrm>
          <a:prstGeom prst="rect">
            <a:avLst/>
          </a:prstGeom>
          <a:noFill/>
          <a:ln/>
        </p:spPr>
        <p:txBody>
          <a:bodyPr wrap="square" lIns="0" tIns="0" rIns="0" bIns="0" rtlCol="0" anchor="t"/>
          <a:lstStyle/>
          <a:p>
            <a:pPr indent="0" marL="0">
              <a:buNone/>
            </a:pPr>
            <a:r>
              <a:rPr lang="en-US" sz="900" dirty="0">
                <a:solidFill>
                  <a:srgbClr val="AEB6BF"/>
                </a:solidFill>
              </a:rPr>
              <a:t>Generative AI use: Claude Code (Anthropic) helped write and test the code and draft the documentation and this deck; the team reviewed, ran and tested all output. [TEAM TO CONFIRM other tools.] The app's optional assistant calls OpenAI at run time as a product feature.</a:t>
            </a:r>
            <a:endParaRPr lang="en-US" sz="900" dirty="0"/>
          </a:p>
        </p:txBody>
      </p:sp>
    </p:spTree>
  </p:cSld>
  <p:clrMapOvr>
    <a:masterClrMapping/>
  </p:clrMapOvr>
</p:sld>
</file>

<file path=ppt/theme/theme1.xml><?xml version="1.0" encoding="utf-8"?>
<a:theme xmlns:a="http://schemas.openxmlformats.org/drawingml/2006/main" name="Campus Cruise">
  <a:themeElements>
    <a:clrScheme name="Campus Cruise">
      <a:dk1>
        <a:srgbClr val="1F2933"/>
      </a:dk1>
      <a:lt1>
        <a:srgbClr val="FFFFFF"/>
      </a:lt1>
      <a:dk2>
        <a:srgbClr val="16202A"/>
      </a:dk2>
      <a:lt2>
        <a:srgbClr val="F5F6F8"/>
      </a:lt2>
      <a:accent1>
        <a:srgbClr val="D6453D"/>
      </a:accent1>
      <a:accent2>
        <a:srgbClr val="2E7D6B"/>
      </a:accent2>
      <a:accent3>
        <a:srgbClr val="F2A541"/>
      </a:accent3>
      <a:accent4>
        <a:srgbClr val="3C6E9F"/>
      </a:accent4>
      <a:accent5>
        <a:srgbClr val="8A5A9E"/>
      </a:accent5>
      <a:accent6>
        <a:srgbClr val="6B7785"/>
      </a:accent6>
      <a:hlink>
        <a:srgbClr val="D6453D"/>
      </a:hlink>
      <a:folHlink>
        <a:srgbClr val="8A5A9E"/>
      </a:folHlink>
    </a:clrScheme>
    <a:fontScheme name="Campus Crui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 Cruise - Where travel gets smarter</dc:title>
  <dc:subject>PptxGenJS Presentation</dc:subject>
  <dc:creator>Campus Cruise team</dc:creator>
  <cp:lastModifiedBy>Campus Cruise team</cp:lastModifiedBy>
  <cp:revision>1</cp:revision>
  <dcterms:created xsi:type="dcterms:W3CDTF">2026-10-26T22:51:32Z</dcterms:created>
  <dcterms:modified xsi:type="dcterms:W3CDTF">2026-10-26T22:51:32Z</dcterms:modified>
</cp:coreProperties>
</file>